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6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Lst>
  <p:sldSz cx="12192000" cy="6858000"/>
  <p:notesSz cx="6858000" cy="9144000"/>
  <p:embeddedFontLst>
    <p:embeddedFont>
      <p:font typeface="Play" panose="020B0604020202020204" charset="0"/>
      <p:regular r:id="rId62"/>
      <p:bold r:id="rId63"/>
    </p:embeddedFont>
    <p:embeddedFont>
      <p:font typeface="Quattrocento Sans" panose="020B0502050000020003" pitchFamily="34" charset="0"/>
      <p:regular r:id="rId64"/>
      <p:bold r:id="rId65"/>
      <p:italic r:id="rId66"/>
      <p:boldItalic r:id="rId6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70" roundtripDataSignature="AMtx7mgUEYrR823Y8+PmU7zhpkDb2fJJc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4" d="100"/>
          <a:sy n="64" d="100"/>
        </p:scale>
        <p:origin x="954"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font" Target="fonts/font2.fntdata"/><Relationship Id="rId7" Type="http://schemas.openxmlformats.org/officeDocument/2006/relationships/slide" Target="slides/slide6.xml"/><Relationship Id="rId71"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font" Target="fonts/font5.fntdata"/><Relationship Id="rId74"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notesMaster" Target="notesMasters/notesMaster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font" Target="fonts/font3.fntdata"/><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font" Target="fonts/font6.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font" Target="fonts/font1.fntdata"/><Relationship Id="rId70" Type="http://customschemas.google.com/relationships/presentationmetadata" Target="meta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font" Target="fonts/font4.fntdata"/><Relationship Id="rId73"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L="914400" marR="0" lvl="1"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2pPr>
            <a:lvl3pPr marL="1371600" marR="0" lvl="2"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3pPr>
            <a:lvl4pPr marL="1828800" marR="0" lvl="3"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4pPr>
            <a:lvl5pPr marL="2286000" marR="0" lvl="4"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5pPr>
            <a:lvl6pPr marL="2743200" marR="0" lvl="5"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6pPr>
            <a:lvl7pPr marL="3200400" marR="0" lvl="6"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7pPr>
            <a:lvl8pPr marL="3657600" marR="0" lvl="7"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8pPr>
            <a:lvl9pPr marL="4114800" marR="0" lvl="8"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Arial"/>
                <a:ea typeface="Arial"/>
                <a:cs typeface="Arial"/>
                <a:sym typeface="Arial"/>
              </a:rPr>
              <a:t>‹#›</a:t>
            </a:fld>
            <a:endParaRPr sz="1200" b="0" i="0" u="none" strike="noStrike" cap="none">
              <a:solidFill>
                <a:schemeClr val="dk1"/>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9" name="Google Shape;89;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0" name="Google Shape;100;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Google Shape;116;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7" name="Google Shape;117;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4" name="Google Shape;124;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9" name="Google Shape;129;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7" name="Google Shape;137;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
        <p:cNvGrpSpPr/>
        <p:nvPr/>
      </p:nvGrpSpPr>
      <p:grpSpPr>
        <a:xfrm>
          <a:off x="0" y="0"/>
          <a:ext cx="0" cy="0"/>
          <a:chOff x="0" y="0"/>
          <a:chExt cx="0" cy="0"/>
        </a:xfrm>
      </p:grpSpPr>
      <p:sp>
        <p:nvSpPr>
          <p:cNvPr id="145" name="Google Shape;145;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6" name="Google Shape;146;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p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1" name="Google Shape;151;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p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0" name="Google Shape;160;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p1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8" name="Google Shape;168;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p1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6" name="Google Shape;176;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p1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7" name="Google Shape;187;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Google Shape;194;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5" name="Google Shape;195;p1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p1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0" name="Google Shape;200;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p:cNvGrpSpPr/>
        <p:nvPr/>
      </p:nvGrpSpPr>
      <p:grpSpPr>
        <a:xfrm>
          <a:off x="0" y="0"/>
          <a:ext cx="0" cy="0"/>
          <a:chOff x="0" y="0"/>
          <a:chExt cx="0" cy="0"/>
        </a:xfrm>
      </p:grpSpPr>
      <p:sp>
        <p:nvSpPr>
          <p:cNvPr id="210" name="Google Shape;210;p1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1" name="Google Shape;211;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Google Shape;218;p1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9" name="Google Shape;219;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5"/>
        <p:cNvGrpSpPr/>
        <p:nvPr/>
      </p:nvGrpSpPr>
      <p:grpSpPr>
        <a:xfrm>
          <a:off x="0" y="0"/>
          <a:ext cx="0" cy="0"/>
          <a:chOff x="0" y="0"/>
          <a:chExt cx="0" cy="0"/>
        </a:xfrm>
      </p:grpSpPr>
      <p:sp>
        <p:nvSpPr>
          <p:cNvPr id="226" name="Google Shape;226;p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27" name="Google Shape;227;p1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p:cNvGrpSpPr/>
        <p:nvPr/>
      </p:nvGrpSpPr>
      <p:grpSpPr>
        <a:xfrm>
          <a:off x="0" y="0"/>
          <a:ext cx="0" cy="0"/>
          <a:chOff x="0" y="0"/>
          <a:chExt cx="0" cy="0"/>
        </a:xfrm>
      </p:grpSpPr>
      <p:sp>
        <p:nvSpPr>
          <p:cNvPr id="231" name="Google Shape;231;p1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2" name="Google Shape;232;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2"/>
        <p:cNvGrpSpPr/>
        <p:nvPr/>
      </p:nvGrpSpPr>
      <p:grpSpPr>
        <a:xfrm>
          <a:off x="0" y="0"/>
          <a:ext cx="0" cy="0"/>
          <a:chOff x="0" y="0"/>
          <a:chExt cx="0" cy="0"/>
        </a:xfrm>
      </p:grpSpPr>
      <p:sp>
        <p:nvSpPr>
          <p:cNvPr id="243" name="Google Shape;243;p1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4" name="Google Shape;244;p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1"/>
        <p:cNvGrpSpPr/>
        <p:nvPr/>
      </p:nvGrpSpPr>
      <p:grpSpPr>
        <a:xfrm>
          <a:off x="0" y="0"/>
          <a:ext cx="0" cy="0"/>
          <a:chOff x="0" y="0"/>
          <a:chExt cx="0" cy="0"/>
        </a:xfrm>
      </p:grpSpPr>
      <p:sp>
        <p:nvSpPr>
          <p:cNvPr id="252" name="Google Shape;252;p2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3" name="Google Shape;253;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0"/>
        <p:cNvGrpSpPr/>
        <p:nvPr/>
      </p:nvGrpSpPr>
      <p:grpSpPr>
        <a:xfrm>
          <a:off x="0" y="0"/>
          <a:ext cx="0" cy="0"/>
          <a:chOff x="0" y="0"/>
          <a:chExt cx="0" cy="0"/>
        </a:xfrm>
      </p:grpSpPr>
      <p:sp>
        <p:nvSpPr>
          <p:cNvPr id="261" name="Google Shape;261;p2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2" name="Google Shape;262;p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9"/>
        <p:cNvGrpSpPr/>
        <p:nvPr/>
      </p:nvGrpSpPr>
      <p:grpSpPr>
        <a:xfrm>
          <a:off x="0" y="0"/>
          <a:ext cx="0" cy="0"/>
          <a:chOff x="0" y="0"/>
          <a:chExt cx="0" cy="0"/>
        </a:xfrm>
      </p:grpSpPr>
      <p:sp>
        <p:nvSpPr>
          <p:cNvPr id="270" name="Google Shape;270;p2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1" name="Google Shape;271;p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7"/>
        <p:cNvGrpSpPr/>
        <p:nvPr/>
      </p:nvGrpSpPr>
      <p:grpSpPr>
        <a:xfrm>
          <a:off x="0" y="0"/>
          <a:ext cx="0" cy="0"/>
          <a:chOff x="0" y="0"/>
          <a:chExt cx="0" cy="0"/>
        </a:xfrm>
      </p:grpSpPr>
      <p:sp>
        <p:nvSpPr>
          <p:cNvPr id="278" name="Google Shape;278;p2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9" name="Google Shape;279;p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p2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8" name="Google Shape;288;p2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3"/>
        <p:cNvGrpSpPr/>
        <p:nvPr/>
      </p:nvGrpSpPr>
      <p:grpSpPr>
        <a:xfrm>
          <a:off x="0" y="0"/>
          <a:ext cx="0" cy="0"/>
          <a:chOff x="0" y="0"/>
          <a:chExt cx="0" cy="0"/>
        </a:xfrm>
      </p:grpSpPr>
      <p:sp>
        <p:nvSpPr>
          <p:cNvPr id="294" name="Google Shape;294;p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95" name="Google Shape;295;p2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8"/>
        <p:cNvGrpSpPr/>
        <p:nvPr/>
      </p:nvGrpSpPr>
      <p:grpSpPr>
        <a:xfrm>
          <a:off x="0" y="0"/>
          <a:ext cx="0" cy="0"/>
          <a:chOff x="0" y="0"/>
          <a:chExt cx="0" cy="0"/>
        </a:xfrm>
      </p:grpSpPr>
      <p:sp>
        <p:nvSpPr>
          <p:cNvPr id="299" name="Google Shape;299;p2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0" name="Google Shape;300;p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8"/>
        <p:cNvGrpSpPr/>
        <p:nvPr/>
      </p:nvGrpSpPr>
      <p:grpSpPr>
        <a:xfrm>
          <a:off x="0" y="0"/>
          <a:ext cx="0" cy="0"/>
          <a:chOff x="0" y="0"/>
          <a:chExt cx="0" cy="0"/>
        </a:xfrm>
      </p:grpSpPr>
      <p:sp>
        <p:nvSpPr>
          <p:cNvPr id="309" name="Google Shape;309;p2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0" name="Google Shape;310;p2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9"/>
        <p:cNvGrpSpPr/>
        <p:nvPr/>
      </p:nvGrpSpPr>
      <p:grpSpPr>
        <a:xfrm>
          <a:off x="0" y="0"/>
          <a:ext cx="0" cy="0"/>
          <a:chOff x="0" y="0"/>
          <a:chExt cx="0" cy="0"/>
        </a:xfrm>
      </p:grpSpPr>
      <p:sp>
        <p:nvSpPr>
          <p:cNvPr id="320" name="Google Shape;320;p2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21" name="Google Shape;321;p2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8"/>
        <p:cNvGrpSpPr/>
        <p:nvPr/>
      </p:nvGrpSpPr>
      <p:grpSpPr>
        <a:xfrm>
          <a:off x="0" y="0"/>
          <a:ext cx="0" cy="0"/>
          <a:chOff x="0" y="0"/>
          <a:chExt cx="0" cy="0"/>
        </a:xfrm>
      </p:grpSpPr>
      <p:sp>
        <p:nvSpPr>
          <p:cNvPr id="329" name="Google Shape;329;p2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30" name="Google Shape;330;p2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6"/>
        <p:cNvGrpSpPr/>
        <p:nvPr/>
      </p:nvGrpSpPr>
      <p:grpSpPr>
        <a:xfrm>
          <a:off x="0" y="0"/>
          <a:ext cx="0" cy="0"/>
          <a:chOff x="0" y="0"/>
          <a:chExt cx="0" cy="0"/>
        </a:xfrm>
      </p:grpSpPr>
      <p:sp>
        <p:nvSpPr>
          <p:cNvPr id="337" name="Google Shape;337;p3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38" name="Google Shape;338;p3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4"/>
        <p:cNvGrpSpPr/>
        <p:nvPr/>
      </p:nvGrpSpPr>
      <p:grpSpPr>
        <a:xfrm>
          <a:off x="0" y="0"/>
          <a:ext cx="0" cy="0"/>
          <a:chOff x="0" y="0"/>
          <a:chExt cx="0" cy="0"/>
        </a:xfrm>
      </p:grpSpPr>
      <p:sp>
        <p:nvSpPr>
          <p:cNvPr id="345" name="Google Shape;345;p3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6" name="Google Shape;346;p3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2"/>
        <p:cNvGrpSpPr/>
        <p:nvPr/>
      </p:nvGrpSpPr>
      <p:grpSpPr>
        <a:xfrm>
          <a:off x="0" y="0"/>
          <a:ext cx="0" cy="0"/>
          <a:chOff x="0" y="0"/>
          <a:chExt cx="0" cy="0"/>
        </a:xfrm>
      </p:grpSpPr>
      <p:sp>
        <p:nvSpPr>
          <p:cNvPr id="353" name="Google Shape;353;p3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54" name="Google Shape;354;p3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0"/>
        <p:cNvGrpSpPr/>
        <p:nvPr/>
      </p:nvGrpSpPr>
      <p:grpSpPr>
        <a:xfrm>
          <a:off x="0" y="0"/>
          <a:ext cx="0" cy="0"/>
          <a:chOff x="0" y="0"/>
          <a:chExt cx="0" cy="0"/>
        </a:xfrm>
      </p:grpSpPr>
      <p:sp>
        <p:nvSpPr>
          <p:cNvPr id="361" name="Google Shape;361;p3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62" name="Google Shape;362;p3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9"/>
        <p:cNvGrpSpPr/>
        <p:nvPr/>
      </p:nvGrpSpPr>
      <p:grpSpPr>
        <a:xfrm>
          <a:off x="0" y="0"/>
          <a:ext cx="0" cy="0"/>
          <a:chOff x="0" y="0"/>
          <a:chExt cx="0" cy="0"/>
        </a:xfrm>
      </p:grpSpPr>
      <p:sp>
        <p:nvSpPr>
          <p:cNvPr id="370" name="Google Shape;370;p3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71" name="Google Shape;371;p3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7"/>
        <p:cNvGrpSpPr/>
        <p:nvPr/>
      </p:nvGrpSpPr>
      <p:grpSpPr>
        <a:xfrm>
          <a:off x="0" y="0"/>
          <a:ext cx="0" cy="0"/>
          <a:chOff x="0" y="0"/>
          <a:chExt cx="0" cy="0"/>
        </a:xfrm>
      </p:grpSpPr>
      <p:sp>
        <p:nvSpPr>
          <p:cNvPr id="378" name="Google Shape;378;p3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79" name="Google Shape;379;p3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80" name="Google Shape;380;p3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35</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6"/>
        <p:cNvGrpSpPr/>
        <p:nvPr/>
      </p:nvGrpSpPr>
      <p:grpSpPr>
        <a:xfrm>
          <a:off x="0" y="0"/>
          <a:ext cx="0" cy="0"/>
          <a:chOff x="0" y="0"/>
          <a:chExt cx="0" cy="0"/>
        </a:xfrm>
      </p:grpSpPr>
      <p:sp>
        <p:nvSpPr>
          <p:cNvPr id="387" name="Google Shape;387;p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88" name="Google Shape;388;p3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1"/>
        <p:cNvGrpSpPr/>
        <p:nvPr/>
      </p:nvGrpSpPr>
      <p:grpSpPr>
        <a:xfrm>
          <a:off x="0" y="0"/>
          <a:ext cx="0" cy="0"/>
          <a:chOff x="0" y="0"/>
          <a:chExt cx="0" cy="0"/>
        </a:xfrm>
      </p:grpSpPr>
      <p:sp>
        <p:nvSpPr>
          <p:cNvPr id="392" name="Google Shape;392;p3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93" name="Google Shape;393;p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1"/>
        <p:cNvGrpSpPr/>
        <p:nvPr/>
      </p:nvGrpSpPr>
      <p:grpSpPr>
        <a:xfrm>
          <a:off x="0" y="0"/>
          <a:ext cx="0" cy="0"/>
          <a:chOff x="0" y="0"/>
          <a:chExt cx="0" cy="0"/>
        </a:xfrm>
      </p:grpSpPr>
      <p:sp>
        <p:nvSpPr>
          <p:cNvPr id="402" name="Google Shape;402;p3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03" name="Google Shape;403;p3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1"/>
        <p:cNvGrpSpPr/>
        <p:nvPr/>
      </p:nvGrpSpPr>
      <p:grpSpPr>
        <a:xfrm>
          <a:off x="0" y="0"/>
          <a:ext cx="0" cy="0"/>
          <a:chOff x="0" y="0"/>
          <a:chExt cx="0" cy="0"/>
        </a:xfrm>
      </p:grpSpPr>
      <p:sp>
        <p:nvSpPr>
          <p:cNvPr id="412" name="Google Shape;412;p3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13" name="Google Shape;413;p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0"/>
        <p:cNvGrpSpPr/>
        <p:nvPr/>
      </p:nvGrpSpPr>
      <p:grpSpPr>
        <a:xfrm>
          <a:off x="0" y="0"/>
          <a:ext cx="0" cy="0"/>
          <a:chOff x="0" y="0"/>
          <a:chExt cx="0" cy="0"/>
        </a:xfrm>
      </p:grpSpPr>
      <p:sp>
        <p:nvSpPr>
          <p:cNvPr id="421" name="Google Shape;421;p4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22" name="Google Shape;422;p4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9"/>
        <p:cNvGrpSpPr/>
        <p:nvPr/>
      </p:nvGrpSpPr>
      <p:grpSpPr>
        <a:xfrm>
          <a:off x="0" y="0"/>
          <a:ext cx="0" cy="0"/>
          <a:chOff x="0" y="0"/>
          <a:chExt cx="0" cy="0"/>
        </a:xfrm>
      </p:grpSpPr>
      <p:sp>
        <p:nvSpPr>
          <p:cNvPr id="430" name="Google Shape;430;p4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31" name="Google Shape;431;p4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6"/>
        <p:cNvGrpSpPr/>
        <p:nvPr/>
      </p:nvGrpSpPr>
      <p:grpSpPr>
        <a:xfrm>
          <a:off x="0" y="0"/>
          <a:ext cx="0" cy="0"/>
          <a:chOff x="0" y="0"/>
          <a:chExt cx="0" cy="0"/>
        </a:xfrm>
      </p:grpSpPr>
      <p:sp>
        <p:nvSpPr>
          <p:cNvPr id="437" name="Google Shape;437;p4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38" name="Google Shape;438;p4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9"/>
        <p:cNvGrpSpPr/>
        <p:nvPr/>
      </p:nvGrpSpPr>
      <p:grpSpPr>
        <a:xfrm>
          <a:off x="0" y="0"/>
          <a:ext cx="0" cy="0"/>
          <a:chOff x="0" y="0"/>
          <a:chExt cx="0" cy="0"/>
        </a:xfrm>
      </p:grpSpPr>
      <p:sp>
        <p:nvSpPr>
          <p:cNvPr id="450" name="Google Shape;450;p4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51" name="Google Shape;451;p4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7"/>
        <p:cNvGrpSpPr/>
        <p:nvPr/>
      </p:nvGrpSpPr>
      <p:grpSpPr>
        <a:xfrm>
          <a:off x="0" y="0"/>
          <a:ext cx="0" cy="0"/>
          <a:chOff x="0" y="0"/>
          <a:chExt cx="0" cy="0"/>
        </a:xfrm>
      </p:grpSpPr>
      <p:sp>
        <p:nvSpPr>
          <p:cNvPr id="458" name="Google Shape;458;p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59" name="Google Shape;459;p4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2"/>
        <p:cNvGrpSpPr/>
        <p:nvPr/>
      </p:nvGrpSpPr>
      <p:grpSpPr>
        <a:xfrm>
          <a:off x="0" y="0"/>
          <a:ext cx="0" cy="0"/>
          <a:chOff x="0" y="0"/>
          <a:chExt cx="0" cy="0"/>
        </a:xfrm>
      </p:grpSpPr>
      <p:sp>
        <p:nvSpPr>
          <p:cNvPr id="463" name="Google Shape;463;p4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64" name="Google Shape;464;p4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0"/>
        <p:cNvGrpSpPr/>
        <p:nvPr/>
      </p:nvGrpSpPr>
      <p:grpSpPr>
        <a:xfrm>
          <a:off x="0" y="0"/>
          <a:ext cx="0" cy="0"/>
          <a:chOff x="0" y="0"/>
          <a:chExt cx="0" cy="0"/>
        </a:xfrm>
      </p:grpSpPr>
      <p:sp>
        <p:nvSpPr>
          <p:cNvPr id="471" name="Google Shape;471;p4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72" name="Google Shape;472;p4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0"/>
        <p:cNvGrpSpPr/>
        <p:nvPr/>
      </p:nvGrpSpPr>
      <p:grpSpPr>
        <a:xfrm>
          <a:off x="0" y="0"/>
          <a:ext cx="0" cy="0"/>
          <a:chOff x="0" y="0"/>
          <a:chExt cx="0" cy="0"/>
        </a:xfrm>
      </p:grpSpPr>
      <p:sp>
        <p:nvSpPr>
          <p:cNvPr id="481" name="Google Shape;481;p4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82" name="Google Shape;482;p4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8"/>
        <p:cNvGrpSpPr/>
        <p:nvPr/>
      </p:nvGrpSpPr>
      <p:grpSpPr>
        <a:xfrm>
          <a:off x="0" y="0"/>
          <a:ext cx="0" cy="0"/>
          <a:chOff x="0" y="0"/>
          <a:chExt cx="0" cy="0"/>
        </a:xfrm>
      </p:grpSpPr>
      <p:sp>
        <p:nvSpPr>
          <p:cNvPr id="489" name="Google Shape;489;p4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90" name="Google Shape;490;p4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7"/>
        <p:cNvGrpSpPr/>
        <p:nvPr/>
      </p:nvGrpSpPr>
      <p:grpSpPr>
        <a:xfrm>
          <a:off x="0" y="0"/>
          <a:ext cx="0" cy="0"/>
          <a:chOff x="0" y="0"/>
          <a:chExt cx="0" cy="0"/>
        </a:xfrm>
      </p:grpSpPr>
      <p:sp>
        <p:nvSpPr>
          <p:cNvPr id="498" name="Google Shape;498;p4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99" name="Google Shape;499;p4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6"/>
        <p:cNvGrpSpPr/>
        <p:nvPr/>
      </p:nvGrpSpPr>
      <p:grpSpPr>
        <a:xfrm>
          <a:off x="0" y="0"/>
          <a:ext cx="0" cy="0"/>
          <a:chOff x="0" y="0"/>
          <a:chExt cx="0" cy="0"/>
        </a:xfrm>
      </p:grpSpPr>
      <p:sp>
        <p:nvSpPr>
          <p:cNvPr id="507" name="Google Shape;507;p5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08" name="Google Shape;508;p5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4"/>
        <p:cNvGrpSpPr/>
        <p:nvPr/>
      </p:nvGrpSpPr>
      <p:grpSpPr>
        <a:xfrm>
          <a:off x="0" y="0"/>
          <a:ext cx="0" cy="0"/>
          <a:chOff x="0" y="0"/>
          <a:chExt cx="0" cy="0"/>
        </a:xfrm>
      </p:grpSpPr>
      <p:sp>
        <p:nvSpPr>
          <p:cNvPr id="515" name="Google Shape;515;p5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16" name="Google Shape;516;p5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2"/>
        <p:cNvGrpSpPr/>
        <p:nvPr/>
      </p:nvGrpSpPr>
      <p:grpSpPr>
        <a:xfrm>
          <a:off x="0" y="0"/>
          <a:ext cx="0" cy="0"/>
          <a:chOff x="0" y="0"/>
          <a:chExt cx="0" cy="0"/>
        </a:xfrm>
      </p:grpSpPr>
      <p:sp>
        <p:nvSpPr>
          <p:cNvPr id="523" name="Google Shape;523;p5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24" name="Google Shape;524;p5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7"/>
        <p:cNvGrpSpPr/>
        <p:nvPr/>
      </p:nvGrpSpPr>
      <p:grpSpPr>
        <a:xfrm>
          <a:off x="0" y="0"/>
          <a:ext cx="0" cy="0"/>
          <a:chOff x="0" y="0"/>
          <a:chExt cx="0" cy="0"/>
        </a:xfrm>
      </p:grpSpPr>
      <p:sp>
        <p:nvSpPr>
          <p:cNvPr id="528" name="Google Shape;528;p5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29" name="Google Shape;529;p5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8"/>
        <p:cNvGrpSpPr/>
        <p:nvPr/>
      </p:nvGrpSpPr>
      <p:grpSpPr>
        <a:xfrm>
          <a:off x="0" y="0"/>
          <a:ext cx="0" cy="0"/>
          <a:chOff x="0" y="0"/>
          <a:chExt cx="0" cy="0"/>
        </a:xfrm>
      </p:grpSpPr>
      <p:sp>
        <p:nvSpPr>
          <p:cNvPr id="539" name="Google Shape;539;p5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40" name="Google Shape;540;p5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6"/>
        <p:cNvGrpSpPr/>
        <p:nvPr/>
      </p:nvGrpSpPr>
      <p:grpSpPr>
        <a:xfrm>
          <a:off x="0" y="0"/>
          <a:ext cx="0" cy="0"/>
          <a:chOff x="0" y="0"/>
          <a:chExt cx="0" cy="0"/>
        </a:xfrm>
      </p:grpSpPr>
      <p:sp>
        <p:nvSpPr>
          <p:cNvPr id="547" name="Google Shape;547;p5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48" name="Google Shape;548;p5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2"/>
        <p:cNvGrpSpPr/>
        <p:nvPr/>
      </p:nvGrpSpPr>
      <p:grpSpPr>
        <a:xfrm>
          <a:off x="0" y="0"/>
          <a:ext cx="0" cy="0"/>
          <a:chOff x="0" y="0"/>
          <a:chExt cx="0" cy="0"/>
        </a:xfrm>
      </p:grpSpPr>
      <p:sp>
        <p:nvSpPr>
          <p:cNvPr id="563" name="Google Shape;563;p5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64" name="Google Shape;564;p5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5"/>
        <p:cNvGrpSpPr/>
        <p:nvPr/>
      </p:nvGrpSpPr>
      <p:grpSpPr>
        <a:xfrm>
          <a:off x="0" y="0"/>
          <a:ext cx="0" cy="0"/>
          <a:chOff x="0" y="0"/>
          <a:chExt cx="0" cy="0"/>
        </a:xfrm>
      </p:grpSpPr>
      <p:sp>
        <p:nvSpPr>
          <p:cNvPr id="576" name="Google Shape;576;p5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77" name="Google Shape;577;p5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3"/>
        <p:cNvGrpSpPr/>
        <p:nvPr/>
      </p:nvGrpSpPr>
      <p:grpSpPr>
        <a:xfrm>
          <a:off x="0" y="0"/>
          <a:ext cx="0" cy="0"/>
          <a:chOff x="0" y="0"/>
          <a:chExt cx="0" cy="0"/>
        </a:xfrm>
      </p:grpSpPr>
      <p:sp>
        <p:nvSpPr>
          <p:cNvPr id="584" name="Google Shape;584;p5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85" name="Google Shape;585;p5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8"/>
        <p:cNvGrpSpPr/>
        <p:nvPr/>
      </p:nvGrpSpPr>
      <p:grpSpPr>
        <a:xfrm>
          <a:off x="0" y="0"/>
          <a:ext cx="0" cy="0"/>
          <a:chOff x="0" y="0"/>
          <a:chExt cx="0" cy="0"/>
        </a:xfrm>
      </p:grpSpPr>
      <p:sp>
        <p:nvSpPr>
          <p:cNvPr id="589" name="Google Shape;589;p5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90" name="Google Shape;590;p5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8"/>
        <p:cNvGrpSpPr/>
        <p:nvPr/>
      </p:nvGrpSpPr>
      <p:grpSpPr>
        <a:xfrm>
          <a:off x="0" y="0"/>
          <a:ext cx="0" cy="0"/>
          <a:chOff x="0" y="0"/>
          <a:chExt cx="0" cy="0"/>
        </a:xfrm>
      </p:grpSpPr>
      <p:sp>
        <p:nvSpPr>
          <p:cNvPr id="19" name="Google Shape;19;p61"/>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Pla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0" name="Google Shape;20;p61"/>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22" name="Google Shape;22;p61"/>
          <p:cNvSpPr txBox="1">
            <a:spLocks noGrp="1"/>
          </p:cNvSpPr>
          <p:nvPr>
            <p:ph type="ftr" idx="11"/>
          </p:nvPr>
        </p:nvSpPr>
        <p:spPr>
          <a:xfrm>
            <a:off x="-533400" y="6492875"/>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IN"/>
              <a:t>Web Developer-Python</a:t>
            </a:r>
            <a:endParaRPr/>
          </a:p>
        </p:txBody>
      </p:sp>
      <p:sp>
        <p:nvSpPr>
          <p:cNvPr id="23" name="Google Shape;23;p6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r>
              <a:rPr lang="en-IN" dirty="0"/>
              <a:t>1</a:t>
            </a:r>
            <a:endParaRPr dirty="0"/>
          </a:p>
        </p:txBody>
      </p:sp>
      <p:pic>
        <p:nvPicPr>
          <p:cNvPr id="3" name="Picture 2" descr="A logo with a butterfly&#10;&#10;Description automatically generated">
            <a:extLst>
              <a:ext uri="{FF2B5EF4-FFF2-40B4-BE49-F238E27FC236}">
                <a16:creationId xmlns:a16="http://schemas.microsoft.com/office/drawing/2014/main" id="{92910F47-D5D1-75B4-F2BF-917B30F4182A}"/>
              </a:ext>
            </a:extLst>
          </p:cNvPr>
          <p:cNvPicPr>
            <a:picLocks noChangeAspect="1"/>
          </p:cNvPicPr>
          <p:nvPr userDrawn="1"/>
        </p:nvPicPr>
        <p:blipFill>
          <a:blip r:embed="rId2"/>
          <a:stretch>
            <a:fillRect/>
          </a:stretch>
        </p:blipFill>
        <p:spPr>
          <a:xfrm>
            <a:off x="10777537" y="136525"/>
            <a:ext cx="1152525" cy="476250"/>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4"/>
        <p:cNvGrpSpPr/>
        <p:nvPr/>
      </p:nvGrpSpPr>
      <p:grpSpPr>
        <a:xfrm>
          <a:off x="0" y="0"/>
          <a:ext cx="0" cy="0"/>
          <a:chOff x="0" y="0"/>
          <a:chExt cx="0" cy="0"/>
        </a:xfrm>
      </p:grpSpPr>
      <p:sp>
        <p:nvSpPr>
          <p:cNvPr id="25" name="Google Shape;25;p6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6" name="Google Shape;26;p62"/>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dirty="0"/>
          </a:p>
        </p:txBody>
      </p:sp>
      <p:sp>
        <p:nvSpPr>
          <p:cNvPr id="28" name="Google Shape;28;p62"/>
          <p:cNvSpPr txBox="1">
            <a:spLocks noGrp="1"/>
          </p:cNvSpPr>
          <p:nvPr>
            <p:ph type="ftr" idx="11"/>
          </p:nvPr>
        </p:nvSpPr>
        <p:spPr>
          <a:xfrm>
            <a:off x="817418" y="631190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IN"/>
              <a:t>Web Developer-Python</a:t>
            </a:r>
            <a:endParaRPr/>
          </a:p>
        </p:txBody>
      </p:sp>
      <p:sp>
        <p:nvSpPr>
          <p:cNvPr id="29" name="Google Shape;29;p6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r>
              <a:rPr lang="en-IN" dirty="0"/>
              <a:t>1</a:t>
            </a:r>
            <a:endParaRPr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0"/>
        <p:cNvGrpSpPr/>
        <p:nvPr/>
      </p:nvGrpSpPr>
      <p:grpSpPr>
        <a:xfrm>
          <a:off x="0" y="0"/>
          <a:ext cx="0" cy="0"/>
          <a:chOff x="0" y="0"/>
          <a:chExt cx="0" cy="0"/>
        </a:xfrm>
      </p:grpSpPr>
      <p:sp>
        <p:nvSpPr>
          <p:cNvPr id="31" name="Google Shape;31;p63"/>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Pla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2" name="Google Shape;32;p63"/>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757575"/>
              </a:buClr>
              <a:buSzPts val="2400"/>
              <a:buNone/>
              <a:defRPr sz="2400">
                <a:solidFill>
                  <a:srgbClr val="757575"/>
                </a:solidFill>
              </a:defRPr>
            </a:lvl1pPr>
            <a:lvl2pPr marL="914400" lvl="1" indent="-228600" algn="l">
              <a:lnSpc>
                <a:spcPct val="90000"/>
              </a:lnSpc>
              <a:spcBef>
                <a:spcPts val="500"/>
              </a:spcBef>
              <a:spcAft>
                <a:spcPts val="0"/>
              </a:spcAft>
              <a:buClr>
                <a:srgbClr val="757575"/>
              </a:buClr>
              <a:buSzPts val="2000"/>
              <a:buNone/>
              <a:defRPr sz="2000">
                <a:solidFill>
                  <a:srgbClr val="757575"/>
                </a:solidFill>
              </a:defRPr>
            </a:lvl2pPr>
            <a:lvl3pPr marL="1371600" lvl="2" indent="-228600" algn="l">
              <a:lnSpc>
                <a:spcPct val="90000"/>
              </a:lnSpc>
              <a:spcBef>
                <a:spcPts val="500"/>
              </a:spcBef>
              <a:spcAft>
                <a:spcPts val="0"/>
              </a:spcAft>
              <a:buClr>
                <a:srgbClr val="757575"/>
              </a:buClr>
              <a:buSzPts val="1800"/>
              <a:buNone/>
              <a:defRPr sz="1800">
                <a:solidFill>
                  <a:srgbClr val="757575"/>
                </a:solidFill>
              </a:defRPr>
            </a:lvl3pPr>
            <a:lvl4pPr marL="1828800" lvl="3" indent="-228600" algn="l">
              <a:lnSpc>
                <a:spcPct val="90000"/>
              </a:lnSpc>
              <a:spcBef>
                <a:spcPts val="500"/>
              </a:spcBef>
              <a:spcAft>
                <a:spcPts val="0"/>
              </a:spcAft>
              <a:buClr>
                <a:srgbClr val="757575"/>
              </a:buClr>
              <a:buSzPts val="1600"/>
              <a:buNone/>
              <a:defRPr sz="1600">
                <a:solidFill>
                  <a:srgbClr val="757575"/>
                </a:solidFill>
              </a:defRPr>
            </a:lvl4pPr>
            <a:lvl5pPr marL="2286000" lvl="4" indent="-228600" algn="l">
              <a:lnSpc>
                <a:spcPct val="90000"/>
              </a:lnSpc>
              <a:spcBef>
                <a:spcPts val="500"/>
              </a:spcBef>
              <a:spcAft>
                <a:spcPts val="0"/>
              </a:spcAft>
              <a:buClr>
                <a:srgbClr val="757575"/>
              </a:buClr>
              <a:buSzPts val="1600"/>
              <a:buNone/>
              <a:defRPr sz="1600">
                <a:solidFill>
                  <a:srgbClr val="757575"/>
                </a:solidFill>
              </a:defRPr>
            </a:lvl5pPr>
            <a:lvl6pPr marL="2743200" lvl="5" indent="-228600" algn="l">
              <a:lnSpc>
                <a:spcPct val="90000"/>
              </a:lnSpc>
              <a:spcBef>
                <a:spcPts val="500"/>
              </a:spcBef>
              <a:spcAft>
                <a:spcPts val="0"/>
              </a:spcAft>
              <a:buClr>
                <a:srgbClr val="757575"/>
              </a:buClr>
              <a:buSzPts val="1600"/>
              <a:buNone/>
              <a:defRPr sz="1600">
                <a:solidFill>
                  <a:srgbClr val="757575"/>
                </a:solidFill>
              </a:defRPr>
            </a:lvl6pPr>
            <a:lvl7pPr marL="3200400" lvl="6" indent="-228600" algn="l">
              <a:lnSpc>
                <a:spcPct val="90000"/>
              </a:lnSpc>
              <a:spcBef>
                <a:spcPts val="500"/>
              </a:spcBef>
              <a:spcAft>
                <a:spcPts val="0"/>
              </a:spcAft>
              <a:buClr>
                <a:srgbClr val="757575"/>
              </a:buClr>
              <a:buSzPts val="1600"/>
              <a:buNone/>
              <a:defRPr sz="1600">
                <a:solidFill>
                  <a:srgbClr val="757575"/>
                </a:solidFill>
              </a:defRPr>
            </a:lvl7pPr>
            <a:lvl8pPr marL="3657600" lvl="7" indent="-228600" algn="l">
              <a:lnSpc>
                <a:spcPct val="90000"/>
              </a:lnSpc>
              <a:spcBef>
                <a:spcPts val="500"/>
              </a:spcBef>
              <a:spcAft>
                <a:spcPts val="0"/>
              </a:spcAft>
              <a:buClr>
                <a:srgbClr val="757575"/>
              </a:buClr>
              <a:buSzPts val="1600"/>
              <a:buNone/>
              <a:defRPr sz="1600">
                <a:solidFill>
                  <a:srgbClr val="757575"/>
                </a:solidFill>
              </a:defRPr>
            </a:lvl8pPr>
            <a:lvl9pPr marL="4114800" lvl="8" indent="-228600" algn="l">
              <a:lnSpc>
                <a:spcPct val="90000"/>
              </a:lnSpc>
              <a:spcBef>
                <a:spcPts val="500"/>
              </a:spcBef>
              <a:spcAft>
                <a:spcPts val="0"/>
              </a:spcAft>
              <a:buClr>
                <a:srgbClr val="757575"/>
              </a:buClr>
              <a:buSzPts val="1600"/>
              <a:buNone/>
              <a:defRPr sz="1600">
                <a:solidFill>
                  <a:srgbClr val="757575"/>
                </a:solidFill>
              </a:defRPr>
            </a:lvl9pPr>
          </a:lstStyle>
          <a:p>
            <a:endParaRPr dirty="0"/>
          </a:p>
        </p:txBody>
      </p:sp>
      <p:sp>
        <p:nvSpPr>
          <p:cNvPr id="34" name="Google Shape;34;p63"/>
          <p:cNvSpPr txBox="1">
            <a:spLocks noGrp="1"/>
          </p:cNvSpPr>
          <p:nvPr>
            <p:ph type="ftr" idx="11"/>
          </p:nvPr>
        </p:nvSpPr>
        <p:spPr>
          <a:xfrm>
            <a:off x="-685800" y="6476134"/>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IN"/>
              <a:t>Web Developer-Python</a:t>
            </a:r>
            <a:endParaRPr/>
          </a:p>
        </p:txBody>
      </p:sp>
      <p:sp>
        <p:nvSpPr>
          <p:cNvPr id="35" name="Google Shape;35;p6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r>
              <a:rPr lang="en-IN" dirty="0"/>
              <a:t>1</a:t>
            </a:r>
            <a:endParaRPr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6"/>
        <p:cNvGrpSpPr/>
        <p:nvPr/>
      </p:nvGrpSpPr>
      <p:grpSpPr>
        <a:xfrm>
          <a:off x="0" y="0"/>
          <a:ext cx="0" cy="0"/>
          <a:chOff x="0" y="0"/>
          <a:chExt cx="0" cy="0"/>
        </a:xfrm>
      </p:grpSpPr>
      <p:sp>
        <p:nvSpPr>
          <p:cNvPr id="37" name="Google Shape;37;p6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64"/>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dirty="0"/>
          </a:p>
        </p:txBody>
      </p:sp>
      <p:sp>
        <p:nvSpPr>
          <p:cNvPr id="39" name="Google Shape;39;p64"/>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1" name="Google Shape;41;p64"/>
          <p:cNvSpPr txBox="1">
            <a:spLocks noGrp="1"/>
          </p:cNvSpPr>
          <p:nvPr>
            <p:ph type="ftr" idx="11"/>
          </p:nvPr>
        </p:nvSpPr>
        <p:spPr>
          <a:xfrm>
            <a:off x="256309" y="6310312"/>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IN" dirty="0"/>
              <a:t>Web Developer-Python</a:t>
            </a:r>
            <a:endParaRPr dirty="0"/>
          </a:p>
        </p:txBody>
      </p:sp>
      <p:sp>
        <p:nvSpPr>
          <p:cNvPr id="42" name="Google Shape;42;p6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r>
              <a:rPr lang="en-IN" dirty="0"/>
              <a:t>1</a:t>
            </a:r>
            <a:endParaRPr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3"/>
        <p:cNvGrpSpPr/>
        <p:nvPr/>
      </p:nvGrpSpPr>
      <p:grpSpPr>
        <a:xfrm>
          <a:off x="0" y="0"/>
          <a:ext cx="0" cy="0"/>
          <a:chOff x="0" y="0"/>
          <a:chExt cx="0" cy="0"/>
        </a:xfrm>
      </p:grpSpPr>
      <p:sp>
        <p:nvSpPr>
          <p:cNvPr id="44" name="Google Shape;44;p65"/>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5" name="Google Shape;45;p65"/>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6" name="Google Shape;46;p65"/>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7" name="Google Shape;47;p65"/>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8" name="Google Shape;48;p65"/>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0" name="Google Shape;50;p65"/>
          <p:cNvSpPr txBox="1">
            <a:spLocks noGrp="1"/>
          </p:cNvSpPr>
          <p:nvPr>
            <p:ph type="ftr" idx="11"/>
          </p:nvPr>
        </p:nvSpPr>
        <p:spPr>
          <a:xfrm>
            <a:off x="-311727" y="6310312"/>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IN"/>
              <a:t>Web Developer-Python</a:t>
            </a:r>
            <a:endParaRPr/>
          </a:p>
        </p:txBody>
      </p:sp>
      <p:sp>
        <p:nvSpPr>
          <p:cNvPr id="51" name="Google Shape;51;p6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r>
              <a:rPr lang="en-IN" dirty="0"/>
              <a:t>1</a:t>
            </a:r>
            <a:endParaRPr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2"/>
        <p:cNvGrpSpPr/>
        <p:nvPr/>
      </p:nvGrpSpPr>
      <p:grpSpPr>
        <a:xfrm>
          <a:off x="0" y="0"/>
          <a:ext cx="0" cy="0"/>
          <a:chOff x="0" y="0"/>
          <a:chExt cx="0" cy="0"/>
        </a:xfrm>
      </p:grpSpPr>
      <p:sp>
        <p:nvSpPr>
          <p:cNvPr id="53" name="Google Shape;53;p6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5" name="Google Shape;55;p66"/>
          <p:cNvSpPr txBox="1">
            <a:spLocks noGrp="1"/>
          </p:cNvSpPr>
          <p:nvPr>
            <p:ph type="ftr" idx="11"/>
          </p:nvPr>
        </p:nvSpPr>
        <p:spPr>
          <a:xfrm>
            <a:off x="-76200" y="6489989"/>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IN" dirty="0"/>
              <a:t>Web Developer-Python</a:t>
            </a:r>
            <a:endParaRPr dirty="0"/>
          </a:p>
        </p:txBody>
      </p:sp>
      <p:sp>
        <p:nvSpPr>
          <p:cNvPr id="56" name="Google Shape;56;p6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r>
              <a:rPr lang="en-IN" dirty="0"/>
              <a:t>1</a:t>
            </a:r>
            <a:endParaRPr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7"/>
        <p:cNvGrpSpPr/>
        <p:nvPr/>
      </p:nvGrpSpPr>
      <p:grpSpPr>
        <a:xfrm>
          <a:off x="0" y="0"/>
          <a:ext cx="0" cy="0"/>
          <a:chOff x="0" y="0"/>
          <a:chExt cx="0" cy="0"/>
        </a:xfrm>
      </p:grpSpPr>
      <p:sp>
        <p:nvSpPr>
          <p:cNvPr id="58" name="Google Shape;58;p6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6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IN"/>
              <a:t>Web Developer-Python</a:t>
            </a:r>
            <a:endParaRPr/>
          </a:p>
        </p:txBody>
      </p:sp>
      <p:sp>
        <p:nvSpPr>
          <p:cNvPr id="60" name="Google Shape;60;p6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1"/>
        <p:cNvGrpSpPr/>
        <p:nvPr/>
      </p:nvGrpSpPr>
      <p:grpSpPr>
        <a:xfrm>
          <a:off x="0" y="0"/>
          <a:ext cx="0" cy="0"/>
          <a:chOff x="0" y="0"/>
          <a:chExt cx="0" cy="0"/>
        </a:xfrm>
      </p:grpSpPr>
      <p:sp>
        <p:nvSpPr>
          <p:cNvPr id="62" name="Google Shape;62;p68"/>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Pla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68"/>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4" name="Google Shape;64;p68"/>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6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6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IN"/>
              <a:t>Web Developer-Python</a:t>
            </a:r>
            <a:endParaRPr/>
          </a:p>
        </p:txBody>
      </p:sp>
      <p:sp>
        <p:nvSpPr>
          <p:cNvPr id="67" name="Google Shape;67;p6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8"/>
        <p:cNvGrpSpPr/>
        <p:nvPr/>
      </p:nvGrpSpPr>
      <p:grpSpPr>
        <a:xfrm>
          <a:off x="0" y="0"/>
          <a:ext cx="0" cy="0"/>
          <a:chOff x="0" y="0"/>
          <a:chExt cx="0" cy="0"/>
        </a:xfrm>
      </p:grpSpPr>
      <p:sp>
        <p:nvSpPr>
          <p:cNvPr id="69" name="Google Shape;69;p6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Pla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69"/>
          <p:cNvSpPr>
            <a:spLocks noGrp="1"/>
          </p:cNvSpPr>
          <p:nvPr>
            <p:ph type="pic" idx="2"/>
          </p:nvPr>
        </p:nvSpPr>
        <p:spPr>
          <a:xfrm>
            <a:off x="5183188" y="987425"/>
            <a:ext cx="6172200" cy="4873625"/>
          </a:xfrm>
          <a:prstGeom prst="rect">
            <a:avLst/>
          </a:prstGeom>
          <a:noFill/>
          <a:ln>
            <a:noFill/>
          </a:ln>
        </p:spPr>
      </p:sp>
      <p:sp>
        <p:nvSpPr>
          <p:cNvPr id="71" name="Google Shape;71;p69"/>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2" name="Google Shape;72;p6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6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IN"/>
              <a:t>Web Developer-Python</a:t>
            </a:r>
            <a:endParaRPr/>
          </a:p>
        </p:txBody>
      </p:sp>
      <p:sp>
        <p:nvSpPr>
          <p:cNvPr id="74" name="Google Shape;74;p6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5"/>
        <p:cNvGrpSpPr/>
        <p:nvPr/>
      </p:nvGrpSpPr>
      <p:grpSpPr>
        <a:xfrm>
          <a:off x="0" y="0"/>
          <a:ext cx="0" cy="0"/>
          <a:chOff x="0" y="0"/>
          <a:chExt cx="0" cy="0"/>
        </a:xfrm>
      </p:grpSpPr>
      <p:sp>
        <p:nvSpPr>
          <p:cNvPr id="76" name="Google Shape;76;p7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7" name="Google Shape;77;p70"/>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8" name="Google Shape;78;p7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7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IN"/>
              <a:t>Web Developer-Python</a:t>
            </a:r>
            <a:endParaRPr/>
          </a:p>
        </p:txBody>
      </p:sp>
      <p:sp>
        <p:nvSpPr>
          <p:cNvPr id="80" name="Google Shape;80;p7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1"/>
        <p:cNvGrpSpPr/>
        <p:nvPr/>
      </p:nvGrpSpPr>
      <p:grpSpPr>
        <a:xfrm>
          <a:off x="0" y="0"/>
          <a:ext cx="0" cy="0"/>
          <a:chOff x="0" y="0"/>
          <a:chExt cx="0" cy="0"/>
        </a:xfrm>
      </p:grpSpPr>
      <p:sp>
        <p:nvSpPr>
          <p:cNvPr id="82" name="Google Shape;82;p71"/>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3" name="Google Shape;83;p71"/>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4" name="Google Shape;84;p7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5" name="Google Shape;85;p7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IN"/>
              <a:t>Web Developer-Python</a:t>
            </a:r>
            <a:endParaRPr/>
          </a:p>
        </p:txBody>
      </p:sp>
      <p:sp>
        <p:nvSpPr>
          <p:cNvPr id="86" name="Google Shape;86;p7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6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lay"/>
              <a:buNone/>
              <a:defRPr sz="4400" b="0" i="0" u="none" strike="noStrike" cap="none">
                <a:solidFill>
                  <a:schemeClr val="dk1"/>
                </a:solidFill>
                <a:latin typeface="Play"/>
                <a:ea typeface="Play"/>
                <a:cs typeface="Play"/>
                <a:sym typeface="Play"/>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60"/>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2" name="Google Shape;12;p6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757575"/>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3" name="Google Shape;13;p6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757575"/>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r>
              <a:rPr lang="en-IN"/>
              <a:t>Web Developer-Python</a:t>
            </a:r>
            <a:endParaRPr/>
          </a:p>
        </p:txBody>
      </p:sp>
      <p:sp>
        <p:nvSpPr>
          <p:cNvPr id="14" name="Google Shape;14;p6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757575"/>
                </a:solidFill>
                <a:latin typeface="Arial"/>
                <a:ea typeface="Arial"/>
                <a:cs typeface="Arial"/>
                <a:sym typeface="Arial"/>
              </a:defRPr>
            </a:lvl1pPr>
            <a:lvl2pPr marL="0" marR="0" lvl="1" indent="0" algn="r" rtl="0">
              <a:spcBef>
                <a:spcPts val="0"/>
              </a:spcBef>
              <a:buNone/>
              <a:defRPr sz="1200" b="0" i="0" u="none" strike="noStrike" cap="none">
                <a:solidFill>
                  <a:srgbClr val="757575"/>
                </a:solidFill>
                <a:latin typeface="Arial"/>
                <a:ea typeface="Arial"/>
                <a:cs typeface="Arial"/>
                <a:sym typeface="Arial"/>
              </a:defRPr>
            </a:lvl2pPr>
            <a:lvl3pPr marL="0" marR="0" lvl="2" indent="0" algn="r" rtl="0">
              <a:spcBef>
                <a:spcPts val="0"/>
              </a:spcBef>
              <a:buNone/>
              <a:defRPr sz="1200" b="0" i="0" u="none" strike="noStrike" cap="none">
                <a:solidFill>
                  <a:srgbClr val="757575"/>
                </a:solidFill>
                <a:latin typeface="Arial"/>
                <a:ea typeface="Arial"/>
                <a:cs typeface="Arial"/>
                <a:sym typeface="Arial"/>
              </a:defRPr>
            </a:lvl3pPr>
            <a:lvl4pPr marL="0" marR="0" lvl="3" indent="0" algn="r" rtl="0">
              <a:spcBef>
                <a:spcPts val="0"/>
              </a:spcBef>
              <a:buNone/>
              <a:defRPr sz="1200" b="0" i="0" u="none" strike="noStrike" cap="none">
                <a:solidFill>
                  <a:srgbClr val="757575"/>
                </a:solidFill>
                <a:latin typeface="Arial"/>
                <a:ea typeface="Arial"/>
                <a:cs typeface="Arial"/>
                <a:sym typeface="Arial"/>
              </a:defRPr>
            </a:lvl4pPr>
            <a:lvl5pPr marL="0" marR="0" lvl="4" indent="0" algn="r" rtl="0">
              <a:spcBef>
                <a:spcPts val="0"/>
              </a:spcBef>
              <a:buNone/>
              <a:defRPr sz="1200" b="0" i="0" u="none" strike="noStrike" cap="none">
                <a:solidFill>
                  <a:srgbClr val="757575"/>
                </a:solidFill>
                <a:latin typeface="Arial"/>
                <a:ea typeface="Arial"/>
                <a:cs typeface="Arial"/>
                <a:sym typeface="Arial"/>
              </a:defRPr>
            </a:lvl5pPr>
            <a:lvl6pPr marL="0" marR="0" lvl="5" indent="0" algn="r" rtl="0">
              <a:spcBef>
                <a:spcPts val="0"/>
              </a:spcBef>
              <a:buNone/>
              <a:defRPr sz="1200" b="0" i="0" u="none" strike="noStrike" cap="none">
                <a:solidFill>
                  <a:srgbClr val="757575"/>
                </a:solidFill>
                <a:latin typeface="Arial"/>
                <a:ea typeface="Arial"/>
                <a:cs typeface="Arial"/>
                <a:sym typeface="Arial"/>
              </a:defRPr>
            </a:lvl6pPr>
            <a:lvl7pPr marL="0" marR="0" lvl="6" indent="0" algn="r" rtl="0">
              <a:spcBef>
                <a:spcPts val="0"/>
              </a:spcBef>
              <a:buNone/>
              <a:defRPr sz="1200" b="0" i="0" u="none" strike="noStrike" cap="none">
                <a:solidFill>
                  <a:srgbClr val="757575"/>
                </a:solidFill>
                <a:latin typeface="Arial"/>
                <a:ea typeface="Arial"/>
                <a:cs typeface="Arial"/>
                <a:sym typeface="Arial"/>
              </a:defRPr>
            </a:lvl7pPr>
            <a:lvl8pPr marL="0" marR="0" lvl="7" indent="0" algn="r" rtl="0">
              <a:spcBef>
                <a:spcPts val="0"/>
              </a:spcBef>
              <a:buNone/>
              <a:defRPr sz="1200" b="0" i="0" u="none" strike="noStrike" cap="none">
                <a:solidFill>
                  <a:srgbClr val="757575"/>
                </a:solidFill>
                <a:latin typeface="Arial"/>
                <a:ea typeface="Arial"/>
                <a:cs typeface="Arial"/>
                <a:sym typeface="Arial"/>
              </a:defRPr>
            </a:lvl8pPr>
            <a:lvl9pPr marL="0" marR="0" lvl="8" indent="0" algn="r" rtl="0">
              <a:spcBef>
                <a:spcPts val="0"/>
              </a:spcBef>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grpSp>
        <p:nvGrpSpPr>
          <p:cNvPr id="15" name="Google Shape;15;p60"/>
          <p:cNvGrpSpPr/>
          <p:nvPr/>
        </p:nvGrpSpPr>
        <p:grpSpPr>
          <a:xfrm>
            <a:off x="0" y="-42"/>
            <a:ext cx="69574" cy="6858042"/>
            <a:chOff x="0" y="-42"/>
            <a:chExt cx="67800" cy="5143466"/>
          </a:xfrm>
        </p:grpSpPr>
        <p:sp>
          <p:nvSpPr>
            <p:cNvPr id="16" name="Google Shape;16;p60"/>
            <p:cNvSpPr/>
            <p:nvPr/>
          </p:nvSpPr>
          <p:spPr>
            <a:xfrm>
              <a:off x="0" y="-42"/>
              <a:ext cx="67800" cy="995400"/>
            </a:xfrm>
            <a:prstGeom prst="rect">
              <a:avLst/>
            </a:prstGeom>
            <a:solidFill>
              <a:srgbClr val="CCCCC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 name="Google Shape;17;p60"/>
            <p:cNvSpPr/>
            <p:nvPr/>
          </p:nvSpPr>
          <p:spPr>
            <a:xfrm>
              <a:off x="0" y="995324"/>
              <a:ext cx="67800" cy="4148100"/>
            </a:xfrm>
            <a:prstGeom prst="rect">
              <a:avLst/>
            </a:prstGeom>
            <a:solidFill>
              <a:srgbClr val="00000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2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2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9.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3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1.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3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3.xml"/><Relationship Id="rId1" Type="http://schemas.openxmlformats.org/officeDocument/2006/relationships/slideLayout" Target="../slideLayouts/slideLayout2.xml"/><Relationship Id="rId5" Type="http://schemas.openxmlformats.org/officeDocument/2006/relationships/image" Target="../media/image19.png"/><Relationship Id="rId4" Type="http://schemas.openxmlformats.org/officeDocument/2006/relationships/image" Target="../media/image18.png"/></Relationships>
</file>

<file path=ppt/slides/_rels/slide3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5.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7.xm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3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8.xml"/><Relationship Id="rId1" Type="http://schemas.openxmlformats.org/officeDocument/2006/relationships/slideLayout" Target="../slideLayouts/slideLayout2.xml"/><Relationship Id="rId5" Type="http://schemas.openxmlformats.org/officeDocument/2006/relationships/image" Target="../media/image23.png"/><Relationship Id="rId4" Type="http://schemas.openxmlformats.org/officeDocument/2006/relationships/image" Target="../media/image22.png"/></Relationships>
</file>

<file path=ppt/slides/_rels/slide3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9.xml"/><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4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0.xml"/><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4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2.xml"/><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4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46.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8.xml"/><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4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49.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5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54.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5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5.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5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6.xml"/><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5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1" name="Google Shape;91;p1"/>
          <p:cNvSpPr txBox="1"/>
          <p:nvPr/>
        </p:nvSpPr>
        <p:spPr>
          <a:xfrm>
            <a:off x="1082833" y="2946800"/>
            <a:ext cx="10369600" cy="861734"/>
          </a:xfrm>
          <a:prstGeom prst="rect">
            <a:avLst/>
          </a:prstGeom>
          <a:noFill/>
          <a:ln>
            <a:noFill/>
          </a:ln>
        </p:spPr>
        <p:txBody>
          <a:bodyPr spcFirstLastPara="1" wrap="square" lIns="121900" tIns="121900" rIns="121900" bIns="121900" anchor="t" anchorCtr="0">
            <a:spAutoFit/>
          </a:bodyPr>
          <a:lstStyle/>
          <a:p>
            <a:pPr marL="0" marR="0" lvl="0" indent="0" algn="l" rtl="0">
              <a:spcBef>
                <a:spcPts val="0"/>
              </a:spcBef>
              <a:spcAft>
                <a:spcPts val="0"/>
              </a:spcAft>
              <a:buNone/>
            </a:pPr>
            <a:r>
              <a:rPr lang="en-US" sz="4000" b="0" i="0" u="none" strike="noStrike" cap="none" dirty="0" err="1">
                <a:solidFill>
                  <a:schemeClr val="dk1"/>
                </a:solidFill>
                <a:latin typeface="Avenir"/>
                <a:ea typeface="Avenir"/>
                <a:cs typeface="Avenir"/>
                <a:sym typeface="Avenir"/>
              </a:rPr>
              <a:t>Tkinter</a:t>
            </a:r>
            <a:endParaRPr sz="4000" b="0" i="0" u="none" strike="noStrike" cap="none" dirty="0">
              <a:solidFill>
                <a:srgbClr val="000000"/>
              </a:solidFill>
              <a:latin typeface="Avenir"/>
              <a:ea typeface="Avenir"/>
              <a:cs typeface="Avenir"/>
              <a:sym typeface="Avenir"/>
            </a:endParaRPr>
          </a:p>
        </p:txBody>
      </p:sp>
      <p:sp>
        <p:nvSpPr>
          <p:cNvPr id="92" name="Google Shape;92;p1"/>
          <p:cNvSpPr/>
          <p:nvPr/>
        </p:nvSpPr>
        <p:spPr>
          <a:xfrm>
            <a:off x="1216533" y="3836739"/>
            <a:ext cx="1898400" cy="114400"/>
          </a:xfrm>
          <a:prstGeom prst="rect">
            <a:avLst/>
          </a:prstGeom>
          <a:solidFill>
            <a:srgbClr val="CCCCCC"/>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1867" b="0" i="0" u="none" strike="noStrike" cap="none">
              <a:solidFill>
                <a:srgbClr val="000000"/>
              </a:solidFill>
              <a:latin typeface="Arial"/>
              <a:ea typeface="Arial"/>
              <a:cs typeface="Arial"/>
              <a:sym typeface="Arial"/>
            </a:endParaRPr>
          </a:p>
        </p:txBody>
      </p:sp>
      <p:sp>
        <p:nvSpPr>
          <p:cNvPr id="93" name="Google Shape;93;p1"/>
          <p:cNvSpPr/>
          <p:nvPr/>
        </p:nvSpPr>
        <p:spPr>
          <a:xfrm>
            <a:off x="3114933" y="3836733"/>
            <a:ext cx="7852400" cy="114400"/>
          </a:xfrm>
          <a:prstGeom prst="rect">
            <a:avLst/>
          </a:prstGeom>
          <a:solidFill>
            <a:srgbClr val="000000"/>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1867" b="0" i="0" u="none" strike="noStrike" cap="none">
              <a:solidFill>
                <a:srgbClr val="000000"/>
              </a:solidFill>
              <a:latin typeface="Arial"/>
              <a:ea typeface="Arial"/>
              <a:cs typeface="Arial"/>
              <a:sym typeface="Arial"/>
            </a:endParaRPr>
          </a:p>
        </p:txBody>
      </p:sp>
      <p:sp>
        <p:nvSpPr>
          <p:cNvPr id="94" name="Google Shape;94;p1"/>
          <p:cNvSpPr/>
          <p:nvPr/>
        </p:nvSpPr>
        <p:spPr>
          <a:xfrm>
            <a:off x="0" y="0"/>
            <a:ext cx="96800" cy="6858000"/>
          </a:xfrm>
          <a:prstGeom prst="rect">
            <a:avLst/>
          </a:prstGeom>
          <a:solidFill>
            <a:srgbClr val="FFFFFF"/>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1867" b="0" i="0" u="none" strike="noStrike" cap="none">
              <a:solidFill>
                <a:srgbClr val="000000"/>
              </a:solidFill>
              <a:latin typeface="Arial"/>
              <a:ea typeface="Arial"/>
              <a:cs typeface="Arial"/>
              <a:sym typeface="Arial"/>
            </a:endParaRPr>
          </a:p>
        </p:txBody>
      </p:sp>
      <p:grpSp>
        <p:nvGrpSpPr>
          <p:cNvPr id="95" name="Google Shape;95;p1"/>
          <p:cNvGrpSpPr/>
          <p:nvPr/>
        </p:nvGrpSpPr>
        <p:grpSpPr>
          <a:xfrm>
            <a:off x="0" y="-56"/>
            <a:ext cx="90400" cy="6857955"/>
            <a:chOff x="0" y="-42"/>
            <a:chExt cx="67800" cy="5143466"/>
          </a:xfrm>
        </p:grpSpPr>
        <p:sp>
          <p:nvSpPr>
            <p:cNvPr id="96" name="Google Shape;96;p1"/>
            <p:cNvSpPr/>
            <p:nvPr/>
          </p:nvSpPr>
          <p:spPr>
            <a:xfrm>
              <a:off x="0" y="-42"/>
              <a:ext cx="67800" cy="995400"/>
            </a:xfrm>
            <a:prstGeom prst="rect">
              <a:avLst/>
            </a:prstGeom>
            <a:solidFill>
              <a:srgbClr val="CCCCCC"/>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1867" b="0" i="0" u="none" strike="noStrike" cap="none">
                <a:solidFill>
                  <a:srgbClr val="000000"/>
                </a:solidFill>
                <a:latin typeface="Arial"/>
                <a:ea typeface="Arial"/>
                <a:cs typeface="Arial"/>
                <a:sym typeface="Arial"/>
              </a:endParaRPr>
            </a:p>
          </p:txBody>
        </p:sp>
        <p:sp>
          <p:nvSpPr>
            <p:cNvPr id="97" name="Google Shape;97;p1"/>
            <p:cNvSpPr/>
            <p:nvPr/>
          </p:nvSpPr>
          <p:spPr>
            <a:xfrm>
              <a:off x="0" y="995324"/>
              <a:ext cx="67800" cy="4148100"/>
            </a:xfrm>
            <a:prstGeom prst="rect">
              <a:avLst/>
            </a:prstGeom>
            <a:solidFill>
              <a:srgbClr val="000000"/>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1867" b="0" i="0" u="none" strike="noStrike" cap="none">
                <a:solidFill>
                  <a:srgbClr val="000000"/>
                </a:solidFill>
                <a:latin typeface="Arial"/>
                <a:ea typeface="Arial"/>
                <a:cs typeface="Arial"/>
                <a:sym typeface="Arial"/>
              </a:endParaRPr>
            </a:p>
          </p:txBody>
        </p:sp>
      </p:grpSp>
      <p:sp>
        <p:nvSpPr>
          <p:cNvPr id="2" name="Footer Placeholder 1">
            <a:extLst>
              <a:ext uri="{FF2B5EF4-FFF2-40B4-BE49-F238E27FC236}">
                <a16:creationId xmlns:a16="http://schemas.microsoft.com/office/drawing/2014/main" id="{1F4AA165-6679-4D4F-72C6-563FB4AA9416}"/>
              </a:ext>
            </a:extLst>
          </p:cNvPr>
          <p:cNvSpPr>
            <a:spLocks noGrp="1"/>
          </p:cNvSpPr>
          <p:nvPr>
            <p:ph type="ftr" idx="11"/>
          </p:nvPr>
        </p:nvSpPr>
        <p:spPr/>
        <p:txBody>
          <a:bodyPr/>
          <a:lstStyle/>
          <a:p>
            <a:r>
              <a:rPr lang="en-IN"/>
              <a:t>Web Developer-Python</a:t>
            </a:r>
          </a:p>
        </p:txBody>
      </p:sp>
      <p:sp>
        <p:nvSpPr>
          <p:cNvPr id="3" name="Slide Number Placeholder 2">
            <a:extLst>
              <a:ext uri="{FF2B5EF4-FFF2-40B4-BE49-F238E27FC236}">
                <a16:creationId xmlns:a16="http://schemas.microsoft.com/office/drawing/2014/main" id="{B8414FEF-3A97-85F7-35C1-0B8023F671AF}"/>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grpSp>
        <p:nvGrpSpPr>
          <p:cNvPr id="102" name="Google Shape;102;p2"/>
          <p:cNvGrpSpPr/>
          <p:nvPr/>
        </p:nvGrpSpPr>
        <p:grpSpPr>
          <a:xfrm>
            <a:off x="543877" y="6108987"/>
            <a:ext cx="11205845" cy="0"/>
            <a:chOff x="539115" y="3792507"/>
            <a:chExt cx="11205845" cy="0"/>
          </a:xfrm>
        </p:grpSpPr>
        <p:cxnSp>
          <p:nvCxnSpPr>
            <p:cNvPr id="103" name="Google Shape;103;p2"/>
            <p:cNvCxnSpPr/>
            <p:nvPr/>
          </p:nvCxnSpPr>
          <p:spPr>
            <a:xfrm>
              <a:off x="1685925" y="3792507"/>
              <a:ext cx="10059035" cy="0"/>
            </a:xfrm>
            <a:prstGeom prst="straightConnector1">
              <a:avLst/>
            </a:prstGeom>
            <a:noFill/>
            <a:ln w="101600" cap="flat" cmpd="sng">
              <a:solidFill>
                <a:srgbClr val="3A3A3A"/>
              </a:solidFill>
              <a:prstDash val="solid"/>
              <a:miter lim="800000"/>
              <a:headEnd type="none" w="sm" len="sm"/>
              <a:tailEnd type="none" w="sm" len="sm"/>
            </a:ln>
          </p:spPr>
        </p:cxnSp>
        <p:cxnSp>
          <p:nvCxnSpPr>
            <p:cNvPr id="104" name="Google Shape;104;p2"/>
            <p:cNvCxnSpPr/>
            <p:nvPr/>
          </p:nvCxnSpPr>
          <p:spPr>
            <a:xfrm>
              <a:off x="539115" y="3792507"/>
              <a:ext cx="1553845" cy="0"/>
            </a:xfrm>
            <a:prstGeom prst="straightConnector1">
              <a:avLst/>
            </a:prstGeom>
            <a:noFill/>
            <a:ln w="101600" cap="flat" cmpd="sng">
              <a:solidFill>
                <a:srgbClr val="C00000"/>
              </a:solidFill>
              <a:prstDash val="solid"/>
              <a:miter lim="800000"/>
              <a:headEnd type="none" w="sm" len="sm"/>
              <a:tailEnd type="none" w="sm" len="sm"/>
            </a:ln>
          </p:spPr>
        </p:cxnSp>
      </p:grpSp>
      <p:grpSp>
        <p:nvGrpSpPr>
          <p:cNvPr id="105" name="Google Shape;105;p2"/>
          <p:cNvGrpSpPr/>
          <p:nvPr/>
        </p:nvGrpSpPr>
        <p:grpSpPr>
          <a:xfrm>
            <a:off x="3320787" y="4776459"/>
            <a:ext cx="4736716" cy="776075"/>
            <a:chOff x="2076884" y="3202000"/>
            <a:chExt cx="4736716" cy="776075"/>
          </a:xfrm>
        </p:grpSpPr>
        <p:sp>
          <p:nvSpPr>
            <p:cNvPr id="106" name="Google Shape;106;p2"/>
            <p:cNvSpPr/>
            <p:nvPr/>
          </p:nvSpPr>
          <p:spPr>
            <a:xfrm>
              <a:off x="2463132" y="3247534"/>
              <a:ext cx="314092" cy="314092"/>
            </a:xfrm>
            <a:prstGeom prst="ellipse">
              <a:avLst/>
            </a:prstGeom>
            <a:solidFill>
              <a:srgbClr val="FFFFFF"/>
            </a:solidFill>
            <a:ln>
              <a:noFill/>
            </a:ln>
          </p:spPr>
          <p:txBody>
            <a:bodyPr spcFirstLastPara="1" wrap="square" lIns="91425" tIns="91425" rIns="91425" bIns="91425" anchor="ctr" anchorCtr="0">
              <a:noAutofit/>
            </a:bodyPr>
            <a:lstStyle/>
            <a:p>
              <a:pPr marL="0" marR="0" lvl="0" indent="0" algn="ctr" rtl="0">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pic>
          <p:nvPicPr>
            <p:cNvPr id="107" name="Google Shape;107;p2"/>
            <p:cNvPicPr preferRelativeResize="0"/>
            <p:nvPr/>
          </p:nvPicPr>
          <p:blipFill rotWithShape="1">
            <a:blip r:embed="rId3">
              <a:alphaModFix/>
            </a:blip>
            <a:srcRect/>
            <a:stretch/>
          </p:blipFill>
          <p:spPr>
            <a:xfrm>
              <a:off x="5840597" y="3215575"/>
              <a:ext cx="898400" cy="477450"/>
            </a:xfrm>
            <a:prstGeom prst="rect">
              <a:avLst/>
            </a:prstGeom>
            <a:noFill/>
            <a:ln>
              <a:noFill/>
            </a:ln>
          </p:spPr>
        </p:pic>
        <p:pic>
          <p:nvPicPr>
            <p:cNvPr id="108" name="Google Shape;108;p2"/>
            <p:cNvPicPr preferRelativeResize="0"/>
            <p:nvPr/>
          </p:nvPicPr>
          <p:blipFill rotWithShape="1">
            <a:blip r:embed="rId4">
              <a:alphaModFix/>
            </a:blip>
            <a:srcRect/>
            <a:stretch/>
          </p:blipFill>
          <p:spPr>
            <a:xfrm>
              <a:off x="4694523" y="3202000"/>
              <a:ext cx="434169" cy="405125"/>
            </a:xfrm>
            <a:prstGeom prst="rect">
              <a:avLst/>
            </a:prstGeom>
            <a:noFill/>
            <a:ln>
              <a:noFill/>
            </a:ln>
          </p:spPr>
        </p:pic>
        <p:sp>
          <p:nvSpPr>
            <p:cNvPr id="109" name="Google Shape;109;p2"/>
            <p:cNvSpPr txBox="1"/>
            <p:nvPr/>
          </p:nvSpPr>
          <p:spPr>
            <a:xfrm>
              <a:off x="2076884" y="3684675"/>
              <a:ext cx="1086600" cy="293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1100" b="0" i="0" u="none" strike="noStrike" cap="none">
                  <a:solidFill>
                    <a:srgbClr val="434343"/>
                  </a:solidFill>
                  <a:latin typeface="Calibri"/>
                  <a:ea typeface="Calibri"/>
                  <a:cs typeface="Calibri"/>
                  <a:sym typeface="Calibri"/>
                </a:rPr>
                <a:t>Error/ Warning</a:t>
              </a:r>
              <a:endParaRPr sz="1100" b="0" i="0" u="none" strike="noStrike" cap="none">
                <a:solidFill>
                  <a:srgbClr val="434343"/>
                </a:solidFill>
                <a:latin typeface="Calibri"/>
                <a:ea typeface="Calibri"/>
                <a:cs typeface="Calibri"/>
                <a:sym typeface="Calibri"/>
              </a:endParaRPr>
            </a:p>
          </p:txBody>
        </p:sp>
        <p:sp>
          <p:nvSpPr>
            <p:cNvPr id="110" name="Google Shape;110;p2"/>
            <p:cNvSpPr txBox="1"/>
            <p:nvPr/>
          </p:nvSpPr>
          <p:spPr>
            <a:xfrm>
              <a:off x="3347450" y="3684675"/>
              <a:ext cx="865200" cy="293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1100" b="0" i="0" u="none" strike="noStrike" cap="none">
                  <a:solidFill>
                    <a:srgbClr val="434343"/>
                  </a:solidFill>
                  <a:latin typeface="Calibri"/>
                  <a:ea typeface="Calibri"/>
                  <a:cs typeface="Calibri"/>
                  <a:sym typeface="Calibri"/>
                </a:rPr>
                <a:t>Information</a:t>
              </a:r>
              <a:endParaRPr sz="1100" b="0" i="0" u="none" strike="noStrike" cap="none">
                <a:solidFill>
                  <a:srgbClr val="434343"/>
                </a:solidFill>
                <a:latin typeface="Calibri"/>
                <a:ea typeface="Calibri"/>
                <a:cs typeface="Calibri"/>
                <a:sym typeface="Calibri"/>
              </a:endParaRPr>
            </a:p>
          </p:txBody>
        </p:sp>
        <p:sp>
          <p:nvSpPr>
            <p:cNvPr id="111" name="Google Shape;111;p2"/>
            <p:cNvSpPr txBox="1"/>
            <p:nvPr/>
          </p:nvSpPr>
          <p:spPr>
            <a:xfrm>
              <a:off x="4543561" y="3684675"/>
              <a:ext cx="762900" cy="293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1100" b="0" i="0" u="none" strike="noStrike" cap="none">
                  <a:solidFill>
                    <a:srgbClr val="434343"/>
                  </a:solidFill>
                  <a:latin typeface="Calibri"/>
                  <a:ea typeface="Calibri"/>
                  <a:cs typeface="Calibri"/>
                  <a:sym typeface="Calibri"/>
                </a:rPr>
                <a:t>Flashback</a:t>
              </a:r>
              <a:endParaRPr sz="1100" b="0" i="0" u="none" strike="noStrike" cap="none">
                <a:solidFill>
                  <a:srgbClr val="434343"/>
                </a:solidFill>
                <a:latin typeface="Calibri"/>
                <a:ea typeface="Calibri"/>
                <a:cs typeface="Calibri"/>
                <a:sym typeface="Calibri"/>
              </a:endParaRPr>
            </a:p>
          </p:txBody>
        </p:sp>
        <p:sp>
          <p:nvSpPr>
            <p:cNvPr id="112" name="Google Shape;112;p2"/>
            <p:cNvSpPr txBox="1"/>
            <p:nvPr/>
          </p:nvSpPr>
          <p:spPr>
            <a:xfrm>
              <a:off x="5766000" y="3684675"/>
              <a:ext cx="1047600" cy="293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1100" b="0" i="0" u="none" strike="noStrike" cap="none">
                  <a:solidFill>
                    <a:srgbClr val="434343"/>
                  </a:solidFill>
                  <a:latin typeface="Calibri"/>
                  <a:ea typeface="Calibri"/>
                  <a:cs typeface="Calibri"/>
                  <a:sym typeface="Calibri"/>
                </a:rPr>
                <a:t>Class Exercise</a:t>
              </a:r>
              <a:endParaRPr sz="1100" b="0" i="0" u="none" strike="noStrike" cap="none">
                <a:solidFill>
                  <a:srgbClr val="434343"/>
                </a:solidFill>
                <a:latin typeface="Calibri"/>
                <a:ea typeface="Calibri"/>
                <a:cs typeface="Calibri"/>
                <a:sym typeface="Calibri"/>
              </a:endParaRPr>
            </a:p>
          </p:txBody>
        </p:sp>
      </p:grpSp>
      <p:pic>
        <p:nvPicPr>
          <p:cNvPr id="113" name="Google Shape;113;p2" descr="Warning with solid fill"/>
          <p:cNvPicPr preferRelativeResize="0"/>
          <p:nvPr/>
        </p:nvPicPr>
        <p:blipFill rotWithShape="1">
          <a:blip r:embed="rId5">
            <a:alphaModFix/>
          </a:blip>
          <a:srcRect/>
          <a:stretch/>
        </p:blipFill>
        <p:spPr>
          <a:xfrm>
            <a:off x="3652276" y="4794102"/>
            <a:ext cx="423609" cy="423609"/>
          </a:xfrm>
          <a:prstGeom prst="rect">
            <a:avLst/>
          </a:prstGeom>
          <a:noFill/>
          <a:ln>
            <a:noFill/>
          </a:ln>
        </p:spPr>
      </p:pic>
      <p:pic>
        <p:nvPicPr>
          <p:cNvPr id="114" name="Google Shape;114;p2" descr="Information with solid fill"/>
          <p:cNvPicPr preferRelativeResize="0"/>
          <p:nvPr/>
        </p:nvPicPr>
        <p:blipFill rotWithShape="1">
          <a:blip r:embed="rId6">
            <a:alphaModFix/>
          </a:blip>
          <a:srcRect/>
          <a:stretch/>
        </p:blipFill>
        <p:spPr>
          <a:xfrm>
            <a:off x="4760717" y="4752681"/>
            <a:ext cx="506453" cy="506453"/>
          </a:xfrm>
          <a:prstGeom prst="rect">
            <a:avLst/>
          </a:prstGeom>
          <a:noFill/>
          <a:ln>
            <a:noFill/>
          </a:ln>
        </p:spPr>
      </p:pic>
      <p:sp>
        <p:nvSpPr>
          <p:cNvPr id="2" name="Footer Placeholder 1">
            <a:extLst>
              <a:ext uri="{FF2B5EF4-FFF2-40B4-BE49-F238E27FC236}">
                <a16:creationId xmlns:a16="http://schemas.microsoft.com/office/drawing/2014/main" id="{3B41AF86-6F83-7209-5EAF-EB4BB66C03CD}"/>
              </a:ext>
            </a:extLst>
          </p:cNvPr>
          <p:cNvSpPr>
            <a:spLocks noGrp="1"/>
          </p:cNvSpPr>
          <p:nvPr>
            <p:ph type="ftr" idx="11"/>
          </p:nvPr>
        </p:nvSpPr>
        <p:spPr/>
        <p:txBody>
          <a:bodyPr/>
          <a:lstStyle/>
          <a:p>
            <a:r>
              <a:rPr lang="en-IN"/>
              <a:t>Web Developer-Python</a:t>
            </a:r>
          </a:p>
        </p:txBody>
      </p:sp>
      <p:sp>
        <p:nvSpPr>
          <p:cNvPr id="3" name="Slide Number Placeholder 2">
            <a:extLst>
              <a:ext uri="{FF2B5EF4-FFF2-40B4-BE49-F238E27FC236}">
                <a16:creationId xmlns:a16="http://schemas.microsoft.com/office/drawing/2014/main" id="{FF1A69C0-B8ED-AF03-1602-AF6FC2BC441B}"/>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8"/>
        <p:cNvGrpSpPr/>
        <p:nvPr/>
      </p:nvGrpSpPr>
      <p:grpSpPr>
        <a:xfrm>
          <a:off x="0" y="0"/>
          <a:ext cx="0" cy="0"/>
          <a:chOff x="0" y="0"/>
          <a:chExt cx="0" cy="0"/>
        </a:xfrm>
      </p:grpSpPr>
      <p:sp>
        <p:nvSpPr>
          <p:cNvPr id="119" name="Google Shape;119;p3"/>
          <p:cNvSpPr txBox="1"/>
          <p:nvPr/>
        </p:nvSpPr>
        <p:spPr>
          <a:xfrm>
            <a:off x="1160676" y="3051652"/>
            <a:ext cx="2123440" cy="584775"/>
          </a:xfrm>
          <a:prstGeom prst="rect">
            <a:avLst/>
          </a:prstGeom>
          <a:noFill/>
          <a:ln>
            <a:noFill/>
          </a:ln>
        </p:spPr>
        <p:txBody>
          <a:bodyPr spcFirstLastPara="1" wrap="square" lIns="91425" tIns="45700" rIns="91425" bIns="45700" anchor="ctr" anchorCtr="0">
            <a:spAutoFit/>
          </a:bodyPr>
          <a:lstStyle/>
          <a:p>
            <a:pPr marL="0" marR="0" lvl="0" indent="0" algn="ctr" rtl="0">
              <a:spcBef>
                <a:spcPts val="0"/>
              </a:spcBef>
              <a:spcAft>
                <a:spcPts val="0"/>
              </a:spcAft>
              <a:buNone/>
            </a:pPr>
            <a:r>
              <a:rPr lang="en-US" sz="3200" b="0" i="0" u="none" strike="noStrike" cap="none">
                <a:solidFill>
                  <a:srgbClr val="262626"/>
                </a:solidFill>
                <a:latin typeface="Calibri"/>
                <a:ea typeface="Calibri"/>
                <a:cs typeface="Calibri"/>
                <a:sym typeface="Calibri"/>
              </a:rPr>
              <a:t>AGENDA</a:t>
            </a:r>
            <a:endParaRPr sz="3200" b="0" i="0" u="none" strike="noStrike" cap="none">
              <a:solidFill>
                <a:srgbClr val="262626"/>
              </a:solidFill>
              <a:latin typeface="Calibri"/>
              <a:ea typeface="Calibri"/>
              <a:cs typeface="Calibri"/>
              <a:sym typeface="Calibri"/>
            </a:endParaRPr>
          </a:p>
        </p:txBody>
      </p:sp>
      <p:sp>
        <p:nvSpPr>
          <p:cNvPr id="120" name="Google Shape;120;p3"/>
          <p:cNvSpPr txBox="1"/>
          <p:nvPr/>
        </p:nvSpPr>
        <p:spPr>
          <a:xfrm>
            <a:off x="5232400" y="831629"/>
            <a:ext cx="6410959" cy="4930581"/>
          </a:xfrm>
          <a:prstGeom prst="rect">
            <a:avLst/>
          </a:prstGeom>
          <a:noFill/>
          <a:ln>
            <a:noFill/>
          </a:ln>
        </p:spPr>
        <p:txBody>
          <a:bodyPr spcFirstLastPara="1" wrap="square" lIns="91425" tIns="45700" rIns="91425" bIns="45700" anchor="ctr" anchorCtr="0">
            <a:spAutoFit/>
          </a:bodyPr>
          <a:lstStyle/>
          <a:p>
            <a:pPr marL="342900" marR="0" lvl="0" indent="-342900" algn="l" rtl="0">
              <a:lnSpc>
                <a:spcPct val="200000"/>
              </a:lnSpc>
              <a:spcBef>
                <a:spcPts val="0"/>
              </a:spcBef>
              <a:spcAft>
                <a:spcPts val="0"/>
              </a:spcAft>
              <a:buClr>
                <a:schemeClr val="dk1"/>
              </a:buClr>
              <a:buSzPts val="2000"/>
              <a:buFont typeface="Play"/>
              <a:buAutoNum type="arabicPeriod"/>
            </a:pPr>
            <a:r>
              <a:rPr lang="en-US" sz="2000" b="0" i="0" u="none" strike="noStrike" cap="none">
                <a:solidFill>
                  <a:schemeClr val="dk1"/>
                </a:solidFill>
                <a:latin typeface="Calibri"/>
                <a:ea typeface="Calibri"/>
                <a:cs typeface="Calibri"/>
                <a:sym typeface="Calibri"/>
              </a:rPr>
              <a:t>Introduction to Tkinter</a:t>
            </a:r>
            <a:endParaRPr/>
          </a:p>
          <a:p>
            <a:pPr marL="342900" marR="0" lvl="0" indent="-342900" algn="l" rtl="0">
              <a:lnSpc>
                <a:spcPct val="200000"/>
              </a:lnSpc>
              <a:spcBef>
                <a:spcPts val="0"/>
              </a:spcBef>
              <a:spcAft>
                <a:spcPts val="0"/>
              </a:spcAft>
              <a:buClr>
                <a:schemeClr val="dk1"/>
              </a:buClr>
              <a:buSzPts val="2000"/>
              <a:buFont typeface="Play"/>
              <a:buAutoNum type="arabicPeriod"/>
            </a:pPr>
            <a:r>
              <a:rPr lang="en-US" sz="2000" b="0" i="0" u="none" strike="noStrike" cap="none">
                <a:solidFill>
                  <a:schemeClr val="dk1"/>
                </a:solidFill>
                <a:latin typeface="Calibri"/>
                <a:ea typeface="Calibri"/>
                <a:cs typeface="Calibri"/>
                <a:sym typeface="Calibri"/>
              </a:rPr>
              <a:t>Tkinter - Making the first window</a:t>
            </a:r>
            <a:endParaRPr/>
          </a:p>
          <a:p>
            <a:pPr marL="342900" marR="0" lvl="0" indent="-342900" algn="l" rtl="0">
              <a:lnSpc>
                <a:spcPct val="200000"/>
              </a:lnSpc>
              <a:spcBef>
                <a:spcPts val="0"/>
              </a:spcBef>
              <a:spcAft>
                <a:spcPts val="0"/>
              </a:spcAft>
              <a:buClr>
                <a:schemeClr val="dk1"/>
              </a:buClr>
              <a:buSzPts val="2000"/>
              <a:buFont typeface="Play"/>
              <a:buAutoNum type="arabicPeriod"/>
            </a:pPr>
            <a:r>
              <a:rPr lang="en-US" sz="2000" b="0" i="0" u="none" strike="noStrike" cap="none">
                <a:solidFill>
                  <a:schemeClr val="dk1"/>
                </a:solidFill>
                <a:latin typeface="Calibri"/>
                <a:ea typeface="Calibri"/>
                <a:cs typeface="Calibri"/>
                <a:sym typeface="Calibri"/>
              </a:rPr>
              <a:t>Introduction to Tkinter - Titles and Icons</a:t>
            </a:r>
            <a:endParaRPr/>
          </a:p>
          <a:p>
            <a:pPr marL="342900" marR="0" lvl="0" indent="-342900" algn="l" rtl="0">
              <a:lnSpc>
                <a:spcPct val="200000"/>
              </a:lnSpc>
              <a:spcBef>
                <a:spcPts val="0"/>
              </a:spcBef>
              <a:spcAft>
                <a:spcPts val="0"/>
              </a:spcAft>
              <a:buClr>
                <a:schemeClr val="dk1"/>
              </a:buClr>
              <a:buSzPts val="2000"/>
              <a:buFont typeface="Play"/>
              <a:buAutoNum type="arabicPeriod"/>
            </a:pPr>
            <a:r>
              <a:rPr lang="en-US" sz="2000" b="0" i="0" u="none" strike="noStrike" cap="none">
                <a:solidFill>
                  <a:schemeClr val="dk1"/>
                </a:solidFill>
                <a:latin typeface="Calibri"/>
                <a:ea typeface="Calibri"/>
                <a:cs typeface="Calibri"/>
                <a:sym typeface="Calibri"/>
              </a:rPr>
              <a:t>Layouts in Tkinter - Introduction to Layouts</a:t>
            </a:r>
            <a:endParaRPr/>
          </a:p>
          <a:p>
            <a:pPr marL="342900" marR="0" lvl="0" indent="-342900" algn="l" rtl="0">
              <a:lnSpc>
                <a:spcPct val="200000"/>
              </a:lnSpc>
              <a:spcBef>
                <a:spcPts val="0"/>
              </a:spcBef>
              <a:spcAft>
                <a:spcPts val="0"/>
              </a:spcAft>
              <a:buClr>
                <a:schemeClr val="dk1"/>
              </a:buClr>
              <a:buSzPts val="2000"/>
              <a:buFont typeface="Play"/>
              <a:buAutoNum type="arabicPeriod"/>
            </a:pPr>
            <a:r>
              <a:rPr lang="en-US" sz="2000" b="0" i="0" u="none" strike="noStrike" cap="none">
                <a:solidFill>
                  <a:schemeClr val="dk1"/>
                </a:solidFill>
                <a:latin typeface="Calibri"/>
                <a:ea typeface="Calibri"/>
                <a:cs typeface="Calibri"/>
                <a:sym typeface="Calibri"/>
              </a:rPr>
              <a:t>Introduction to Widgets in layouts, Grid layout</a:t>
            </a:r>
            <a:endParaRPr/>
          </a:p>
          <a:p>
            <a:pPr marL="342900" marR="0" lvl="0" indent="-342900" algn="l" rtl="0">
              <a:lnSpc>
                <a:spcPct val="200000"/>
              </a:lnSpc>
              <a:spcBef>
                <a:spcPts val="0"/>
              </a:spcBef>
              <a:spcAft>
                <a:spcPts val="0"/>
              </a:spcAft>
              <a:buClr>
                <a:schemeClr val="dk1"/>
              </a:buClr>
              <a:buSzPts val="2000"/>
              <a:buFont typeface="Play"/>
              <a:buAutoNum type="arabicPeriod"/>
            </a:pPr>
            <a:r>
              <a:rPr lang="en-US" sz="2000" b="0" i="0" u="none" strike="noStrike" cap="none">
                <a:solidFill>
                  <a:schemeClr val="dk1"/>
                </a:solidFill>
                <a:latin typeface="Calibri"/>
                <a:ea typeface="Calibri"/>
                <a:cs typeface="Calibri"/>
                <a:sym typeface="Calibri"/>
              </a:rPr>
              <a:t>Integration using GUI-Designing User Interface</a:t>
            </a:r>
            <a:endParaRPr/>
          </a:p>
          <a:p>
            <a:pPr marL="342900" marR="0" lvl="0" indent="-342900" algn="l" rtl="0">
              <a:lnSpc>
                <a:spcPct val="200000"/>
              </a:lnSpc>
              <a:spcBef>
                <a:spcPts val="0"/>
              </a:spcBef>
              <a:spcAft>
                <a:spcPts val="0"/>
              </a:spcAft>
              <a:buClr>
                <a:schemeClr val="dk1"/>
              </a:buClr>
              <a:buSzPts val="2000"/>
              <a:buFont typeface="Play"/>
              <a:buAutoNum type="arabicPeriod"/>
            </a:pPr>
            <a:r>
              <a:rPr lang="en-US" sz="2000" b="0" i="0" u="none" strike="noStrike" cap="none">
                <a:solidFill>
                  <a:schemeClr val="dk1"/>
                </a:solidFill>
                <a:latin typeface="Calibri"/>
                <a:ea typeface="Calibri"/>
                <a:cs typeface="Calibri"/>
                <a:sym typeface="Calibri"/>
              </a:rPr>
              <a:t>Events</a:t>
            </a:r>
            <a:endParaRPr/>
          </a:p>
          <a:p>
            <a:pPr marL="342900" marR="0" lvl="0" indent="-342900" algn="l" rtl="0">
              <a:lnSpc>
                <a:spcPct val="200000"/>
              </a:lnSpc>
              <a:spcBef>
                <a:spcPts val="0"/>
              </a:spcBef>
              <a:spcAft>
                <a:spcPts val="0"/>
              </a:spcAft>
              <a:buClr>
                <a:schemeClr val="dk1"/>
              </a:buClr>
              <a:buSzPts val="2000"/>
              <a:buFont typeface="Play"/>
              <a:buAutoNum type="arabicPeriod"/>
            </a:pPr>
            <a:r>
              <a:rPr lang="en-US" sz="2000" b="0" i="0" u="none" strike="noStrike" cap="none">
                <a:solidFill>
                  <a:schemeClr val="dk1"/>
                </a:solidFill>
                <a:latin typeface="Calibri"/>
                <a:ea typeface="Calibri"/>
                <a:cs typeface="Calibri"/>
                <a:sym typeface="Calibri"/>
              </a:rPr>
              <a:t>Functions and Layouts</a:t>
            </a:r>
            <a:endParaRPr/>
          </a:p>
        </p:txBody>
      </p:sp>
      <p:cxnSp>
        <p:nvCxnSpPr>
          <p:cNvPr id="121" name="Google Shape;121;p3"/>
          <p:cNvCxnSpPr/>
          <p:nvPr/>
        </p:nvCxnSpPr>
        <p:spPr>
          <a:xfrm>
            <a:off x="4236720" y="984250"/>
            <a:ext cx="0" cy="4889500"/>
          </a:xfrm>
          <a:prstGeom prst="straightConnector1">
            <a:avLst/>
          </a:prstGeom>
          <a:noFill/>
          <a:ln w="19050" cap="flat" cmpd="sng">
            <a:solidFill>
              <a:schemeClr val="accent1"/>
            </a:solidFill>
            <a:prstDash val="solid"/>
            <a:miter lim="800000"/>
            <a:headEnd type="none" w="sm" len="sm"/>
            <a:tailEnd type="none" w="sm" len="sm"/>
          </a:ln>
        </p:spPr>
      </p:cxnSp>
      <p:sp>
        <p:nvSpPr>
          <p:cNvPr id="2" name="Footer Placeholder 1">
            <a:extLst>
              <a:ext uri="{FF2B5EF4-FFF2-40B4-BE49-F238E27FC236}">
                <a16:creationId xmlns:a16="http://schemas.microsoft.com/office/drawing/2014/main" id="{73841936-91B9-B60B-F2D6-6B1872646C8D}"/>
              </a:ext>
            </a:extLst>
          </p:cNvPr>
          <p:cNvSpPr>
            <a:spLocks noGrp="1"/>
          </p:cNvSpPr>
          <p:nvPr>
            <p:ph type="ftr" idx="11"/>
          </p:nvPr>
        </p:nvSpPr>
        <p:spPr/>
        <p:txBody>
          <a:bodyPr/>
          <a:lstStyle/>
          <a:p>
            <a:r>
              <a:rPr lang="en-IN"/>
              <a:t>Web Developer-Python</a:t>
            </a:r>
          </a:p>
        </p:txBody>
      </p:sp>
      <p:sp>
        <p:nvSpPr>
          <p:cNvPr id="3" name="Slide Number Placeholder 2">
            <a:extLst>
              <a:ext uri="{FF2B5EF4-FFF2-40B4-BE49-F238E27FC236}">
                <a16:creationId xmlns:a16="http://schemas.microsoft.com/office/drawing/2014/main" id="{F2A35A10-8A4A-4A12-06D2-559D696F7023}"/>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5"/>
        <p:cNvGrpSpPr/>
        <p:nvPr/>
      </p:nvGrpSpPr>
      <p:grpSpPr>
        <a:xfrm>
          <a:off x="0" y="0"/>
          <a:ext cx="0" cy="0"/>
          <a:chOff x="0" y="0"/>
          <a:chExt cx="0" cy="0"/>
        </a:xfrm>
      </p:grpSpPr>
      <p:sp>
        <p:nvSpPr>
          <p:cNvPr id="126" name="Google Shape;126;p4"/>
          <p:cNvSpPr txBox="1">
            <a:spLocks noGrp="1"/>
          </p:cNvSpPr>
          <p:nvPr>
            <p:ph type="ctrTitle"/>
          </p:nvPr>
        </p:nvSpPr>
        <p:spPr>
          <a:xfrm>
            <a:off x="480000" y="2494400"/>
            <a:ext cx="11406800" cy="1058000"/>
          </a:xfrm>
          <a:prstGeom prst="rect">
            <a:avLst/>
          </a:prstGeom>
          <a:noFill/>
          <a:ln>
            <a:noFill/>
          </a:ln>
        </p:spPr>
        <p:txBody>
          <a:bodyPr spcFirstLastPara="1" wrap="square" lIns="121900" tIns="121900" rIns="121900" bIns="121900" anchor="ctr" anchorCtr="0">
            <a:noAutofit/>
          </a:bodyPr>
          <a:lstStyle/>
          <a:p>
            <a:pPr marL="0" lvl="0" indent="0" algn="l" rtl="0">
              <a:lnSpc>
                <a:spcPct val="100000"/>
              </a:lnSpc>
              <a:spcBef>
                <a:spcPts val="0"/>
              </a:spcBef>
              <a:spcAft>
                <a:spcPts val="0"/>
              </a:spcAft>
              <a:buClr>
                <a:srgbClr val="000000"/>
              </a:buClr>
              <a:buSzPts val="5000"/>
              <a:buFont typeface="Calibri"/>
              <a:buNone/>
            </a:pPr>
            <a:r>
              <a:rPr lang="en-US" sz="4000" dirty="0">
                <a:solidFill>
                  <a:srgbClr val="000000"/>
                </a:solidFill>
                <a:latin typeface="Calibri"/>
                <a:ea typeface="Calibri"/>
                <a:cs typeface="Calibri"/>
                <a:sym typeface="Calibri"/>
              </a:rPr>
              <a:t>1. </a:t>
            </a:r>
            <a:r>
              <a:rPr lang="en-US" sz="4000" dirty="0">
                <a:latin typeface="Calibri"/>
                <a:ea typeface="Calibri"/>
                <a:cs typeface="Calibri"/>
                <a:sym typeface="Calibri"/>
              </a:rPr>
              <a:t>Introduction to </a:t>
            </a:r>
            <a:r>
              <a:rPr lang="en-US" sz="4000" dirty="0" err="1">
                <a:latin typeface="Calibri"/>
                <a:ea typeface="Calibri"/>
                <a:cs typeface="Calibri"/>
                <a:sym typeface="Calibri"/>
              </a:rPr>
              <a:t>Tkinter</a:t>
            </a:r>
            <a:endParaRPr sz="4000" dirty="0">
              <a:solidFill>
                <a:srgbClr val="000000"/>
              </a:solidFill>
              <a:latin typeface="Calibri"/>
              <a:ea typeface="Calibri"/>
              <a:cs typeface="Calibri"/>
              <a:sym typeface="Calibri"/>
            </a:endParaRPr>
          </a:p>
        </p:txBody>
      </p:sp>
      <p:sp>
        <p:nvSpPr>
          <p:cNvPr id="2" name="Footer Placeholder 1">
            <a:extLst>
              <a:ext uri="{FF2B5EF4-FFF2-40B4-BE49-F238E27FC236}">
                <a16:creationId xmlns:a16="http://schemas.microsoft.com/office/drawing/2014/main" id="{3B1A1469-E142-3658-E947-F0097D072C23}"/>
              </a:ext>
            </a:extLst>
          </p:cNvPr>
          <p:cNvSpPr>
            <a:spLocks noGrp="1"/>
          </p:cNvSpPr>
          <p:nvPr>
            <p:ph type="ftr" idx="11"/>
          </p:nvPr>
        </p:nvSpPr>
        <p:spPr/>
        <p:txBody>
          <a:bodyPr/>
          <a:lstStyle/>
          <a:p>
            <a:r>
              <a:rPr lang="en-IN"/>
              <a:t>Web Developer-Python</a:t>
            </a:r>
          </a:p>
        </p:txBody>
      </p:sp>
      <p:sp>
        <p:nvSpPr>
          <p:cNvPr id="3" name="Slide Number Placeholder 2">
            <a:extLst>
              <a:ext uri="{FF2B5EF4-FFF2-40B4-BE49-F238E27FC236}">
                <a16:creationId xmlns:a16="http://schemas.microsoft.com/office/drawing/2014/main" id="{77742265-91B6-0317-076F-A49C1885BE77}"/>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5"/>
          <p:cNvSpPr txBox="1"/>
          <p:nvPr/>
        </p:nvSpPr>
        <p:spPr>
          <a:xfrm>
            <a:off x="304799" y="176513"/>
            <a:ext cx="10552253"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b="0" i="0" u="none" strike="noStrike" cap="none">
                <a:solidFill>
                  <a:srgbClr val="3F3F3F"/>
                </a:solidFill>
                <a:latin typeface="Quattrocento Sans"/>
                <a:ea typeface="Quattrocento Sans"/>
                <a:cs typeface="Quattrocento Sans"/>
                <a:sym typeface="Quattrocento Sans"/>
              </a:rPr>
              <a:t>Introduction to Tkinter</a:t>
            </a:r>
            <a:endParaRPr sz="2800" b="0" i="0" u="none" strike="noStrike" cap="none">
              <a:solidFill>
                <a:srgbClr val="3F3F3F"/>
              </a:solidFill>
              <a:latin typeface="Quattrocento Sans"/>
              <a:ea typeface="Quattrocento Sans"/>
              <a:cs typeface="Quattrocento Sans"/>
              <a:sym typeface="Quattrocento Sans"/>
            </a:endParaRPr>
          </a:p>
        </p:txBody>
      </p:sp>
      <p:sp>
        <p:nvSpPr>
          <p:cNvPr id="132" name="Google Shape;132;p5"/>
          <p:cNvSpPr txBox="1"/>
          <p:nvPr/>
        </p:nvSpPr>
        <p:spPr>
          <a:xfrm>
            <a:off x="715257" y="1126255"/>
            <a:ext cx="4609096" cy="589072"/>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n-US" sz="2400" b="0" i="0" u="none" strike="noStrike" cap="none">
                <a:solidFill>
                  <a:srgbClr val="262626"/>
                </a:solidFill>
                <a:latin typeface="Calibri"/>
                <a:ea typeface="Calibri"/>
                <a:cs typeface="Calibri"/>
                <a:sym typeface="Calibri"/>
              </a:rPr>
              <a:t>Tkinter</a:t>
            </a:r>
            <a:endParaRPr/>
          </a:p>
        </p:txBody>
      </p:sp>
      <p:pic>
        <p:nvPicPr>
          <p:cNvPr id="133" name="Google Shape;133;p5" descr="Closed book with solid fill"/>
          <p:cNvPicPr preferRelativeResize="0"/>
          <p:nvPr/>
        </p:nvPicPr>
        <p:blipFill rotWithShape="1">
          <a:blip r:embed="rId3">
            <a:alphaModFix/>
          </a:blip>
          <a:srcRect/>
          <a:stretch/>
        </p:blipFill>
        <p:spPr>
          <a:xfrm>
            <a:off x="304799" y="1283553"/>
            <a:ext cx="518160" cy="408432"/>
          </a:xfrm>
          <a:prstGeom prst="rect">
            <a:avLst/>
          </a:prstGeom>
          <a:noFill/>
          <a:ln>
            <a:noFill/>
          </a:ln>
        </p:spPr>
      </p:pic>
      <p:sp>
        <p:nvSpPr>
          <p:cNvPr id="134" name="Google Shape;134;p5"/>
          <p:cNvSpPr txBox="1"/>
          <p:nvPr/>
        </p:nvSpPr>
        <p:spPr>
          <a:xfrm>
            <a:off x="822958" y="1903624"/>
            <a:ext cx="10911841" cy="1754326"/>
          </a:xfrm>
          <a:prstGeom prst="rect">
            <a:avLst/>
          </a:prstGeom>
          <a:noFill/>
          <a:ln>
            <a:noFill/>
          </a:ln>
        </p:spPr>
        <p:txBody>
          <a:bodyPr spcFirstLastPara="1" wrap="square" lIns="91425" tIns="45700" rIns="91425" bIns="45700" anchor="t" anchorCtr="0">
            <a:spAutoFit/>
          </a:bodyPr>
          <a:lstStyle/>
          <a:p>
            <a:pPr marL="285750" marR="0" lvl="0" indent="-285750" algn="just" rtl="0">
              <a:spcBef>
                <a:spcPts val="0"/>
              </a:spcBef>
              <a:spcAft>
                <a:spcPts val="0"/>
              </a:spcAft>
              <a:buClr>
                <a:srgbClr val="262626"/>
              </a:buClr>
              <a:buSzPts val="1800"/>
              <a:buFont typeface="Noto Sans Symbols"/>
              <a:buChar char="▪"/>
            </a:pPr>
            <a:r>
              <a:rPr lang="en-US" sz="1800" b="0" i="0" u="none" strike="noStrike" cap="none">
                <a:solidFill>
                  <a:srgbClr val="262626"/>
                </a:solidFill>
                <a:latin typeface="Calibri"/>
                <a:ea typeface="Calibri"/>
                <a:cs typeface="Calibri"/>
                <a:sym typeface="Calibri"/>
              </a:rPr>
              <a:t>Tkinter is the standard GUI (Graphical User Interface) library for Python, providing a fast and easy way to create GUI applications. </a:t>
            </a:r>
            <a:endParaRPr/>
          </a:p>
          <a:p>
            <a:pPr marL="285750" marR="0" lvl="0" indent="-171450" algn="just" rtl="0">
              <a:spcBef>
                <a:spcPts val="0"/>
              </a:spcBef>
              <a:spcAft>
                <a:spcPts val="0"/>
              </a:spcAft>
              <a:buClr>
                <a:schemeClr val="dk1"/>
              </a:buClr>
              <a:buSzPts val="1800"/>
              <a:buFont typeface="Noto Sans Symbols"/>
              <a:buNone/>
            </a:pPr>
            <a:endParaRPr sz="1800" b="0" i="0" u="none" strike="noStrike" cap="none">
              <a:solidFill>
                <a:srgbClr val="262626"/>
              </a:solidFill>
              <a:latin typeface="Calibri"/>
              <a:ea typeface="Calibri"/>
              <a:cs typeface="Calibri"/>
              <a:sym typeface="Calibri"/>
            </a:endParaRPr>
          </a:p>
          <a:p>
            <a:pPr marL="285750" marR="0" lvl="0" indent="-285750" algn="just" rtl="0">
              <a:spcBef>
                <a:spcPts val="0"/>
              </a:spcBef>
              <a:spcAft>
                <a:spcPts val="0"/>
              </a:spcAft>
              <a:buClr>
                <a:srgbClr val="262626"/>
              </a:buClr>
              <a:buSzPts val="1800"/>
              <a:buFont typeface="Noto Sans Symbols"/>
              <a:buChar char="▪"/>
            </a:pPr>
            <a:r>
              <a:rPr lang="en-US" sz="1800" b="0" i="0" u="none" strike="noStrike" cap="none">
                <a:solidFill>
                  <a:srgbClr val="262626"/>
                </a:solidFill>
                <a:latin typeface="Calibri"/>
                <a:ea typeface="Calibri"/>
                <a:cs typeface="Calibri"/>
                <a:sym typeface="Calibri"/>
              </a:rPr>
              <a:t>It is a thin object-oriented layer on top of the Tcl/Tk GUI toolkit.</a:t>
            </a:r>
            <a:endParaRPr/>
          </a:p>
          <a:p>
            <a:pPr marL="285750" marR="0" lvl="0" indent="-171450" algn="just" rtl="0">
              <a:spcBef>
                <a:spcPts val="0"/>
              </a:spcBef>
              <a:spcAft>
                <a:spcPts val="0"/>
              </a:spcAft>
              <a:buClr>
                <a:schemeClr val="dk1"/>
              </a:buClr>
              <a:buSzPts val="1800"/>
              <a:buFont typeface="Noto Sans Symbols"/>
              <a:buNone/>
            </a:pPr>
            <a:endParaRPr sz="1800" b="0" i="0" u="none" strike="noStrike" cap="none">
              <a:solidFill>
                <a:srgbClr val="262626"/>
              </a:solidFill>
              <a:latin typeface="Calibri"/>
              <a:ea typeface="Calibri"/>
              <a:cs typeface="Calibri"/>
              <a:sym typeface="Calibri"/>
            </a:endParaRPr>
          </a:p>
          <a:p>
            <a:pPr marL="285750" marR="0" lvl="0" indent="-285750" algn="just" rtl="0">
              <a:spcBef>
                <a:spcPts val="0"/>
              </a:spcBef>
              <a:spcAft>
                <a:spcPts val="0"/>
              </a:spcAft>
              <a:buClr>
                <a:srgbClr val="262626"/>
              </a:buClr>
              <a:buSzPts val="1800"/>
              <a:buFont typeface="Noto Sans Symbols"/>
              <a:buChar char="▪"/>
            </a:pPr>
            <a:r>
              <a:rPr lang="en-US" sz="1800" b="0" i="0" u="none" strike="noStrike" cap="none">
                <a:solidFill>
                  <a:srgbClr val="262626"/>
                </a:solidFill>
                <a:latin typeface="Calibri"/>
                <a:ea typeface="Calibri"/>
                <a:cs typeface="Calibri"/>
                <a:sym typeface="Calibri"/>
              </a:rPr>
              <a:t>The name Tkinter comes from </a:t>
            </a:r>
            <a:r>
              <a:rPr lang="en-US" sz="1800" b="1" i="1" u="none" strike="noStrike" cap="none">
                <a:solidFill>
                  <a:srgbClr val="262626"/>
                </a:solidFill>
                <a:latin typeface="Calibri"/>
                <a:ea typeface="Calibri"/>
                <a:cs typeface="Calibri"/>
                <a:sym typeface="Calibri"/>
              </a:rPr>
              <a:t>Tk inter</a:t>
            </a:r>
            <a:r>
              <a:rPr lang="en-US" sz="1800" b="0" i="0" u="none" strike="noStrike" cap="none">
                <a:solidFill>
                  <a:srgbClr val="262626"/>
                </a:solidFill>
                <a:latin typeface="Calibri"/>
                <a:ea typeface="Calibri"/>
                <a:cs typeface="Calibri"/>
                <a:sym typeface="Calibri"/>
              </a:rPr>
              <a:t>face.</a:t>
            </a:r>
            <a:endParaRPr/>
          </a:p>
        </p:txBody>
      </p:sp>
      <p:sp>
        <p:nvSpPr>
          <p:cNvPr id="2" name="Footer Placeholder 1">
            <a:extLst>
              <a:ext uri="{FF2B5EF4-FFF2-40B4-BE49-F238E27FC236}">
                <a16:creationId xmlns:a16="http://schemas.microsoft.com/office/drawing/2014/main" id="{0B9F8987-E0EB-9166-5072-06C0E5767F5E}"/>
              </a:ext>
            </a:extLst>
          </p:cNvPr>
          <p:cNvSpPr>
            <a:spLocks noGrp="1"/>
          </p:cNvSpPr>
          <p:nvPr>
            <p:ph type="ftr" idx="11"/>
          </p:nvPr>
        </p:nvSpPr>
        <p:spPr/>
        <p:txBody>
          <a:bodyPr/>
          <a:lstStyle/>
          <a:p>
            <a:r>
              <a:rPr lang="en-IN"/>
              <a:t>Web Developer-Python</a:t>
            </a:r>
          </a:p>
        </p:txBody>
      </p:sp>
      <p:sp>
        <p:nvSpPr>
          <p:cNvPr id="3" name="Slide Number Placeholder 2">
            <a:extLst>
              <a:ext uri="{FF2B5EF4-FFF2-40B4-BE49-F238E27FC236}">
                <a16:creationId xmlns:a16="http://schemas.microsoft.com/office/drawing/2014/main" id="{6970AADF-A94E-DDF0-A106-5F876A68DFEC}"/>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8"/>
        <p:cNvGrpSpPr/>
        <p:nvPr/>
      </p:nvGrpSpPr>
      <p:grpSpPr>
        <a:xfrm>
          <a:off x="0" y="0"/>
          <a:ext cx="0" cy="0"/>
          <a:chOff x="0" y="0"/>
          <a:chExt cx="0" cy="0"/>
        </a:xfrm>
      </p:grpSpPr>
      <p:sp>
        <p:nvSpPr>
          <p:cNvPr id="139" name="Google Shape;139;p6"/>
          <p:cNvSpPr txBox="1"/>
          <p:nvPr/>
        </p:nvSpPr>
        <p:spPr>
          <a:xfrm>
            <a:off x="304799" y="176513"/>
            <a:ext cx="10552253"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b="0" i="0" u="none" strike="noStrike" cap="none">
                <a:solidFill>
                  <a:srgbClr val="3F3F3F"/>
                </a:solidFill>
                <a:latin typeface="Quattrocento Sans"/>
                <a:ea typeface="Quattrocento Sans"/>
                <a:cs typeface="Quattrocento Sans"/>
                <a:sym typeface="Quattrocento Sans"/>
              </a:rPr>
              <a:t>Introduction to Tkinter</a:t>
            </a:r>
            <a:endParaRPr sz="2800" b="0" i="0" u="none" strike="noStrike" cap="none">
              <a:solidFill>
                <a:srgbClr val="3F3F3F"/>
              </a:solidFill>
              <a:latin typeface="Quattrocento Sans"/>
              <a:ea typeface="Quattrocento Sans"/>
              <a:cs typeface="Quattrocento Sans"/>
              <a:sym typeface="Quattrocento Sans"/>
            </a:endParaRPr>
          </a:p>
        </p:txBody>
      </p:sp>
      <p:sp>
        <p:nvSpPr>
          <p:cNvPr id="140" name="Google Shape;140;p6"/>
          <p:cNvSpPr txBox="1"/>
          <p:nvPr/>
        </p:nvSpPr>
        <p:spPr>
          <a:xfrm>
            <a:off x="715257" y="1126255"/>
            <a:ext cx="4609096" cy="589072"/>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n-US" sz="2400" b="0" i="0" u="none" strike="noStrike" cap="none">
                <a:solidFill>
                  <a:srgbClr val="262626"/>
                </a:solidFill>
                <a:latin typeface="Calibri"/>
                <a:ea typeface="Calibri"/>
                <a:cs typeface="Calibri"/>
                <a:sym typeface="Calibri"/>
              </a:rPr>
              <a:t>Features</a:t>
            </a:r>
            <a:endParaRPr/>
          </a:p>
        </p:txBody>
      </p:sp>
      <p:pic>
        <p:nvPicPr>
          <p:cNvPr id="141" name="Google Shape;141;p6" descr="Closed book with solid fill"/>
          <p:cNvPicPr preferRelativeResize="0"/>
          <p:nvPr/>
        </p:nvPicPr>
        <p:blipFill rotWithShape="1">
          <a:blip r:embed="rId3">
            <a:alphaModFix/>
          </a:blip>
          <a:srcRect/>
          <a:stretch/>
        </p:blipFill>
        <p:spPr>
          <a:xfrm>
            <a:off x="304799" y="1283553"/>
            <a:ext cx="518160" cy="408432"/>
          </a:xfrm>
          <a:prstGeom prst="rect">
            <a:avLst/>
          </a:prstGeom>
          <a:noFill/>
          <a:ln>
            <a:noFill/>
          </a:ln>
        </p:spPr>
      </p:pic>
      <p:sp>
        <p:nvSpPr>
          <p:cNvPr id="142" name="Google Shape;142;p6"/>
          <p:cNvSpPr txBox="1"/>
          <p:nvPr/>
        </p:nvSpPr>
        <p:spPr>
          <a:xfrm>
            <a:off x="822959" y="1849283"/>
            <a:ext cx="3698241" cy="3338735"/>
          </a:xfrm>
          <a:prstGeom prst="rect">
            <a:avLst/>
          </a:prstGeom>
          <a:noFill/>
          <a:ln>
            <a:noFill/>
          </a:ln>
        </p:spPr>
        <p:txBody>
          <a:bodyPr spcFirstLastPara="1" wrap="square" lIns="91425" tIns="45700" rIns="91425" bIns="45700" anchor="t" anchorCtr="0">
            <a:spAutoFit/>
          </a:bodyPr>
          <a:lstStyle/>
          <a:p>
            <a:pPr marL="285750" marR="0" lvl="0" indent="-285750" algn="just" rtl="0">
              <a:lnSpc>
                <a:spcPct val="200000"/>
              </a:lnSpc>
              <a:spcBef>
                <a:spcPts val="0"/>
              </a:spcBef>
              <a:spcAft>
                <a:spcPts val="0"/>
              </a:spcAft>
              <a:buClr>
                <a:srgbClr val="262626"/>
              </a:buClr>
              <a:buSzPts val="1800"/>
              <a:buFont typeface="Noto Sans Symbols"/>
              <a:buChar char="▪"/>
            </a:pPr>
            <a:r>
              <a:rPr lang="en-US" sz="1800" b="0" i="0" u="none" strike="noStrike" cap="none">
                <a:solidFill>
                  <a:srgbClr val="262626"/>
                </a:solidFill>
                <a:latin typeface="Calibri"/>
                <a:ea typeface="Calibri"/>
                <a:cs typeface="Calibri"/>
                <a:sym typeface="Calibri"/>
              </a:rPr>
              <a:t>Standard library integration</a:t>
            </a:r>
            <a:endParaRPr/>
          </a:p>
          <a:p>
            <a:pPr marL="285750" marR="0" lvl="0" indent="-285750" algn="just" rtl="0">
              <a:lnSpc>
                <a:spcPct val="200000"/>
              </a:lnSpc>
              <a:spcBef>
                <a:spcPts val="0"/>
              </a:spcBef>
              <a:spcAft>
                <a:spcPts val="0"/>
              </a:spcAft>
              <a:buClr>
                <a:srgbClr val="262626"/>
              </a:buClr>
              <a:buSzPts val="1800"/>
              <a:buFont typeface="Noto Sans Symbols"/>
              <a:buChar char="▪"/>
            </a:pPr>
            <a:r>
              <a:rPr lang="en-US" sz="1800" b="0" i="0" u="none" strike="noStrike" cap="none">
                <a:solidFill>
                  <a:srgbClr val="262626"/>
                </a:solidFill>
                <a:latin typeface="Calibri"/>
                <a:ea typeface="Calibri"/>
                <a:cs typeface="Calibri"/>
                <a:sym typeface="Calibri"/>
              </a:rPr>
              <a:t>Cross-platform compatibility</a:t>
            </a:r>
            <a:endParaRPr/>
          </a:p>
          <a:p>
            <a:pPr marL="285750" marR="0" lvl="0" indent="-285750" algn="just" rtl="0">
              <a:lnSpc>
                <a:spcPct val="200000"/>
              </a:lnSpc>
              <a:spcBef>
                <a:spcPts val="0"/>
              </a:spcBef>
              <a:spcAft>
                <a:spcPts val="0"/>
              </a:spcAft>
              <a:buClr>
                <a:srgbClr val="262626"/>
              </a:buClr>
              <a:buSzPts val="1800"/>
              <a:buFont typeface="Noto Sans Symbols"/>
              <a:buChar char="▪"/>
            </a:pPr>
            <a:r>
              <a:rPr lang="en-US" sz="1800" b="0" i="0" u="none" strike="noStrike" cap="none">
                <a:solidFill>
                  <a:srgbClr val="262626"/>
                </a:solidFill>
                <a:latin typeface="Calibri"/>
                <a:ea typeface="Calibri"/>
                <a:cs typeface="Calibri"/>
                <a:sym typeface="Calibri"/>
              </a:rPr>
              <a:t>Ease of use</a:t>
            </a:r>
            <a:endParaRPr/>
          </a:p>
          <a:p>
            <a:pPr marL="285750" marR="0" lvl="0" indent="-285750" algn="just" rtl="0">
              <a:lnSpc>
                <a:spcPct val="200000"/>
              </a:lnSpc>
              <a:spcBef>
                <a:spcPts val="0"/>
              </a:spcBef>
              <a:spcAft>
                <a:spcPts val="0"/>
              </a:spcAft>
              <a:buClr>
                <a:srgbClr val="262626"/>
              </a:buClr>
              <a:buSzPts val="1800"/>
              <a:buFont typeface="Noto Sans Symbols"/>
              <a:buChar char="▪"/>
            </a:pPr>
            <a:r>
              <a:rPr lang="en-US" sz="1800" b="0" i="0" u="none" strike="noStrike" cap="none">
                <a:solidFill>
                  <a:srgbClr val="262626"/>
                </a:solidFill>
                <a:latin typeface="Calibri"/>
                <a:ea typeface="Calibri"/>
                <a:cs typeface="Calibri"/>
                <a:sym typeface="Calibri"/>
              </a:rPr>
              <a:t>Rich widget set</a:t>
            </a:r>
            <a:endParaRPr/>
          </a:p>
          <a:p>
            <a:pPr marL="285750" marR="0" lvl="0" indent="-285750" algn="just" rtl="0">
              <a:lnSpc>
                <a:spcPct val="200000"/>
              </a:lnSpc>
              <a:spcBef>
                <a:spcPts val="0"/>
              </a:spcBef>
              <a:spcAft>
                <a:spcPts val="0"/>
              </a:spcAft>
              <a:buClr>
                <a:srgbClr val="262626"/>
              </a:buClr>
              <a:buSzPts val="1800"/>
              <a:buFont typeface="Noto Sans Symbols"/>
              <a:buChar char="▪"/>
            </a:pPr>
            <a:r>
              <a:rPr lang="en-US" sz="1800" b="0" i="0" u="none" strike="noStrike" cap="none">
                <a:solidFill>
                  <a:srgbClr val="262626"/>
                </a:solidFill>
                <a:latin typeface="Calibri"/>
                <a:ea typeface="Calibri"/>
                <a:cs typeface="Calibri"/>
                <a:sym typeface="Calibri"/>
              </a:rPr>
              <a:t>Event-driven programming</a:t>
            </a:r>
            <a:endParaRPr/>
          </a:p>
          <a:p>
            <a:pPr marL="285750" marR="0" lvl="0" indent="-285750" algn="just" rtl="0">
              <a:lnSpc>
                <a:spcPct val="200000"/>
              </a:lnSpc>
              <a:spcBef>
                <a:spcPts val="0"/>
              </a:spcBef>
              <a:spcAft>
                <a:spcPts val="0"/>
              </a:spcAft>
              <a:buClr>
                <a:srgbClr val="262626"/>
              </a:buClr>
              <a:buSzPts val="1800"/>
              <a:buFont typeface="Noto Sans Symbols"/>
              <a:buChar char="▪"/>
            </a:pPr>
            <a:r>
              <a:rPr lang="en-US" sz="1800" b="0" i="0" u="none" strike="noStrike" cap="none">
                <a:solidFill>
                  <a:srgbClr val="262626"/>
                </a:solidFill>
                <a:latin typeface="Calibri"/>
                <a:ea typeface="Calibri"/>
                <a:cs typeface="Calibri"/>
                <a:sym typeface="Calibri"/>
              </a:rPr>
              <a:t>Flexible layout management</a:t>
            </a:r>
            <a:endParaRPr/>
          </a:p>
        </p:txBody>
      </p:sp>
      <p:sp>
        <p:nvSpPr>
          <p:cNvPr id="143" name="Google Shape;143;p6"/>
          <p:cNvSpPr txBox="1"/>
          <p:nvPr/>
        </p:nvSpPr>
        <p:spPr>
          <a:xfrm>
            <a:off x="6390639" y="1872625"/>
            <a:ext cx="3698241" cy="3338735"/>
          </a:xfrm>
          <a:prstGeom prst="rect">
            <a:avLst/>
          </a:prstGeom>
          <a:noFill/>
          <a:ln>
            <a:noFill/>
          </a:ln>
        </p:spPr>
        <p:txBody>
          <a:bodyPr spcFirstLastPara="1" wrap="square" lIns="91425" tIns="45700" rIns="91425" bIns="45700" anchor="t" anchorCtr="0">
            <a:spAutoFit/>
          </a:bodyPr>
          <a:lstStyle/>
          <a:p>
            <a:pPr marL="285750" marR="0" lvl="0" indent="-285750" algn="just" rtl="0">
              <a:lnSpc>
                <a:spcPct val="200000"/>
              </a:lnSpc>
              <a:spcBef>
                <a:spcPts val="0"/>
              </a:spcBef>
              <a:spcAft>
                <a:spcPts val="0"/>
              </a:spcAft>
              <a:buClr>
                <a:srgbClr val="262626"/>
              </a:buClr>
              <a:buSzPts val="1800"/>
              <a:buFont typeface="Noto Sans Symbols"/>
              <a:buChar char="▪"/>
            </a:pPr>
            <a:r>
              <a:rPr lang="en-US" sz="1800" b="0" i="0" u="none" strike="noStrike" cap="none">
                <a:solidFill>
                  <a:srgbClr val="262626"/>
                </a:solidFill>
                <a:latin typeface="Calibri"/>
                <a:ea typeface="Calibri"/>
                <a:cs typeface="Calibri"/>
                <a:sym typeface="Calibri"/>
              </a:rPr>
              <a:t>Customizable appearance</a:t>
            </a:r>
            <a:endParaRPr/>
          </a:p>
          <a:p>
            <a:pPr marL="285750" marR="0" lvl="0" indent="-285750" algn="just" rtl="0">
              <a:lnSpc>
                <a:spcPct val="200000"/>
              </a:lnSpc>
              <a:spcBef>
                <a:spcPts val="0"/>
              </a:spcBef>
              <a:spcAft>
                <a:spcPts val="0"/>
              </a:spcAft>
              <a:buClr>
                <a:srgbClr val="262626"/>
              </a:buClr>
              <a:buSzPts val="1800"/>
              <a:buFont typeface="Noto Sans Symbols"/>
              <a:buChar char="▪"/>
            </a:pPr>
            <a:r>
              <a:rPr lang="en-US" sz="1800" b="0" i="0" u="none" strike="noStrike" cap="none">
                <a:solidFill>
                  <a:srgbClr val="262626"/>
                </a:solidFill>
                <a:latin typeface="Calibri"/>
                <a:ea typeface="Calibri"/>
                <a:cs typeface="Calibri"/>
                <a:sym typeface="Calibri"/>
              </a:rPr>
              <a:t>Canvas widget</a:t>
            </a:r>
            <a:endParaRPr/>
          </a:p>
          <a:p>
            <a:pPr marL="285750" marR="0" lvl="0" indent="-285750" algn="just" rtl="0">
              <a:lnSpc>
                <a:spcPct val="200000"/>
              </a:lnSpc>
              <a:spcBef>
                <a:spcPts val="0"/>
              </a:spcBef>
              <a:spcAft>
                <a:spcPts val="0"/>
              </a:spcAft>
              <a:buClr>
                <a:srgbClr val="262626"/>
              </a:buClr>
              <a:buSzPts val="1800"/>
              <a:buFont typeface="Noto Sans Symbols"/>
              <a:buChar char="▪"/>
            </a:pPr>
            <a:r>
              <a:rPr lang="en-US" sz="1800" b="0" i="0" u="none" strike="noStrike" cap="none">
                <a:solidFill>
                  <a:srgbClr val="262626"/>
                </a:solidFill>
                <a:latin typeface="Calibri"/>
                <a:ea typeface="Calibri"/>
                <a:cs typeface="Calibri"/>
                <a:sym typeface="Calibri"/>
              </a:rPr>
              <a:t>Extensible</a:t>
            </a:r>
            <a:endParaRPr/>
          </a:p>
          <a:p>
            <a:pPr marL="285750" marR="0" lvl="0" indent="-285750" algn="just" rtl="0">
              <a:lnSpc>
                <a:spcPct val="200000"/>
              </a:lnSpc>
              <a:spcBef>
                <a:spcPts val="0"/>
              </a:spcBef>
              <a:spcAft>
                <a:spcPts val="0"/>
              </a:spcAft>
              <a:buClr>
                <a:srgbClr val="262626"/>
              </a:buClr>
              <a:buSzPts val="1800"/>
              <a:buFont typeface="Noto Sans Symbols"/>
              <a:buChar char="▪"/>
            </a:pPr>
            <a:r>
              <a:rPr lang="en-US" sz="1800" b="0" i="0" u="none" strike="noStrike" cap="none">
                <a:solidFill>
                  <a:srgbClr val="262626"/>
                </a:solidFill>
                <a:latin typeface="Calibri"/>
                <a:ea typeface="Calibri"/>
                <a:cs typeface="Calibri"/>
                <a:sym typeface="Calibri"/>
              </a:rPr>
              <a:t>Good documentation</a:t>
            </a:r>
            <a:endParaRPr/>
          </a:p>
          <a:p>
            <a:pPr marL="285750" marR="0" lvl="0" indent="-285750" algn="just" rtl="0">
              <a:lnSpc>
                <a:spcPct val="200000"/>
              </a:lnSpc>
              <a:spcBef>
                <a:spcPts val="0"/>
              </a:spcBef>
              <a:spcAft>
                <a:spcPts val="0"/>
              </a:spcAft>
              <a:buClr>
                <a:srgbClr val="262626"/>
              </a:buClr>
              <a:buSzPts val="1800"/>
              <a:buFont typeface="Noto Sans Symbols"/>
              <a:buChar char="▪"/>
            </a:pPr>
            <a:r>
              <a:rPr lang="en-US" sz="1800" b="0" i="0" u="none" strike="noStrike" cap="none">
                <a:solidFill>
                  <a:srgbClr val="262626"/>
                </a:solidFill>
                <a:latin typeface="Calibri"/>
                <a:ea typeface="Calibri"/>
                <a:cs typeface="Calibri"/>
                <a:sym typeface="Calibri"/>
              </a:rPr>
              <a:t>Integration with other libraries</a:t>
            </a:r>
            <a:endParaRPr/>
          </a:p>
          <a:p>
            <a:pPr marL="285750" marR="0" lvl="0" indent="-285750" algn="just" rtl="0">
              <a:lnSpc>
                <a:spcPct val="200000"/>
              </a:lnSpc>
              <a:spcBef>
                <a:spcPts val="0"/>
              </a:spcBef>
              <a:spcAft>
                <a:spcPts val="0"/>
              </a:spcAft>
              <a:buClr>
                <a:srgbClr val="262626"/>
              </a:buClr>
              <a:buSzPts val="1800"/>
              <a:buFont typeface="Noto Sans Symbols"/>
              <a:buChar char="▪"/>
            </a:pPr>
            <a:r>
              <a:rPr lang="en-US" sz="1800" b="0" i="0" u="none" strike="noStrike" cap="none">
                <a:solidFill>
                  <a:srgbClr val="262626"/>
                </a:solidFill>
                <a:latin typeface="Calibri"/>
                <a:ea typeface="Calibri"/>
                <a:cs typeface="Calibri"/>
                <a:sym typeface="Calibri"/>
              </a:rPr>
              <a:t>Stable</a:t>
            </a:r>
            <a:endParaRPr/>
          </a:p>
        </p:txBody>
      </p:sp>
      <p:sp>
        <p:nvSpPr>
          <p:cNvPr id="2" name="Footer Placeholder 1">
            <a:extLst>
              <a:ext uri="{FF2B5EF4-FFF2-40B4-BE49-F238E27FC236}">
                <a16:creationId xmlns:a16="http://schemas.microsoft.com/office/drawing/2014/main" id="{B648987F-8426-445D-4FFF-8BC4758F8E8C}"/>
              </a:ext>
            </a:extLst>
          </p:cNvPr>
          <p:cNvSpPr>
            <a:spLocks noGrp="1"/>
          </p:cNvSpPr>
          <p:nvPr>
            <p:ph type="ftr" idx="11"/>
          </p:nvPr>
        </p:nvSpPr>
        <p:spPr/>
        <p:txBody>
          <a:bodyPr/>
          <a:lstStyle/>
          <a:p>
            <a:r>
              <a:rPr lang="en-IN"/>
              <a:t>Web Developer-Python</a:t>
            </a:r>
          </a:p>
        </p:txBody>
      </p:sp>
      <p:sp>
        <p:nvSpPr>
          <p:cNvPr id="3" name="Slide Number Placeholder 2">
            <a:extLst>
              <a:ext uri="{FF2B5EF4-FFF2-40B4-BE49-F238E27FC236}">
                <a16:creationId xmlns:a16="http://schemas.microsoft.com/office/drawing/2014/main" id="{D69F3568-08CE-670F-1F22-D53445141E19}"/>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47"/>
        <p:cNvGrpSpPr/>
        <p:nvPr/>
      </p:nvGrpSpPr>
      <p:grpSpPr>
        <a:xfrm>
          <a:off x="0" y="0"/>
          <a:ext cx="0" cy="0"/>
          <a:chOff x="0" y="0"/>
          <a:chExt cx="0" cy="0"/>
        </a:xfrm>
      </p:grpSpPr>
      <p:sp>
        <p:nvSpPr>
          <p:cNvPr id="148" name="Google Shape;148;p7"/>
          <p:cNvSpPr txBox="1">
            <a:spLocks noGrp="1"/>
          </p:cNvSpPr>
          <p:nvPr>
            <p:ph type="ctrTitle"/>
          </p:nvPr>
        </p:nvSpPr>
        <p:spPr>
          <a:xfrm>
            <a:off x="480000" y="2494400"/>
            <a:ext cx="11406800" cy="1058000"/>
          </a:xfrm>
          <a:prstGeom prst="rect">
            <a:avLst/>
          </a:prstGeom>
          <a:noFill/>
          <a:ln>
            <a:noFill/>
          </a:ln>
        </p:spPr>
        <p:txBody>
          <a:bodyPr spcFirstLastPara="1" wrap="square" lIns="121900" tIns="121900" rIns="121900" bIns="121900" anchor="ctr" anchorCtr="0">
            <a:noAutofit/>
          </a:bodyPr>
          <a:lstStyle/>
          <a:p>
            <a:pPr marL="0" lvl="0" indent="0" algn="l" rtl="0">
              <a:lnSpc>
                <a:spcPct val="100000"/>
              </a:lnSpc>
              <a:spcBef>
                <a:spcPts val="0"/>
              </a:spcBef>
              <a:spcAft>
                <a:spcPts val="0"/>
              </a:spcAft>
              <a:buClr>
                <a:srgbClr val="000000"/>
              </a:buClr>
              <a:buSzPts val="5000"/>
              <a:buFont typeface="Calibri"/>
              <a:buNone/>
            </a:pPr>
            <a:r>
              <a:rPr lang="en-US" sz="4000">
                <a:solidFill>
                  <a:srgbClr val="000000"/>
                </a:solidFill>
                <a:latin typeface="Calibri"/>
                <a:ea typeface="Calibri"/>
                <a:cs typeface="Calibri"/>
                <a:sym typeface="Calibri"/>
              </a:rPr>
              <a:t>2. </a:t>
            </a:r>
            <a:r>
              <a:rPr lang="en-US" sz="4000">
                <a:latin typeface="Calibri"/>
                <a:ea typeface="Calibri"/>
                <a:cs typeface="Calibri"/>
                <a:sym typeface="Calibri"/>
              </a:rPr>
              <a:t>Tkinter - Making The First Window</a:t>
            </a:r>
            <a:endParaRPr sz="4000">
              <a:solidFill>
                <a:srgbClr val="000000"/>
              </a:solidFill>
              <a:latin typeface="Calibri"/>
              <a:ea typeface="Calibri"/>
              <a:cs typeface="Calibri"/>
              <a:sym typeface="Calibri"/>
            </a:endParaRPr>
          </a:p>
        </p:txBody>
      </p:sp>
      <p:sp>
        <p:nvSpPr>
          <p:cNvPr id="2" name="Footer Placeholder 1">
            <a:extLst>
              <a:ext uri="{FF2B5EF4-FFF2-40B4-BE49-F238E27FC236}">
                <a16:creationId xmlns:a16="http://schemas.microsoft.com/office/drawing/2014/main" id="{B8DDC731-36B5-E3D7-20B0-4DBE4855149D}"/>
              </a:ext>
            </a:extLst>
          </p:cNvPr>
          <p:cNvSpPr>
            <a:spLocks noGrp="1"/>
          </p:cNvSpPr>
          <p:nvPr>
            <p:ph type="ftr" idx="11"/>
          </p:nvPr>
        </p:nvSpPr>
        <p:spPr/>
        <p:txBody>
          <a:bodyPr/>
          <a:lstStyle/>
          <a:p>
            <a:r>
              <a:rPr lang="en-IN"/>
              <a:t>Web Developer-Python</a:t>
            </a:r>
          </a:p>
        </p:txBody>
      </p:sp>
      <p:sp>
        <p:nvSpPr>
          <p:cNvPr id="3" name="Slide Number Placeholder 2">
            <a:extLst>
              <a:ext uri="{FF2B5EF4-FFF2-40B4-BE49-F238E27FC236}">
                <a16:creationId xmlns:a16="http://schemas.microsoft.com/office/drawing/2014/main" id="{4273126A-928C-70EC-DAA2-3B59A5D507C8}"/>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153" name="Google Shape;153;p8"/>
          <p:cNvSpPr txBox="1"/>
          <p:nvPr/>
        </p:nvSpPr>
        <p:spPr>
          <a:xfrm>
            <a:off x="715258" y="1136415"/>
            <a:ext cx="4609096" cy="589072"/>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n-US" sz="2400" b="0" i="0" u="none" strike="noStrike" cap="none">
                <a:solidFill>
                  <a:srgbClr val="262626"/>
                </a:solidFill>
                <a:latin typeface="Calibri"/>
                <a:ea typeface="Calibri"/>
                <a:cs typeface="Calibri"/>
                <a:sym typeface="Calibri"/>
              </a:rPr>
              <a:t>Installing Tkinter</a:t>
            </a:r>
            <a:endParaRPr/>
          </a:p>
        </p:txBody>
      </p:sp>
      <p:pic>
        <p:nvPicPr>
          <p:cNvPr id="154" name="Google Shape;154;p8" descr="Closed book with solid fill"/>
          <p:cNvPicPr preferRelativeResize="0"/>
          <p:nvPr/>
        </p:nvPicPr>
        <p:blipFill rotWithShape="1">
          <a:blip r:embed="rId3">
            <a:alphaModFix/>
          </a:blip>
          <a:srcRect/>
          <a:stretch/>
        </p:blipFill>
        <p:spPr>
          <a:xfrm>
            <a:off x="304800" y="1293713"/>
            <a:ext cx="518160" cy="408432"/>
          </a:xfrm>
          <a:prstGeom prst="rect">
            <a:avLst/>
          </a:prstGeom>
          <a:noFill/>
          <a:ln>
            <a:noFill/>
          </a:ln>
        </p:spPr>
      </p:pic>
      <p:sp>
        <p:nvSpPr>
          <p:cNvPr id="155" name="Google Shape;155;p8"/>
          <p:cNvSpPr txBox="1"/>
          <p:nvPr/>
        </p:nvSpPr>
        <p:spPr>
          <a:xfrm>
            <a:off x="822960" y="1913784"/>
            <a:ext cx="10034092" cy="64633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0" i="0" u="none" strike="noStrike" cap="none">
                <a:solidFill>
                  <a:srgbClr val="262626"/>
                </a:solidFill>
                <a:latin typeface="Calibri"/>
                <a:ea typeface="Calibri"/>
                <a:cs typeface="Calibri"/>
                <a:sym typeface="Calibri"/>
              </a:rPr>
              <a:t>Use `pip` on command prompt to install Tkinter on windows.</a:t>
            </a:r>
            <a:endParaRPr/>
          </a:p>
          <a:p>
            <a:pPr marL="0" marR="0" lvl="0" indent="0" algn="l" rtl="0">
              <a:spcBef>
                <a:spcPts val="0"/>
              </a:spcBef>
              <a:spcAft>
                <a:spcPts val="0"/>
              </a:spcAft>
              <a:buNone/>
            </a:pPr>
            <a:r>
              <a:rPr lang="en-US" sz="1800">
                <a:solidFill>
                  <a:srgbClr val="262626"/>
                </a:solidFill>
                <a:latin typeface="Batang"/>
                <a:ea typeface="Batang"/>
                <a:cs typeface="Batang"/>
                <a:sym typeface="Batang"/>
              </a:rPr>
              <a:t>pip install tk</a:t>
            </a:r>
            <a:endParaRPr sz="1800">
              <a:solidFill>
                <a:schemeClr val="dk1"/>
              </a:solidFill>
              <a:latin typeface="Batang"/>
              <a:ea typeface="Batang"/>
              <a:cs typeface="Batang"/>
              <a:sym typeface="Batang"/>
            </a:endParaRPr>
          </a:p>
        </p:txBody>
      </p:sp>
      <p:pic>
        <p:nvPicPr>
          <p:cNvPr id="156" name="Google Shape;156;p8" descr="A screenshot of a computer&#10;&#10;Description automatically generated"/>
          <p:cNvPicPr preferRelativeResize="0"/>
          <p:nvPr/>
        </p:nvPicPr>
        <p:blipFill rotWithShape="1">
          <a:blip r:embed="rId4">
            <a:alphaModFix/>
          </a:blip>
          <a:srcRect b="25582"/>
          <a:stretch/>
        </p:blipFill>
        <p:spPr>
          <a:xfrm>
            <a:off x="1596817" y="2939538"/>
            <a:ext cx="8998366" cy="3440739"/>
          </a:xfrm>
          <a:prstGeom prst="rect">
            <a:avLst/>
          </a:prstGeom>
          <a:noFill/>
          <a:ln>
            <a:noFill/>
          </a:ln>
        </p:spPr>
      </p:pic>
      <p:sp>
        <p:nvSpPr>
          <p:cNvPr id="157" name="Google Shape;157;p8"/>
          <p:cNvSpPr txBox="1"/>
          <p:nvPr/>
        </p:nvSpPr>
        <p:spPr>
          <a:xfrm>
            <a:off x="304799" y="176513"/>
            <a:ext cx="10552253"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b="0" u="none">
                <a:solidFill>
                  <a:srgbClr val="3F3F3F"/>
                </a:solidFill>
                <a:latin typeface="Quattrocento Sans"/>
                <a:ea typeface="Quattrocento Sans"/>
                <a:cs typeface="Quattrocento Sans"/>
                <a:sym typeface="Quattrocento Sans"/>
              </a:rPr>
              <a:t>Tkinter - Making the first window</a:t>
            </a:r>
            <a:endParaRPr/>
          </a:p>
        </p:txBody>
      </p:sp>
      <p:sp>
        <p:nvSpPr>
          <p:cNvPr id="2" name="Footer Placeholder 1">
            <a:extLst>
              <a:ext uri="{FF2B5EF4-FFF2-40B4-BE49-F238E27FC236}">
                <a16:creationId xmlns:a16="http://schemas.microsoft.com/office/drawing/2014/main" id="{3ACCA608-98AF-AF3D-D583-0D06434253AD}"/>
              </a:ext>
            </a:extLst>
          </p:cNvPr>
          <p:cNvSpPr>
            <a:spLocks noGrp="1"/>
          </p:cNvSpPr>
          <p:nvPr>
            <p:ph type="ftr" idx="11"/>
          </p:nvPr>
        </p:nvSpPr>
        <p:spPr/>
        <p:txBody>
          <a:bodyPr/>
          <a:lstStyle/>
          <a:p>
            <a:r>
              <a:rPr lang="en-IN"/>
              <a:t>Web Developer-Python</a:t>
            </a:r>
          </a:p>
        </p:txBody>
      </p:sp>
      <p:sp>
        <p:nvSpPr>
          <p:cNvPr id="3" name="Slide Number Placeholder 2">
            <a:extLst>
              <a:ext uri="{FF2B5EF4-FFF2-40B4-BE49-F238E27FC236}">
                <a16:creationId xmlns:a16="http://schemas.microsoft.com/office/drawing/2014/main" id="{6096B390-8B55-6FF2-4309-603E15295652}"/>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61"/>
        <p:cNvGrpSpPr/>
        <p:nvPr/>
      </p:nvGrpSpPr>
      <p:grpSpPr>
        <a:xfrm>
          <a:off x="0" y="0"/>
          <a:ext cx="0" cy="0"/>
          <a:chOff x="0" y="0"/>
          <a:chExt cx="0" cy="0"/>
        </a:xfrm>
      </p:grpSpPr>
      <p:sp>
        <p:nvSpPr>
          <p:cNvPr id="162" name="Google Shape;162;p9"/>
          <p:cNvSpPr txBox="1"/>
          <p:nvPr/>
        </p:nvSpPr>
        <p:spPr>
          <a:xfrm>
            <a:off x="304799" y="176513"/>
            <a:ext cx="10552253"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b="0">
                <a:solidFill>
                  <a:srgbClr val="3F3F3F"/>
                </a:solidFill>
                <a:latin typeface="Quattrocento Sans"/>
                <a:ea typeface="Quattrocento Sans"/>
                <a:cs typeface="Quattrocento Sans"/>
                <a:sym typeface="Quattrocento Sans"/>
              </a:rPr>
              <a:t>Tkinter - Making the first window</a:t>
            </a:r>
            <a:endParaRPr/>
          </a:p>
        </p:txBody>
      </p:sp>
      <p:sp>
        <p:nvSpPr>
          <p:cNvPr id="163" name="Google Shape;163;p9"/>
          <p:cNvSpPr txBox="1"/>
          <p:nvPr/>
        </p:nvSpPr>
        <p:spPr>
          <a:xfrm>
            <a:off x="715257" y="1120795"/>
            <a:ext cx="4609096" cy="646290"/>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n-US" sz="2400" dirty="0">
                <a:solidFill>
                  <a:srgbClr val="262626"/>
                </a:solidFill>
                <a:latin typeface="Calibri"/>
                <a:ea typeface="Calibri"/>
                <a:cs typeface="Calibri"/>
                <a:sym typeface="Calibri"/>
              </a:rPr>
              <a:t>creating a simple window:</a:t>
            </a:r>
            <a:endParaRPr lang="en-US" dirty="0"/>
          </a:p>
        </p:txBody>
      </p:sp>
      <p:pic>
        <p:nvPicPr>
          <p:cNvPr id="164" name="Google Shape;164;p9" descr="Closed book with solid fill"/>
          <p:cNvPicPr preferRelativeResize="0"/>
          <p:nvPr/>
        </p:nvPicPr>
        <p:blipFill rotWithShape="1">
          <a:blip r:embed="rId3">
            <a:alphaModFix/>
          </a:blip>
          <a:srcRect/>
          <a:stretch/>
        </p:blipFill>
        <p:spPr>
          <a:xfrm>
            <a:off x="304799" y="1278093"/>
            <a:ext cx="518160" cy="408432"/>
          </a:xfrm>
          <a:prstGeom prst="rect">
            <a:avLst/>
          </a:prstGeom>
          <a:noFill/>
          <a:ln>
            <a:noFill/>
          </a:ln>
        </p:spPr>
      </p:pic>
      <p:pic>
        <p:nvPicPr>
          <p:cNvPr id="165" name="Google Shape;165;p9" descr="A screenshot of a computer&#10;&#10;Description automatically generated"/>
          <p:cNvPicPr preferRelativeResize="0"/>
          <p:nvPr/>
        </p:nvPicPr>
        <p:blipFill rotWithShape="1">
          <a:blip r:embed="rId4">
            <a:alphaModFix/>
          </a:blip>
          <a:srcRect/>
          <a:stretch/>
        </p:blipFill>
        <p:spPr>
          <a:xfrm>
            <a:off x="2352429" y="1818605"/>
            <a:ext cx="7487142" cy="4754915"/>
          </a:xfrm>
          <a:prstGeom prst="rect">
            <a:avLst/>
          </a:prstGeom>
          <a:noFill/>
          <a:ln>
            <a:noFill/>
          </a:ln>
        </p:spPr>
      </p:pic>
      <p:sp>
        <p:nvSpPr>
          <p:cNvPr id="2" name="Footer Placeholder 1">
            <a:extLst>
              <a:ext uri="{FF2B5EF4-FFF2-40B4-BE49-F238E27FC236}">
                <a16:creationId xmlns:a16="http://schemas.microsoft.com/office/drawing/2014/main" id="{62CF90F2-C262-2EC1-A6F6-7D9B65CF9DCB}"/>
              </a:ext>
            </a:extLst>
          </p:cNvPr>
          <p:cNvSpPr>
            <a:spLocks noGrp="1"/>
          </p:cNvSpPr>
          <p:nvPr>
            <p:ph type="ftr" idx="11"/>
          </p:nvPr>
        </p:nvSpPr>
        <p:spPr/>
        <p:txBody>
          <a:bodyPr/>
          <a:lstStyle/>
          <a:p>
            <a:r>
              <a:rPr lang="en-IN"/>
              <a:t>Web Developer-Python</a:t>
            </a:r>
          </a:p>
        </p:txBody>
      </p:sp>
      <p:sp>
        <p:nvSpPr>
          <p:cNvPr id="3" name="Slide Number Placeholder 2">
            <a:extLst>
              <a:ext uri="{FF2B5EF4-FFF2-40B4-BE49-F238E27FC236}">
                <a16:creationId xmlns:a16="http://schemas.microsoft.com/office/drawing/2014/main" id="{0AD66FD3-CE8B-0EA0-7EA4-BB6FFE2CD19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sp>
        <p:nvSpPr>
          <p:cNvPr id="170" name="Google Shape;170;p10"/>
          <p:cNvSpPr txBox="1"/>
          <p:nvPr/>
        </p:nvSpPr>
        <p:spPr>
          <a:xfrm>
            <a:off x="822959" y="1867165"/>
            <a:ext cx="5608321" cy="4619854"/>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n-US" sz="1800">
                <a:solidFill>
                  <a:schemeClr val="dk1"/>
                </a:solidFill>
                <a:latin typeface="Batang"/>
                <a:ea typeface="Batang"/>
                <a:cs typeface="Batang"/>
                <a:sym typeface="Batang"/>
              </a:rPr>
              <a:t>tk.Tk()</a:t>
            </a:r>
            <a:endParaRPr/>
          </a:p>
          <a:p>
            <a:pPr marL="0" marR="0" lvl="0" indent="0" algn="just" rtl="0">
              <a:lnSpc>
                <a:spcPct val="150000"/>
              </a:lnSpc>
              <a:spcBef>
                <a:spcPts val="0"/>
              </a:spcBef>
              <a:spcAft>
                <a:spcPts val="0"/>
              </a:spcAft>
              <a:buNone/>
            </a:pPr>
            <a:r>
              <a:rPr lang="en-US" sz="1800">
                <a:solidFill>
                  <a:schemeClr val="dk1"/>
                </a:solidFill>
                <a:latin typeface="Calibri"/>
                <a:ea typeface="Calibri"/>
                <a:cs typeface="Calibri"/>
                <a:sym typeface="Calibri"/>
              </a:rPr>
              <a:t>Initializes the main window.</a:t>
            </a:r>
            <a:endParaRPr/>
          </a:p>
          <a:p>
            <a:pPr marL="285750" marR="0" lvl="0" indent="-171450" algn="just" rtl="0">
              <a:lnSpc>
                <a:spcPct val="150000"/>
              </a:lnSpc>
              <a:spcBef>
                <a:spcPts val="0"/>
              </a:spcBef>
              <a:spcAft>
                <a:spcPts val="0"/>
              </a:spcAft>
              <a:buClr>
                <a:schemeClr val="dk1"/>
              </a:buClr>
              <a:buSzPts val="1800"/>
              <a:buFont typeface="Noto Sans Symbols"/>
              <a:buNone/>
            </a:pPr>
            <a:endParaRPr sz="1800">
              <a:solidFill>
                <a:schemeClr val="dk1"/>
              </a:solidFill>
              <a:latin typeface="Calibri"/>
              <a:ea typeface="Calibri"/>
              <a:cs typeface="Calibri"/>
              <a:sym typeface="Calibri"/>
            </a:endParaRPr>
          </a:p>
          <a:p>
            <a:pPr marL="0" marR="0" lvl="0" indent="0" algn="just" rtl="0">
              <a:lnSpc>
                <a:spcPct val="150000"/>
              </a:lnSpc>
              <a:spcBef>
                <a:spcPts val="0"/>
              </a:spcBef>
              <a:spcAft>
                <a:spcPts val="0"/>
              </a:spcAft>
              <a:buNone/>
            </a:pPr>
            <a:r>
              <a:rPr lang="en-US" sz="1800">
                <a:solidFill>
                  <a:schemeClr val="dk1"/>
                </a:solidFill>
                <a:latin typeface="Batang"/>
                <a:ea typeface="Batang"/>
                <a:cs typeface="Batang"/>
                <a:sym typeface="Batang"/>
              </a:rPr>
              <a:t>root.title("Simple GUI")</a:t>
            </a:r>
            <a:endParaRPr/>
          </a:p>
          <a:p>
            <a:pPr marL="0" marR="0" lvl="0" indent="0" algn="just" rtl="0">
              <a:lnSpc>
                <a:spcPct val="150000"/>
              </a:lnSpc>
              <a:spcBef>
                <a:spcPts val="0"/>
              </a:spcBef>
              <a:spcAft>
                <a:spcPts val="0"/>
              </a:spcAft>
              <a:buNone/>
            </a:pPr>
            <a:r>
              <a:rPr lang="en-US" sz="1800">
                <a:solidFill>
                  <a:schemeClr val="dk1"/>
                </a:solidFill>
                <a:latin typeface="Calibri"/>
                <a:ea typeface="Calibri"/>
                <a:cs typeface="Calibri"/>
                <a:sym typeface="Calibri"/>
              </a:rPr>
              <a:t>Sets the window title.</a:t>
            </a:r>
            <a:endParaRPr/>
          </a:p>
          <a:p>
            <a:pPr marL="285750" marR="0" lvl="0" indent="-171450" algn="just" rtl="0">
              <a:lnSpc>
                <a:spcPct val="150000"/>
              </a:lnSpc>
              <a:spcBef>
                <a:spcPts val="0"/>
              </a:spcBef>
              <a:spcAft>
                <a:spcPts val="0"/>
              </a:spcAft>
              <a:buClr>
                <a:schemeClr val="dk1"/>
              </a:buClr>
              <a:buSzPts val="1800"/>
              <a:buFont typeface="Noto Sans Symbols"/>
              <a:buNone/>
            </a:pPr>
            <a:endParaRPr sz="1800">
              <a:solidFill>
                <a:schemeClr val="dk1"/>
              </a:solidFill>
              <a:latin typeface="Calibri"/>
              <a:ea typeface="Calibri"/>
              <a:cs typeface="Calibri"/>
              <a:sym typeface="Calibri"/>
            </a:endParaRPr>
          </a:p>
          <a:p>
            <a:pPr marL="0" marR="0" lvl="0" indent="0" algn="just" rtl="0">
              <a:lnSpc>
                <a:spcPct val="150000"/>
              </a:lnSpc>
              <a:spcBef>
                <a:spcPts val="0"/>
              </a:spcBef>
              <a:spcAft>
                <a:spcPts val="0"/>
              </a:spcAft>
              <a:buNone/>
            </a:pPr>
            <a:r>
              <a:rPr lang="en-US" sz="1800">
                <a:solidFill>
                  <a:schemeClr val="dk1"/>
                </a:solidFill>
                <a:latin typeface="Batang"/>
                <a:ea typeface="Batang"/>
                <a:cs typeface="Batang"/>
                <a:sym typeface="Batang"/>
              </a:rPr>
              <a:t>root.geometry("300x200")</a:t>
            </a:r>
            <a:endParaRPr/>
          </a:p>
          <a:p>
            <a:pPr marL="0" marR="0" lvl="0" indent="0" algn="just" rtl="0">
              <a:lnSpc>
                <a:spcPct val="150000"/>
              </a:lnSpc>
              <a:spcBef>
                <a:spcPts val="0"/>
              </a:spcBef>
              <a:spcAft>
                <a:spcPts val="0"/>
              </a:spcAft>
              <a:buNone/>
            </a:pPr>
            <a:r>
              <a:rPr lang="en-US" sz="1800">
                <a:solidFill>
                  <a:schemeClr val="dk1"/>
                </a:solidFill>
                <a:latin typeface="Calibri"/>
                <a:ea typeface="Calibri"/>
                <a:cs typeface="Calibri"/>
                <a:sym typeface="Calibri"/>
              </a:rPr>
              <a:t>Sets the window size.</a:t>
            </a:r>
            <a:endParaRPr/>
          </a:p>
          <a:p>
            <a:pPr marL="285750" marR="0" lvl="0" indent="-171450" algn="just" rtl="0">
              <a:lnSpc>
                <a:spcPct val="150000"/>
              </a:lnSpc>
              <a:spcBef>
                <a:spcPts val="0"/>
              </a:spcBef>
              <a:spcAft>
                <a:spcPts val="0"/>
              </a:spcAft>
              <a:buClr>
                <a:schemeClr val="dk1"/>
              </a:buClr>
              <a:buSzPts val="1800"/>
              <a:buFont typeface="Noto Sans Symbols"/>
              <a:buNone/>
            </a:pPr>
            <a:endParaRPr sz="1800">
              <a:solidFill>
                <a:schemeClr val="dk1"/>
              </a:solidFill>
              <a:latin typeface="Calibri"/>
              <a:ea typeface="Calibri"/>
              <a:cs typeface="Calibri"/>
              <a:sym typeface="Calibri"/>
            </a:endParaRPr>
          </a:p>
          <a:p>
            <a:pPr marL="0" marR="0" lvl="0" indent="0" algn="just" rtl="0">
              <a:lnSpc>
                <a:spcPct val="150000"/>
              </a:lnSpc>
              <a:spcBef>
                <a:spcPts val="0"/>
              </a:spcBef>
              <a:spcAft>
                <a:spcPts val="0"/>
              </a:spcAft>
              <a:buNone/>
            </a:pPr>
            <a:r>
              <a:rPr lang="en-US" sz="1800">
                <a:solidFill>
                  <a:schemeClr val="dk1"/>
                </a:solidFill>
                <a:latin typeface="Batang"/>
                <a:ea typeface="Batang"/>
                <a:cs typeface="Batang"/>
                <a:sym typeface="Batang"/>
              </a:rPr>
              <a:t>root.mainloop()</a:t>
            </a:r>
            <a:endParaRPr/>
          </a:p>
          <a:p>
            <a:pPr marL="0" marR="0" lvl="0" indent="0" algn="just" rtl="0">
              <a:lnSpc>
                <a:spcPct val="150000"/>
              </a:lnSpc>
              <a:spcBef>
                <a:spcPts val="0"/>
              </a:spcBef>
              <a:spcAft>
                <a:spcPts val="0"/>
              </a:spcAft>
              <a:buNone/>
            </a:pPr>
            <a:r>
              <a:rPr lang="en-US" sz="1800">
                <a:solidFill>
                  <a:schemeClr val="dk1"/>
                </a:solidFill>
                <a:latin typeface="Calibri"/>
                <a:ea typeface="Calibri"/>
                <a:cs typeface="Calibri"/>
                <a:sym typeface="Calibri"/>
              </a:rPr>
              <a:t>Starts the event loop to keep the window open.</a:t>
            </a:r>
            <a:endParaRPr sz="1800">
              <a:solidFill>
                <a:schemeClr val="dk1"/>
              </a:solidFill>
              <a:latin typeface="Calibri"/>
              <a:ea typeface="Calibri"/>
              <a:cs typeface="Calibri"/>
              <a:sym typeface="Calibri"/>
            </a:endParaRPr>
          </a:p>
        </p:txBody>
      </p:sp>
      <p:sp>
        <p:nvSpPr>
          <p:cNvPr id="171" name="Google Shape;171;p10"/>
          <p:cNvSpPr txBox="1"/>
          <p:nvPr/>
        </p:nvSpPr>
        <p:spPr>
          <a:xfrm>
            <a:off x="304799" y="176513"/>
            <a:ext cx="10552253"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b="0">
                <a:solidFill>
                  <a:srgbClr val="3F3F3F"/>
                </a:solidFill>
                <a:latin typeface="Quattrocento Sans"/>
                <a:ea typeface="Quattrocento Sans"/>
                <a:cs typeface="Quattrocento Sans"/>
                <a:sym typeface="Quattrocento Sans"/>
              </a:rPr>
              <a:t>Tkinter - Making the first window</a:t>
            </a:r>
            <a:endParaRPr/>
          </a:p>
        </p:txBody>
      </p:sp>
      <p:sp>
        <p:nvSpPr>
          <p:cNvPr id="172" name="Google Shape;172;p10"/>
          <p:cNvSpPr txBox="1"/>
          <p:nvPr/>
        </p:nvSpPr>
        <p:spPr>
          <a:xfrm>
            <a:off x="715256" y="1120795"/>
            <a:ext cx="7554983" cy="646290"/>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n-US" sz="2400" dirty="0">
                <a:solidFill>
                  <a:srgbClr val="262626"/>
                </a:solidFill>
                <a:latin typeface="Calibri"/>
                <a:ea typeface="Calibri"/>
                <a:cs typeface="Calibri"/>
                <a:sym typeface="Calibri"/>
              </a:rPr>
              <a:t>Explanation - creating a simple window</a:t>
            </a:r>
            <a:endParaRPr lang="en-US" dirty="0"/>
          </a:p>
        </p:txBody>
      </p:sp>
      <p:pic>
        <p:nvPicPr>
          <p:cNvPr id="173" name="Google Shape;173;p10" descr="Closed book with solid fill"/>
          <p:cNvPicPr preferRelativeResize="0"/>
          <p:nvPr/>
        </p:nvPicPr>
        <p:blipFill rotWithShape="1">
          <a:blip r:embed="rId3">
            <a:alphaModFix/>
          </a:blip>
          <a:srcRect/>
          <a:stretch/>
        </p:blipFill>
        <p:spPr>
          <a:xfrm>
            <a:off x="304799" y="1278093"/>
            <a:ext cx="518160" cy="408432"/>
          </a:xfrm>
          <a:prstGeom prst="rect">
            <a:avLst/>
          </a:prstGeom>
          <a:noFill/>
          <a:ln>
            <a:noFill/>
          </a:ln>
        </p:spPr>
      </p:pic>
      <p:sp>
        <p:nvSpPr>
          <p:cNvPr id="2" name="Footer Placeholder 1">
            <a:extLst>
              <a:ext uri="{FF2B5EF4-FFF2-40B4-BE49-F238E27FC236}">
                <a16:creationId xmlns:a16="http://schemas.microsoft.com/office/drawing/2014/main" id="{A37DA1A6-7B2F-2E5C-248A-1010256BDB85}"/>
              </a:ext>
            </a:extLst>
          </p:cNvPr>
          <p:cNvSpPr>
            <a:spLocks noGrp="1"/>
          </p:cNvSpPr>
          <p:nvPr>
            <p:ph type="ftr" idx="11"/>
          </p:nvPr>
        </p:nvSpPr>
        <p:spPr/>
        <p:txBody>
          <a:bodyPr/>
          <a:lstStyle/>
          <a:p>
            <a:r>
              <a:rPr lang="en-IN"/>
              <a:t>Web Developer-Python</a:t>
            </a:r>
          </a:p>
        </p:txBody>
      </p:sp>
      <p:sp>
        <p:nvSpPr>
          <p:cNvPr id="3" name="Slide Number Placeholder 2">
            <a:extLst>
              <a:ext uri="{FF2B5EF4-FFF2-40B4-BE49-F238E27FC236}">
                <a16:creationId xmlns:a16="http://schemas.microsoft.com/office/drawing/2014/main" id="{DDA6979D-6E7B-E9A8-620B-2AC9E4B6B8C5}"/>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78" name="Google Shape;178;p11"/>
          <p:cNvSpPr txBox="1"/>
          <p:nvPr/>
        </p:nvSpPr>
        <p:spPr>
          <a:xfrm>
            <a:off x="304799" y="176513"/>
            <a:ext cx="10552253"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b="0">
                <a:solidFill>
                  <a:srgbClr val="3F3F3F"/>
                </a:solidFill>
                <a:latin typeface="Quattrocento Sans"/>
                <a:ea typeface="Quattrocento Sans"/>
                <a:cs typeface="Quattrocento Sans"/>
                <a:sym typeface="Quattrocento Sans"/>
              </a:rPr>
              <a:t>Tkinter - Making the first window</a:t>
            </a:r>
            <a:endParaRPr/>
          </a:p>
        </p:txBody>
      </p:sp>
      <p:sp>
        <p:nvSpPr>
          <p:cNvPr id="179" name="Google Shape;179;p11"/>
          <p:cNvSpPr txBox="1"/>
          <p:nvPr/>
        </p:nvSpPr>
        <p:spPr>
          <a:xfrm>
            <a:off x="715257" y="1789988"/>
            <a:ext cx="5512823" cy="1711366"/>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n-US" sz="1800">
                <a:solidFill>
                  <a:schemeClr val="dk1"/>
                </a:solidFill>
                <a:latin typeface="Calibri"/>
                <a:ea typeface="Calibri"/>
                <a:cs typeface="Calibri"/>
                <a:sym typeface="Calibri"/>
              </a:rPr>
              <a:t>In Tkinter the </a:t>
            </a:r>
            <a:r>
              <a:rPr lang="en-US" sz="1800" b="1">
                <a:solidFill>
                  <a:schemeClr val="dk1"/>
                </a:solidFill>
                <a:latin typeface="Calibri"/>
                <a:ea typeface="Calibri"/>
                <a:cs typeface="Calibri"/>
                <a:sym typeface="Calibri"/>
              </a:rPr>
              <a:t>root.mainloop() </a:t>
            </a:r>
            <a:r>
              <a:rPr lang="en-US" sz="1800">
                <a:solidFill>
                  <a:schemeClr val="dk1"/>
                </a:solidFill>
                <a:latin typeface="Calibri"/>
                <a:ea typeface="Calibri"/>
                <a:cs typeface="Calibri"/>
                <a:sym typeface="Calibri"/>
              </a:rPr>
              <a:t>is a crucial function that starts the main event loop of the GUI application. This loop is responsible for handling all the events and updates within the application.</a:t>
            </a:r>
            <a:endParaRPr sz="1800">
              <a:solidFill>
                <a:schemeClr val="dk1"/>
              </a:solidFill>
              <a:latin typeface="Calibri"/>
              <a:ea typeface="Calibri"/>
              <a:cs typeface="Calibri"/>
              <a:sym typeface="Calibri"/>
            </a:endParaRPr>
          </a:p>
        </p:txBody>
      </p:sp>
      <p:grpSp>
        <p:nvGrpSpPr>
          <p:cNvPr id="180" name="Google Shape;180;p11"/>
          <p:cNvGrpSpPr/>
          <p:nvPr/>
        </p:nvGrpSpPr>
        <p:grpSpPr>
          <a:xfrm>
            <a:off x="6681252" y="1811327"/>
            <a:ext cx="4795491" cy="3925878"/>
            <a:chOff x="7858791" y="888603"/>
            <a:chExt cx="3724671" cy="3176687"/>
          </a:xfrm>
        </p:grpSpPr>
        <p:pic>
          <p:nvPicPr>
            <p:cNvPr id="181" name="Google Shape;181;p11"/>
            <p:cNvPicPr preferRelativeResize="0"/>
            <p:nvPr/>
          </p:nvPicPr>
          <p:blipFill rotWithShape="1">
            <a:blip r:embed="rId3">
              <a:alphaModFix/>
            </a:blip>
            <a:srcRect r="60067" b="46337"/>
            <a:stretch/>
          </p:blipFill>
          <p:spPr>
            <a:xfrm>
              <a:off x="7858791" y="888603"/>
              <a:ext cx="3724671" cy="3176687"/>
            </a:xfrm>
            <a:prstGeom prst="rect">
              <a:avLst/>
            </a:prstGeom>
            <a:noFill/>
            <a:ln>
              <a:noFill/>
            </a:ln>
          </p:spPr>
        </p:pic>
        <p:sp>
          <p:nvSpPr>
            <p:cNvPr id="182" name="Google Shape;182;p11"/>
            <p:cNvSpPr/>
            <p:nvPr/>
          </p:nvSpPr>
          <p:spPr>
            <a:xfrm>
              <a:off x="8630551" y="3514105"/>
              <a:ext cx="1422398" cy="284480"/>
            </a:xfrm>
            <a:prstGeom prst="rect">
              <a:avLst/>
            </a:prstGeom>
            <a:noFill/>
            <a:ln w="19050" cap="flat" cmpd="sng">
              <a:solidFill>
                <a:srgbClr val="C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grpSp>
      <p:pic>
        <p:nvPicPr>
          <p:cNvPr id="183" name="Google Shape;183;p11" descr="Closed book with solid fill"/>
          <p:cNvPicPr preferRelativeResize="0"/>
          <p:nvPr/>
        </p:nvPicPr>
        <p:blipFill rotWithShape="1">
          <a:blip r:embed="rId4">
            <a:alphaModFix/>
          </a:blip>
          <a:srcRect/>
          <a:stretch/>
        </p:blipFill>
        <p:spPr>
          <a:xfrm>
            <a:off x="304799" y="1278093"/>
            <a:ext cx="518160" cy="408432"/>
          </a:xfrm>
          <a:prstGeom prst="rect">
            <a:avLst/>
          </a:prstGeom>
          <a:noFill/>
          <a:ln>
            <a:noFill/>
          </a:ln>
        </p:spPr>
      </p:pic>
      <p:sp>
        <p:nvSpPr>
          <p:cNvPr id="184" name="Google Shape;184;p11"/>
          <p:cNvSpPr txBox="1"/>
          <p:nvPr/>
        </p:nvSpPr>
        <p:spPr>
          <a:xfrm>
            <a:off x="715256" y="1120795"/>
            <a:ext cx="7554983" cy="646290"/>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n-US" sz="2400" dirty="0">
                <a:solidFill>
                  <a:srgbClr val="262626"/>
                </a:solidFill>
                <a:latin typeface="Calibri"/>
                <a:ea typeface="Calibri"/>
                <a:cs typeface="Calibri"/>
                <a:sym typeface="Calibri"/>
              </a:rPr>
              <a:t>Explanation - creating a simple window</a:t>
            </a:r>
            <a:endParaRPr lang="en-US" dirty="0"/>
          </a:p>
        </p:txBody>
      </p:sp>
      <p:sp>
        <p:nvSpPr>
          <p:cNvPr id="2" name="Footer Placeholder 1">
            <a:extLst>
              <a:ext uri="{FF2B5EF4-FFF2-40B4-BE49-F238E27FC236}">
                <a16:creationId xmlns:a16="http://schemas.microsoft.com/office/drawing/2014/main" id="{48DCB243-7240-A7C2-23EB-1C60FEDBF505}"/>
              </a:ext>
            </a:extLst>
          </p:cNvPr>
          <p:cNvSpPr>
            <a:spLocks noGrp="1"/>
          </p:cNvSpPr>
          <p:nvPr>
            <p:ph type="ftr" idx="11"/>
          </p:nvPr>
        </p:nvSpPr>
        <p:spPr/>
        <p:txBody>
          <a:bodyPr/>
          <a:lstStyle/>
          <a:p>
            <a:r>
              <a:rPr lang="en-IN"/>
              <a:t>Web Developer-Python</a:t>
            </a:r>
          </a:p>
        </p:txBody>
      </p:sp>
      <p:sp>
        <p:nvSpPr>
          <p:cNvPr id="3" name="Slide Number Placeholder 2">
            <a:extLst>
              <a:ext uri="{FF2B5EF4-FFF2-40B4-BE49-F238E27FC236}">
                <a16:creationId xmlns:a16="http://schemas.microsoft.com/office/drawing/2014/main" id="{A2EFDB11-CD11-4BC7-357D-24A7975D935B}"/>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89" name="Google Shape;189;p12"/>
          <p:cNvSpPr txBox="1"/>
          <p:nvPr/>
        </p:nvSpPr>
        <p:spPr>
          <a:xfrm>
            <a:off x="304799" y="176513"/>
            <a:ext cx="10552253"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b="0">
                <a:solidFill>
                  <a:srgbClr val="3F3F3F"/>
                </a:solidFill>
                <a:latin typeface="Quattrocento Sans"/>
                <a:ea typeface="Quattrocento Sans"/>
                <a:cs typeface="Quattrocento Sans"/>
                <a:sym typeface="Quattrocento Sans"/>
              </a:rPr>
              <a:t>Tkinter - Making the first window</a:t>
            </a:r>
            <a:endParaRPr/>
          </a:p>
        </p:txBody>
      </p:sp>
      <p:sp>
        <p:nvSpPr>
          <p:cNvPr id="190" name="Google Shape;190;p12"/>
          <p:cNvSpPr txBox="1"/>
          <p:nvPr/>
        </p:nvSpPr>
        <p:spPr>
          <a:xfrm>
            <a:off x="725417" y="1888348"/>
            <a:ext cx="10938914" cy="3788858"/>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r>
              <a:rPr lang="en-US" sz="1800" b="1">
                <a:solidFill>
                  <a:schemeClr val="dk1"/>
                </a:solidFill>
                <a:latin typeface="Calibri"/>
                <a:ea typeface="Calibri"/>
                <a:cs typeface="Calibri"/>
                <a:sym typeface="Calibri"/>
              </a:rPr>
              <a:t>Waiting for Events</a:t>
            </a:r>
            <a:endParaRPr/>
          </a:p>
          <a:p>
            <a:pPr marL="0" marR="0" lvl="0" indent="0" algn="l" rtl="0">
              <a:lnSpc>
                <a:spcPct val="150000"/>
              </a:lnSpc>
              <a:spcBef>
                <a:spcPts val="0"/>
              </a:spcBef>
              <a:spcAft>
                <a:spcPts val="0"/>
              </a:spcAft>
              <a:buNone/>
            </a:pPr>
            <a:r>
              <a:rPr lang="en-US" sz="1800">
                <a:solidFill>
                  <a:schemeClr val="dk1"/>
                </a:solidFill>
                <a:latin typeface="Calibri"/>
                <a:ea typeface="Calibri"/>
                <a:cs typeface="Calibri"/>
                <a:sym typeface="Calibri"/>
              </a:rPr>
              <a:t>Event loop waits for events like mouse click, key press and window action.</a:t>
            </a:r>
            <a:endParaRPr/>
          </a:p>
          <a:p>
            <a:pPr marL="0" marR="0" lvl="0" indent="0" algn="l" rtl="0">
              <a:lnSpc>
                <a:spcPct val="150000"/>
              </a:lnSpc>
              <a:spcBef>
                <a:spcPts val="0"/>
              </a:spcBef>
              <a:spcAft>
                <a:spcPts val="0"/>
              </a:spcAft>
              <a:buNone/>
            </a:pPr>
            <a:endParaRPr sz="1800">
              <a:solidFill>
                <a:schemeClr val="dk1"/>
              </a:solidFill>
              <a:latin typeface="Calibri"/>
              <a:ea typeface="Calibri"/>
              <a:cs typeface="Calibri"/>
              <a:sym typeface="Calibri"/>
            </a:endParaRPr>
          </a:p>
          <a:p>
            <a:pPr marL="0" marR="0" lvl="0" indent="0" algn="l" rtl="0">
              <a:lnSpc>
                <a:spcPct val="150000"/>
              </a:lnSpc>
              <a:spcBef>
                <a:spcPts val="0"/>
              </a:spcBef>
              <a:spcAft>
                <a:spcPts val="0"/>
              </a:spcAft>
              <a:buNone/>
            </a:pPr>
            <a:r>
              <a:rPr lang="en-US" sz="1800" b="1">
                <a:solidFill>
                  <a:schemeClr val="dk1"/>
                </a:solidFill>
                <a:latin typeface="Calibri"/>
                <a:ea typeface="Calibri"/>
                <a:cs typeface="Calibri"/>
                <a:sym typeface="Calibri"/>
              </a:rPr>
              <a:t>Handling Events</a:t>
            </a:r>
            <a:endParaRPr/>
          </a:p>
          <a:p>
            <a:pPr marL="0" marR="0" lvl="0" indent="0" algn="l" rtl="0">
              <a:lnSpc>
                <a:spcPct val="150000"/>
              </a:lnSpc>
              <a:spcBef>
                <a:spcPts val="0"/>
              </a:spcBef>
              <a:spcAft>
                <a:spcPts val="0"/>
              </a:spcAft>
              <a:buNone/>
            </a:pPr>
            <a:r>
              <a:rPr lang="en-US" sz="1800">
                <a:solidFill>
                  <a:schemeClr val="dk1"/>
                </a:solidFill>
                <a:latin typeface="Calibri"/>
                <a:ea typeface="Calibri"/>
                <a:cs typeface="Calibri"/>
                <a:sym typeface="Calibri"/>
              </a:rPr>
              <a:t>When an event occurs, it dispatches the event to the appropriate widget or handler function (e.g. - a button click executes its command).</a:t>
            </a:r>
            <a:endParaRPr/>
          </a:p>
          <a:p>
            <a:pPr marL="0" marR="0" lvl="0" indent="0" algn="l" rtl="0">
              <a:lnSpc>
                <a:spcPct val="150000"/>
              </a:lnSpc>
              <a:spcBef>
                <a:spcPts val="0"/>
              </a:spcBef>
              <a:spcAft>
                <a:spcPts val="0"/>
              </a:spcAft>
              <a:buNone/>
            </a:pPr>
            <a:endParaRPr sz="1800">
              <a:solidFill>
                <a:schemeClr val="dk1"/>
              </a:solidFill>
              <a:latin typeface="Calibri"/>
              <a:ea typeface="Calibri"/>
              <a:cs typeface="Calibri"/>
              <a:sym typeface="Calibri"/>
            </a:endParaRPr>
          </a:p>
          <a:p>
            <a:pPr marL="0" marR="0" lvl="0" indent="0" algn="l" rtl="0">
              <a:lnSpc>
                <a:spcPct val="150000"/>
              </a:lnSpc>
              <a:spcBef>
                <a:spcPts val="0"/>
              </a:spcBef>
              <a:spcAft>
                <a:spcPts val="0"/>
              </a:spcAft>
              <a:buNone/>
            </a:pPr>
            <a:r>
              <a:rPr lang="en-US" sz="1800" b="1">
                <a:solidFill>
                  <a:schemeClr val="dk1"/>
                </a:solidFill>
                <a:latin typeface="Calibri"/>
                <a:ea typeface="Calibri"/>
                <a:cs typeface="Calibri"/>
                <a:sym typeface="Calibri"/>
              </a:rPr>
              <a:t>Continuous Operation</a:t>
            </a:r>
            <a:endParaRPr/>
          </a:p>
          <a:p>
            <a:pPr marL="0" marR="0" lvl="0" indent="0" algn="l" rtl="0">
              <a:lnSpc>
                <a:spcPct val="150000"/>
              </a:lnSpc>
              <a:spcBef>
                <a:spcPts val="0"/>
              </a:spcBef>
              <a:spcAft>
                <a:spcPts val="0"/>
              </a:spcAft>
              <a:buNone/>
            </a:pPr>
            <a:r>
              <a:rPr lang="en-US" sz="1800">
                <a:solidFill>
                  <a:schemeClr val="dk1"/>
                </a:solidFill>
                <a:latin typeface="Calibri"/>
                <a:ea typeface="Calibri"/>
                <a:cs typeface="Calibri"/>
                <a:sym typeface="Calibri"/>
              </a:rPr>
              <a:t>The loop runs continuously until the application window is closed, keeping the GUI active and responsive.</a:t>
            </a:r>
            <a:endParaRPr sz="1800">
              <a:solidFill>
                <a:schemeClr val="dk1"/>
              </a:solidFill>
              <a:latin typeface="Calibri"/>
              <a:ea typeface="Calibri"/>
              <a:cs typeface="Calibri"/>
              <a:sym typeface="Calibri"/>
            </a:endParaRPr>
          </a:p>
        </p:txBody>
      </p:sp>
      <p:sp>
        <p:nvSpPr>
          <p:cNvPr id="191" name="Google Shape;191;p12"/>
          <p:cNvSpPr txBox="1"/>
          <p:nvPr/>
        </p:nvSpPr>
        <p:spPr>
          <a:xfrm>
            <a:off x="725417" y="1278093"/>
            <a:ext cx="4609096"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How it works?</a:t>
            </a:r>
            <a:endParaRPr sz="2400">
              <a:solidFill>
                <a:schemeClr val="dk1"/>
              </a:solidFill>
              <a:latin typeface="Calibri"/>
              <a:ea typeface="Calibri"/>
              <a:cs typeface="Calibri"/>
              <a:sym typeface="Calibri"/>
            </a:endParaRPr>
          </a:p>
        </p:txBody>
      </p:sp>
      <p:pic>
        <p:nvPicPr>
          <p:cNvPr id="192" name="Google Shape;192;p12" descr="Closed book with solid fill"/>
          <p:cNvPicPr preferRelativeResize="0"/>
          <p:nvPr/>
        </p:nvPicPr>
        <p:blipFill rotWithShape="1">
          <a:blip r:embed="rId3">
            <a:alphaModFix/>
          </a:blip>
          <a:srcRect/>
          <a:stretch/>
        </p:blipFill>
        <p:spPr>
          <a:xfrm>
            <a:off x="304799" y="1278093"/>
            <a:ext cx="518160" cy="408432"/>
          </a:xfrm>
          <a:prstGeom prst="rect">
            <a:avLst/>
          </a:prstGeom>
          <a:noFill/>
          <a:ln>
            <a:noFill/>
          </a:ln>
        </p:spPr>
      </p:pic>
      <p:sp>
        <p:nvSpPr>
          <p:cNvPr id="2" name="Footer Placeholder 1">
            <a:extLst>
              <a:ext uri="{FF2B5EF4-FFF2-40B4-BE49-F238E27FC236}">
                <a16:creationId xmlns:a16="http://schemas.microsoft.com/office/drawing/2014/main" id="{6E2E0F76-8BBF-8B8F-8C83-61C46EF8619C}"/>
              </a:ext>
            </a:extLst>
          </p:cNvPr>
          <p:cNvSpPr>
            <a:spLocks noGrp="1"/>
          </p:cNvSpPr>
          <p:nvPr>
            <p:ph type="ftr" idx="11"/>
          </p:nvPr>
        </p:nvSpPr>
        <p:spPr/>
        <p:txBody>
          <a:bodyPr/>
          <a:lstStyle/>
          <a:p>
            <a:r>
              <a:rPr lang="en-IN"/>
              <a:t>Web Developer-Python</a:t>
            </a:r>
          </a:p>
        </p:txBody>
      </p:sp>
      <p:sp>
        <p:nvSpPr>
          <p:cNvPr id="3" name="Slide Number Placeholder 2">
            <a:extLst>
              <a:ext uri="{FF2B5EF4-FFF2-40B4-BE49-F238E27FC236}">
                <a16:creationId xmlns:a16="http://schemas.microsoft.com/office/drawing/2014/main" id="{41B3AAC3-44EC-36D6-3599-312B6428367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96"/>
        <p:cNvGrpSpPr/>
        <p:nvPr/>
      </p:nvGrpSpPr>
      <p:grpSpPr>
        <a:xfrm>
          <a:off x="0" y="0"/>
          <a:ext cx="0" cy="0"/>
          <a:chOff x="0" y="0"/>
          <a:chExt cx="0" cy="0"/>
        </a:xfrm>
      </p:grpSpPr>
      <p:sp>
        <p:nvSpPr>
          <p:cNvPr id="197" name="Google Shape;197;p13"/>
          <p:cNvSpPr txBox="1">
            <a:spLocks noGrp="1"/>
          </p:cNvSpPr>
          <p:nvPr>
            <p:ph type="ctrTitle"/>
          </p:nvPr>
        </p:nvSpPr>
        <p:spPr>
          <a:xfrm>
            <a:off x="480000" y="2494400"/>
            <a:ext cx="11406800" cy="1058000"/>
          </a:xfrm>
          <a:prstGeom prst="rect">
            <a:avLst/>
          </a:prstGeom>
          <a:noFill/>
          <a:ln>
            <a:noFill/>
          </a:ln>
        </p:spPr>
        <p:txBody>
          <a:bodyPr spcFirstLastPara="1" wrap="square" lIns="121900" tIns="121900" rIns="121900" bIns="121900" anchor="ctr" anchorCtr="0">
            <a:noAutofit/>
          </a:bodyPr>
          <a:lstStyle/>
          <a:p>
            <a:pPr marL="0" lvl="0" indent="0" algn="l" rtl="0">
              <a:lnSpc>
                <a:spcPct val="100000"/>
              </a:lnSpc>
              <a:spcBef>
                <a:spcPts val="0"/>
              </a:spcBef>
              <a:spcAft>
                <a:spcPts val="0"/>
              </a:spcAft>
              <a:buClr>
                <a:srgbClr val="000000"/>
              </a:buClr>
              <a:buSzPts val="5000"/>
              <a:buFont typeface="Calibri"/>
              <a:buNone/>
            </a:pPr>
            <a:r>
              <a:rPr lang="en-US" sz="4000">
                <a:solidFill>
                  <a:srgbClr val="000000"/>
                </a:solidFill>
                <a:latin typeface="Calibri"/>
                <a:ea typeface="Calibri"/>
                <a:cs typeface="Calibri"/>
                <a:sym typeface="Calibri"/>
              </a:rPr>
              <a:t>3. </a:t>
            </a:r>
            <a:r>
              <a:rPr lang="en-US" sz="4000">
                <a:latin typeface="Calibri"/>
                <a:ea typeface="Calibri"/>
                <a:cs typeface="Calibri"/>
                <a:sym typeface="Calibri"/>
              </a:rPr>
              <a:t>Introduction to Tkinter - Titles and Icons</a:t>
            </a:r>
            <a:endParaRPr sz="4000">
              <a:solidFill>
                <a:srgbClr val="000000"/>
              </a:solidFill>
              <a:latin typeface="Calibri"/>
              <a:ea typeface="Calibri"/>
              <a:cs typeface="Calibri"/>
              <a:sym typeface="Calibri"/>
            </a:endParaRPr>
          </a:p>
        </p:txBody>
      </p:sp>
      <p:sp>
        <p:nvSpPr>
          <p:cNvPr id="2" name="Footer Placeholder 1">
            <a:extLst>
              <a:ext uri="{FF2B5EF4-FFF2-40B4-BE49-F238E27FC236}">
                <a16:creationId xmlns:a16="http://schemas.microsoft.com/office/drawing/2014/main" id="{36A00BB6-3C5A-313A-3953-C661ED024821}"/>
              </a:ext>
            </a:extLst>
          </p:cNvPr>
          <p:cNvSpPr>
            <a:spLocks noGrp="1"/>
          </p:cNvSpPr>
          <p:nvPr>
            <p:ph type="ftr" idx="11"/>
          </p:nvPr>
        </p:nvSpPr>
        <p:spPr/>
        <p:txBody>
          <a:bodyPr/>
          <a:lstStyle/>
          <a:p>
            <a:r>
              <a:rPr lang="en-IN"/>
              <a:t>Web Developer-Python</a:t>
            </a:r>
          </a:p>
        </p:txBody>
      </p:sp>
      <p:sp>
        <p:nvSpPr>
          <p:cNvPr id="3" name="Slide Number Placeholder 2">
            <a:extLst>
              <a:ext uri="{FF2B5EF4-FFF2-40B4-BE49-F238E27FC236}">
                <a16:creationId xmlns:a16="http://schemas.microsoft.com/office/drawing/2014/main" id="{7058819E-2B83-E794-3870-EEECCD97E4E2}"/>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2" name="Google Shape;202;p14"/>
          <p:cNvSpPr txBox="1"/>
          <p:nvPr/>
        </p:nvSpPr>
        <p:spPr>
          <a:xfrm>
            <a:off x="304799" y="176513"/>
            <a:ext cx="10552253"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b="0">
                <a:solidFill>
                  <a:srgbClr val="3F3F3F"/>
                </a:solidFill>
                <a:latin typeface="Quattrocento Sans"/>
                <a:ea typeface="Quattrocento Sans"/>
                <a:cs typeface="Quattrocento Sans"/>
                <a:sym typeface="Quattrocento Sans"/>
              </a:rPr>
              <a:t>Introduction to Tkinter - Titles and Icons</a:t>
            </a:r>
            <a:endParaRPr/>
          </a:p>
        </p:txBody>
      </p:sp>
      <p:sp>
        <p:nvSpPr>
          <p:cNvPr id="203" name="Google Shape;203;p14"/>
          <p:cNvSpPr txBox="1"/>
          <p:nvPr/>
        </p:nvSpPr>
        <p:spPr>
          <a:xfrm>
            <a:off x="715257" y="1287968"/>
            <a:ext cx="4609096"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root.title()</a:t>
            </a:r>
            <a:endParaRPr sz="2400">
              <a:solidFill>
                <a:schemeClr val="dk1"/>
              </a:solidFill>
              <a:latin typeface="Calibri"/>
              <a:ea typeface="Calibri"/>
              <a:cs typeface="Calibri"/>
              <a:sym typeface="Calibri"/>
            </a:endParaRPr>
          </a:p>
        </p:txBody>
      </p:sp>
      <p:sp>
        <p:nvSpPr>
          <p:cNvPr id="204" name="Google Shape;204;p14"/>
          <p:cNvSpPr txBox="1"/>
          <p:nvPr/>
        </p:nvSpPr>
        <p:spPr>
          <a:xfrm>
            <a:off x="715257" y="1839912"/>
            <a:ext cx="11019543" cy="1200329"/>
          </a:xfrm>
          <a:prstGeom prst="rect">
            <a:avLst/>
          </a:prstGeom>
          <a:noFill/>
          <a:ln>
            <a:noFill/>
          </a:ln>
        </p:spPr>
        <p:txBody>
          <a:bodyPr spcFirstLastPara="1" wrap="square" lIns="91425" tIns="45700" rIns="91425" bIns="45700" anchor="t" anchorCtr="0">
            <a:spAutoFit/>
          </a:bodyPr>
          <a:lstStyle/>
          <a:p>
            <a:pPr marL="285750" marR="0" lvl="0" indent="-285750" algn="just" rtl="0">
              <a:spcBef>
                <a:spcPts val="0"/>
              </a:spcBef>
              <a:spcAft>
                <a:spcPts val="0"/>
              </a:spcAft>
              <a:buClr>
                <a:schemeClr val="dk1"/>
              </a:buClr>
              <a:buSzPts val="1800"/>
              <a:buFont typeface="Noto Sans Symbols"/>
              <a:buChar char="▪"/>
            </a:pPr>
            <a:r>
              <a:rPr lang="en-US" sz="1800">
                <a:solidFill>
                  <a:schemeClr val="dk1"/>
                </a:solidFill>
                <a:latin typeface="Calibri"/>
                <a:ea typeface="Calibri"/>
                <a:cs typeface="Calibri"/>
                <a:sym typeface="Calibri"/>
              </a:rPr>
              <a:t>To set the title of a Tkinter window, use the title() method of the Tkinter window object. </a:t>
            </a:r>
            <a:endParaRPr/>
          </a:p>
          <a:p>
            <a:pPr marL="285750" marR="0" lvl="0" indent="-285750" algn="just" rtl="0">
              <a:spcBef>
                <a:spcPts val="0"/>
              </a:spcBef>
              <a:spcAft>
                <a:spcPts val="0"/>
              </a:spcAft>
              <a:buClr>
                <a:schemeClr val="dk1"/>
              </a:buClr>
              <a:buSzPts val="1800"/>
              <a:buFont typeface="Noto Sans Symbols"/>
              <a:buChar char="▪"/>
            </a:pPr>
            <a:r>
              <a:rPr lang="en-US" sz="1800">
                <a:solidFill>
                  <a:schemeClr val="dk1"/>
                </a:solidFill>
                <a:latin typeface="Calibri"/>
                <a:ea typeface="Calibri"/>
                <a:cs typeface="Calibri"/>
                <a:sym typeface="Calibri"/>
              </a:rPr>
              <a:t>The title() method takes a single argument, which is a string representing the title you want to display.</a:t>
            </a:r>
            <a:endParaRPr/>
          </a:p>
          <a:p>
            <a:pPr marL="0" marR="0" lvl="0" indent="0" algn="just" rtl="0">
              <a:spcBef>
                <a:spcPts val="0"/>
              </a:spcBef>
              <a:spcAft>
                <a:spcPts val="0"/>
              </a:spcAft>
              <a:buNone/>
            </a:pPr>
            <a:endParaRPr sz="1800">
              <a:solidFill>
                <a:schemeClr val="dk1"/>
              </a:solidFill>
              <a:latin typeface="Calibri"/>
              <a:ea typeface="Calibri"/>
              <a:cs typeface="Calibri"/>
              <a:sym typeface="Calibri"/>
            </a:endParaRPr>
          </a:p>
          <a:p>
            <a:pPr marL="0" marR="0" lvl="0" indent="0" algn="just" rtl="0">
              <a:spcBef>
                <a:spcPts val="0"/>
              </a:spcBef>
              <a:spcAft>
                <a:spcPts val="0"/>
              </a:spcAft>
              <a:buNone/>
            </a:pPr>
            <a:r>
              <a:rPr lang="en-US" sz="1800">
                <a:solidFill>
                  <a:schemeClr val="dk1"/>
                </a:solidFill>
                <a:latin typeface="Batang"/>
                <a:ea typeface="Batang"/>
                <a:cs typeface="Batang"/>
                <a:sym typeface="Batang"/>
              </a:rPr>
              <a:t>root.title("My Tkinter App")</a:t>
            </a:r>
            <a:endParaRPr/>
          </a:p>
        </p:txBody>
      </p:sp>
      <p:pic>
        <p:nvPicPr>
          <p:cNvPr id="205" name="Google Shape;205;p14" descr="Closed book with solid fill"/>
          <p:cNvPicPr preferRelativeResize="0"/>
          <p:nvPr/>
        </p:nvPicPr>
        <p:blipFill rotWithShape="1">
          <a:blip r:embed="rId3">
            <a:alphaModFix/>
          </a:blip>
          <a:srcRect/>
          <a:stretch/>
        </p:blipFill>
        <p:spPr>
          <a:xfrm>
            <a:off x="304799" y="1278093"/>
            <a:ext cx="518160" cy="408432"/>
          </a:xfrm>
          <a:prstGeom prst="rect">
            <a:avLst/>
          </a:prstGeom>
          <a:noFill/>
          <a:ln>
            <a:noFill/>
          </a:ln>
        </p:spPr>
      </p:pic>
      <p:sp>
        <p:nvSpPr>
          <p:cNvPr id="206" name="Google Shape;206;p14"/>
          <p:cNvSpPr txBox="1"/>
          <p:nvPr/>
        </p:nvSpPr>
        <p:spPr>
          <a:xfrm>
            <a:off x="715257" y="3378151"/>
            <a:ext cx="4609096"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Arial"/>
                <a:ea typeface="Arial"/>
                <a:cs typeface="Arial"/>
                <a:sym typeface="Arial"/>
              </a:rPr>
              <a:t>root.iconphoto</a:t>
            </a:r>
            <a:r>
              <a:rPr lang="en-US" sz="2400">
                <a:solidFill>
                  <a:schemeClr val="dk1"/>
                </a:solidFill>
                <a:latin typeface="Calibri"/>
                <a:ea typeface="Calibri"/>
                <a:cs typeface="Calibri"/>
                <a:sym typeface="Calibri"/>
              </a:rPr>
              <a:t>()</a:t>
            </a:r>
            <a:endParaRPr sz="2400">
              <a:solidFill>
                <a:schemeClr val="dk1"/>
              </a:solidFill>
              <a:latin typeface="Calibri"/>
              <a:ea typeface="Calibri"/>
              <a:cs typeface="Calibri"/>
              <a:sym typeface="Calibri"/>
            </a:endParaRPr>
          </a:p>
        </p:txBody>
      </p:sp>
      <p:sp>
        <p:nvSpPr>
          <p:cNvPr id="207" name="Google Shape;207;p14"/>
          <p:cNvSpPr txBox="1"/>
          <p:nvPr/>
        </p:nvSpPr>
        <p:spPr>
          <a:xfrm>
            <a:off x="715257" y="3930095"/>
            <a:ext cx="11019543" cy="1477328"/>
          </a:xfrm>
          <a:prstGeom prst="rect">
            <a:avLst/>
          </a:prstGeom>
          <a:noFill/>
          <a:ln>
            <a:noFill/>
          </a:ln>
        </p:spPr>
        <p:txBody>
          <a:bodyPr spcFirstLastPara="1" wrap="square" lIns="91425" tIns="45700" rIns="91425" bIns="45700" anchor="t" anchorCtr="0">
            <a:spAutoFit/>
          </a:bodyPr>
          <a:lstStyle/>
          <a:p>
            <a:pPr marL="285750" marR="0" lvl="0" indent="-285750" algn="just" rtl="0">
              <a:spcBef>
                <a:spcPts val="0"/>
              </a:spcBef>
              <a:spcAft>
                <a:spcPts val="0"/>
              </a:spcAft>
              <a:buClr>
                <a:schemeClr val="dk1"/>
              </a:buClr>
              <a:buSzPts val="1800"/>
              <a:buFont typeface="Noto Sans Symbols"/>
              <a:buChar char="▪"/>
            </a:pPr>
            <a:r>
              <a:rPr lang="en-US" sz="1800">
                <a:solidFill>
                  <a:schemeClr val="dk1"/>
                </a:solidFill>
                <a:latin typeface="Calibri"/>
                <a:ea typeface="Calibri"/>
                <a:cs typeface="Calibri"/>
                <a:sym typeface="Calibri"/>
              </a:rPr>
              <a:t>To set the window icon, use the iconphoto() method of the Tkinter window object. </a:t>
            </a:r>
            <a:endParaRPr/>
          </a:p>
          <a:p>
            <a:pPr marL="285750" marR="0" lvl="0" indent="-285750" algn="just" rtl="0">
              <a:spcBef>
                <a:spcPts val="0"/>
              </a:spcBef>
              <a:spcAft>
                <a:spcPts val="0"/>
              </a:spcAft>
              <a:buClr>
                <a:schemeClr val="dk1"/>
              </a:buClr>
              <a:buSzPts val="1800"/>
              <a:buFont typeface="Noto Sans Symbols"/>
              <a:buChar char="▪"/>
            </a:pPr>
            <a:r>
              <a:rPr lang="en-US" sz="1800">
                <a:solidFill>
                  <a:schemeClr val="dk1"/>
                </a:solidFill>
                <a:latin typeface="Calibri"/>
                <a:ea typeface="Calibri"/>
                <a:cs typeface="Calibri"/>
                <a:sym typeface="Calibri"/>
              </a:rPr>
              <a:t>This method takes two arguments: a Boolean value and a PhotoImage object representing the icon.</a:t>
            </a:r>
            <a:endParaRPr/>
          </a:p>
          <a:p>
            <a:pPr marL="0" marR="0" lvl="0" indent="0" algn="just" rtl="0">
              <a:spcBef>
                <a:spcPts val="0"/>
              </a:spcBef>
              <a:spcAft>
                <a:spcPts val="0"/>
              </a:spcAft>
              <a:buNone/>
            </a:pPr>
            <a:endParaRPr sz="1800">
              <a:solidFill>
                <a:schemeClr val="dk1"/>
              </a:solidFill>
              <a:latin typeface="Calibri"/>
              <a:ea typeface="Calibri"/>
              <a:cs typeface="Calibri"/>
              <a:sym typeface="Calibri"/>
            </a:endParaRPr>
          </a:p>
          <a:p>
            <a:pPr marL="0" marR="0" lvl="0" indent="0" algn="just" rtl="0">
              <a:spcBef>
                <a:spcPts val="0"/>
              </a:spcBef>
              <a:spcAft>
                <a:spcPts val="0"/>
              </a:spcAft>
              <a:buNone/>
            </a:pPr>
            <a:r>
              <a:rPr lang="en-US" sz="1800">
                <a:solidFill>
                  <a:schemeClr val="dk1"/>
                </a:solidFill>
                <a:latin typeface="Batang"/>
                <a:ea typeface="Batang"/>
                <a:cs typeface="Batang"/>
                <a:sym typeface="Batang"/>
              </a:rPr>
              <a:t>icon = PhotoImage(file='path/to/icon.png')</a:t>
            </a:r>
            <a:endParaRPr/>
          </a:p>
          <a:p>
            <a:pPr marL="0" marR="0" lvl="0" indent="0" algn="just" rtl="0">
              <a:spcBef>
                <a:spcPts val="0"/>
              </a:spcBef>
              <a:spcAft>
                <a:spcPts val="0"/>
              </a:spcAft>
              <a:buNone/>
            </a:pPr>
            <a:r>
              <a:rPr lang="en-US" sz="1800">
                <a:solidFill>
                  <a:schemeClr val="dk1"/>
                </a:solidFill>
                <a:latin typeface="Batang"/>
                <a:ea typeface="Batang"/>
                <a:cs typeface="Batang"/>
                <a:sym typeface="Batang"/>
              </a:rPr>
              <a:t>root.iconphoto(True, icon)</a:t>
            </a:r>
            <a:endParaRPr/>
          </a:p>
        </p:txBody>
      </p:sp>
      <p:pic>
        <p:nvPicPr>
          <p:cNvPr id="208" name="Google Shape;208;p14" descr="Closed book with solid fill"/>
          <p:cNvPicPr preferRelativeResize="0"/>
          <p:nvPr/>
        </p:nvPicPr>
        <p:blipFill rotWithShape="1">
          <a:blip r:embed="rId3">
            <a:alphaModFix/>
          </a:blip>
          <a:srcRect/>
          <a:stretch/>
        </p:blipFill>
        <p:spPr>
          <a:xfrm>
            <a:off x="304799" y="3368276"/>
            <a:ext cx="518160" cy="408432"/>
          </a:xfrm>
          <a:prstGeom prst="rect">
            <a:avLst/>
          </a:prstGeom>
          <a:noFill/>
          <a:ln>
            <a:noFill/>
          </a:ln>
        </p:spPr>
      </p:pic>
      <p:sp>
        <p:nvSpPr>
          <p:cNvPr id="2" name="Footer Placeholder 1">
            <a:extLst>
              <a:ext uri="{FF2B5EF4-FFF2-40B4-BE49-F238E27FC236}">
                <a16:creationId xmlns:a16="http://schemas.microsoft.com/office/drawing/2014/main" id="{948B55B5-9F24-B42F-3CC1-8D8AE3F8F537}"/>
              </a:ext>
            </a:extLst>
          </p:cNvPr>
          <p:cNvSpPr>
            <a:spLocks noGrp="1"/>
          </p:cNvSpPr>
          <p:nvPr>
            <p:ph type="ftr" idx="11"/>
          </p:nvPr>
        </p:nvSpPr>
        <p:spPr/>
        <p:txBody>
          <a:bodyPr/>
          <a:lstStyle/>
          <a:p>
            <a:r>
              <a:rPr lang="en-IN"/>
              <a:t>Web Developer-Python</a:t>
            </a:r>
          </a:p>
        </p:txBody>
      </p:sp>
      <p:sp>
        <p:nvSpPr>
          <p:cNvPr id="3" name="Slide Number Placeholder 2">
            <a:extLst>
              <a:ext uri="{FF2B5EF4-FFF2-40B4-BE49-F238E27FC236}">
                <a16:creationId xmlns:a16="http://schemas.microsoft.com/office/drawing/2014/main" id="{DF58128D-32DD-99CD-884D-F5C76E8A622E}"/>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12"/>
        <p:cNvGrpSpPr/>
        <p:nvPr/>
      </p:nvGrpSpPr>
      <p:grpSpPr>
        <a:xfrm>
          <a:off x="0" y="0"/>
          <a:ext cx="0" cy="0"/>
          <a:chOff x="0" y="0"/>
          <a:chExt cx="0" cy="0"/>
        </a:xfrm>
      </p:grpSpPr>
      <p:sp>
        <p:nvSpPr>
          <p:cNvPr id="213" name="Google Shape;213;p15"/>
          <p:cNvSpPr txBox="1"/>
          <p:nvPr/>
        </p:nvSpPr>
        <p:spPr>
          <a:xfrm>
            <a:off x="304799" y="176513"/>
            <a:ext cx="10552253"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b="0">
                <a:solidFill>
                  <a:srgbClr val="3F3F3F"/>
                </a:solidFill>
                <a:latin typeface="Quattrocento Sans"/>
                <a:ea typeface="Quattrocento Sans"/>
                <a:cs typeface="Quattrocento Sans"/>
                <a:sym typeface="Quattrocento Sans"/>
              </a:rPr>
              <a:t>Introduction to Tkinter - Titles and Icons</a:t>
            </a:r>
            <a:endParaRPr/>
          </a:p>
        </p:txBody>
      </p:sp>
      <p:sp>
        <p:nvSpPr>
          <p:cNvPr id="214" name="Google Shape;214;p15"/>
          <p:cNvSpPr txBox="1"/>
          <p:nvPr/>
        </p:nvSpPr>
        <p:spPr>
          <a:xfrm>
            <a:off x="715257" y="1287968"/>
            <a:ext cx="4609096"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Example</a:t>
            </a:r>
            <a:endParaRPr sz="2400">
              <a:solidFill>
                <a:schemeClr val="dk1"/>
              </a:solidFill>
              <a:latin typeface="Calibri"/>
              <a:ea typeface="Calibri"/>
              <a:cs typeface="Calibri"/>
              <a:sym typeface="Calibri"/>
            </a:endParaRPr>
          </a:p>
        </p:txBody>
      </p:sp>
      <p:pic>
        <p:nvPicPr>
          <p:cNvPr id="215" name="Google Shape;215;p15" descr="Closed book with solid fill"/>
          <p:cNvPicPr preferRelativeResize="0"/>
          <p:nvPr/>
        </p:nvPicPr>
        <p:blipFill rotWithShape="1">
          <a:blip r:embed="rId3">
            <a:alphaModFix/>
          </a:blip>
          <a:srcRect/>
          <a:stretch/>
        </p:blipFill>
        <p:spPr>
          <a:xfrm>
            <a:off x="304799" y="1278093"/>
            <a:ext cx="518160" cy="408432"/>
          </a:xfrm>
          <a:prstGeom prst="rect">
            <a:avLst/>
          </a:prstGeom>
          <a:noFill/>
          <a:ln>
            <a:noFill/>
          </a:ln>
        </p:spPr>
      </p:pic>
      <p:pic>
        <p:nvPicPr>
          <p:cNvPr id="216" name="Google Shape;216;p15" descr="A screenshot of a computer&#10;&#10;Description automatically generated"/>
          <p:cNvPicPr preferRelativeResize="0"/>
          <p:nvPr/>
        </p:nvPicPr>
        <p:blipFill rotWithShape="1">
          <a:blip r:embed="rId4">
            <a:alphaModFix/>
          </a:blip>
          <a:srcRect r="46082" b="15065"/>
          <a:stretch/>
        </p:blipFill>
        <p:spPr>
          <a:xfrm>
            <a:off x="3128712" y="1389853"/>
            <a:ext cx="5934575" cy="5186502"/>
          </a:xfrm>
          <a:prstGeom prst="rect">
            <a:avLst/>
          </a:prstGeom>
          <a:noFill/>
          <a:ln>
            <a:noFill/>
          </a:ln>
        </p:spPr>
      </p:pic>
      <p:sp>
        <p:nvSpPr>
          <p:cNvPr id="2" name="Footer Placeholder 1">
            <a:extLst>
              <a:ext uri="{FF2B5EF4-FFF2-40B4-BE49-F238E27FC236}">
                <a16:creationId xmlns:a16="http://schemas.microsoft.com/office/drawing/2014/main" id="{47498E6A-6AFE-3681-54E6-8D70A2DC127F}"/>
              </a:ext>
            </a:extLst>
          </p:cNvPr>
          <p:cNvSpPr>
            <a:spLocks noGrp="1"/>
          </p:cNvSpPr>
          <p:nvPr>
            <p:ph type="ftr" idx="11"/>
          </p:nvPr>
        </p:nvSpPr>
        <p:spPr/>
        <p:txBody>
          <a:bodyPr/>
          <a:lstStyle/>
          <a:p>
            <a:r>
              <a:rPr lang="en-IN"/>
              <a:t>Web Developer-Python</a:t>
            </a:r>
          </a:p>
        </p:txBody>
      </p:sp>
      <p:sp>
        <p:nvSpPr>
          <p:cNvPr id="3" name="Slide Number Placeholder 2">
            <a:extLst>
              <a:ext uri="{FF2B5EF4-FFF2-40B4-BE49-F238E27FC236}">
                <a16:creationId xmlns:a16="http://schemas.microsoft.com/office/drawing/2014/main" id="{9174415D-E841-FC0B-37E4-0B4B1321525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20"/>
        <p:cNvGrpSpPr/>
        <p:nvPr/>
      </p:nvGrpSpPr>
      <p:grpSpPr>
        <a:xfrm>
          <a:off x="0" y="0"/>
          <a:ext cx="0" cy="0"/>
          <a:chOff x="0" y="0"/>
          <a:chExt cx="0" cy="0"/>
        </a:xfrm>
      </p:grpSpPr>
      <p:sp>
        <p:nvSpPr>
          <p:cNvPr id="221" name="Google Shape;221;p16"/>
          <p:cNvSpPr txBox="1"/>
          <p:nvPr/>
        </p:nvSpPr>
        <p:spPr>
          <a:xfrm>
            <a:off x="304799" y="176513"/>
            <a:ext cx="10552253"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b="0">
                <a:solidFill>
                  <a:srgbClr val="3F3F3F"/>
                </a:solidFill>
                <a:latin typeface="Quattrocento Sans"/>
                <a:ea typeface="Quattrocento Sans"/>
                <a:cs typeface="Quattrocento Sans"/>
                <a:sym typeface="Quattrocento Sans"/>
              </a:rPr>
              <a:t>Introduction to Tkinter - Titles and Icons</a:t>
            </a:r>
            <a:endParaRPr/>
          </a:p>
        </p:txBody>
      </p:sp>
      <p:pic>
        <p:nvPicPr>
          <p:cNvPr id="222" name="Google Shape;222;p16" descr="Information with solid fill"/>
          <p:cNvPicPr preferRelativeResize="0"/>
          <p:nvPr/>
        </p:nvPicPr>
        <p:blipFill rotWithShape="1">
          <a:blip r:embed="rId3">
            <a:alphaModFix/>
          </a:blip>
          <a:srcRect/>
          <a:stretch/>
        </p:blipFill>
        <p:spPr>
          <a:xfrm>
            <a:off x="304799" y="1267801"/>
            <a:ext cx="506453" cy="506453"/>
          </a:xfrm>
          <a:prstGeom prst="rect">
            <a:avLst/>
          </a:prstGeom>
          <a:noFill/>
          <a:ln>
            <a:noFill/>
          </a:ln>
        </p:spPr>
      </p:pic>
      <p:sp>
        <p:nvSpPr>
          <p:cNvPr id="223" name="Google Shape;223;p16"/>
          <p:cNvSpPr txBox="1"/>
          <p:nvPr/>
        </p:nvSpPr>
        <p:spPr>
          <a:xfrm>
            <a:off x="912852" y="1091122"/>
            <a:ext cx="10552252" cy="880369"/>
          </a:xfrm>
          <a:prstGeom prst="rect">
            <a:avLst/>
          </a:prstGeom>
          <a:noFill/>
          <a:ln>
            <a:noFill/>
          </a:ln>
        </p:spPr>
        <p:txBody>
          <a:bodyPr spcFirstLastPara="1" wrap="square" lIns="91425" tIns="45700" rIns="91425" bIns="45700" anchor="t" anchorCtr="0">
            <a:spAutoFit/>
          </a:bodyPr>
          <a:lstStyle/>
          <a:p>
            <a:pPr marL="285750" marR="0" lvl="0" indent="-285750" algn="l" rtl="0">
              <a:lnSpc>
                <a:spcPct val="150000"/>
              </a:lnSpc>
              <a:spcBef>
                <a:spcPts val="0"/>
              </a:spcBef>
              <a:spcAft>
                <a:spcPts val="0"/>
              </a:spcAft>
              <a:buClr>
                <a:schemeClr val="dk1"/>
              </a:buClr>
              <a:buSzPts val="1800"/>
              <a:buFont typeface="Noto Sans Symbols"/>
              <a:buChar char="▪"/>
            </a:pPr>
            <a:r>
              <a:rPr lang="en-US" sz="1800">
                <a:solidFill>
                  <a:schemeClr val="dk1"/>
                </a:solidFill>
                <a:latin typeface="Calibri"/>
                <a:ea typeface="Calibri"/>
                <a:cs typeface="Calibri"/>
                <a:sym typeface="Calibri"/>
              </a:rPr>
              <a:t>The icon image file should be in a format supported by PhotoImage, such as PNG, GIF, or PPM/PGM.</a:t>
            </a:r>
            <a:endParaRPr/>
          </a:p>
          <a:p>
            <a:pPr marL="285750" marR="0" lvl="0" indent="-285750" algn="l" rtl="0">
              <a:lnSpc>
                <a:spcPct val="150000"/>
              </a:lnSpc>
              <a:spcBef>
                <a:spcPts val="0"/>
              </a:spcBef>
              <a:spcAft>
                <a:spcPts val="0"/>
              </a:spcAft>
              <a:buClr>
                <a:schemeClr val="dk1"/>
              </a:buClr>
              <a:buSzPts val="1800"/>
              <a:buFont typeface="Noto Sans Symbols"/>
              <a:buChar char="▪"/>
            </a:pPr>
            <a:r>
              <a:rPr lang="en-US" sz="1800">
                <a:solidFill>
                  <a:schemeClr val="dk1"/>
                </a:solidFill>
                <a:latin typeface="Calibri"/>
                <a:ea typeface="Calibri"/>
                <a:cs typeface="Calibri"/>
                <a:sym typeface="Calibri"/>
              </a:rPr>
              <a:t>Import PhotoImage from the Tkinter library to handle image files.</a:t>
            </a:r>
            <a:endParaRPr/>
          </a:p>
        </p:txBody>
      </p:sp>
      <p:pic>
        <p:nvPicPr>
          <p:cNvPr id="224" name="Google Shape;224;p16" descr="A screenshot of a computer&#10;&#10;Description automatically generated"/>
          <p:cNvPicPr preferRelativeResize="0"/>
          <p:nvPr/>
        </p:nvPicPr>
        <p:blipFill rotWithShape="1">
          <a:blip r:embed="rId4">
            <a:alphaModFix/>
          </a:blip>
          <a:srcRect/>
          <a:stretch/>
        </p:blipFill>
        <p:spPr>
          <a:xfrm>
            <a:off x="3396645" y="2147291"/>
            <a:ext cx="5398709" cy="4463075"/>
          </a:xfrm>
          <a:prstGeom prst="rect">
            <a:avLst/>
          </a:prstGeom>
          <a:noFill/>
          <a:ln>
            <a:noFill/>
          </a:ln>
        </p:spPr>
      </p:pic>
      <p:sp>
        <p:nvSpPr>
          <p:cNvPr id="2" name="Footer Placeholder 1">
            <a:extLst>
              <a:ext uri="{FF2B5EF4-FFF2-40B4-BE49-F238E27FC236}">
                <a16:creationId xmlns:a16="http://schemas.microsoft.com/office/drawing/2014/main" id="{8BAE944C-852A-18FD-48A9-2E4512B141A3}"/>
              </a:ext>
            </a:extLst>
          </p:cNvPr>
          <p:cNvSpPr>
            <a:spLocks noGrp="1"/>
          </p:cNvSpPr>
          <p:nvPr>
            <p:ph type="ftr" idx="11"/>
          </p:nvPr>
        </p:nvSpPr>
        <p:spPr/>
        <p:txBody>
          <a:bodyPr/>
          <a:lstStyle/>
          <a:p>
            <a:r>
              <a:rPr lang="en-IN"/>
              <a:t>Web Developer-Python</a:t>
            </a:r>
          </a:p>
        </p:txBody>
      </p:sp>
      <p:sp>
        <p:nvSpPr>
          <p:cNvPr id="3" name="Slide Number Placeholder 2">
            <a:extLst>
              <a:ext uri="{FF2B5EF4-FFF2-40B4-BE49-F238E27FC236}">
                <a16:creationId xmlns:a16="http://schemas.microsoft.com/office/drawing/2014/main" id="{6C986EEC-2562-F1C6-1FBD-0F4DFCE6F8B6}"/>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28"/>
        <p:cNvGrpSpPr/>
        <p:nvPr/>
      </p:nvGrpSpPr>
      <p:grpSpPr>
        <a:xfrm>
          <a:off x="0" y="0"/>
          <a:ext cx="0" cy="0"/>
          <a:chOff x="0" y="0"/>
          <a:chExt cx="0" cy="0"/>
        </a:xfrm>
      </p:grpSpPr>
      <p:sp>
        <p:nvSpPr>
          <p:cNvPr id="229" name="Google Shape;229;p17"/>
          <p:cNvSpPr txBox="1">
            <a:spLocks noGrp="1"/>
          </p:cNvSpPr>
          <p:nvPr>
            <p:ph type="ctrTitle"/>
          </p:nvPr>
        </p:nvSpPr>
        <p:spPr>
          <a:xfrm>
            <a:off x="480000" y="2494400"/>
            <a:ext cx="11406800" cy="1058000"/>
          </a:xfrm>
          <a:prstGeom prst="rect">
            <a:avLst/>
          </a:prstGeom>
          <a:noFill/>
          <a:ln>
            <a:noFill/>
          </a:ln>
        </p:spPr>
        <p:txBody>
          <a:bodyPr spcFirstLastPara="1" wrap="square" lIns="121900" tIns="121900" rIns="121900" bIns="121900" anchor="ctr" anchorCtr="0">
            <a:noAutofit/>
          </a:bodyPr>
          <a:lstStyle/>
          <a:p>
            <a:pPr marL="0" lvl="0" indent="0" algn="l" rtl="0">
              <a:lnSpc>
                <a:spcPct val="100000"/>
              </a:lnSpc>
              <a:spcBef>
                <a:spcPts val="0"/>
              </a:spcBef>
              <a:spcAft>
                <a:spcPts val="0"/>
              </a:spcAft>
              <a:buClr>
                <a:srgbClr val="000000"/>
              </a:buClr>
              <a:buSzPts val="5000"/>
              <a:buFont typeface="Calibri"/>
              <a:buNone/>
            </a:pPr>
            <a:r>
              <a:rPr lang="en-US" sz="4000">
                <a:solidFill>
                  <a:srgbClr val="000000"/>
                </a:solidFill>
                <a:latin typeface="Calibri"/>
                <a:ea typeface="Calibri"/>
                <a:cs typeface="Calibri"/>
                <a:sym typeface="Calibri"/>
              </a:rPr>
              <a:t>4. </a:t>
            </a:r>
            <a:r>
              <a:rPr lang="en-US" sz="4000">
                <a:latin typeface="Calibri"/>
                <a:ea typeface="Calibri"/>
                <a:cs typeface="Calibri"/>
                <a:sym typeface="Calibri"/>
              </a:rPr>
              <a:t>Layouts in Tkinter - Introduction to Layouts</a:t>
            </a:r>
            <a:endParaRPr/>
          </a:p>
        </p:txBody>
      </p:sp>
      <p:sp>
        <p:nvSpPr>
          <p:cNvPr id="2" name="Footer Placeholder 1">
            <a:extLst>
              <a:ext uri="{FF2B5EF4-FFF2-40B4-BE49-F238E27FC236}">
                <a16:creationId xmlns:a16="http://schemas.microsoft.com/office/drawing/2014/main" id="{D8AD7C22-4EF4-3879-E7AE-CFC1A03D3879}"/>
              </a:ext>
            </a:extLst>
          </p:cNvPr>
          <p:cNvSpPr>
            <a:spLocks noGrp="1"/>
          </p:cNvSpPr>
          <p:nvPr>
            <p:ph type="ftr" idx="11"/>
          </p:nvPr>
        </p:nvSpPr>
        <p:spPr/>
        <p:txBody>
          <a:bodyPr/>
          <a:lstStyle/>
          <a:p>
            <a:r>
              <a:rPr lang="en-IN"/>
              <a:t>Web Developer-Python</a:t>
            </a:r>
          </a:p>
        </p:txBody>
      </p:sp>
      <p:sp>
        <p:nvSpPr>
          <p:cNvPr id="3" name="Slide Number Placeholder 2">
            <a:extLst>
              <a:ext uri="{FF2B5EF4-FFF2-40B4-BE49-F238E27FC236}">
                <a16:creationId xmlns:a16="http://schemas.microsoft.com/office/drawing/2014/main" id="{FD65D206-35A8-7AAD-4213-3036FA6FCBCD}"/>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33"/>
        <p:cNvGrpSpPr/>
        <p:nvPr/>
      </p:nvGrpSpPr>
      <p:grpSpPr>
        <a:xfrm>
          <a:off x="0" y="0"/>
          <a:ext cx="0" cy="0"/>
          <a:chOff x="0" y="0"/>
          <a:chExt cx="0" cy="0"/>
        </a:xfrm>
      </p:grpSpPr>
      <p:sp>
        <p:nvSpPr>
          <p:cNvPr id="234" name="Google Shape;234;p18"/>
          <p:cNvSpPr txBox="1"/>
          <p:nvPr/>
        </p:nvSpPr>
        <p:spPr>
          <a:xfrm>
            <a:off x="709154" y="2580780"/>
            <a:ext cx="4609096" cy="589072"/>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n-US" sz="2400">
                <a:solidFill>
                  <a:srgbClr val="262626"/>
                </a:solidFill>
                <a:latin typeface="Calibri"/>
                <a:ea typeface="Calibri"/>
                <a:cs typeface="Calibri"/>
                <a:sym typeface="Calibri"/>
              </a:rPr>
              <a:t>Type of layouts</a:t>
            </a:r>
            <a:endParaRPr/>
          </a:p>
        </p:txBody>
      </p:sp>
      <p:pic>
        <p:nvPicPr>
          <p:cNvPr id="235" name="Google Shape;235;p18" descr="Closed book with solid fill"/>
          <p:cNvPicPr preferRelativeResize="0"/>
          <p:nvPr/>
        </p:nvPicPr>
        <p:blipFill rotWithShape="1">
          <a:blip r:embed="rId3">
            <a:alphaModFix/>
          </a:blip>
          <a:srcRect/>
          <a:stretch/>
        </p:blipFill>
        <p:spPr>
          <a:xfrm>
            <a:off x="298696" y="2738078"/>
            <a:ext cx="518160" cy="408432"/>
          </a:xfrm>
          <a:prstGeom prst="rect">
            <a:avLst/>
          </a:prstGeom>
          <a:noFill/>
          <a:ln>
            <a:noFill/>
          </a:ln>
        </p:spPr>
      </p:pic>
      <p:sp>
        <p:nvSpPr>
          <p:cNvPr id="236" name="Google Shape;236;p18"/>
          <p:cNvSpPr txBox="1"/>
          <p:nvPr/>
        </p:nvSpPr>
        <p:spPr>
          <a:xfrm>
            <a:off x="709154" y="3211209"/>
            <a:ext cx="10999222" cy="369332"/>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1800">
                <a:solidFill>
                  <a:schemeClr val="dk1"/>
                </a:solidFill>
                <a:latin typeface="Calibri"/>
                <a:ea typeface="Calibri"/>
                <a:cs typeface="Calibri"/>
                <a:sym typeface="Calibri"/>
              </a:rPr>
              <a:t>Tkinter offers several ways to place widgets in the window, the most commons are - </a:t>
            </a:r>
            <a:endParaRPr sz="1800">
              <a:solidFill>
                <a:schemeClr val="dk1"/>
              </a:solidFill>
              <a:latin typeface="Calibri"/>
              <a:ea typeface="Calibri"/>
              <a:cs typeface="Calibri"/>
              <a:sym typeface="Calibri"/>
            </a:endParaRPr>
          </a:p>
        </p:txBody>
      </p:sp>
      <p:sp>
        <p:nvSpPr>
          <p:cNvPr id="237" name="Google Shape;237;p18"/>
          <p:cNvSpPr txBox="1"/>
          <p:nvPr/>
        </p:nvSpPr>
        <p:spPr>
          <a:xfrm>
            <a:off x="709154" y="3449108"/>
            <a:ext cx="10999222" cy="1676741"/>
          </a:xfrm>
          <a:prstGeom prst="rect">
            <a:avLst/>
          </a:prstGeom>
          <a:noFill/>
          <a:ln>
            <a:noFill/>
          </a:ln>
        </p:spPr>
        <p:txBody>
          <a:bodyPr spcFirstLastPara="1" wrap="square" lIns="91425" tIns="45700" rIns="91425" bIns="45700" anchor="t" anchorCtr="0">
            <a:spAutoFit/>
          </a:bodyPr>
          <a:lstStyle/>
          <a:p>
            <a:pPr marL="285750" marR="0" lvl="0" indent="-285750" algn="just" rtl="0">
              <a:lnSpc>
                <a:spcPct val="200000"/>
              </a:lnSpc>
              <a:spcBef>
                <a:spcPts val="0"/>
              </a:spcBef>
              <a:spcAft>
                <a:spcPts val="0"/>
              </a:spcAft>
              <a:buClr>
                <a:schemeClr val="dk1"/>
              </a:buClr>
              <a:buSzPts val="1800"/>
              <a:buFont typeface="Noto Sans Symbols"/>
              <a:buChar char="▪"/>
            </a:pPr>
            <a:r>
              <a:rPr lang="en-US" sz="1800">
                <a:solidFill>
                  <a:schemeClr val="dk1"/>
                </a:solidFill>
                <a:latin typeface="Calibri"/>
                <a:ea typeface="Calibri"/>
                <a:cs typeface="Calibri"/>
                <a:sym typeface="Calibri"/>
              </a:rPr>
              <a:t>Pack layout</a:t>
            </a:r>
            <a:endParaRPr/>
          </a:p>
          <a:p>
            <a:pPr marL="285750" marR="0" lvl="0" indent="-285750" algn="just" rtl="0">
              <a:lnSpc>
                <a:spcPct val="200000"/>
              </a:lnSpc>
              <a:spcBef>
                <a:spcPts val="0"/>
              </a:spcBef>
              <a:spcAft>
                <a:spcPts val="0"/>
              </a:spcAft>
              <a:buClr>
                <a:schemeClr val="dk1"/>
              </a:buClr>
              <a:buSzPts val="1800"/>
              <a:buFont typeface="Noto Sans Symbols"/>
              <a:buChar char="▪"/>
            </a:pPr>
            <a:r>
              <a:rPr lang="en-US" sz="1800">
                <a:solidFill>
                  <a:schemeClr val="dk1"/>
                </a:solidFill>
                <a:latin typeface="Calibri"/>
                <a:ea typeface="Calibri"/>
                <a:cs typeface="Calibri"/>
                <a:sym typeface="Calibri"/>
              </a:rPr>
              <a:t>Grid layout</a:t>
            </a:r>
            <a:endParaRPr/>
          </a:p>
          <a:p>
            <a:pPr marL="285750" marR="0" lvl="0" indent="-285750" algn="just" rtl="0">
              <a:lnSpc>
                <a:spcPct val="200000"/>
              </a:lnSpc>
              <a:spcBef>
                <a:spcPts val="0"/>
              </a:spcBef>
              <a:spcAft>
                <a:spcPts val="0"/>
              </a:spcAft>
              <a:buClr>
                <a:schemeClr val="dk1"/>
              </a:buClr>
              <a:buSzPts val="1800"/>
              <a:buFont typeface="Noto Sans Symbols"/>
              <a:buChar char="▪"/>
            </a:pPr>
            <a:r>
              <a:rPr lang="en-US" sz="1800">
                <a:solidFill>
                  <a:schemeClr val="dk1"/>
                </a:solidFill>
                <a:latin typeface="Calibri"/>
                <a:ea typeface="Calibri"/>
                <a:cs typeface="Calibri"/>
                <a:sym typeface="Calibri"/>
              </a:rPr>
              <a:t>Place layout</a:t>
            </a:r>
            <a:endParaRPr/>
          </a:p>
        </p:txBody>
      </p:sp>
      <p:sp>
        <p:nvSpPr>
          <p:cNvPr id="238" name="Google Shape;238;p18"/>
          <p:cNvSpPr txBox="1"/>
          <p:nvPr/>
        </p:nvSpPr>
        <p:spPr>
          <a:xfrm>
            <a:off x="304799" y="176513"/>
            <a:ext cx="10552253"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b="0">
                <a:solidFill>
                  <a:srgbClr val="3F3F3F"/>
                </a:solidFill>
                <a:latin typeface="Quattrocento Sans"/>
                <a:ea typeface="Quattrocento Sans"/>
                <a:cs typeface="Quattrocento Sans"/>
                <a:sym typeface="Quattrocento Sans"/>
              </a:rPr>
              <a:t>Layouts in Tkinter - Introduction to layouts</a:t>
            </a:r>
            <a:endParaRPr sz="2800" b="0">
              <a:solidFill>
                <a:srgbClr val="3F3F3F"/>
              </a:solidFill>
              <a:latin typeface="Quattrocento Sans"/>
              <a:ea typeface="Quattrocento Sans"/>
              <a:cs typeface="Quattrocento Sans"/>
              <a:sym typeface="Quattrocento Sans"/>
            </a:endParaRPr>
          </a:p>
        </p:txBody>
      </p:sp>
      <p:sp>
        <p:nvSpPr>
          <p:cNvPr id="239" name="Google Shape;239;p18"/>
          <p:cNvSpPr txBox="1"/>
          <p:nvPr/>
        </p:nvSpPr>
        <p:spPr>
          <a:xfrm>
            <a:off x="709154" y="1150303"/>
            <a:ext cx="4609096" cy="589072"/>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n-US" sz="2400">
                <a:solidFill>
                  <a:srgbClr val="262626"/>
                </a:solidFill>
                <a:latin typeface="Calibri"/>
                <a:ea typeface="Calibri"/>
                <a:cs typeface="Calibri"/>
                <a:sym typeface="Calibri"/>
              </a:rPr>
              <a:t>Explanation</a:t>
            </a:r>
            <a:endParaRPr/>
          </a:p>
        </p:txBody>
      </p:sp>
      <p:pic>
        <p:nvPicPr>
          <p:cNvPr id="240" name="Google Shape;240;p18" descr="Closed book with solid fill"/>
          <p:cNvPicPr preferRelativeResize="0"/>
          <p:nvPr/>
        </p:nvPicPr>
        <p:blipFill rotWithShape="1">
          <a:blip r:embed="rId3">
            <a:alphaModFix/>
          </a:blip>
          <a:srcRect/>
          <a:stretch/>
        </p:blipFill>
        <p:spPr>
          <a:xfrm>
            <a:off x="298696" y="1307601"/>
            <a:ext cx="518160" cy="408432"/>
          </a:xfrm>
          <a:prstGeom prst="rect">
            <a:avLst/>
          </a:prstGeom>
          <a:noFill/>
          <a:ln>
            <a:noFill/>
          </a:ln>
        </p:spPr>
      </p:pic>
      <p:sp>
        <p:nvSpPr>
          <p:cNvPr id="241" name="Google Shape;241;p18"/>
          <p:cNvSpPr txBox="1"/>
          <p:nvPr/>
        </p:nvSpPr>
        <p:spPr>
          <a:xfrm>
            <a:off x="709154" y="1780732"/>
            <a:ext cx="10999222" cy="646331"/>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1800">
                <a:solidFill>
                  <a:schemeClr val="dk1"/>
                </a:solidFill>
                <a:latin typeface="Calibri"/>
                <a:ea typeface="Calibri"/>
                <a:cs typeface="Calibri"/>
                <a:sym typeface="Calibri"/>
              </a:rPr>
              <a:t>In Tkinter, a layout refers to the way widgets (such as buttons, labels, text boxes, etc.) are organized within a window or frame.</a:t>
            </a:r>
            <a:endParaRPr sz="1800">
              <a:solidFill>
                <a:schemeClr val="dk1"/>
              </a:solidFill>
              <a:latin typeface="Calibri"/>
              <a:ea typeface="Calibri"/>
              <a:cs typeface="Calibri"/>
              <a:sym typeface="Calibri"/>
            </a:endParaRPr>
          </a:p>
        </p:txBody>
      </p:sp>
      <p:sp>
        <p:nvSpPr>
          <p:cNvPr id="2" name="Footer Placeholder 1">
            <a:extLst>
              <a:ext uri="{FF2B5EF4-FFF2-40B4-BE49-F238E27FC236}">
                <a16:creationId xmlns:a16="http://schemas.microsoft.com/office/drawing/2014/main" id="{E4E54F0A-D265-D044-8F3D-7ED90DF1612A}"/>
              </a:ext>
            </a:extLst>
          </p:cNvPr>
          <p:cNvSpPr>
            <a:spLocks noGrp="1"/>
          </p:cNvSpPr>
          <p:nvPr>
            <p:ph type="ftr" idx="11"/>
          </p:nvPr>
        </p:nvSpPr>
        <p:spPr/>
        <p:txBody>
          <a:bodyPr/>
          <a:lstStyle/>
          <a:p>
            <a:r>
              <a:rPr lang="en-IN"/>
              <a:t>Web Developer-Python</a:t>
            </a:r>
          </a:p>
        </p:txBody>
      </p:sp>
      <p:sp>
        <p:nvSpPr>
          <p:cNvPr id="3" name="Slide Number Placeholder 2">
            <a:extLst>
              <a:ext uri="{FF2B5EF4-FFF2-40B4-BE49-F238E27FC236}">
                <a16:creationId xmlns:a16="http://schemas.microsoft.com/office/drawing/2014/main" id="{19AC0770-4EDF-1C36-4B6C-21A9E78544DB}"/>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45"/>
        <p:cNvGrpSpPr/>
        <p:nvPr/>
      </p:nvGrpSpPr>
      <p:grpSpPr>
        <a:xfrm>
          <a:off x="0" y="0"/>
          <a:ext cx="0" cy="0"/>
          <a:chOff x="0" y="0"/>
          <a:chExt cx="0" cy="0"/>
        </a:xfrm>
      </p:grpSpPr>
      <p:sp>
        <p:nvSpPr>
          <p:cNvPr id="246" name="Google Shape;246;p19"/>
          <p:cNvSpPr txBox="1"/>
          <p:nvPr/>
        </p:nvSpPr>
        <p:spPr>
          <a:xfrm>
            <a:off x="304799" y="176513"/>
            <a:ext cx="10552253"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b="0">
                <a:solidFill>
                  <a:srgbClr val="3F3F3F"/>
                </a:solidFill>
                <a:latin typeface="Quattrocento Sans"/>
                <a:ea typeface="Quattrocento Sans"/>
                <a:cs typeface="Quattrocento Sans"/>
                <a:sym typeface="Quattrocento Sans"/>
              </a:rPr>
              <a:t>Layouts in Tkinter - Introduction to layouts</a:t>
            </a:r>
            <a:endParaRPr sz="2800" b="0">
              <a:solidFill>
                <a:srgbClr val="3F3F3F"/>
              </a:solidFill>
              <a:latin typeface="Quattrocento Sans"/>
              <a:ea typeface="Quattrocento Sans"/>
              <a:cs typeface="Quattrocento Sans"/>
              <a:sym typeface="Quattrocento Sans"/>
            </a:endParaRPr>
          </a:p>
        </p:txBody>
      </p:sp>
      <p:pic>
        <p:nvPicPr>
          <p:cNvPr id="247" name="Google Shape;247;p19" descr="Closed book with solid fill"/>
          <p:cNvPicPr preferRelativeResize="0"/>
          <p:nvPr/>
        </p:nvPicPr>
        <p:blipFill rotWithShape="1">
          <a:blip r:embed="rId3">
            <a:alphaModFix/>
          </a:blip>
          <a:srcRect/>
          <a:stretch/>
        </p:blipFill>
        <p:spPr>
          <a:xfrm>
            <a:off x="304799" y="1303873"/>
            <a:ext cx="518160" cy="408432"/>
          </a:xfrm>
          <a:prstGeom prst="rect">
            <a:avLst/>
          </a:prstGeom>
          <a:noFill/>
          <a:ln>
            <a:noFill/>
          </a:ln>
        </p:spPr>
      </p:pic>
      <p:sp>
        <p:nvSpPr>
          <p:cNvPr id="248" name="Google Shape;248;p19"/>
          <p:cNvSpPr txBox="1"/>
          <p:nvPr/>
        </p:nvSpPr>
        <p:spPr>
          <a:xfrm>
            <a:off x="715257" y="1735647"/>
            <a:ext cx="10999222" cy="369332"/>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1800">
                <a:solidFill>
                  <a:schemeClr val="dk1"/>
                </a:solidFill>
                <a:latin typeface="Calibri"/>
                <a:ea typeface="Calibri"/>
                <a:cs typeface="Calibri"/>
                <a:sym typeface="Calibri"/>
              </a:rPr>
              <a:t>The `pack` geometry manager organizes widgets in blocks before placing them in the parent widget.</a:t>
            </a:r>
            <a:endParaRPr sz="1800" b="1">
              <a:solidFill>
                <a:schemeClr val="dk1"/>
              </a:solidFill>
              <a:latin typeface="Calibri"/>
              <a:ea typeface="Calibri"/>
              <a:cs typeface="Calibri"/>
              <a:sym typeface="Calibri"/>
            </a:endParaRPr>
          </a:p>
        </p:txBody>
      </p:sp>
      <p:pic>
        <p:nvPicPr>
          <p:cNvPr id="249" name="Google Shape;249;p19"/>
          <p:cNvPicPr preferRelativeResize="0"/>
          <p:nvPr/>
        </p:nvPicPr>
        <p:blipFill rotWithShape="1">
          <a:blip r:embed="rId4">
            <a:alphaModFix/>
          </a:blip>
          <a:srcRect/>
          <a:stretch/>
        </p:blipFill>
        <p:spPr>
          <a:xfrm>
            <a:off x="2067560" y="2243215"/>
            <a:ext cx="8056879" cy="4492578"/>
          </a:xfrm>
          <a:prstGeom prst="rect">
            <a:avLst/>
          </a:prstGeom>
          <a:noFill/>
          <a:ln>
            <a:noFill/>
          </a:ln>
        </p:spPr>
      </p:pic>
      <p:sp>
        <p:nvSpPr>
          <p:cNvPr id="250" name="Google Shape;250;p19"/>
          <p:cNvSpPr txBox="1"/>
          <p:nvPr/>
        </p:nvSpPr>
        <p:spPr>
          <a:xfrm>
            <a:off x="715257" y="1146575"/>
            <a:ext cx="4609096" cy="589072"/>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n-US" sz="2400">
                <a:solidFill>
                  <a:srgbClr val="262626"/>
                </a:solidFill>
                <a:latin typeface="Calibri"/>
                <a:ea typeface="Calibri"/>
                <a:cs typeface="Calibri"/>
                <a:sym typeface="Calibri"/>
              </a:rPr>
              <a:t>Pack layout</a:t>
            </a:r>
            <a:endParaRPr/>
          </a:p>
        </p:txBody>
      </p:sp>
      <p:sp>
        <p:nvSpPr>
          <p:cNvPr id="2" name="Footer Placeholder 1">
            <a:extLst>
              <a:ext uri="{FF2B5EF4-FFF2-40B4-BE49-F238E27FC236}">
                <a16:creationId xmlns:a16="http://schemas.microsoft.com/office/drawing/2014/main" id="{4D24926E-AFB6-8DB3-95F0-F147C0040C99}"/>
              </a:ext>
            </a:extLst>
          </p:cNvPr>
          <p:cNvSpPr>
            <a:spLocks noGrp="1"/>
          </p:cNvSpPr>
          <p:nvPr>
            <p:ph type="ftr" idx="11"/>
          </p:nvPr>
        </p:nvSpPr>
        <p:spPr/>
        <p:txBody>
          <a:bodyPr/>
          <a:lstStyle/>
          <a:p>
            <a:r>
              <a:rPr lang="en-IN"/>
              <a:t>Web Developer-Python</a:t>
            </a:r>
          </a:p>
        </p:txBody>
      </p:sp>
      <p:sp>
        <p:nvSpPr>
          <p:cNvPr id="3" name="Slide Number Placeholder 2">
            <a:extLst>
              <a:ext uri="{FF2B5EF4-FFF2-40B4-BE49-F238E27FC236}">
                <a16:creationId xmlns:a16="http://schemas.microsoft.com/office/drawing/2014/main" id="{BD10482D-932A-346E-9B10-345D4B833F2D}"/>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54"/>
        <p:cNvGrpSpPr/>
        <p:nvPr/>
      </p:nvGrpSpPr>
      <p:grpSpPr>
        <a:xfrm>
          <a:off x="0" y="0"/>
          <a:ext cx="0" cy="0"/>
          <a:chOff x="0" y="0"/>
          <a:chExt cx="0" cy="0"/>
        </a:xfrm>
      </p:grpSpPr>
      <p:sp>
        <p:nvSpPr>
          <p:cNvPr id="255" name="Google Shape;255;p20"/>
          <p:cNvSpPr txBox="1"/>
          <p:nvPr/>
        </p:nvSpPr>
        <p:spPr>
          <a:xfrm>
            <a:off x="304799" y="176513"/>
            <a:ext cx="10552253"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b="0">
                <a:solidFill>
                  <a:srgbClr val="3F3F3F"/>
                </a:solidFill>
                <a:latin typeface="Quattrocento Sans"/>
                <a:ea typeface="Quattrocento Sans"/>
                <a:cs typeface="Quattrocento Sans"/>
                <a:sym typeface="Quattrocento Sans"/>
              </a:rPr>
              <a:t>Layouts in Tkinter - Introduction to layouts</a:t>
            </a:r>
            <a:endParaRPr sz="2800" b="0">
              <a:solidFill>
                <a:srgbClr val="3F3F3F"/>
              </a:solidFill>
              <a:latin typeface="Quattrocento Sans"/>
              <a:ea typeface="Quattrocento Sans"/>
              <a:cs typeface="Quattrocento Sans"/>
              <a:sym typeface="Quattrocento Sans"/>
            </a:endParaRPr>
          </a:p>
        </p:txBody>
      </p:sp>
      <p:pic>
        <p:nvPicPr>
          <p:cNvPr id="256" name="Google Shape;256;p20" descr="Closed book with solid fill"/>
          <p:cNvPicPr preferRelativeResize="0"/>
          <p:nvPr/>
        </p:nvPicPr>
        <p:blipFill rotWithShape="1">
          <a:blip r:embed="rId3">
            <a:alphaModFix/>
          </a:blip>
          <a:srcRect/>
          <a:stretch/>
        </p:blipFill>
        <p:spPr>
          <a:xfrm>
            <a:off x="304799" y="1303873"/>
            <a:ext cx="518160" cy="408432"/>
          </a:xfrm>
          <a:prstGeom prst="rect">
            <a:avLst/>
          </a:prstGeom>
          <a:noFill/>
          <a:ln>
            <a:noFill/>
          </a:ln>
        </p:spPr>
      </p:pic>
      <p:sp>
        <p:nvSpPr>
          <p:cNvPr id="257" name="Google Shape;257;p20"/>
          <p:cNvSpPr txBox="1"/>
          <p:nvPr/>
        </p:nvSpPr>
        <p:spPr>
          <a:xfrm>
            <a:off x="715257" y="1735647"/>
            <a:ext cx="10999222" cy="369332"/>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1800">
                <a:solidFill>
                  <a:schemeClr val="dk1"/>
                </a:solidFill>
                <a:latin typeface="Calibri"/>
                <a:ea typeface="Calibri"/>
                <a:cs typeface="Calibri"/>
                <a:sym typeface="Calibri"/>
              </a:rPr>
              <a:t>The `grid` geometry manager organizes widgets in a table-like structure using rows and columns.</a:t>
            </a:r>
            <a:endParaRPr sz="1800" b="1">
              <a:solidFill>
                <a:schemeClr val="dk1"/>
              </a:solidFill>
              <a:latin typeface="Calibri"/>
              <a:ea typeface="Calibri"/>
              <a:cs typeface="Calibri"/>
              <a:sym typeface="Calibri"/>
            </a:endParaRPr>
          </a:p>
        </p:txBody>
      </p:sp>
      <p:pic>
        <p:nvPicPr>
          <p:cNvPr id="258" name="Google Shape;258;p20"/>
          <p:cNvPicPr preferRelativeResize="0"/>
          <p:nvPr/>
        </p:nvPicPr>
        <p:blipFill rotWithShape="1">
          <a:blip r:embed="rId4">
            <a:alphaModFix/>
          </a:blip>
          <a:srcRect/>
          <a:stretch/>
        </p:blipFill>
        <p:spPr>
          <a:xfrm>
            <a:off x="2067560" y="2243895"/>
            <a:ext cx="8056879" cy="4491217"/>
          </a:xfrm>
          <a:prstGeom prst="rect">
            <a:avLst/>
          </a:prstGeom>
          <a:noFill/>
          <a:ln>
            <a:noFill/>
          </a:ln>
        </p:spPr>
      </p:pic>
      <p:sp>
        <p:nvSpPr>
          <p:cNvPr id="259" name="Google Shape;259;p20"/>
          <p:cNvSpPr txBox="1"/>
          <p:nvPr/>
        </p:nvSpPr>
        <p:spPr>
          <a:xfrm>
            <a:off x="715257" y="1146575"/>
            <a:ext cx="4609096" cy="589072"/>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n-US" sz="2400">
                <a:solidFill>
                  <a:srgbClr val="262626"/>
                </a:solidFill>
                <a:latin typeface="Calibri"/>
                <a:ea typeface="Calibri"/>
                <a:cs typeface="Calibri"/>
                <a:sym typeface="Calibri"/>
              </a:rPr>
              <a:t>Grid layout</a:t>
            </a:r>
            <a:endParaRPr/>
          </a:p>
        </p:txBody>
      </p:sp>
      <p:sp>
        <p:nvSpPr>
          <p:cNvPr id="2" name="Footer Placeholder 1">
            <a:extLst>
              <a:ext uri="{FF2B5EF4-FFF2-40B4-BE49-F238E27FC236}">
                <a16:creationId xmlns:a16="http://schemas.microsoft.com/office/drawing/2014/main" id="{BBB4458B-FAAF-4AA6-ABD3-C774FE5AC176}"/>
              </a:ext>
            </a:extLst>
          </p:cNvPr>
          <p:cNvSpPr>
            <a:spLocks noGrp="1"/>
          </p:cNvSpPr>
          <p:nvPr>
            <p:ph type="ftr" idx="11"/>
          </p:nvPr>
        </p:nvSpPr>
        <p:spPr/>
        <p:txBody>
          <a:bodyPr/>
          <a:lstStyle/>
          <a:p>
            <a:r>
              <a:rPr lang="en-IN"/>
              <a:t>Web Developer-Python</a:t>
            </a:r>
          </a:p>
        </p:txBody>
      </p:sp>
      <p:sp>
        <p:nvSpPr>
          <p:cNvPr id="3" name="Slide Number Placeholder 2">
            <a:extLst>
              <a:ext uri="{FF2B5EF4-FFF2-40B4-BE49-F238E27FC236}">
                <a16:creationId xmlns:a16="http://schemas.microsoft.com/office/drawing/2014/main" id="{E4B1A174-7499-6B30-A571-93C5BD9AA822}"/>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63"/>
        <p:cNvGrpSpPr/>
        <p:nvPr/>
      </p:nvGrpSpPr>
      <p:grpSpPr>
        <a:xfrm>
          <a:off x="0" y="0"/>
          <a:ext cx="0" cy="0"/>
          <a:chOff x="0" y="0"/>
          <a:chExt cx="0" cy="0"/>
        </a:xfrm>
      </p:grpSpPr>
      <p:sp>
        <p:nvSpPr>
          <p:cNvPr id="264" name="Google Shape;264;p21"/>
          <p:cNvSpPr txBox="1"/>
          <p:nvPr/>
        </p:nvSpPr>
        <p:spPr>
          <a:xfrm>
            <a:off x="304799" y="176513"/>
            <a:ext cx="10552253"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b="0">
                <a:solidFill>
                  <a:srgbClr val="3F3F3F"/>
                </a:solidFill>
                <a:latin typeface="Quattrocento Sans"/>
                <a:ea typeface="Quattrocento Sans"/>
                <a:cs typeface="Quattrocento Sans"/>
                <a:sym typeface="Quattrocento Sans"/>
              </a:rPr>
              <a:t>Layouts in Tkinter - Introduction to layouts</a:t>
            </a:r>
            <a:endParaRPr sz="2800" b="0">
              <a:solidFill>
                <a:srgbClr val="3F3F3F"/>
              </a:solidFill>
              <a:latin typeface="Quattrocento Sans"/>
              <a:ea typeface="Quattrocento Sans"/>
              <a:cs typeface="Quattrocento Sans"/>
              <a:sym typeface="Quattrocento Sans"/>
            </a:endParaRPr>
          </a:p>
        </p:txBody>
      </p:sp>
      <p:pic>
        <p:nvPicPr>
          <p:cNvPr id="265" name="Google Shape;265;p21" descr="Closed book with solid fill"/>
          <p:cNvPicPr preferRelativeResize="0"/>
          <p:nvPr/>
        </p:nvPicPr>
        <p:blipFill rotWithShape="1">
          <a:blip r:embed="rId3">
            <a:alphaModFix/>
          </a:blip>
          <a:srcRect/>
          <a:stretch/>
        </p:blipFill>
        <p:spPr>
          <a:xfrm>
            <a:off x="304799" y="1303873"/>
            <a:ext cx="518160" cy="408432"/>
          </a:xfrm>
          <a:prstGeom prst="rect">
            <a:avLst/>
          </a:prstGeom>
          <a:noFill/>
          <a:ln>
            <a:noFill/>
          </a:ln>
        </p:spPr>
      </p:pic>
      <p:sp>
        <p:nvSpPr>
          <p:cNvPr id="266" name="Google Shape;266;p21"/>
          <p:cNvSpPr txBox="1"/>
          <p:nvPr/>
        </p:nvSpPr>
        <p:spPr>
          <a:xfrm>
            <a:off x="715257" y="1735647"/>
            <a:ext cx="10999222" cy="369332"/>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1800">
                <a:solidFill>
                  <a:schemeClr val="dk1"/>
                </a:solidFill>
                <a:latin typeface="Calibri"/>
                <a:ea typeface="Calibri"/>
                <a:cs typeface="Calibri"/>
                <a:sym typeface="Calibri"/>
              </a:rPr>
              <a:t>The `place` geometry manager allows you to position widgets at an absolute location within the parent widget.</a:t>
            </a:r>
            <a:endParaRPr sz="1800" b="1">
              <a:solidFill>
                <a:schemeClr val="dk1"/>
              </a:solidFill>
              <a:latin typeface="Calibri"/>
              <a:ea typeface="Calibri"/>
              <a:cs typeface="Calibri"/>
              <a:sym typeface="Calibri"/>
            </a:endParaRPr>
          </a:p>
        </p:txBody>
      </p:sp>
      <p:pic>
        <p:nvPicPr>
          <p:cNvPr id="267" name="Google Shape;267;p21"/>
          <p:cNvPicPr preferRelativeResize="0"/>
          <p:nvPr/>
        </p:nvPicPr>
        <p:blipFill rotWithShape="1">
          <a:blip r:embed="rId4">
            <a:alphaModFix/>
          </a:blip>
          <a:srcRect/>
          <a:stretch/>
        </p:blipFill>
        <p:spPr>
          <a:xfrm>
            <a:off x="2067560" y="2243895"/>
            <a:ext cx="8056878" cy="4491217"/>
          </a:xfrm>
          <a:prstGeom prst="rect">
            <a:avLst/>
          </a:prstGeom>
          <a:noFill/>
          <a:ln>
            <a:noFill/>
          </a:ln>
        </p:spPr>
      </p:pic>
      <p:sp>
        <p:nvSpPr>
          <p:cNvPr id="268" name="Google Shape;268;p21"/>
          <p:cNvSpPr txBox="1"/>
          <p:nvPr/>
        </p:nvSpPr>
        <p:spPr>
          <a:xfrm>
            <a:off x="715257" y="1146575"/>
            <a:ext cx="4609096" cy="589072"/>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n-US" sz="2400">
                <a:solidFill>
                  <a:srgbClr val="262626"/>
                </a:solidFill>
                <a:latin typeface="Calibri"/>
                <a:ea typeface="Calibri"/>
                <a:cs typeface="Calibri"/>
                <a:sym typeface="Calibri"/>
              </a:rPr>
              <a:t>Place layout</a:t>
            </a:r>
            <a:endParaRPr/>
          </a:p>
        </p:txBody>
      </p:sp>
      <p:sp>
        <p:nvSpPr>
          <p:cNvPr id="2" name="Footer Placeholder 1">
            <a:extLst>
              <a:ext uri="{FF2B5EF4-FFF2-40B4-BE49-F238E27FC236}">
                <a16:creationId xmlns:a16="http://schemas.microsoft.com/office/drawing/2014/main" id="{DCBB3AA5-0297-4DB8-0BC9-798B983A31F0}"/>
              </a:ext>
            </a:extLst>
          </p:cNvPr>
          <p:cNvSpPr>
            <a:spLocks noGrp="1"/>
          </p:cNvSpPr>
          <p:nvPr>
            <p:ph type="ftr" idx="11"/>
          </p:nvPr>
        </p:nvSpPr>
        <p:spPr/>
        <p:txBody>
          <a:bodyPr/>
          <a:lstStyle/>
          <a:p>
            <a:r>
              <a:rPr lang="en-IN"/>
              <a:t>Web Developer-Python</a:t>
            </a:r>
          </a:p>
        </p:txBody>
      </p:sp>
      <p:sp>
        <p:nvSpPr>
          <p:cNvPr id="3" name="Slide Number Placeholder 2">
            <a:extLst>
              <a:ext uri="{FF2B5EF4-FFF2-40B4-BE49-F238E27FC236}">
                <a16:creationId xmlns:a16="http://schemas.microsoft.com/office/drawing/2014/main" id="{329E481F-1D37-3545-5429-BE121165E902}"/>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72"/>
        <p:cNvGrpSpPr/>
        <p:nvPr/>
      </p:nvGrpSpPr>
      <p:grpSpPr>
        <a:xfrm>
          <a:off x="0" y="0"/>
          <a:ext cx="0" cy="0"/>
          <a:chOff x="0" y="0"/>
          <a:chExt cx="0" cy="0"/>
        </a:xfrm>
      </p:grpSpPr>
      <p:sp>
        <p:nvSpPr>
          <p:cNvPr id="273" name="Google Shape;273;p22"/>
          <p:cNvSpPr txBox="1"/>
          <p:nvPr/>
        </p:nvSpPr>
        <p:spPr>
          <a:xfrm>
            <a:off x="304799" y="176513"/>
            <a:ext cx="10552253"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b="0">
                <a:solidFill>
                  <a:srgbClr val="3F3F3F"/>
                </a:solidFill>
                <a:latin typeface="Quattrocento Sans"/>
                <a:ea typeface="Quattrocento Sans"/>
                <a:cs typeface="Quattrocento Sans"/>
                <a:sym typeface="Quattrocento Sans"/>
              </a:rPr>
              <a:t>Layouts in Tkinter - Introduction to layouts</a:t>
            </a:r>
            <a:endParaRPr sz="2800" b="0">
              <a:solidFill>
                <a:srgbClr val="3F3F3F"/>
              </a:solidFill>
              <a:latin typeface="Quattrocento Sans"/>
              <a:ea typeface="Quattrocento Sans"/>
              <a:cs typeface="Quattrocento Sans"/>
              <a:sym typeface="Quattrocento Sans"/>
            </a:endParaRPr>
          </a:p>
        </p:txBody>
      </p:sp>
      <p:pic>
        <p:nvPicPr>
          <p:cNvPr id="274" name="Google Shape;274;p22" descr="Closed book with solid fill"/>
          <p:cNvPicPr preferRelativeResize="0"/>
          <p:nvPr/>
        </p:nvPicPr>
        <p:blipFill rotWithShape="1">
          <a:blip r:embed="rId3">
            <a:alphaModFix/>
          </a:blip>
          <a:srcRect/>
          <a:stretch/>
        </p:blipFill>
        <p:spPr>
          <a:xfrm>
            <a:off x="304799" y="1303873"/>
            <a:ext cx="518160" cy="408432"/>
          </a:xfrm>
          <a:prstGeom prst="rect">
            <a:avLst/>
          </a:prstGeom>
          <a:noFill/>
          <a:ln>
            <a:noFill/>
          </a:ln>
        </p:spPr>
      </p:pic>
      <p:sp>
        <p:nvSpPr>
          <p:cNvPr id="275" name="Google Shape;275;p22"/>
          <p:cNvSpPr txBox="1"/>
          <p:nvPr/>
        </p:nvSpPr>
        <p:spPr>
          <a:xfrm>
            <a:off x="715257" y="1735647"/>
            <a:ext cx="10999222" cy="1676741"/>
          </a:xfrm>
          <a:prstGeom prst="rect">
            <a:avLst/>
          </a:prstGeom>
          <a:noFill/>
          <a:ln>
            <a:noFill/>
          </a:ln>
        </p:spPr>
        <p:txBody>
          <a:bodyPr spcFirstLastPara="1" wrap="square" lIns="91425" tIns="45700" rIns="91425" bIns="45700" anchor="t" anchorCtr="0">
            <a:spAutoFit/>
          </a:bodyPr>
          <a:lstStyle/>
          <a:p>
            <a:pPr marL="285750" marR="0" lvl="0" indent="-285750" algn="just" rtl="0">
              <a:lnSpc>
                <a:spcPct val="200000"/>
              </a:lnSpc>
              <a:spcBef>
                <a:spcPts val="0"/>
              </a:spcBef>
              <a:spcAft>
                <a:spcPts val="0"/>
              </a:spcAft>
              <a:buClr>
                <a:schemeClr val="dk1"/>
              </a:buClr>
              <a:buSzPts val="1800"/>
              <a:buFont typeface="Noto Sans Symbols"/>
              <a:buChar char="▪"/>
            </a:pPr>
            <a:r>
              <a:rPr lang="en-US" sz="1800" b="1">
                <a:solidFill>
                  <a:schemeClr val="dk1"/>
                </a:solidFill>
                <a:latin typeface="Calibri"/>
                <a:ea typeface="Calibri"/>
                <a:cs typeface="Calibri"/>
                <a:sym typeface="Calibri"/>
              </a:rPr>
              <a:t>Pack</a:t>
            </a:r>
            <a:r>
              <a:rPr lang="en-US" sz="1800">
                <a:solidFill>
                  <a:schemeClr val="dk1"/>
                </a:solidFill>
                <a:latin typeface="Calibri"/>
                <a:ea typeface="Calibri"/>
                <a:cs typeface="Calibri"/>
                <a:sym typeface="Calibri"/>
              </a:rPr>
              <a:t>: Suitable for simple layouts where you want widgets stacked vertically or horizontally.</a:t>
            </a:r>
            <a:endParaRPr/>
          </a:p>
          <a:p>
            <a:pPr marL="285750" marR="0" lvl="0" indent="-285750" algn="just" rtl="0">
              <a:lnSpc>
                <a:spcPct val="200000"/>
              </a:lnSpc>
              <a:spcBef>
                <a:spcPts val="0"/>
              </a:spcBef>
              <a:spcAft>
                <a:spcPts val="0"/>
              </a:spcAft>
              <a:buClr>
                <a:schemeClr val="dk1"/>
              </a:buClr>
              <a:buSzPts val="1800"/>
              <a:buFont typeface="Noto Sans Symbols"/>
              <a:buChar char="▪"/>
            </a:pPr>
            <a:r>
              <a:rPr lang="en-US" sz="1800" b="1">
                <a:solidFill>
                  <a:schemeClr val="dk1"/>
                </a:solidFill>
                <a:latin typeface="Calibri"/>
                <a:ea typeface="Calibri"/>
                <a:cs typeface="Calibri"/>
                <a:sym typeface="Calibri"/>
              </a:rPr>
              <a:t>Grid</a:t>
            </a:r>
            <a:r>
              <a:rPr lang="en-US" sz="1800">
                <a:solidFill>
                  <a:schemeClr val="dk1"/>
                </a:solidFill>
                <a:latin typeface="Calibri"/>
                <a:ea typeface="Calibri"/>
                <a:cs typeface="Calibri"/>
                <a:sym typeface="Calibri"/>
              </a:rPr>
              <a:t>: Ideal for more complex layouts involving rows and columns, similar to a table.</a:t>
            </a:r>
            <a:endParaRPr/>
          </a:p>
          <a:p>
            <a:pPr marL="285750" marR="0" lvl="0" indent="-285750" algn="just" rtl="0">
              <a:lnSpc>
                <a:spcPct val="200000"/>
              </a:lnSpc>
              <a:spcBef>
                <a:spcPts val="0"/>
              </a:spcBef>
              <a:spcAft>
                <a:spcPts val="0"/>
              </a:spcAft>
              <a:buClr>
                <a:schemeClr val="dk1"/>
              </a:buClr>
              <a:buSzPts val="1800"/>
              <a:buFont typeface="Noto Sans Symbols"/>
              <a:buChar char="▪"/>
            </a:pPr>
            <a:r>
              <a:rPr lang="en-US" sz="1800" b="1">
                <a:solidFill>
                  <a:schemeClr val="dk1"/>
                </a:solidFill>
                <a:latin typeface="Calibri"/>
                <a:ea typeface="Calibri"/>
                <a:cs typeface="Calibri"/>
                <a:sym typeface="Calibri"/>
              </a:rPr>
              <a:t>Place</a:t>
            </a:r>
            <a:r>
              <a:rPr lang="en-US" sz="1800">
                <a:solidFill>
                  <a:schemeClr val="dk1"/>
                </a:solidFill>
                <a:latin typeface="Calibri"/>
                <a:ea typeface="Calibri"/>
                <a:cs typeface="Calibri"/>
                <a:sym typeface="Calibri"/>
              </a:rPr>
              <a:t>: Useful for precise control over widget positioning for complex interfaces.</a:t>
            </a:r>
            <a:endParaRPr sz="1800" b="1">
              <a:solidFill>
                <a:schemeClr val="dk1"/>
              </a:solidFill>
              <a:latin typeface="Calibri"/>
              <a:ea typeface="Calibri"/>
              <a:cs typeface="Calibri"/>
              <a:sym typeface="Calibri"/>
            </a:endParaRPr>
          </a:p>
        </p:txBody>
      </p:sp>
      <p:sp>
        <p:nvSpPr>
          <p:cNvPr id="276" name="Google Shape;276;p22"/>
          <p:cNvSpPr txBox="1"/>
          <p:nvPr/>
        </p:nvSpPr>
        <p:spPr>
          <a:xfrm>
            <a:off x="715257" y="1146575"/>
            <a:ext cx="4609096" cy="589072"/>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n-US" sz="2400">
                <a:solidFill>
                  <a:srgbClr val="262626"/>
                </a:solidFill>
                <a:latin typeface="Calibri"/>
                <a:ea typeface="Calibri"/>
                <a:cs typeface="Calibri"/>
                <a:sym typeface="Calibri"/>
              </a:rPr>
              <a:t>Choosing a layout manager</a:t>
            </a:r>
            <a:endParaRPr/>
          </a:p>
        </p:txBody>
      </p:sp>
      <p:sp>
        <p:nvSpPr>
          <p:cNvPr id="2" name="Footer Placeholder 1">
            <a:extLst>
              <a:ext uri="{FF2B5EF4-FFF2-40B4-BE49-F238E27FC236}">
                <a16:creationId xmlns:a16="http://schemas.microsoft.com/office/drawing/2014/main" id="{1DA9840F-44CD-CA5E-43E5-849A28EFD28F}"/>
              </a:ext>
            </a:extLst>
          </p:cNvPr>
          <p:cNvSpPr>
            <a:spLocks noGrp="1"/>
          </p:cNvSpPr>
          <p:nvPr>
            <p:ph type="ftr" idx="11"/>
          </p:nvPr>
        </p:nvSpPr>
        <p:spPr/>
        <p:txBody>
          <a:bodyPr/>
          <a:lstStyle/>
          <a:p>
            <a:r>
              <a:rPr lang="en-IN"/>
              <a:t>Web Developer-Python</a:t>
            </a:r>
          </a:p>
        </p:txBody>
      </p:sp>
      <p:sp>
        <p:nvSpPr>
          <p:cNvPr id="3" name="Slide Number Placeholder 2">
            <a:extLst>
              <a:ext uri="{FF2B5EF4-FFF2-40B4-BE49-F238E27FC236}">
                <a16:creationId xmlns:a16="http://schemas.microsoft.com/office/drawing/2014/main" id="{A150BD1D-A4CD-EDB1-854C-4C32C3F61B47}"/>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80"/>
        <p:cNvGrpSpPr/>
        <p:nvPr/>
      </p:nvGrpSpPr>
      <p:grpSpPr>
        <a:xfrm>
          <a:off x="0" y="0"/>
          <a:ext cx="0" cy="0"/>
          <a:chOff x="0" y="0"/>
          <a:chExt cx="0" cy="0"/>
        </a:xfrm>
      </p:grpSpPr>
      <p:sp>
        <p:nvSpPr>
          <p:cNvPr id="281" name="Google Shape;281;p23"/>
          <p:cNvSpPr txBox="1"/>
          <p:nvPr/>
        </p:nvSpPr>
        <p:spPr>
          <a:xfrm>
            <a:off x="304799" y="176513"/>
            <a:ext cx="10552253"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b="0">
                <a:solidFill>
                  <a:srgbClr val="3F3F3F"/>
                </a:solidFill>
                <a:latin typeface="Quattrocento Sans"/>
                <a:ea typeface="Quattrocento Sans"/>
                <a:cs typeface="Quattrocento Sans"/>
                <a:sym typeface="Quattrocento Sans"/>
              </a:rPr>
              <a:t>Layouts in Tkinter - Introduction to layouts</a:t>
            </a:r>
            <a:endParaRPr sz="2800" b="0">
              <a:solidFill>
                <a:srgbClr val="3F3F3F"/>
              </a:solidFill>
              <a:latin typeface="Quattrocento Sans"/>
              <a:ea typeface="Quattrocento Sans"/>
              <a:cs typeface="Quattrocento Sans"/>
              <a:sym typeface="Quattrocento Sans"/>
            </a:endParaRPr>
          </a:p>
        </p:txBody>
      </p:sp>
      <p:pic>
        <p:nvPicPr>
          <p:cNvPr id="282" name="Google Shape;282;p23" descr="Closed book with solid fill"/>
          <p:cNvPicPr preferRelativeResize="0"/>
          <p:nvPr/>
        </p:nvPicPr>
        <p:blipFill rotWithShape="1">
          <a:blip r:embed="rId3">
            <a:alphaModFix/>
          </a:blip>
          <a:srcRect/>
          <a:stretch/>
        </p:blipFill>
        <p:spPr>
          <a:xfrm>
            <a:off x="304799" y="1303873"/>
            <a:ext cx="518160" cy="408432"/>
          </a:xfrm>
          <a:prstGeom prst="rect">
            <a:avLst/>
          </a:prstGeom>
          <a:noFill/>
          <a:ln>
            <a:noFill/>
          </a:ln>
        </p:spPr>
      </p:pic>
      <p:sp>
        <p:nvSpPr>
          <p:cNvPr id="283" name="Google Shape;283;p23"/>
          <p:cNvSpPr txBox="1"/>
          <p:nvPr/>
        </p:nvSpPr>
        <p:spPr>
          <a:xfrm>
            <a:off x="715257" y="1735647"/>
            <a:ext cx="4609096" cy="2126864"/>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n-US" sz="1800">
                <a:solidFill>
                  <a:schemeClr val="dk1"/>
                </a:solidFill>
                <a:latin typeface="Calibri"/>
                <a:ea typeface="Calibri"/>
                <a:cs typeface="Calibri"/>
                <a:sym typeface="Calibri"/>
              </a:rPr>
              <a:t>You can also combine layout managers within different containers to create complex layouts. It's common to use a Frame widget to group related widgets and apply different layout strategies within each frame.</a:t>
            </a:r>
            <a:endParaRPr sz="1800">
              <a:solidFill>
                <a:schemeClr val="dk1"/>
              </a:solidFill>
              <a:latin typeface="Calibri"/>
              <a:ea typeface="Calibri"/>
              <a:cs typeface="Calibri"/>
              <a:sym typeface="Calibri"/>
            </a:endParaRPr>
          </a:p>
        </p:txBody>
      </p:sp>
      <p:sp>
        <p:nvSpPr>
          <p:cNvPr id="284" name="Google Shape;284;p23"/>
          <p:cNvSpPr txBox="1"/>
          <p:nvPr/>
        </p:nvSpPr>
        <p:spPr>
          <a:xfrm>
            <a:off x="715257" y="1146575"/>
            <a:ext cx="4609096" cy="646290"/>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n-US" sz="2400" dirty="0">
                <a:solidFill>
                  <a:schemeClr val="dk1"/>
                </a:solidFill>
                <a:latin typeface="Calibri"/>
                <a:ea typeface="Calibri"/>
                <a:cs typeface="Calibri"/>
                <a:sym typeface="Calibri"/>
              </a:rPr>
              <a:t>Combining layout managers</a:t>
            </a:r>
            <a:endParaRPr lang="en-US" sz="2400" dirty="0">
              <a:solidFill>
                <a:srgbClr val="262626"/>
              </a:solidFill>
              <a:latin typeface="Calibri"/>
              <a:ea typeface="Calibri"/>
              <a:cs typeface="Calibri"/>
              <a:sym typeface="Calibri"/>
            </a:endParaRPr>
          </a:p>
        </p:txBody>
      </p:sp>
      <p:pic>
        <p:nvPicPr>
          <p:cNvPr id="285" name="Google Shape;285;p23" descr="A computer screen shot of a program&#10;&#10;Description automatically generated"/>
          <p:cNvPicPr preferRelativeResize="0"/>
          <p:nvPr/>
        </p:nvPicPr>
        <p:blipFill rotWithShape="1">
          <a:blip r:embed="rId4">
            <a:alphaModFix/>
          </a:blip>
          <a:srcRect l="15680" t="10203" r="8634" b="14518"/>
          <a:stretch/>
        </p:blipFill>
        <p:spPr>
          <a:xfrm>
            <a:off x="5531408" y="1441111"/>
            <a:ext cx="6183071" cy="5416889"/>
          </a:xfrm>
          <a:prstGeom prst="rect">
            <a:avLst/>
          </a:prstGeom>
          <a:noFill/>
          <a:ln>
            <a:noFill/>
          </a:ln>
        </p:spPr>
      </p:pic>
      <p:sp>
        <p:nvSpPr>
          <p:cNvPr id="2" name="Footer Placeholder 1">
            <a:extLst>
              <a:ext uri="{FF2B5EF4-FFF2-40B4-BE49-F238E27FC236}">
                <a16:creationId xmlns:a16="http://schemas.microsoft.com/office/drawing/2014/main" id="{651F59FD-55BA-664D-5FE4-52C42AE1E318}"/>
              </a:ext>
            </a:extLst>
          </p:cNvPr>
          <p:cNvSpPr>
            <a:spLocks noGrp="1"/>
          </p:cNvSpPr>
          <p:nvPr>
            <p:ph type="ftr" idx="11"/>
          </p:nvPr>
        </p:nvSpPr>
        <p:spPr/>
        <p:txBody>
          <a:bodyPr/>
          <a:lstStyle/>
          <a:p>
            <a:r>
              <a:rPr lang="en-IN"/>
              <a:t>Web Developer-Python</a:t>
            </a:r>
          </a:p>
        </p:txBody>
      </p:sp>
      <p:sp>
        <p:nvSpPr>
          <p:cNvPr id="3" name="Slide Number Placeholder 2">
            <a:extLst>
              <a:ext uri="{FF2B5EF4-FFF2-40B4-BE49-F238E27FC236}">
                <a16:creationId xmlns:a16="http://schemas.microsoft.com/office/drawing/2014/main" id="{8E4E363C-82EB-322D-E52A-BCA4E4B2F889}"/>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89"/>
        <p:cNvGrpSpPr/>
        <p:nvPr/>
      </p:nvGrpSpPr>
      <p:grpSpPr>
        <a:xfrm>
          <a:off x="0" y="0"/>
          <a:ext cx="0" cy="0"/>
          <a:chOff x="0" y="0"/>
          <a:chExt cx="0" cy="0"/>
        </a:xfrm>
      </p:grpSpPr>
      <p:sp>
        <p:nvSpPr>
          <p:cNvPr id="290" name="Google Shape;290;p24"/>
          <p:cNvSpPr txBox="1"/>
          <p:nvPr/>
        </p:nvSpPr>
        <p:spPr>
          <a:xfrm>
            <a:off x="304799" y="176513"/>
            <a:ext cx="10552253"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b="0">
                <a:solidFill>
                  <a:srgbClr val="3F3F3F"/>
                </a:solidFill>
                <a:latin typeface="Quattrocento Sans"/>
                <a:ea typeface="Quattrocento Sans"/>
                <a:cs typeface="Quattrocento Sans"/>
                <a:sym typeface="Quattrocento Sans"/>
              </a:rPr>
              <a:t>Layouts in Tkinter - Introduction to layouts</a:t>
            </a:r>
            <a:endParaRPr sz="2800" b="0">
              <a:solidFill>
                <a:srgbClr val="3F3F3F"/>
              </a:solidFill>
              <a:latin typeface="Quattrocento Sans"/>
              <a:ea typeface="Quattrocento Sans"/>
              <a:cs typeface="Quattrocento Sans"/>
              <a:sym typeface="Quattrocento Sans"/>
            </a:endParaRPr>
          </a:p>
        </p:txBody>
      </p:sp>
      <p:sp>
        <p:nvSpPr>
          <p:cNvPr id="291" name="Google Shape;291;p24"/>
          <p:cNvSpPr txBox="1"/>
          <p:nvPr/>
        </p:nvSpPr>
        <p:spPr>
          <a:xfrm>
            <a:off x="715257" y="1735647"/>
            <a:ext cx="10999222" cy="1122743"/>
          </a:xfrm>
          <a:prstGeom prst="rect">
            <a:avLst/>
          </a:prstGeom>
          <a:noFill/>
          <a:ln>
            <a:noFill/>
          </a:ln>
        </p:spPr>
        <p:txBody>
          <a:bodyPr spcFirstLastPara="1" wrap="square" lIns="91425" tIns="45700" rIns="91425" bIns="45700" anchor="t" anchorCtr="0">
            <a:spAutoFit/>
          </a:bodyPr>
          <a:lstStyle/>
          <a:p>
            <a:pPr marL="0" marR="0" lvl="0" indent="0" algn="just" rtl="0">
              <a:lnSpc>
                <a:spcPct val="200000"/>
              </a:lnSpc>
              <a:spcBef>
                <a:spcPts val="0"/>
              </a:spcBef>
              <a:spcAft>
                <a:spcPts val="0"/>
              </a:spcAft>
              <a:buNone/>
            </a:pPr>
            <a:r>
              <a:rPr lang="en-US" sz="1800">
                <a:solidFill>
                  <a:schemeClr val="dk1"/>
                </a:solidFill>
                <a:latin typeface="Calibri"/>
                <a:ea typeface="Calibri"/>
                <a:cs typeface="Calibri"/>
                <a:sym typeface="Calibri"/>
              </a:rPr>
              <a:t>Create a Tkinter application that displays a window with a title, an icon, and a simple layout using both pack and grid. Make the window size = (400x400).</a:t>
            </a:r>
            <a:endParaRPr sz="1800">
              <a:solidFill>
                <a:schemeClr val="dk1"/>
              </a:solidFill>
              <a:latin typeface="Calibri"/>
              <a:ea typeface="Calibri"/>
              <a:cs typeface="Calibri"/>
              <a:sym typeface="Calibri"/>
            </a:endParaRPr>
          </a:p>
        </p:txBody>
      </p:sp>
      <p:pic>
        <p:nvPicPr>
          <p:cNvPr id="292" name="Google Shape;292;p24"/>
          <p:cNvPicPr preferRelativeResize="0"/>
          <p:nvPr/>
        </p:nvPicPr>
        <p:blipFill rotWithShape="1">
          <a:blip r:embed="rId3">
            <a:alphaModFix/>
          </a:blip>
          <a:srcRect/>
          <a:stretch/>
        </p:blipFill>
        <p:spPr>
          <a:xfrm>
            <a:off x="477521" y="1329317"/>
            <a:ext cx="898400" cy="477450"/>
          </a:xfrm>
          <a:prstGeom prst="rect">
            <a:avLst/>
          </a:prstGeom>
          <a:noFill/>
          <a:ln>
            <a:noFill/>
          </a:ln>
        </p:spPr>
      </p:pic>
      <p:sp>
        <p:nvSpPr>
          <p:cNvPr id="2" name="Footer Placeholder 1">
            <a:extLst>
              <a:ext uri="{FF2B5EF4-FFF2-40B4-BE49-F238E27FC236}">
                <a16:creationId xmlns:a16="http://schemas.microsoft.com/office/drawing/2014/main" id="{FDA19FF7-4798-8101-31C8-152DF248A703}"/>
              </a:ext>
            </a:extLst>
          </p:cNvPr>
          <p:cNvSpPr>
            <a:spLocks noGrp="1"/>
          </p:cNvSpPr>
          <p:nvPr>
            <p:ph type="ftr" idx="11"/>
          </p:nvPr>
        </p:nvSpPr>
        <p:spPr/>
        <p:txBody>
          <a:bodyPr/>
          <a:lstStyle/>
          <a:p>
            <a:r>
              <a:rPr lang="en-IN"/>
              <a:t>Web Developer-Python</a:t>
            </a:r>
          </a:p>
        </p:txBody>
      </p:sp>
      <p:sp>
        <p:nvSpPr>
          <p:cNvPr id="3" name="Slide Number Placeholder 2">
            <a:extLst>
              <a:ext uri="{FF2B5EF4-FFF2-40B4-BE49-F238E27FC236}">
                <a16:creationId xmlns:a16="http://schemas.microsoft.com/office/drawing/2014/main" id="{DAE42E3A-8067-63D1-178E-DEBA4E4737A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96"/>
        <p:cNvGrpSpPr/>
        <p:nvPr/>
      </p:nvGrpSpPr>
      <p:grpSpPr>
        <a:xfrm>
          <a:off x="0" y="0"/>
          <a:ext cx="0" cy="0"/>
          <a:chOff x="0" y="0"/>
          <a:chExt cx="0" cy="0"/>
        </a:xfrm>
      </p:grpSpPr>
      <p:sp>
        <p:nvSpPr>
          <p:cNvPr id="297" name="Google Shape;297;p25"/>
          <p:cNvSpPr txBox="1">
            <a:spLocks noGrp="1"/>
          </p:cNvSpPr>
          <p:nvPr>
            <p:ph type="ctrTitle"/>
          </p:nvPr>
        </p:nvSpPr>
        <p:spPr>
          <a:xfrm>
            <a:off x="480000" y="2494400"/>
            <a:ext cx="11406800" cy="1058000"/>
          </a:xfrm>
          <a:prstGeom prst="rect">
            <a:avLst/>
          </a:prstGeom>
          <a:noFill/>
          <a:ln>
            <a:noFill/>
          </a:ln>
        </p:spPr>
        <p:txBody>
          <a:bodyPr spcFirstLastPara="1" wrap="square" lIns="121900" tIns="121900" rIns="121900" bIns="121900" anchor="ctr" anchorCtr="0">
            <a:noAutofit/>
          </a:bodyPr>
          <a:lstStyle/>
          <a:p>
            <a:pPr marL="0" lvl="0" indent="0" algn="l" rtl="0">
              <a:lnSpc>
                <a:spcPct val="100000"/>
              </a:lnSpc>
              <a:spcBef>
                <a:spcPts val="0"/>
              </a:spcBef>
              <a:spcAft>
                <a:spcPts val="0"/>
              </a:spcAft>
              <a:buClr>
                <a:srgbClr val="000000"/>
              </a:buClr>
              <a:buSzPts val="5000"/>
              <a:buFont typeface="Calibri"/>
              <a:buNone/>
            </a:pPr>
            <a:r>
              <a:rPr lang="en-US" sz="4000">
                <a:solidFill>
                  <a:srgbClr val="000000"/>
                </a:solidFill>
                <a:latin typeface="Calibri"/>
                <a:ea typeface="Calibri"/>
                <a:cs typeface="Calibri"/>
                <a:sym typeface="Calibri"/>
              </a:rPr>
              <a:t>5. </a:t>
            </a:r>
            <a:r>
              <a:rPr lang="en-US" sz="4000">
                <a:latin typeface="Calibri"/>
                <a:ea typeface="Calibri"/>
                <a:cs typeface="Calibri"/>
                <a:sym typeface="Calibri"/>
              </a:rPr>
              <a:t>Introduction to Widgets in Layouts, Grid Layout</a:t>
            </a:r>
            <a:endParaRPr/>
          </a:p>
        </p:txBody>
      </p:sp>
      <p:sp>
        <p:nvSpPr>
          <p:cNvPr id="2" name="Footer Placeholder 1">
            <a:extLst>
              <a:ext uri="{FF2B5EF4-FFF2-40B4-BE49-F238E27FC236}">
                <a16:creationId xmlns:a16="http://schemas.microsoft.com/office/drawing/2014/main" id="{E5275B1D-BC15-A31D-BDBF-E4E91F85A921}"/>
              </a:ext>
            </a:extLst>
          </p:cNvPr>
          <p:cNvSpPr>
            <a:spLocks noGrp="1"/>
          </p:cNvSpPr>
          <p:nvPr>
            <p:ph type="ftr" idx="11"/>
          </p:nvPr>
        </p:nvSpPr>
        <p:spPr/>
        <p:txBody>
          <a:bodyPr/>
          <a:lstStyle/>
          <a:p>
            <a:r>
              <a:rPr lang="en-IN"/>
              <a:t>Web Developer-Python</a:t>
            </a:r>
          </a:p>
        </p:txBody>
      </p:sp>
      <p:sp>
        <p:nvSpPr>
          <p:cNvPr id="3" name="Slide Number Placeholder 2">
            <a:extLst>
              <a:ext uri="{FF2B5EF4-FFF2-40B4-BE49-F238E27FC236}">
                <a16:creationId xmlns:a16="http://schemas.microsoft.com/office/drawing/2014/main" id="{3AB7EFF8-CA57-700E-F550-A797894A50A9}"/>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01"/>
        <p:cNvGrpSpPr/>
        <p:nvPr/>
      </p:nvGrpSpPr>
      <p:grpSpPr>
        <a:xfrm>
          <a:off x="0" y="0"/>
          <a:ext cx="0" cy="0"/>
          <a:chOff x="0" y="0"/>
          <a:chExt cx="0" cy="0"/>
        </a:xfrm>
      </p:grpSpPr>
      <p:sp>
        <p:nvSpPr>
          <p:cNvPr id="302" name="Google Shape;302;p26"/>
          <p:cNvSpPr txBox="1"/>
          <p:nvPr/>
        </p:nvSpPr>
        <p:spPr>
          <a:xfrm>
            <a:off x="304799" y="176513"/>
            <a:ext cx="10552253"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b="0">
                <a:solidFill>
                  <a:srgbClr val="3F3F3F"/>
                </a:solidFill>
                <a:latin typeface="Quattrocento Sans"/>
                <a:ea typeface="Quattrocento Sans"/>
                <a:cs typeface="Quattrocento Sans"/>
                <a:sym typeface="Quattrocento Sans"/>
              </a:rPr>
              <a:t>Introduction to widgets in layouts, grid layout</a:t>
            </a:r>
            <a:endParaRPr sz="2800" b="0">
              <a:solidFill>
                <a:srgbClr val="3F3F3F"/>
              </a:solidFill>
              <a:latin typeface="Quattrocento Sans"/>
              <a:ea typeface="Quattrocento Sans"/>
              <a:cs typeface="Quattrocento Sans"/>
              <a:sym typeface="Quattrocento Sans"/>
            </a:endParaRPr>
          </a:p>
        </p:txBody>
      </p:sp>
      <p:sp>
        <p:nvSpPr>
          <p:cNvPr id="303" name="Google Shape;303;p26"/>
          <p:cNvSpPr txBox="1"/>
          <p:nvPr/>
        </p:nvSpPr>
        <p:spPr>
          <a:xfrm>
            <a:off x="715257" y="1146575"/>
            <a:ext cx="7351782" cy="589072"/>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n-US" sz="2400">
                <a:solidFill>
                  <a:srgbClr val="262626"/>
                </a:solidFill>
                <a:latin typeface="Calibri"/>
                <a:ea typeface="Calibri"/>
                <a:cs typeface="Calibri"/>
                <a:sym typeface="Calibri"/>
              </a:rPr>
              <a:t>Widgets</a:t>
            </a:r>
            <a:endParaRPr/>
          </a:p>
        </p:txBody>
      </p:sp>
      <p:pic>
        <p:nvPicPr>
          <p:cNvPr id="304" name="Google Shape;304;p26" descr="Closed book with solid fill"/>
          <p:cNvPicPr preferRelativeResize="0"/>
          <p:nvPr/>
        </p:nvPicPr>
        <p:blipFill rotWithShape="1">
          <a:blip r:embed="rId3">
            <a:alphaModFix/>
          </a:blip>
          <a:srcRect/>
          <a:stretch/>
        </p:blipFill>
        <p:spPr>
          <a:xfrm>
            <a:off x="304799" y="1303873"/>
            <a:ext cx="518160" cy="408432"/>
          </a:xfrm>
          <a:prstGeom prst="rect">
            <a:avLst/>
          </a:prstGeom>
          <a:noFill/>
          <a:ln>
            <a:noFill/>
          </a:ln>
        </p:spPr>
      </p:pic>
      <p:sp>
        <p:nvSpPr>
          <p:cNvPr id="305" name="Google Shape;305;p26"/>
          <p:cNvSpPr txBox="1"/>
          <p:nvPr/>
        </p:nvSpPr>
        <p:spPr>
          <a:xfrm>
            <a:off x="715256" y="1739622"/>
            <a:ext cx="11019543" cy="880369"/>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n-US" sz="1800">
                <a:solidFill>
                  <a:schemeClr val="dk1"/>
                </a:solidFill>
                <a:latin typeface="Calibri"/>
                <a:ea typeface="Calibri"/>
                <a:cs typeface="Calibri"/>
                <a:sym typeface="Calibri"/>
              </a:rPr>
              <a:t>Widgets are the building blocks of a Tkinter GUI application. </a:t>
            </a:r>
            <a:endParaRPr/>
          </a:p>
          <a:p>
            <a:pPr marL="0" marR="0" lvl="0" indent="0" algn="just" rtl="0">
              <a:lnSpc>
                <a:spcPct val="150000"/>
              </a:lnSpc>
              <a:spcBef>
                <a:spcPts val="0"/>
              </a:spcBef>
              <a:spcAft>
                <a:spcPts val="0"/>
              </a:spcAft>
              <a:buNone/>
            </a:pPr>
            <a:r>
              <a:rPr lang="en-US" sz="1800">
                <a:solidFill>
                  <a:schemeClr val="dk1"/>
                </a:solidFill>
                <a:latin typeface="Calibri"/>
                <a:ea typeface="Calibri"/>
                <a:cs typeface="Calibri"/>
                <a:sym typeface="Calibri"/>
              </a:rPr>
              <a:t>Here, example of some widgets provided by Tkinter - </a:t>
            </a:r>
            <a:endParaRPr sz="1800">
              <a:solidFill>
                <a:schemeClr val="dk1"/>
              </a:solidFill>
              <a:latin typeface="Calibri"/>
              <a:ea typeface="Calibri"/>
              <a:cs typeface="Calibri"/>
              <a:sym typeface="Calibri"/>
            </a:endParaRPr>
          </a:p>
        </p:txBody>
      </p:sp>
      <p:sp>
        <p:nvSpPr>
          <p:cNvPr id="306" name="Google Shape;306;p26"/>
          <p:cNvSpPr txBox="1"/>
          <p:nvPr/>
        </p:nvSpPr>
        <p:spPr>
          <a:xfrm>
            <a:off x="908296" y="2862770"/>
            <a:ext cx="1906024" cy="2957861"/>
          </a:xfrm>
          <a:prstGeom prst="rect">
            <a:avLst/>
          </a:prstGeom>
          <a:noFill/>
          <a:ln>
            <a:noFill/>
          </a:ln>
        </p:spPr>
        <p:txBody>
          <a:bodyPr spcFirstLastPara="1" wrap="square" lIns="91425" tIns="45700" rIns="91425" bIns="45700" anchor="t" anchorCtr="0">
            <a:spAutoFit/>
          </a:bodyPr>
          <a:lstStyle/>
          <a:p>
            <a:pPr marL="342900" marR="0" lvl="0" indent="-342900" algn="l" rtl="0">
              <a:lnSpc>
                <a:spcPct val="150000"/>
              </a:lnSpc>
              <a:spcBef>
                <a:spcPts val="0"/>
              </a:spcBef>
              <a:spcAft>
                <a:spcPts val="0"/>
              </a:spcAft>
              <a:buClr>
                <a:schemeClr val="dk1"/>
              </a:buClr>
              <a:buSzPts val="1800"/>
              <a:buFont typeface="Play"/>
              <a:buAutoNum type="arabicPeriod"/>
            </a:pPr>
            <a:r>
              <a:rPr lang="en-US" sz="1800">
                <a:solidFill>
                  <a:schemeClr val="dk1"/>
                </a:solidFill>
                <a:latin typeface="Calibri"/>
                <a:ea typeface="Calibri"/>
                <a:cs typeface="Calibri"/>
                <a:sym typeface="Calibri"/>
              </a:rPr>
              <a:t>Label</a:t>
            </a:r>
            <a:endParaRPr/>
          </a:p>
          <a:p>
            <a:pPr marL="342900" marR="0" lvl="0" indent="-342900" algn="l" rtl="0">
              <a:lnSpc>
                <a:spcPct val="150000"/>
              </a:lnSpc>
              <a:spcBef>
                <a:spcPts val="0"/>
              </a:spcBef>
              <a:spcAft>
                <a:spcPts val="0"/>
              </a:spcAft>
              <a:buClr>
                <a:schemeClr val="dk1"/>
              </a:buClr>
              <a:buSzPts val="1800"/>
              <a:buFont typeface="Play"/>
              <a:buAutoNum type="arabicPeriod"/>
            </a:pPr>
            <a:r>
              <a:rPr lang="en-US" sz="1800">
                <a:solidFill>
                  <a:schemeClr val="dk1"/>
                </a:solidFill>
                <a:latin typeface="Calibri"/>
                <a:ea typeface="Calibri"/>
                <a:cs typeface="Calibri"/>
                <a:sym typeface="Calibri"/>
              </a:rPr>
              <a:t>Button</a:t>
            </a:r>
            <a:endParaRPr/>
          </a:p>
          <a:p>
            <a:pPr marL="342900" marR="0" lvl="0" indent="-342900" algn="l" rtl="0">
              <a:lnSpc>
                <a:spcPct val="150000"/>
              </a:lnSpc>
              <a:spcBef>
                <a:spcPts val="0"/>
              </a:spcBef>
              <a:spcAft>
                <a:spcPts val="0"/>
              </a:spcAft>
              <a:buClr>
                <a:schemeClr val="dk1"/>
              </a:buClr>
              <a:buSzPts val="1800"/>
              <a:buFont typeface="Play"/>
              <a:buAutoNum type="arabicPeriod"/>
            </a:pPr>
            <a:r>
              <a:rPr lang="en-US" sz="1800">
                <a:solidFill>
                  <a:schemeClr val="dk1"/>
                </a:solidFill>
                <a:latin typeface="Calibri"/>
                <a:ea typeface="Calibri"/>
                <a:cs typeface="Calibri"/>
                <a:sym typeface="Calibri"/>
              </a:rPr>
              <a:t>Entry</a:t>
            </a:r>
            <a:endParaRPr/>
          </a:p>
          <a:p>
            <a:pPr marL="342900" marR="0" lvl="0" indent="-342900" algn="l" rtl="0">
              <a:lnSpc>
                <a:spcPct val="150000"/>
              </a:lnSpc>
              <a:spcBef>
                <a:spcPts val="0"/>
              </a:spcBef>
              <a:spcAft>
                <a:spcPts val="0"/>
              </a:spcAft>
              <a:buClr>
                <a:schemeClr val="dk1"/>
              </a:buClr>
              <a:buSzPts val="1800"/>
              <a:buFont typeface="Play"/>
              <a:buAutoNum type="arabicPeriod"/>
            </a:pPr>
            <a:r>
              <a:rPr lang="en-US" sz="1800">
                <a:solidFill>
                  <a:schemeClr val="dk1"/>
                </a:solidFill>
                <a:latin typeface="Calibri"/>
                <a:ea typeface="Calibri"/>
                <a:cs typeface="Calibri"/>
                <a:sym typeface="Calibri"/>
              </a:rPr>
              <a:t>Text</a:t>
            </a:r>
            <a:endParaRPr/>
          </a:p>
          <a:p>
            <a:pPr marL="342900" marR="0" lvl="0" indent="-342900" algn="l" rtl="0">
              <a:lnSpc>
                <a:spcPct val="150000"/>
              </a:lnSpc>
              <a:spcBef>
                <a:spcPts val="0"/>
              </a:spcBef>
              <a:spcAft>
                <a:spcPts val="0"/>
              </a:spcAft>
              <a:buClr>
                <a:schemeClr val="dk1"/>
              </a:buClr>
              <a:buSzPts val="1800"/>
              <a:buFont typeface="Play"/>
              <a:buAutoNum type="arabicPeriod"/>
            </a:pPr>
            <a:r>
              <a:rPr lang="en-US" sz="1800">
                <a:solidFill>
                  <a:schemeClr val="dk1"/>
                </a:solidFill>
                <a:latin typeface="Calibri"/>
                <a:ea typeface="Calibri"/>
                <a:cs typeface="Calibri"/>
                <a:sym typeface="Calibri"/>
              </a:rPr>
              <a:t>Checkbutton</a:t>
            </a:r>
            <a:endParaRPr sz="1800">
              <a:solidFill>
                <a:schemeClr val="dk1"/>
              </a:solidFill>
              <a:latin typeface="Calibri"/>
              <a:ea typeface="Calibri"/>
              <a:cs typeface="Calibri"/>
              <a:sym typeface="Calibri"/>
            </a:endParaRPr>
          </a:p>
          <a:p>
            <a:pPr marL="342900" marR="0" lvl="0" indent="-342900" algn="l" rtl="0">
              <a:lnSpc>
                <a:spcPct val="150000"/>
              </a:lnSpc>
              <a:spcBef>
                <a:spcPts val="0"/>
              </a:spcBef>
              <a:spcAft>
                <a:spcPts val="0"/>
              </a:spcAft>
              <a:buClr>
                <a:schemeClr val="dk1"/>
              </a:buClr>
              <a:buSzPts val="1800"/>
              <a:buFont typeface="Play"/>
              <a:buAutoNum type="arabicPeriod"/>
            </a:pPr>
            <a:r>
              <a:rPr lang="en-US" sz="1800">
                <a:solidFill>
                  <a:schemeClr val="dk1"/>
                </a:solidFill>
                <a:latin typeface="Calibri"/>
                <a:ea typeface="Calibri"/>
                <a:cs typeface="Calibri"/>
                <a:sym typeface="Calibri"/>
              </a:rPr>
              <a:t>Radiobutton</a:t>
            </a:r>
            <a:endParaRPr sz="1800">
              <a:solidFill>
                <a:schemeClr val="dk1"/>
              </a:solidFill>
              <a:latin typeface="Calibri"/>
              <a:ea typeface="Calibri"/>
              <a:cs typeface="Calibri"/>
              <a:sym typeface="Calibri"/>
            </a:endParaRPr>
          </a:p>
          <a:p>
            <a:pPr marL="342900" marR="0" lvl="0" indent="-342900" algn="l" rtl="0">
              <a:lnSpc>
                <a:spcPct val="150000"/>
              </a:lnSpc>
              <a:spcBef>
                <a:spcPts val="0"/>
              </a:spcBef>
              <a:spcAft>
                <a:spcPts val="0"/>
              </a:spcAft>
              <a:buClr>
                <a:schemeClr val="dk1"/>
              </a:buClr>
              <a:buSzPts val="1800"/>
              <a:buFont typeface="Play"/>
              <a:buAutoNum type="arabicPeriod"/>
            </a:pPr>
            <a:r>
              <a:rPr lang="en-US" sz="1800">
                <a:solidFill>
                  <a:schemeClr val="dk1"/>
                </a:solidFill>
                <a:latin typeface="Calibri"/>
                <a:ea typeface="Calibri"/>
                <a:cs typeface="Calibri"/>
                <a:sym typeface="Calibri"/>
              </a:rPr>
              <a:t>Listbox</a:t>
            </a:r>
            <a:endParaRPr sz="1800">
              <a:solidFill>
                <a:schemeClr val="dk1"/>
              </a:solidFill>
              <a:latin typeface="Calibri"/>
              <a:ea typeface="Calibri"/>
              <a:cs typeface="Calibri"/>
              <a:sym typeface="Calibri"/>
            </a:endParaRPr>
          </a:p>
        </p:txBody>
      </p:sp>
      <p:sp>
        <p:nvSpPr>
          <p:cNvPr id="307" name="Google Shape;307;p26"/>
          <p:cNvSpPr txBox="1"/>
          <p:nvPr/>
        </p:nvSpPr>
        <p:spPr>
          <a:xfrm>
            <a:off x="3234936" y="2862770"/>
            <a:ext cx="1906024" cy="2957861"/>
          </a:xfrm>
          <a:prstGeom prst="rect">
            <a:avLst/>
          </a:prstGeom>
          <a:noFill/>
          <a:ln>
            <a:noFill/>
          </a:ln>
        </p:spPr>
        <p:txBody>
          <a:bodyPr spcFirstLastPara="1" wrap="square" lIns="91425" tIns="45700" rIns="91425" bIns="45700" anchor="t" anchorCtr="0">
            <a:spAutoFit/>
          </a:bodyPr>
          <a:lstStyle/>
          <a:p>
            <a:pPr marL="342900" marR="0" lvl="0" indent="-342900" algn="l" rtl="0">
              <a:lnSpc>
                <a:spcPct val="150000"/>
              </a:lnSpc>
              <a:spcBef>
                <a:spcPts val="0"/>
              </a:spcBef>
              <a:spcAft>
                <a:spcPts val="0"/>
              </a:spcAft>
              <a:buClr>
                <a:schemeClr val="dk1"/>
              </a:buClr>
              <a:buSzPts val="1800"/>
              <a:buFont typeface="Play"/>
              <a:buAutoNum type="arabicPeriod" startAt="8"/>
            </a:pPr>
            <a:r>
              <a:rPr lang="en-US" sz="1800">
                <a:solidFill>
                  <a:schemeClr val="dk1"/>
                </a:solidFill>
                <a:latin typeface="Calibri"/>
                <a:ea typeface="Calibri"/>
                <a:cs typeface="Calibri"/>
                <a:sym typeface="Calibri"/>
              </a:rPr>
              <a:t>Combobox</a:t>
            </a:r>
            <a:endParaRPr sz="1800">
              <a:solidFill>
                <a:schemeClr val="dk1"/>
              </a:solidFill>
              <a:latin typeface="Calibri"/>
              <a:ea typeface="Calibri"/>
              <a:cs typeface="Calibri"/>
              <a:sym typeface="Calibri"/>
            </a:endParaRPr>
          </a:p>
          <a:p>
            <a:pPr marL="342900" marR="0" lvl="0" indent="-342900" algn="l" rtl="0">
              <a:lnSpc>
                <a:spcPct val="150000"/>
              </a:lnSpc>
              <a:spcBef>
                <a:spcPts val="0"/>
              </a:spcBef>
              <a:spcAft>
                <a:spcPts val="0"/>
              </a:spcAft>
              <a:buClr>
                <a:schemeClr val="dk1"/>
              </a:buClr>
              <a:buSzPts val="1800"/>
              <a:buFont typeface="Play"/>
              <a:buAutoNum type="arabicPeriod" startAt="8"/>
            </a:pPr>
            <a:r>
              <a:rPr lang="en-US" sz="1800">
                <a:solidFill>
                  <a:schemeClr val="dk1"/>
                </a:solidFill>
                <a:latin typeface="Calibri"/>
                <a:ea typeface="Calibri"/>
                <a:cs typeface="Calibri"/>
                <a:sym typeface="Calibri"/>
              </a:rPr>
              <a:t>Scale</a:t>
            </a:r>
            <a:endParaRPr/>
          </a:p>
          <a:p>
            <a:pPr marL="342900" marR="0" lvl="0" indent="-342900" algn="l" rtl="0">
              <a:lnSpc>
                <a:spcPct val="150000"/>
              </a:lnSpc>
              <a:spcBef>
                <a:spcPts val="0"/>
              </a:spcBef>
              <a:spcAft>
                <a:spcPts val="0"/>
              </a:spcAft>
              <a:buClr>
                <a:schemeClr val="dk1"/>
              </a:buClr>
              <a:buSzPts val="1800"/>
              <a:buFont typeface="Play"/>
              <a:buAutoNum type="arabicPeriod" startAt="8"/>
            </a:pPr>
            <a:r>
              <a:rPr lang="en-US" sz="1800">
                <a:solidFill>
                  <a:schemeClr val="dk1"/>
                </a:solidFill>
                <a:latin typeface="Calibri"/>
                <a:ea typeface="Calibri"/>
                <a:cs typeface="Calibri"/>
                <a:sym typeface="Calibri"/>
              </a:rPr>
              <a:t>Spinbox</a:t>
            </a:r>
            <a:endParaRPr sz="1800">
              <a:solidFill>
                <a:schemeClr val="dk1"/>
              </a:solidFill>
              <a:latin typeface="Calibri"/>
              <a:ea typeface="Calibri"/>
              <a:cs typeface="Calibri"/>
              <a:sym typeface="Calibri"/>
            </a:endParaRPr>
          </a:p>
          <a:p>
            <a:pPr marL="342900" marR="0" lvl="0" indent="-342900" algn="l" rtl="0">
              <a:lnSpc>
                <a:spcPct val="150000"/>
              </a:lnSpc>
              <a:spcBef>
                <a:spcPts val="0"/>
              </a:spcBef>
              <a:spcAft>
                <a:spcPts val="0"/>
              </a:spcAft>
              <a:buClr>
                <a:schemeClr val="dk1"/>
              </a:buClr>
              <a:buSzPts val="1800"/>
              <a:buFont typeface="Play"/>
              <a:buAutoNum type="arabicPeriod" startAt="8"/>
            </a:pPr>
            <a:r>
              <a:rPr lang="en-US" sz="1800">
                <a:solidFill>
                  <a:schemeClr val="dk1"/>
                </a:solidFill>
                <a:latin typeface="Calibri"/>
                <a:ea typeface="Calibri"/>
                <a:cs typeface="Calibri"/>
                <a:sym typeface="Calibri"/>
              </a:rPr>
              <a:t>Scrollbar</a:t>
            </a:r>
            <a:endParaRPr/>
          </a:p>
          <a:p>
            <a:pPr marL="342900" marR="0" lvl="0" indent="-342900" algn="l" rtl="0">
              <a:lnSpc>
                <a:spcPct val="150000"/>
              </a:lnSpc>
              <a:spcBef>
                <a:spcPts val="0"/>
              </a:spcBef>
              <a:spcAft>
                <a:spcPts val="0"/>
              </a:spcAft>
              <a:buClr>
                <a:schemeClr val="dk1"/>
              </a:buClr>
              <a:buSzPts val="1800"/>
              <a:buFont typeface="Play"/>
              <a:buAutoNum type="arabicPeriod" startAt="8"/>
            </a:pPr>
            <a:r>
              <a:rPr lang="en-US" sz="1800">
                <a:solidFill>
                  <a:schemeClr val="dk1"/>
                </a:solidFill>
                <a:latin typeface="Calibri"/>
                <a:ea typeface="Calibri"/>
                <a:cs typeface="Calibri"/>
                <a:sym typeface="Calibri"/>
              </a:rPr>
              <a:t>Frame</a:t>
            </a:r>
            <a:endParaRPr/>
          </a:p>
          <a:p>
            <a:pPr marL="342900" marR="0" lvl="0" indent="-342900" algn="l" rtl="0">
              <a:lnSpc>
                <a:spcPct val="150000"/>
              </a:lnSpc>
              <a:spcBef>
                <a:spcPts val="0"/>
              </a:spcBef>
              <a:spcAft>
                <a:spcPts val="0"/>
              </a:spcAft>
              <a:buClr>
                <a:schemeClr val="dk1"/>
              </a:buClr>
              <a:buSzPts val="1800"/>
              <a:buFont typeface="Play"/>
              <a:buAutoNum type="arabicPeriod" startAt="8"/>
            </a:pPr>
            <a:r>
              <a:rPr lang="en-US" sz="1800">
                <a:solidFill>
                  <a:schemeClr val="dk1"/>
                </a:solidFill>
                <a:latin typeface="Calibri"/>
                <a:ea typeface="Calibri"/>
                <a:cs typeface="Calibri"/>
                <a:sym typeface="Calibri"/>
              </a:rPr>
              <a:t>Canvas</a:t>
            </a:r>
            <a:endParaRPr/>
          </a:p>
          <a:p>
            <a:pPr marL="342900" marR="0" lvl="0" indent="-342900" algn="l" rtl="0">
              <a:lnSpc>
                <a:spcPct val="150000"/>
              </a:lnSpc>
              <a:spcBef>
                <a:spcPts val="0"/>
              </a:spcBef>
              <a:spcAft>
                <a:spcPts val="0"/>
              </a:spcAft>
              <a:buClr>
                <a:schemeClr val="dk1"/>
              </a:buClr>
              <a:buSzPts val="1800"/>
              <a:buFont typeface="Play"/>
              <a:buAutoNum type="arabicPeriod" startAt="8"/>
            </a:pPr>
            <a:r>
              <a:rPr lang="en-US" sz="1800">
                <a:solidFill>
                  <a:schemeClr val="dk1"/>
                </a:solidFill>
                <a:latin typeface="Calibri"/>
                <a:ea typeface="Calibri"/>
                <a:cs typeface="Calibri"/>
                <a:sym typeface="Calibri"/>
              </a:rPr>
              <a:t>Menu</a:t>
            </a:r>
            <a:endParaRPr/>
          </a:p>
        </p:txBody>
      </p:sp>
      <p:sp>
        <p:nvSpPr>
          <p:cNvPr id="2" name="Footer Placeholder 1">
            <a:extLst>
              <a:ext uri="{FF2B5EF4-FFF2-40B4-BE49-F238E27FC236}">
                <a16:creationId xmlns:a16="http://schemas.microsoft.com/office/drawing/2014/main" id="{4F8CA43E-DFBB-640B-A7BB-D5A98A266DED}"/>
              </a:ext>
            </a:extLst>
          </p:cNvPr>
          <p:cNvSpPr>
            <a:spLocks noGrp="1"/>
          </p:cNvSpPr>
          <p:nvPr>
            <p:ph type="ftr" idx="11"/>
          </p:nvPr>
        </p:nvSpPr>
        <p:spPr/>
        <p:txBody>
          <a:bodyPr/>
          <a:lstStyle/>
          <a:p>
            <a:r>
              <a:rPr lang="en-IN"/>
              <a:t>Web Developer-Python</a:t>
            </a:r>
          </a:p>
        </p:txBody>
      </p:sp>
      <p:sp>
        <p:nvSpPr>
          <p:cNvPr id="3" name="Slide Number Placeholder 2">
            <a:extLst>
              <a:ext uri="{FF2B5EF4-FFF2-40B4-BE49-F238E27FC236}">
                <a16:creationId xmlns:a16="http://schemas.microsoft.com/office/drawing/2014/main" id="{11A6085A-FEA8-7E2D-C389-A6DE23813F32}"/>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11"/>
        <p:cNvGrpSpPr/>
        <p:nvPr/>
      </p:nvGrpSpPr>
      <p:grpSpPr>
        <a:xfrm>
          <a:off x="0" y="0"/>
          <a:ext cx="0" cy="0"/>
          <a:chOff x="0" y="0"/>
          <a:chExt cx="0" cy="0"/>
        </a:xfrm>
      </p:grpSpPr>
      <p:sp>
        <p:nvSpPr>
          <p:cNvPr id="312" name="Google Shape;312;p27"/>
          <p:cNvSpPr txBox="1"/>
          <p:nvPr/>
        </p:nvSpPr>
        <p:spPr>
          <a:xfrm>
            <a:off x="304799" y="176513"/>
            <a:ext cx="10552253"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b="0">
                <a:solidFill>
                  <a:srgbClr val="3F3F3F"/>
                </a:solidFill>
                <a:latin typeface="Quattrocento Sans"/>
                <a:ea typeface="Quattrocento Sans"/>
                <a:cs typeface="Quattrocento Sans"/>
                <a:sym typeface="Quattrocento Sans"/>
              </a:rPr>
              <a:t>Introduction to widgets in layouts, grid layout</a:t>
            </a:r>
            <a:endParaRPr sz="2800" b="0">
              <a:solidFill>
                <a:srgbClr val="3F3F3F"/>
              </a:solidFill>
              <a:latin typeface="Quattrocento Sans"/>
              <a:ea typeface="Quattrocento Sans"/>
              <a:cs typeface="Quattrocento Sans"/>
              <a:sym typeface="Quattrocento Sans"/>
            </a:endParaRPr>
          </a:p>
        </p:txBody>
      </p:sp>
      <p:sp>
        <p:nvSpPr>
          <p:cNvPr id="313" name="Google Shape;313;p27"/>
          <p:cNvSpPr txBox="1"/>
          <p:nvPr/>
        </p:nvSpPr>
        <p:spPr>
          <a:xfrm>
            <a:off x="715257" y="1146575"/>
            <a:ext cx="7351782" cy="589072"/>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n-US" sz="2400">
                <a:solidFill>
                  <a:srgbClr val="262626"/>
                </a:solidFill>
                <a:latin typeface="Calibri"/>
                <a:ea typeface="Calibri"/>
                <a:cs typeface="Calibri"/>
                <a:sym typeface="Calibri"/>
              </a:rPr>
              <a:t>Widgets in layouts</a:t>
            </a:r>
            <a:endParaRPr/>
          </a:p>
        </p:txBody>
      </p:sp>
      <p:pic>
        <p:nvPicPr>
          <p:cNvPr id="314" name="Google Shape;314;p27" descr="Closed book with solid fill"/>
          <p:cNvPicPr preferRelativeResize="0"/>
          <p:nvPr/>
        </p:nvPicPr>
        <p:blipFill rotWithShape="1">
          <a:blip r:embed="rId3">
            <a:alphaModFix/>
          </a:blip>
          <a:srcRect/>
          <a:stretch/>
        </p:blipFill>
        <p:spPr>
          <a:xfrm>
            <a:off x="304799" y="1303873"/>
            <a:ext cx="518160" cy="408432"/>
          </a:xfrm>
          <a:prstGeom prst="rect">
            <a:avLst/>
          </a:prstGeom>
          <a:noFill/>
          <a:ln>
            <a:noFill/>
          </a:ln>
        </p:spPr>
      </p:pic>
      <p:sp>
        <p:nvSpPr>
          <p:cNvPr id="315" name="Google Shape;315;p27"/>
          <p:cNvSpPr txBox="1"/>
          <p:nvPr/>
        </p:nvSpPr>
        <p:spPr>
          <a:xfrm>
            <a:off x="715256" y="1739622"/>
            <a:ext cx="11019543" cy="1295868"/>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n-US" sz="1800">
                <a:solidFill>
                  <a:schemeClr val="dk1"/>
                </a:solidFill>
                <a:latin typeface="Calibri"/>
                <a:ea typeface="Calibri"/>
                <a:cs typeface="Calibri"/>
                <a:sym typeface="Calibri"/>
              </a:rPr>
              <a:t>In Tkinter, we use geometry managers to control the layout of widgets within a window or a container (like a frame). The three main geometry managers are pack, grid, and place. Among these, the grid geometry manager is highly flexible and allows for more complex and precise widget arrangements.</a:t>
            </a:r>
            <a:endParaRPr sz="1800">
              <a:solidFill>
                <a:schemeClr val="dk1"/>
              </a:solidFill>
              <a:latin typeface="Calibri"/>
              <a:ea typeface="Calibri"/>
              <a:cs typeface="Calibri"/>
              <a:sym typeface="Calibri"/>
            </a:endParaRPr>
          </a:p>
        </p:txBody>
      </p:sp>
      <p:sp>
        <p:nvSpPr>
          <p:cNvPr id="316" name="Google Shape;316;p27"/>
          <p:cNvSpPr txBox="1"/>
          <p:nvPr/>
        </p:nvSpPr>
        <p:spPr>
          <a:xfrm>
            <a:off x="715257" y="3256781"/>
            <a:ext cx="7351782" cy="589072"/>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n-US" sz="2400">
                <a:solidFill>
                  <a:srgbClr val="262626"/>
                </a:solidFill>
                <a:latin typeface="Calibri"/>
                <a:ea typeface="Calibri"/>
                <a:cs typeface="Calibri"/>
                <a:sym typeface="Calibri"/>
              </a:rPr>
              <a:t>Grid layouts</a:t>
            </a:r>
            <a:endParaRPr/>
          </a:p>
        </p:txBody>
      </p:sp>
      <p:pic>
        <p:nvPicPr>
          <p:cNvPr id="317" name="Google Shape;317;p27" descr="Closed book with solid fill"/>
          <p:cNvPicPr preferRelativeResize="0"/>
          <p:nvPr/>
        </p:nvPicPr>
        <p:blipFill rotWithShape="1">
          <a:blip r:embed="rId3">
            <a:alphaModFix/>
          </a:blip>
          <a:srcRect/>
          <a:stretch/>
        </p:blipFill>
        <p:spPr>
          <a:xfrm>
            <a:off x="304799" y="3414079"/>
            <a:ext cx="518160" cy="408432"/>
          </a:xfrm>
          <a:prstGeom prst="rect">
            <a:avLst/>
          </a:prstGeom>
          <a:noFill/>
          <a:ln>
            <a:noFill/>
          </a:ln>
        </p:spPr>
      </p:pic>
      <p:sp>
        <p:nvSpPr>
          <p:cNvPr id="318" name="Google Shape;318;p27"/>
          <p:cNvSpPr txBox="1"/>
          <p:nvPr/>
        </p:nvSpPr>
        <p:spPr>
          <a:xfrm>
            <a:off x="715256" y="3849828"/>
            <a:ext cx="11019543" cy="880369"/>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n-US" sz="1800">
                <a:solidFill>
                  <a:schemeClr val="dk1"/>
                </a:solidFill>
                <a:latin typeface="Calibri"/>
                <a:ea typeface="Calibri"/>
                <a:cs typeface="Calibri"/>
                <a:sym typeface="Calibri"/>
              </a:rPr>
              <a:t>The grid geometry manager organizes widgets in a table-like structure, defined by rows and columns. This approach is similar to how a spreadsheet or HTML table works.</a:t>
            </a:r>
            <a:endParaRPr/>
          </a:p>
        </p:txBody>
      </p:sp>
      <p:sp>
        <p:nvSpPr>
          <p:cNvPr id="2" name="Footer Placeholder 1">
            <a:extLst>
              <a:ext uri="{FF2B5EF4-FFF2-40B4-BE49-F238E27FC236}">
                <a16:creationId xmlns:a16="http://schemas.microsoft.com/office/drawing/2014/main" id="{E863CDBE-1694-6E9D-8FC1-72C31BC25A2C}"/>
              </a:ext>
            </a:extLst>
          </p:cNvPr>
          <p:cNvSpPr>
            <a:spLocks noGrp="1"/>
          </p:cNvSpPr>
          <p:nvPr>
            <p:ph type="ftr" idx="11"/>
          </p:nvPr>
        </p:nvSpPr>
        <p:spPr/>
        <p:txBody>
          <a:bodyPr/>
          <a:lstStyle/>
          <a:p>
            <a:r>
              <a:rPr lang="en-IN"/>
              <a:t>Web Developer-Python</a:t>
            </a:r>
          </a:p>
        </p:txBody>
      </p:sp>
      <p:sp>
        <p:nvSpPr>
          <p:cNvPr id="3" name="Slide Number Placeholder 2">
            <a:extLst>
              <a:ext uri="{FF2B5EF4-FFF2-40B4-BE49-F238E27FC236}">
                <a16:creationId xmlns:a16="http://schemas.microsoft.com/office/drawing/2014/main" id="{97AEF10E-3EE2-EF73-F4B8-19912B207373}"/>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22"/>
        <p:cNvGrpSpPr/>
        <p:nvPr/>
      </p:nvGrpSpPr>
      <p:grpSpPr>
        <a:xfrm>
          <a:off x="0" y="0"/>
          <a:ext cx="0" cy="0"/>
          <a:chOff x="0" y="0"/>
          <a:chExt cx="0" cy="0"/>
        </a:xfrm>
      </p:grpSpPr>
      <p:sp>
        <p:nvSpPr>
          <p:cNvPr id="323" name="Google Shape;323;p28"/>
          <p:cNvSpPr txBox="1"/>
          <p:nvPr/>
        </p:nvSpPr>
        <p:spPr>
          <a:xfrm>
            <a:off x="304799" y="176513"/>
            <a:ext cx="10552253"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b="0">
                <a:solidFill>
                  <a:srgbClr val="3F3F3F"/>
                </a:solidFill>
                <a:latin typeface="Quattrocento Sans"/>
                <a:ea typeface="Quattrocento Sans"/>
                <a:cs typeface="Quattrocento Sans"/>
                <a:sym typeface="Quattrocento Sans"/>
              </a:rPr>
              <a:t>Introduction to widgets in layouts, grid layout</a:t>
            </a:r>
            <a:endParaRPr sz="2800" b="0">
              <a:solidFill>
                <a:srgbClr val="3F3F3F"/>
              </a:solidFill>
              <a:latin typeface="Quattrocento Sans"/>
              <a:ea typeface="Quattrocento Sans"/>
              <a:cs typeface="Quattrocento Sans"/>
              <a:sym typeface="Quattrocento Sans"/>
            </a:endParaRPr>
          </a:p>
        </p:txBody>
      </p:sp>
      <p:sp>
        <p:nvSpPr>
          <p:cNvPr id="324" name="Google Shape;324;p28"/>
          <p:cNvSpPr txBox="1"/>
          <p:nvPr/>
        </p:nvSpPr>
        <p:spPr>
          <a:xfrm>
            <a:off x="715257" y="1136504"/>
            <a:ext cx="7351782" cy="589072"/>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n-US" sz="2400" dirty="0">
                <a:solidFill>
                  <a:srgbClr val="262626"/>
                </a:solidFill>
                <a:latin typeface="Calibri"/>
                <a:ea typeface="Calibri"/>
                <a:cs typeface="Calibri"/>
                <a:sym typeface="Calibri"/>
              </a:rPr>
              <a:t>Parameters of grid()</a:t>
            </a:r>
            <a:endParaRPr dirty="0"/>
          </a:p>
        </p:txBody>
      </p:sp>
      <p:pic>
        <p:nvPicPr>
          <p:cNvPr id="325" name="Google Shape;325;p28" descr="Closed book with solid fill"/>
          <p:cNvPicPr preferRelativeResize="0"/>
          <p:nvPr/>
        </p:nvPicPr>
        <p:blipFill rotWithShape="1">
          <a:blip r:embed="rId3">
            <a:alphaModFix/>
          </a:blip>
          <a:srcRect/>
          <a:stretch/>
        </p:blipFill>
        <p:spPr>
          <a:xfrm>
            <a:off x="304799" y="1293802"/>
            <a:ext cx="518160" cy="408432"/>
          </a:xfrm>
          <a:prstGeom prst="rect">
            <a:avLst/>
          </a:prstGeom>
          <a:noFill/>
          <a:ln>
            <a:noFill/>
          </a:ln>
        </p:spPr>
      </p:pic>
      <p:sp>
        <p:nvSpPr>
          <p:cNvPr id="326" name="Google Shape;326;p28"/>
          <p:cNvSpPr txBox="1"/>
          <p:nvPr/>
        </p:nvSpPr>
        <p:spPr>
          <a:xfrm>
            <a:off x="816856" y="2653644"/>
            <a:ext cx="11344663" cy="4247276"/>
          </a:xfrm>
          <a:prstGeom prst="rect">
            <a:avLst/>
          </a:prstGeom>
          <a:noFill/>
          <a:ln>
            <a:noFill/>
          </a:ln>
        </p:spPr>
        <p:txBody>
          <a:bodyPr spcFirstLastPara="1" wrap="square" lIns="91425" tIns="45700" rIns="91425" bIns="45700" anchor="t" anchorCtr="0">
            <a:spAutoFit/>
          </a:bodyPr>
          <a:lstStyle/>
          <a:p>
            <a:pPr marL="285750" marR="0" lvl="0" indent="-285750" algn="just" rtl="0">
              <a:lnSpc>
                <a:spcPct val="150000"/>
              </a:lnSpc>
              <a:spcBef>
                <a:spcPts val="0"/>
              </a:spcBef>
              <a:spcAft>
                <a:spcPts val="0"/>
              </a:spcAft>
              <a:buClr>
                <a:schemeClr val="dk1"/>
              </a:buClr>
              <a:buSzPts val="1800"/>
              <a:buFont typeface="Noto Sans Symbols"/>
              <a:buChar char="▪"/>
            </a:pPr>
            <a:r>
              <a:rPr lang="en-US" sz="1800" dirty="0">
                <a:solidFill>
                  <a:schemeClr val="dk1"/>
                </a:solidFill>
                <a:latin typeface="Calibri" panose="020F0502020204030204" pitchFamily="34" charset="0"/>
                <a:ea typeface="Calibri" panose="020F0502020204030204" pitchFamily="34" charset="0"/>
                <a:cs typeface="Calibri" panose="020F0502020204030204" pitchFamily="34" charset="0"/>
                <a:sym typeface="Calibri"/>
              </a:rPr>
              <a:t>row: Specifies the row index of the grid.</a:t>
            </a:r>
            <a:endParaRPr sz="1800" dirty="0">
              <a:latin typeface="Calibri" panose="020F0502020204030204" pitchFamily="34" charset="0"/>
              <a:ea typeface="Calibri" panose="020F0502020204030204" pitchFamily="34" charset="0"/>
              <a:cs typeface="Calibri" panose="020F0502020204030204" pitchFamily="34" charset="0"/>
            </a:endParaRPr>
          </a:p>
          <a:p>
            <a:pPr marL="285750" marR="0" lvl="0" indent="-285750" algn="just" rtl="0">
              <a:lnSpc>
                <a:spcPct val="150000"/>
              </a:lnSpc>
              <a:spcBef>
                <a:spcPts val="0"/>
              </a:spcBef>
              <a:spcAft>
                <a:spcPts val="0"/>
              </a:spcAft>
              <a:buClr>
                <a:schemeClr val="dk1"/>
              </a:buClr>
              <a:buSzPts val="1800"/>
              <a:buFont typeface="Noto Sans Symbols"/>
              <a:buChar char="▪"/>
            </a:pPr>
            <a:r>
              <a:rPr lang="en-US" sz="1800" dirty="0">
                <a:solidFill>
                  <a:schemeClr val="dk1"/>
                </a:solidFill>
                <a:latin typeface="Calibri" panose="020F0502020204030204" pitchFamily="34" charset="0"/>
                <a:ea typeface="Calibri" panose="020F0502020204030204" pitchFamily="34" charset="0"/>
                <a:cs typeface="Calibri" panose="020F0502020204030204" pitchFamily="34" charset="0"/>
                <a:sym typeface="Calibri"/>
              </a:rPr>
              <a:t>column: Specifies the column index of the grid.</a:t>
            </a:r>
            <a:endParaRPr sz="1800" dirty="0">
              <a:latin typeface="Calibri" panose="020F0502020204030204" pitchFamily="34" charset="0"/>
              <a:ea typeface="Calibri" panose="020F0502020204030204" pitchFamily="34" charset="0"/>
              <a:cs typeface="Calibri" panose="020F0502020204030204" pitchFamily="34" charset="0"/>
            </a:endParaRPr>
          </a:p>
          <a:p>
            <a:pPr marL="285750" marR="0" lvl="0" indent="-285750" algn="just" rtl="0">
              <a:lnSpc>
                <a:spcPct val="150000"/>
              </a:lnSpc>
              <a:spcBef>
                <a:spcPts val="0"/>
              </a:spcBef>
              <a:spcAft>
                <a:spcPts val="0"/>
              </a:spcAft>
              <a:buClr>
                <a:schemeClr val="dk1"/>
              </a:buClr>
              <a:buSzPts val="1800"/>
              <a:buFont typeface="Noto Sans Symbols"/>
              <a:buChar char="▪"/>
            </a:pPr>
            <a:r>
              <a:rPr lang="en-US" sz="1800" dirty="0" err="1">
                <a:solidFill>
                  <a:schemeClr val="dk1"/>
                </a:solidFill>
                <a:latin typeface="Calibri" panose="020F0502020204030204" pitchFamily="34" charset="0"/>
                <a:ea typeface="Calibri" panose="020F0502020204030204" pitchFamily="34" charset="0"/>
                <a:cs typeface="Calibri" panose="020F0502020204030204" pitchFamily="34" charset="0"/>
                <a:sym typeface="Calibri"/>
              </a:rPr>
              <a:t>rowspan</a:t>
            </a:r>
            <a:r>
              <a:rPr lang="en-US" sz="1800" dirty="0">
                <a:solidFill>
                  <a:schemeClr val="dk1"/>
                </a:solidFill>
                <a:latin typeface="Calibri" panose="020F0502020204030204" pitchFamily="34" charset="0"/>
                <a:ea typeface="Calibri" panose="020F0502020204030204" pitchFamily="34" charset="0"/>
                <a:cs typeface="Calibri" panose="020F0502020204030204" pitchFamily="34" charset="0"/>
                <a:sym typeface="Calibri"/>
              </a:rPr>
              <a:t>: Specifies the number of rows a widget should span.</a:t>
            </a:r>
            <a:endParaRPr sz="1800" dirty="0">
              <a:latin typeface="Calibri" panose="020F0502020204030204" pitchFamily="34" charset="0"/>
              <a:ea typeface="Calibri" panose="020F0502020204030204" pitchFamily="34" charset="0"/>
              <a:cs typeface="Calibri" panose="020F0502020204030204" pitchFamily="34" charset="0"/>
            </a:endParaRPr>
          </a:p>
          <a:p>
            <a:pPr marL="285750" marR="0" lvl="0" indent="-285750" algn="just" rtl="0">
              <a:lnSpc>
                <a:spcPct val="150000"/>
              </a:lnSpc>
              <a:spcBef>
                <a:spcPts val="0"/>
              </a:spcBef>
              <a:spcAft>
                <a:spcPts val="0"/>
              </a:spcAft>
              <a:buClr>
                <a:schemeClr val="dk1"/>
              </a:buClr>
              <a:buSzPts val="1800"/>
              <a:buFont typeface="Noto Sans Symbols"/>
              <a:buChar char="▪"/>
            </a:pPr>
            <a:r>
              <a:rPr lang="en-US" sz="1800" dirty="0" err="1">
                <a:solidFill>
                  <a:schemeClr val="dk1"/>
                </a:solidFill>
                <a:latin typeface="Calibri" panose="020F0502020204030204" pitchFamily="34" charset="0"/>
                <a:ea typeface="Calibri" panose="020F0502020204030204" pitchFamily="34" charset="0"/>
                <a:cs typeface="Calibri" panose="020F0502020204030204" pitchFamily="34" charset="0"/>
                <a:sym typeface="Calibri"/>
              </a:rPr>
              <a:t>columnspan</a:t>
            </a:r>
            <a:r>
              <a:rPr lang="en-US" sz="1800" dirty="0">
                <a:solidFill>
                  <a:schemeClr val="dk1"/>
                </a:solidFill>
                <a:latin typeface="Calibri" panose="020F0502020204030204" pitchFamily="34" charset="0"/>
                <a:ea typeface="Calibri" panose="020F0502020204030204" pitchFamily="34" charset="0"/>
                <a:cs typeface="Calibri" panose="020F0502020204030204" pitchFamily="34" charset="0"/>
                <a:sym typeface="Calibri"/>
              </a:rPr>
              <a:t>: Specifies the number of columns a widget should span.</a:t>
            </a:r>
            <a:endParaRPr sz="1800" dirty="0">
              <a:latin typeface="Calibri" panose="020F0502020204030204" pitchFamily="34" charset="0"/>
              <a:ea typeface="Calibri" panose="020F0502020204030204" pitchFamily="34" charset="0"/>
              <a:cs typeface="Calibri" panose="020F0502020204030204" pitchFamily="34" charset="0"/>
            </a:endParaRPr>
          </a:p>
          <a:p>
            <a:pPr marL="285750" marR="0" lvl="0" indent="-285750" algn="just" rtl="0">
              <a:lnSpc>
                <a:spcPct val="150000"/>
              </a:lnSpc>
              <a:spcBef>
                <a:spcPts val="0"/>
              </a:spcBef>
              <a:spcAft>
                <a:spcPts val="0"/>
              </a:spcAft>
              <a:buClr>
                <a:schemeClr val="dk1"/>
              </a:buClr>
              <a:buSzPts val="1800"/>
              <a:buFont typeface="Noto Sans Symbols"/>
              <a:buChar char="▪"/>
            </a:pPr>
            <a:r>
              <a:rPr lang="en-US" sz="1800" dirty="0">
                <a:solidFill>
                  <a:schemeClr val="dk1"/>
                </a:solidFill>
                <a:latin typeface="Calibri" panose="020F0502020204030204" pitchFamily="34" charset="0"/>
                <a:ea typeface="Calibri" panose="020F0502020204030204" pitchFamily="34" charset="0"/>
                <a:cs typeface="Calibri" panose="020F0502020204030204" pitchFamily="34" charset="0"/>
                <a:sym typeface="Calibri"/>
              </a:rPr>
              <a:t>sticky: Specifies which sides of the cell the widget should stick to (n, s, e, w, or combinations like ns, </a:t>
            </a:r>
            <a:r>
              <a:rPr lang="en-US" sz="1800" dirty="0" err="1">
                <a:solidFill>
                  <a:schemeClr val="dk1"/>
                </a:solidFill>
                <a:latin typeface="Calibri" panose="020F0502020204030204" pitchFamily="34" charset="0"/>
                <a:ea typeface="Calibri" panose="020F0502020204030204" pitchFamily="34" charset="0"/>
                <a:cs typeface="Calibri" panose="020F0502020204030204" pitchFamily="34" charset="0"/>
                <a:sym typeface="Calibri"/>
              </a:rPr>
              <a:t>ew</a:t>
            </a:r>
            <a:r>
              <a:rPr lang="en-US" sz="1800" dirty="0">
                <a:solidFill>
                  <a:schemeClr val="dk1"/>
                </a:solidFill>
                <a:latin typeface="Calibri" panose="020F0502020204030204" pitchFamily="34" charset="0"/>
                <a:ea typeface="Calibri" panose="020F0502020204030204" pitchFamily="34" charset="0"/>
                <a:cs typeface="Calibri" panose="020F0502020204030204" pitchFamily="34" charset="0"/>
                <a:sym typeface="Calibri"/>
              </a:rPr>
              <a:t>, </a:t>
            </a:r>
            <a:r>
              <a:rPr lang="en-US" sz="1800" dirty="0" err="1">
                <a:solidFill>
                  <a:schemeClr val="dk1"/>
                </a:solidFill>
                <a:latin typeface="Calibri" panose="020F0502020204030204" pitchFamily="34" charset="0"/>
                <a:ea typeface="Calibri" panose="020F0502020204030204" pitchFamily="34" charset="0"/>
                <a:cs typeface="Calibri" panose="020F0502020204030204" pitchFamily="34" charset="0"/>
                <a:sym typeface="Calibri"/>
              </a:rPr>
              <a:t>nsew</a:t>
            </a:r>
            <a:r>
              <a:rPr lang="en-US" sz="1800" dirty="0">
                <a:solidFill>
                  <a:schemeClr val="dk1"/>
                </a:solidFill>
                <a:latin typeface="Calibri" panose="020F0502020204030204" pitchFamily="34" charset="0"/>
                <a:ea typeface="Calibri" panose="020F0502020204030204" pitchFamily="34" charset="0"/>
                <a:cs typeface="Calibri" panose="020F0502020204030204" pitchFamily="34" charset="0"/>
                <a:sym typeface="Calibri"/>
              </a:rPr>
              <a:t>).</a:t>
            </a:r>
            <a:endParaRPr sz="1800" dirty="0">
              <a:latin typeface="Calibri" panose="020F0502020204030204" pitchFamily="34" charset="0"/>
              <a:ea typeface="Calibri" panose="020F0502020204030204" pitchFamily="34" charset="0"/>
              <a:cs typeface="Calibri" panose="020F0502020204030204" pitchFamily="34" charset="0"/>
            </a:endParaRPr>
          </a:p>
          <a:p>
            <a:pPr marL="285750" marR="0" lvl="0" indent="-285750" algn="just" rtl="0">
              <a:lnSpc>
                <a:spcPct val="150000"/>
              </a:lnSpc>
              <a:spcBef>
                <a:spcPts val="0"/>
              </a:spcBef>
              <a:spcAft>
                <a:spcPts val="0"/>
              </a:spcAft>
              <a:buClr>
                <a:schemeClr val="dk1"/>
              </a:buClr>
              <a:buSzPts val="1800"/>
              <a:buFont typeface="Noto Sans Symbols"/>
              <a:buChar char="▪"/>
            </a:pPr>
            <a:r>
              <a:rPr lang="en-US" sz="1800" dirty="0" err="1">
                <a:solidFill>
                  <a:schemeClr val="dk1"/>
                </a:solidFill>
                <a:latin typeface="Calibri" panose="020F0502020204030204" pitchFamily="34" charset="0"/>
                <a:ea typeface="Calibri" panose="020F0502020204030204" pitchFamily="34" charset="0"/>
                <a:cs typeface="Calibri" panose="020F0502020204030204" pitchFamily="34" charset="0"/>
                <a:sym typeface="Calibri"/>
              </a:rPr>
              <a:t>padx</a:t>
            </a:r>
            <a:r>
              <a:rPr lang="en-US" sz="1800" dirty="0">
                <a:solidFill>
                  <a:schemeClr val="dk1"/>
                </a:solidFill>
                <a:latin typeface="Calibri" panose="020F0502020204030204" pitchFamily="34" charset="0"/>
                <a:ea typeface="Calibri" panose="020F0502020204030204" pitchFamily="34" charset="0"/>
                <a:cs typeface="Calibri" panose="020F0502020204030204" pitchFamily="34" charset="0"/>
                <a:sym typeface="Calibri"/>
              </a:rPr>
              <a:t>: Specifies horizontal padding around the widget.</a:t>
            </a:r>
            <a:endParaRPr sz="1800" dirty="0">
              <a:latin typeface="Calibri" panose="020F0502020204030204" pitchFamily="34" charset="0"/>
              <a:ea typeface="Calibri" panose="020F0502020204030204" pitchFamily="34" charset="0"/>
              <a:cs typeface="Calibri" panose="020F0502020204030204" pitchFamily="34" charset="0"/>
            </a:endParaRPr>
          </a:p>
          <a:p>
            <a:pPr marL="285750" marR="0" lvl="0" indent="-285750" algn="just" rtl="0">
              <a:lnSpc>
                <a:spcPct val="150000"/>
              </a:lnSpc>
              <a:spcBef>
                <a:spcPts val="0"/>
              </a:spcBef>
              <a:spcAft>
                <a:spcPts val="0"/>
              </a:spcAft>
              <a:buClr>
                <a:schemeClr val="dk1"/>
              </a:buClr>
              <a:buSzPts val="1800"/>
              <a:buFont typeface="Noto Sans Symbols"/>
              <a:buChar char="▪"/>
            </a:pPr>
            <a:r>
              <a:rPr lang="en-US" sz="1800" dirty="0" err="1">
                <a:solidFill>
                  <a:schemeClr val="dk1"/>
                </a:solidFill>
                <a:latin typeface="Calibri" panose="020F0502020204030204" pitchFamily="34" charset="0"/>
                <a:ea typeface="Calibri" panose="020F0502020204030204" pitchFamily="34" charset="0"/>
                <a:cs typeface="Calibri" panose="020F0502020204030204" pitchFamily="34" charset="0"/>
                <a:sym typeface="Calibri"/>
              </a:rPr>
              <a:t>pady</a:t>
            </a:r>
            <a:r>
              <a:rPr lang="en-US" sz="1800" dirty="0">
                <a:solidFill>
                  <a:schemeClr val="dk1"/>
                </a:solidFill>
                <a:latin typeface="Calibri" panose="020F0502020204030204" pitchFamily="34" charset="0"/>
                <a:ea typeface="Calibri" panose="020F0502020204030204" pitchFamily="34" charset="0"/>
                <a:cs typeface="Calibri" panose="020F0502020204030204" pitchFamily="34" charset="0"/>
                <a:sym typeface="Calibri"/>
              </a:rPr>
              <a:t>: Specifies vertical padding around the widget.</a:t>
            </a:r>
            <a:endParaRPr sz="1800" dirty="0">
              <a:latin typeface="Calibri" panose="020F0502020204030204" pitchFamily="34" charset="0"/>
              <a:ea typeface="Calibri" panose="020F0502020204030204" pitchFamily="34" charset="0"/>
              <a:cs typeface="Calibri" panose="020F0502020204030204" pitchFamily="34" charset="0"/>
            </a:endParaRPr>
          </a:p>
          <a:p>
            <a:pPr marL="285750" marR="0" lvl="0" indent="-285750" algn="just" rtl="0">
              <a:lnSpc>
                <a:spcPct val="150000"/>
              </a:lnSpc>
              <a:spcBef>
                <a:spcPts val="0"/>
              </a:spcBef>
              <a:spcAft>
                <a:spcPts val="0"/>
              </a:spcAft>
              <a:buClr>
                <a:schemeClr val="dk1"/>
              </a:buClr>
              <a:buSzPts val="1800"/>
              <a:buFont typeface="Noto Sans Symbols"/>
              <a:buChar char="▪"/>
            </a:pPr>
            <a:r>
              <a:rPr lang="en-US" sz="1800" dirty="0" err="1">
                <a:solidFill>
                  <a:schemeClr val="dk1"/>
                </a:solidFill>
                <a:latin typeface="Calibri" panose="020F0502020204030204" pitchFamily="34" charset="0"/>
                <a:ea typeface="Calibri" panose="020F0502020204030204" pitchFamily="34" charset="0"/>
                <a:cs typeface="Calibri" panose="020F0502020204030204" pitchFamily="34" charset="0"/>
                <a:sym typeface="Calibri"/>
              </a:rPr>
              <a:t>ipadx</a:t>
            </a:r>
            <a:r>
              <a:rPr lang="en-US" sz="1800" dirty="0">
                <a:solidFill>
                  <a:schemeClr val="dk1"/>
                </a:solidFill>
                <a:latin typeface="Calibri" panose="020F0502020204030204" pitchFamily="34" charset="0"/>
                <a:ea typeface="Calibri" panose="020F0502020204030204" pitchFamily="34" charset="0"/>
                <a:cs typeface="Calibri" panose="020F0502020204030204" pitchFamily="34" charset="0"/>
                <a:sym typeface="Calibri"/>
              </a:rPr>
              <a:t>: Specifies internal horizontal padding within the widget.</a:t>
            </a:r>
            <a:endParaRPr sz="1800" dirty="0">
              <a:latin typeface="Calibri" panose="020F0502020204030204" pitchFamily="34" charset="0"/>
              <a:ea typeface="Calibri" panose="020F0502020204030204" pitchFamily="34" charset="0"/>
              <a:cs typeface="Calibri" panose="020F0502020204030204" pitchFamily="34" charset="0"/>
            </a:endParaRPr>
          </a:p>
          <a:p>
            <a:pPr marL="285750" marR="0" lvl="0" indent="-285750" algn="just" rtl="0">
              <a:lnSpc>
                <a:spcPct val="150000"/>
              </a:lnSpc>
              <a:spcBef>
                <a:spcPts val="0"/>
              </a:spcBef>
              <a:spcAft>
                <a:spcPts val="0"/>
              </a:spcAft>
              <a:buClr>
                <a:schemeClr val="dk1"/>
              </a:buClr>
              <a:buSzPts val="1800"/>
              <a:buFont typeface="Noto Sans Symbols"/>
              <a:buChar char="▪"/>
            </a:pPr>
            <a:r>
              <a:rPr lang="en-US" sz="1800" dirty="0" err="1">
                <a:solidFill>
                  <a:schemeClr val="dk1"/>
                </a:solidFill>
                <a:latin typeface="Calibri" panose="020F0502020204030204" pitchFamily="34" charset="0"/>
                <a:ea typeface="Calibri" panose="020F0502020204030204" pitchFamily="34" charset="0"/>
                <a:cs typeface="Calibri" panose="020F0502020204030204" pitchFamily="34" charset="0"/>
                <a:sym typeface="Calibri"/>
              </a:rPr>
              <a:t>ipady</a:t>
            </a:r>
            <a:r>
              <a:rPr lang="en-US" sz="1800" dirty="0">
                <a:solidFill>
                  <a:schemeClr val="dk1"/>
                </a:solidFill>
                <a:latin typeface="Calibri" panose="020F0502020204030204" pitchFamily="34" charset="0"/>
                <a:ea typeface="Calibri" panose="020F0502020204030204" pitchFamily="34" charset="0"/>
                <a:cs typeface="Calibri" panose="020F0502020204030204" pitchFamily="34" charset="0"/>
                <a:sym typeface="Calibri"/>
              </a:rPr>
              <a:t>: Specifies internal vertical padding within the widget.</a:t>
            </a:r>
            <a:endParaRPr sz="1800" dirty="0">
              <a:latin typeface="Calibri" panose="020F0502020204030204" pitchFamily="34" charset="0"/>
              <a:ea typeface="Calibri" panose="020F0502020204030204" pitchFamily="34" charset="0"/>
              <a:cs typeface="Calibri" panose="020F0502020204030204" pitchFamily="34" charset="0"/>
            </a:endParaRPr>
          </a:p>
          <a:p>
            <a:pPr marL="285750" marR="0" lvl="0" indent="-285750" algn="just" rtl="0">
              <a:lnSpc>
                <a:spcPct val="150000"/>
              </a:lnSpc>
              <a:spcBef>
                <a:spcPts val="0"/>
              </a:spcBef>
              <a:spcAft>
                <a:spcPts val="0"/>
              </a:spcAft>
              <a:buClr>
                <a:schemeClr val="dk1"/>
              </a:buClr>
              <a:buSzPts val="1800"/>
              <a:buFont typeface="Noto Sans Symbols"/>
              <a:buChar char="▪"/>
            </a:pPr>
            <a:r>
              <a:rPr lang="en-US" sz="1800" dirty="0">
                <a:solidFill>
                  <a:schemeClr val="dk1"/>
                </a:solidFill>
                <a:latin typeface="Calibri" panose="020F0502020204030204" pitchFamily="34" charset="0"/>
                <a:ea typeface="Calibri" panose="020F0502020204030204" pitchFamily="34" charset="0"/>
                <a:cs typeface="Calibri" panose="020F0502020204030204" pitchFamily="34" charset="0"/>
                <a:sym typeface="Calibri"/>
              </a:rPr>
              <a:t>in_: Specifies the parent widget for the grid.</a:t>
            </a:r>
            <a:endParaRPr sz="1800" dirty="0">
              <a:latin typeface="Calibri" panose="020F0502020204030204" pitchFamily="34" charset="0"/>
              <a:ea typeface="Calibri" panose="020F0502020204030204" pitchFamily="34" charset="0"/>
              <a:cs typeface="Calibri" panose="020F0502020204030204" pitchFamily="34" charset="0"/>
            </a:endParaRPr>
          </a:p>
        </p:txBody>
      </p:sp>
      <p:sp>
        <p:nvSpPr>
          <p:cNvPr id="327" name="Google Shape;327;p28"/>
          <p:cNvSpPr txBox="1"/>
          <p:nvPr/>
        </p:nvSpPr>
        <p:spPr>
          <a:xfrm>
            <a:off x="822959" y="1742874"/>
            <a:ext cx="10911840" cy="858697"/>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r>
              <a:rPr lang="en-US" sz="1800">
                <a:solidFill>
                  <a:schemeClr val="dk1"/>
                </a:solidFill>
                <a:latin typeface="Batang"/>
                <a:ea typeface="Batang"/>
                <a:cs typeface="Batang"/>
                <a:sym typeface="Batang"/>
              </a:rPr>
              <a:t>label.grid(row=1, column=0, columnspan=2, rowspan=2, padx=10, pady=20, ipadx=5, ipady=5, sticky="nsew", in_=container_widget)</a:t>
            </a:r>
            <a:endParaRPr/>
          </a:p>
        </p:txBody>
      </p:sp>
      <p:sp>
        <p:nvSpPr>
          <p:cNvPr id="2" name="Footer Placeholder 1">
            <a:extLst>
              <a:ext uri="{FF2B5EF4-FFF2-40B4-BE49-F238E27FC236}">
                <a16:creationId xmlns:a16="http://schemas.microsoft.com/office/drawing/2014/main" id="{830CBA41-3548-875F-8782-BF7D9A2A8A2C}"/>
              </a:ext>
            </a:extLst>
          </p:cNvPr>
          <p:cNvSpPr>
            <a:spLocks noGrp="1"/>
          </p:cNvSpPr>
          <p:nvPr>
            <p:ph type="ftr" idx="11"/>
          </p:nvPr>
        </p:nvSpPr>
        <p:spPr/>
        <p:txBody>
          <a:bodyPr/>
          <a:lstStyle/>
          <a:p>
            <a:r>
              <a:rPr lang="en-IN"/>
              <a:t>Web Developer-Python</a:t>
            </a:r>
          </a:p>
        </p:txBody>
      </p:sp>
      <p:sp>
        <p:nvSpPr>
          <p:cNvPr id="3" name="Slide Number Placeholder 2">
            <a:extLst>
              <a:ext uri="{FF2B5EF4-FFF2-40B4-BE49-F238E27FC236}">
                <a16:creationId xmlns:a16="http://schemas.microsoft.com/office/drawing/2014/main" id="{27CFE426-A10B-0689-176E-BF764201B42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31"/>
        <p:cNvGrpSpPr/>
        <p:nvPr/>
      </p:nvGrpSpPr>
      <p:grpSpPr>
        <a:xfrm>
          <a:off x="0" y="0"/>
          <a:ext cx="0" cy="0"/>
          <a:chOff x="0" y="0"/>
          <a:chExt cx="0" cy="0"/>
        </a:xfrm>
      </p:grpSpPr>
      <p:sp>
        <p:nvSpPr>
          <p:cNvPr id="332" name="Google Shape;332;p29"/>
          <p:cNvSpPr txBox="1"/>
          <p:nvPr/>
        </p:nvSpPr>
        <p:spPr>
          <a:xfrm>
            <a:off x="304799" y="176513"/>
            <a:ext cx="10552253"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b="0">
                <a:solidFill>
                  <a:srgbClr val="3F3F3F"/>
                </a:solidFill>
                <a:latin typeface="Quattrocento Sans"/>
                <a:ea typeface="Quattrocento Sans"/>
                <a:cs typeface="Quattrocento Sans"/>
                <a:sym typeface="Quattrocento Sans"/>
              </a:rPr>
              <a:t>Introduction to widgets in layouts, grid layout</a:t>
            </a:r>
            <a:endParaRPr sz="2800" b="0">
              <a:solidFill>
                <a:srgbClr val="3F3F3F"/>
              </a:solidFill>
              <a:latin typeface="Quattrocento Sans"/>
              <a:ea typeface="Quattrocento Sans"/>
              <a:cs typeface="Quattrocento Sans"/>
              <a:sym typeface="Quattrocento Sans"/>
            </a:endParaRPr>
          </a:p>
        </p:txBody>
      </p:sp>
      <p:sp>
        <p:nvSpPr>
          <p:cNvPr id="333" name="Google Shape;333;p29"/>
          <p:cNvSpPr txBox="1"/>
          <p:nvPr/>
        </p:nvSpPr>
        <p:spPr>
          <a:xfrm>
            <a:off x="715256" y="1138058"/>
            <a:ext cx="6833623" cy="646290"/>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n-US" sz="2400" dirty="0">
                <a:solidFill>
                  <a:srgbClr val="262626"/>
                </a:solidFill>
                <a:latin typeface="Calibri"/>
                <a:ea typeface="Calibri"/>
                <a:cs typeface="Calibri"/>
                <a:sym typeface="Calibri"/>
              </a:rPr>
              <a:t>Adding label and button to pack layout</a:t>
            </a:r>
            <a:endParaRPr lang="en-US" dirty="0"/>
          </a:p>
        </p:txBody>
      </p:sp>
      <p:pic>
        <p:nvPicPr>
          <p:cNvPr id="334" name="Google Shape;334;p29" descr="Closed book with solid fill"/>
          <p:cNvPicPr preferRelativeResize="0"/>
          <p:nvPr/>
        </p:nvPicPr>
        <p:blipFill rotWithShape="1">
          <a:blip r:embed="rId3">
            <a:alphaModFix/>
          </a:blip>
          <a:srcRect/>
          <a:stretch/>
        </p:blipFill>
        <p:spPr>
          <a:xfrm>
            <a:off x="304799" y="1295356"/>
            <a:ext cx="518160" cy="408432"/>
          </a:xfrm>
          <a:prstGeom prst="rect">
            <a:avLst/>
          </a:prstGeom>
          <a:noFill/>
          <a:ln>
            <a:noFill/>
          </a:ln>
        </p:spPr>
      </p:pic>
      <p:pic>
        <p:nvPicPr>
          <p:cNvPr id="335" name="Google Shape;335;p29" descr="A screenshot of a computer&#10;&#10;Description automatically generated"/>
          <p:cNvPicPr preferRelativeResize="0"/>
          <p:nvPr/>
        </p:nvPicPr>
        <p:blipFill rotWithShape="1">
          <a:blip r:embed="rId4">
            <a:alphaModFix/>
          </a:blip>
          <a:srcRect/>
          <a:stretch/>
        </p:blipFill>
        <p:spPr>
          <a:xfrm>
            <a:off x="2349727" y="1927225"/>
            <a:ext cx="7492546" cy="4754262"/>
          </a:xfrm>
          <a:prstGeom prst="rect">
            <a:avLst/>
          </a:prstGeom>
          <a:noFill/>
          <a:ln>
            <a:noFill/>
          </a:ln>
        </p:spPr>
      </p:pic>
      <p:sp>
        <p:nvSpPr>
          <p:cNvPr id="2" name="Footer Placeholder 1">
            <a:extLst>
              <a:ext uri="{FF2B5EF4-FFF2-40B4-BE49-F238E27FC236}">
                <a16:creationId xmlns:a16="http://schemas.microsoft.com/office/drawing/2014/main" id="{E46A87CE-944B-A40F-2C18-EFE3E7A5741F}"/>
              </a:ext>
            </a:extLst>
          </p:cNvPr>
          <p:cNvSpPr>
            <a:spLocks noGrp="1"/>
          </p:cNvSpPr>
          <p:nvPr>
            <p:ph type="ftr" idx="11"/>
          </p:nvPr>
        </p:nvSpPr>
        <p:spPr/>
        <p:txBody>
          <a:bodyPr/>
          <a:lstStyle/>
          <a:p>
            <a:r>
              <a:rPr lang="en-IN"/>
              <a:t>Web Developer-Python</a:t>
            </a:r>
          </a:p>
        </p:txBody>
      </p:sp>
      <p:sp>
        <p:nvSpPr>
          <p:cNvPr id="3" name="Slide Number Placeholder 2">
            <a:extLst>
              <a:ext uri="{FF2B5EF4-FFF2-40B4-BE49-F238E27FC236}">
                <a16:creationId xmlns:a16="http://schemas.microsoft.com/office/drawing/2014/main" id="{05FFCFE4-2F2F-BB06-FA15-216CA77DED2F}"/>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39"/>
        <p:cNvGrpSpPr/>
        <p:nvPr/>
      </p:nvGrpSpPr>
      <p:grpSpPr>
        <a:xfrm>
          <a:off x="0" y="0"/>
          <a:ext cx="0" cy="0"/>
          <a:chOff x="0" y="0"/>
          <a:chExt cx="0" cy="0"/>
        </a:xfrm>
      </p:grpSpPr>
      <p:sp>
        <p:nvSpPr>
          <p:cNvPr id="340" name="Google Shape;340;p30"/>
          <p:cNvSpPr txBox="1"/>
          <p:nvPr/>
        </p:nvSpPr>
        <p:spPr>
          <a:xfrm>
            <a:off x="304799" y="176513"/>
            <a:ext cx="10552253"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b="0">
                <a:solidFill>
                  <a:srgbClr val="3F3F3F"/>
                </a:solidFill>
                <a:latin typeface="Quattrocento Sans"/>
                <a:ea typeface="Quattrocento Sans"/>
                <a:cs typeface="Quattrocento Sans"/>
                <a:sym typeface="Quattrocento Sans"/>
              </a:rPr>
              <a:t>Introduction to widgets in layouts, grid layout</a:t>
            </a:r>
            <a:endParaRPr sz="2800" b="0">
              <a:solidFill>
                <a:srgbClr val="3F3F3F"/>
              </a:solidFill>
              <a:latin typeface="Quattrocento Sans"/>
              <a:ea typeface="Quattrocento Sans"/>
              <a:cs typeface="Quattrocento Sans"/>
              <a:sym typeface="Quattrocento Sans"/>
            </a:endParaRPr>
          </a:p>
        </p:txBody>
      </p:sp>
      <p:sp>
        <p:nvSpPr>
          <p:cNvPr id="341" name="Google Shape;341;p30"/>
          <p:cNvSpPr txBox="1"/>
          <p:nvPr/>
        </p:nvSpPr>
        <p:spPr>
          <a:xfrm>
            <a:off x="715256" y="1132437"/>
            <a:ext cx="10761487" cy="646290"/>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tabLst>
                <a:tab pos="263525" algn="l"/>
              </a:tabLst>
            </a:pPr>
            <a:r>
              <a:rPr lang="en-US" sz="2400" dirty="0">
                <a:solidFill>
                  <a:srgbClr val="262626"/>
                </a:solidFill>
                <a:latin typeface="Calibri"/>
                <a:ea typeface="Calibri"/>
                <a:cs typeface="Calibri"/>
                <a:sym typeface="Calibri"/>
              </a:rPr>
              <a:t>explanation - adding label and button to pack layout</a:t>
            </a:r>
            <a:endParaRPr lang="en-US" dirty="0"/>
          </a:p>
        </p:txBody>
      </p:sp>
      <p:pic>
        <p:nvPicPr>
          <p:cNvPr id="342" name="Google Shape;342;p30" descr="Closed book with solid fill"/>
          <p:cNvPicPr preferRelativeResize="0"/>
          <p:nvPr/>
        </p:nvPicPr>
        <p:blipFill rotWithShape="1">
          <a:blip r:embed="rId3">
            <a:alphaModFix/>
          </a:blip>
          <a:srcRect/>
          <a:stretch/>
        </p:blipFill>
        <p:spPr>
          <a:xfrm>
            <a:off x="304799" y="1289735"/>
            <a:ext cx="518160" cy="408432"/>
          </a:xfrm>
          <a:prstGeom prst="rect">
            <a:avLst/>
          </a:prstGeom>
          <a:noFill/>
          <a:ln>
            <a:noFill/>
          </a:ln>
        </p:spPr>
      </p:pic>
      <p:sp>
        <p:nvSpPr>
          <p:cNvPr id="343" name="Google Shape;343;p30"/>
          <p:cNvSpPr txBox="1"/>
          <p:nvPr/>
        </p:nvSpPr>
        <p:spPr>
          <a:xfrm>
            <a:off x="715257" y="1878807"/>
            <a:ext cx="6701542" cy="3970318"/>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1800" dirty="0" err="1">
                <a:solidFill>
                  <a:schemeClr val="dk1"/>
                </a:solidFill>
                <a:latin typeface="Batang"/>
                <a:ea typeface="Batang"/>
                <a:cs typeface="Batang"/>
                <a:sym typeface="Batang"/>
              </a:rPr>
              <a:t>tk.Label</a:t>
            </a:r>
            <a:r>
              <a:rPr lang="en-US" sz="1800" dirty="0">
                <a:solidFill>
                  <a:schemeClr val="dk1"/>
                </a:solidFill>
                <a:latin typeface="Batang"/>
                <a:ea typeface="Batang"/>
                <a:cs typeface="Batang"/>
                <a:sym typeface="Batang"/>
              </a:rPr>
              <a:t>()</a:t>
            </a:r>
            <a:endParaRPr dirty="0"/>
          </a:p>
          <a:p>
            <a:pPr marL="0" marR="0" lvl="0" indent="0" algn="just" rtl="0">
              <a:spcBef>
                <a:spcPts val="0"/>
              </a:spcBef>
              <a:spcAft>
                <a:spcPts val="0"/>
              </a:spcAft>
              <a:buNone/>
            </a:pPr>
            <a:r>
              <a:rPr lang="en-US" sz="1800">
                <a:solidFill>
                  <a:schemeClr val="dk1"/>
                </a:solidFill>
                <a:latin typeface="Calibri"/>
                <a:ea typeface="Calibri"/>
                <a:cs typeface="Calibri"/>
                <a:sym typeface="Calibri"/>
              </a:rPr>
              <a:t>Creates a label widget.</a:t>
            </a:r>
            <a:endParaRPr/>
          </a:p>
          <a:p>
            <a:pPr marL="0" marR="0" lvl="0" indent="0" algn="just" rtl="0">
              <a:spcBef>
                <a:spcPts val="0"/>
              </a:spcBef>
              <a:spcAft>
                <a:spcPts val="0"/>
              </a:spcAft>
              <a:buNone/>
            </a:pPr>
            <a:endParaRPr sz="1800">
              <a:solidFill>
                <a:schemeClr val="dk1"/>
              </a:solidFill>
              <a:latin typeface="Calibri"/>
              <a:ea typeface="Calibri"/>
              <a:cs typeface="Calibri"/>
              <a:sym typeface="Calibri"/>
            </a:endParaRPr>
          </a:p>
          <a:p>
            <a:pPr marL="0" marR="0" lvl="0" indent="0" algn="just" rtl="0">
              <a:spcBef>
                <a:spcPts val="0"/>
              </a:spcBef>
              <a:spcAft>
                <a:spcPts val="0"/>
              </a:spcAft>
              <a:buNone/>
            </a:pPr>
            <a:r>
              <a:rPr lang="en-US" sz="1800" dirty="0" err="1">
                <a:solidFill>
                  <a:schemeClr val="dk1"/>
                </a:solidFill>
                <a:latin typeface="Batang"/>
                <a:ea typeface="Batang"/>
                <a:cs typeface="Batang"/>
                <a:sym typeface="Batang"/>
              </a:rPr>
              <a:t>label.pack</a:t>
            </a:r>
            <a:r>
              <a:rPr lang="en-US" sz="1800" dirty="0">
                <a:solidFill>
                  <a:schemeClr val="dk1"/>
                </a:solidFill>
                <a:latin typeface="Batang"/>
                <a:ea typeface="Batang"/>
                <a:cs typeface="Batang"/>
                <a:sym typeface="Batang"/>
              </a:rPr>
              <a:t>()</a:t>
            </a:r>
            <a:endParaRPr dirty="0"/>
          </a:p>
          <a:p>
            <a:pPr marL="0" marR="0" lvl="0" indent="0" algn="just" rtl="0">
              <a:spcBef>
                <a:spcPts val="0"/>
              </a:spcBef>
              <a:spcAft>
                <a:spcPts val="0"/>
              </a:spcAft>
              <a:buNone/>
            </a:pPr>
            <a:r>
              <a:rPr lang="en-US" sz="1800" dirty="0">
                <a:solidFill>
                  <a:schemeClr val="dk1"/>
                </a:solidFill>
                <a:latin typeface="Calibri"/>
                <a:ea typeface="Calibri"/>
                <a:cs typeface="Calibri"/>
                <a:sym typeface="Calibri"/>
              </a:rPr>
              <a:t>Adds the label to the window.</a:t>
            </a:r>
            <a:endParaRPr dirty="0"/>
          </a:p>
          <a:p>
            <a:pPr marL="0" marR="0" lvl="0" indent="0" algn="just" rtl="0">
              <a:spcBef>
                <a:spcPts val="0"/>
              </a:spcBef>
              <a:spcAft>
                <a:spcPts val="0"/>
              </a:spcAft>
              <a:buNone/>
            </a:pPr>
            <a:endParaRPr sz="1800" dirty="0">
              <a:solidFill>
                <a:schemeClr val="dk1"/>
              </a:solidFill>
              <a:latin typeface="Calibri"/>
              <a:ea typeface="Calibri"/>
              <a:cs typeface="Calibri"/>
              <a:sym typeface="Calibri"/>
            </a:endParaRPr>
          </a:p>
          <a:p>
            <a:pPr marL="0" marR="0" lvl="0" indent="0" algn="just" rtl="0">
              <a:spcBef>
                <a:spcPts val="0"/>
              </a:spcBef>
              <a:spcAft>
                <a:spcPts val="0"/>
              </a:spcAft>
              <a:buNone/>
            </a:pPr>
            <a:r>
              <a:rPr lang="en-US" sz="1800" dirty="0" err="1">
                <a:solidFill>
                  <a:schemeClr val="dk1"/>
                </a:solidFill>
                <a:latin typeface="Batang"/>
                <a:ea typeface="Batang"/>
                <a:cs typeface="Batang"/>
                <a:sym typeface="Batang"/>
              </a:rPr>
              <a:t>tk.Button</a:t>
            </a:r>
            <a:r>
              <a:rPr lang="en-US" sz="1800" dirty="0">
                <a:solidFill>
                  <a:schemeClr val="dk1"/>
                </a:solidFill>
                <a:latin typeface="Batang"/>
                <a:ea typeface="Batang"/>
                <a:cs typeface="Batang"/>
                <a:sym typeface="Batang"/>
              </a:rPr>
              <a:t>()</a:t>
            </a:r>
            <a:endParaRPr dirty="0"/>
          </a:p>
          <a:p>
            <a:pPr marL="0" marR="0" lvl="0" indent="0" algn="just" rtl="0">
              <a:spcBef>
                <a:spcPts val="0"/>
              </a:spcBef>
              <a:spcAft>
                <a:spcPts val="0"/>
              </a:spcAft>
              <a:buNone/>
            </a:pPr>
            <a:r>
              <a:rPr lang="en-US" sz="1800" dirty="0">
                <a:solidFill>
                  <a:schemeClr val="dk1"/>
                </a:solidFill>
                <a:latin typeface="Calibri"/>
                <a:ea typeface="Calibri"/>
                <a:cs typeface="Calibri"/>
                <a:sym typeface="Calibri"/>
              </a:rPr>
              <a:t>Creates a button widget.</a:t>
            </a:r>
            <a:endParaRPr dirty="0"/>
          </a:p>
          <a:p>
            <a:pPr marL="0" marR="0" lvl="0" indent="0" algn="just" rtl="0">
              <a:spcBef>
                <a:spcPts val="0"/>
              </a:spcBef>
              <a:spcAft>
                <a:spcPts val="0"/>
              </a:spcAft>
              <a:buNone/>
            </a:pPr>
            <a:endParaRPr sz="1800" dirty="0">
              <a:solidFill>
                <a:schemeClr val="dk1"/>
              </a:solidFill>
              <a:latin typeface="Calibri"/>
              <a:ea typeface="Calibri"/>
              <a:cs typeface="Calibri"/>
              <a:sym typeface="Calibri"/>
            </a:endParaRPr>
          </a:p>
          <a:p>
            <a:pPr marL="0" marR="0" lvl="0" indent="0" algn="just" rtl="0">
              <a:spcBef>
                <a:spcPts val="0"/>
              </a:spcBef>
              <a:spcAft>
                <a:spcPts val="0"/>
              </a:spcAft>
              <a:buNone/>
            </a:pPr>
            <a:r>
              <a:rPr lang="en-US" sz="1800" dirty="0" err="1">
                <a:solidFill>
                  <a:schemeClr val="dk1"/>
                </a:solidFill>
                <a:latin typeface="Batang"/>
                <a:ea typeface="Batang"/>
                <a:cs typeface="Batang"/>
                <a:sym typeface="Batang"/>
              </a:rPr>
              <a:t>button.pack</a:t>
            </a:r>
            <a:r>
              <a:rPr lang="en-US" sz="1800" dirty="0">
                <a:solidFill>
                  <a:schemeClr val="dk1"/>
                </a:solidFill>
                <a:latin typeface="Batang"/>
                <a:ea typeface="Batang"/>
                <a:cs typeface="Batang"/>
                <a:sym typeface="Batang"/>
              </a:rPr>
              <a:t>()</a:t>
            </a:r>
            <a:endParaRPr dirty="0"/>
          </a:p>
          <a:p>
            <a:pPr marL="0" marR="0" lvl="0" indent="0" algn="just" rtl="0">
              <a:spcBef>
                <a:spcPts val="0"/>
              </a:spcBef>
              <a:spcAft>
                <a:spcPts val="0"/>
              </a:spcAft>
              <a:buNone/>
            </a:pPr>
            <a:r>
              <a:rPr lang="en-US" sz="1800" dirty="0">
                <a:solidFill>
                  <a:schemeClr val="dk1"/>
                </a:solidFill>
                <a:latin typeface="Calibri"/>
                <a:ea typeface="Calibri"/>
                <a:cs typeface="Calibri"/>
                <a:sym typeface="Calibri"/>
              </a:rPr>
              <a:t>Adds the button to the window.</a:t>
            </a:r>
            <a:endParaRPr dirty="0"/>
          </a:p>
          <a:p>
            <a:pPr marL="0" marR="0" lvl="0" indent="0" algn="just" rtl="0">
              <a:spcBef>
                <a:spcPts val="0"/>
              </a:spcBef>
              <a:spcAft>
                <a:spcPts val="0"/>
              </a:spcAft>
              <a:buNone/>
            </a:pPr>
            <a:endParaRPr sz="1800" dirty="0">
              <a:solidFill>
                <a:schemeClr val="dk1"/>
              </a:solidFill>
              <a:latin typeface="Calibri"/>
              <a:ea typeface="Calibri"/>
              <a:cs typeface="Calibri"/>
              <a:sym typeface="Calibri"/>
            </a:endParaRPr>
          </a:p>
          <a:p>
            <a:pPr marL="0" marR="0" lvl="0" indent="0" algn="just" rtl="0">
              <a:spcBef>
                <a:spcPts val="0"/>
              </a:spcBef>
              <a:spcAft>
                <a:spcPts val="0"/>
              </a:spcAft>
              <a:buNone/>
            </a:pPr>
            <a:r>
              <a:rPr lang="en-US" sz="1800" dirty="0">
                <a:solidFill>
                  <a:schemeClr val="dk1"/>
                </a:solidFill>
                <a:latin typeface="Batang"/>
                <a:ea typeface="Batang"/>
                <a:cs typeface="Batang"/>
                <a:sym typeface="Batang"/>
              </a:rPr>
              <a:t>command=</a:t>
            </a:r>
            <a:r>
              <a:rPr lang="en-US" sz="1800" dirty="0" err="1">
                <a:solidFill>
                  <a:schemeClr val="dk1"/>
                </a:solidFill>
                <a:latin typeface="Batang"/>
                <a:ea typeface="Batang"/>
                <a:cs typeface="Batang"/>
                <a:sym typeface="Batang"/>
              </a:rPr>
              <a:t>on_button_click</a:t>
            </a:r>
            <a:endParaRPr sz="1800" dirty="0">
              <a:solidFill>
                <a:schemeClr val="dk1"/>
              </a:solidFill>
              <a:latin typeface="Batang"/>
              <a:ea typeface="Batang"/>
              <a:cs typeface="Batang"/>
              <a:sym typeface="Batang"/>
            </a:endParaRPr>
          </a:p>
          <a:p>
            <a:pPr marL="0" marR="0" lvl="0" indent="0" algn="just" rtl="0">
              <a:spcBef>
                <a:spcPts val="0"/>
              </a:spcBef>
              <a:spcAft>
                <a:spcPts val="0"/>
              </a:spcAft>
              <a:buNone/>
            </a:pPr>
            <a:r>
              <a:rPr lang="en-US" sz="1800" dirty="0">
                <a:solidFill>
                  <a:schemeClr val="dk1"/>
                </a:solidFill>
                <a:latin typeface="Calibri"/>
                <a:ea typeface="Calibri"/>
                <a:cs typeface="Calibri"/>
                <a:sym typeface="Calibri"/>
              </a:rPr>
              <a:t>Specifies the function to call when the button is clicked.</a:t>
            </a:r>
            <a:endParaRPr sz="1800" dirty="0">
              <a:solidFill>
                <a:schemeClr val="dk1"/>
              </a:solidFill>
              <a:latin typeface="Calibri"/>
              <a:ea typeface="Calibri"/>
              <a:cs typeface="Calibri"/>
              <a:sym typeface="Calibri"/>
            </a:endParaRPr>
          </a:p>
        </p:txBody>
      </p:sp>
      <p:sp>
        <p:nvSpPr>
          <p:cNvPr id="2" name="Footer Placeholder 1">
            <a:extLst>
              <a:ext uri="{FF2B5EF4-FFF2-40B4-BE49-F238E27FC236}">
                <a16:creationId xmlns:a16="http://schemas.microsoft.com/office/drawing/2014/main" id="{742D4A37-F7FB-9114-9BE7-B1E7BFDA8D19}"/>
              </a:ext>
            </a:extLst>
          </p:cNvPr>
          <p:cNvSpPr>
            <a:spLocks noGrp="1"/>
          </p:cNvSpPr>
          <p:nvPr>
            <p:ph type="ftr" idx="11"/>
          </p:nvPr>
        </p:nvSpPr>
        <p:spPr/>
        <p:txBody>
          <a:bodyPr/>
          <a:lstStyle/>
          <a:p>
            <a:r>
              <a:rPr lang="en-IN"/>
              <a:t>Web Developer-Python</a:t>
            </a:r>
          </a:p>
        </p:txBody>
      </p:sp>
      <p:sp>
        <p:nvSpPr>
          <p:cNvPr id="3" name="Slide Number Placeholder 2">
            <a:extLst>
              <a:ext uri="{FF2B5EF4-FFF2-40B4-BE49-F238E27FC236}">
                <a16:creationId xmlns:a16="http://schemas.microsoft.com/office/drawing/2014/main" id="{5982AE28-9F9C-95C2-5A52-360B076363AD}"/>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47"/>
        <p:cNvGrpSpPr/>
        <p:nvPr/>
      </p:nvGrpSpPr>
      <p:grpSpPr>
        <a:xfrm>
          <a:off x="0" y="0"/>
          <a:ext cx="0" cy="0"/>
          <a:chOff x="0" y="0"/>
          <a:chExt cx="0" cy="0"/>
        </a:xfrm>
      </p:grpSpPr>
      <p:sp>
        <p:nvSpPr>
          <p:cNvPr id="348" name="Google Shape;348;p31"/>
          <p:cNvSpPr txBox="1"/>
          <p:nvPr/>
        </p:nvSpPr>
        <p:spPr>
          <a:xfrm>
            <a:off x="304799" y="176513"/>
            <a:ext cx="10552253"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b="0">
                <a:solidFill>
                  <a:srgbClr val="3F3F3F"/>
                </a:solidFill>
                <a:latin typeface="Quattrocento Sans"/>
                <a:ea typeface="Quattrocento Sans"/>
                <a:cs typeface="Quattrocento Sans"/>
                <a:sym typeface="Quattrocento Sans"/>
              </a:rPr>
              <a:t>Introduction to widgets in layouts, grid layout</a:t>
            </a:r>
            <a:endParaRPr sz="2800" b="0">
              <a:solidFill>
                <a:srgbClr val="3F3F3F"/>
              </a:solidFill>
              <a:latin typeface="Quattrocento Sans"/>
              <a:ea typeface="Quattrocento Sans"/>
              <a:cs typeface="Quattrocento Sans"/>
              <a:sym typeface="Quattrocento Sans"/>
            </a:endParaRPr>
          </a:p>
        </p:txBody>
      </p:sp>
      <p:sp>
        <p:nvSpPr>
          <p:cNvPr id="349" name="Google Shape;349;p31"/>
          <p:cNvSpPr txBox="1"/>
          <p:nvPr/>
        </p:nvSpPr>
        <p:spPr>
          <a:xfrm>
            <a:off x="715257" y="1127968"/>
            <a:ext cx="4609096" cy="589072"/>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n-US" sz="2400">
                <a:solidFill>
                  <a:srgbClr val="262626"/>
                </a:solidFill>
                <a:latin typeface="Calibri"/>
                <a:ea typeface="Calibri"/>
                <a:cs typeface="Calibri"/>
                <a:sym typeface="Calibri"/>
              </a:rPr>
              <a:t>Organizing widgets with frame</a:t>
            </a:r>
            <a:endParaRPr/>
          </a:p>
        </p:txBody>
      </p:sp>
      <p:pic>
        <p:nvPicPr>
          <p:cNvPr id="350" name="Google Shape;350;p31" descr="Closed book with solid fill"/>
          <p:cNvPicPr preferRelativeResize="0"/>
          <p:nvPr/>
        </p:nvPicPr>
        <p:blipFill rotWithShape="1">
          <a:blip r:embed="rId3">
            <a:alphaModFix/>
          </a:blip>
          <a:srcRect/>
          <a:stretch/>
        </p:blipFill>
        <p:spPr>
          <a:xfrm>
            <a:off x="304799" y="1285266"/>
            <a:ext cx="518160" cy="408432"/>
          </a:xfrm>
          <a:prstGeom prst="rect">
            <a:avLst/>
          </a:prstGeom>
          <a:noFill/>
          <a:ln>
            <a:noFill/>
          </a:ln>
        </p:spPr>
      </p:pic>
      <p:pic>
        <p:nvPicPr>
          <p:cNvPr id="351" name="Google Shape;351;p31" descr="A screenshot of a computer&#10;&#10;Description automatically generated"/>
          <p:cNvPicPr preferRelativeResize="0"/>
          <p:nvPr/>
        </p:nvPicPr>
        <p:blipFill rotWithShape="1">
          <a:blip r:embed="rId4">
            <a:alphaModFix/>
          </a:blip>
          <a:srcRect/>
          <a:stretch/>
        </p:blipFill>
        <p:spPr>
          <a:xfrm>
            <a:off x="2344647" y="1927225"/>
            <a:ext cx="7502706" cy="4754262"/>
          </a:xfrm>
          <a:prstGeom prst="rect">
            <a:avLst/>
          </a:prstGeom>
          <a:noFill/>
          <a:ln>
            <a:noFill/>
          </a:ln>
        </p:spPr>
      </p:pic>
      <p:sp>
        <p:nvSpPr>
          <p:cNvPr id="2" name="Footer Placeholder 1">
            <a:extLst>
              <a:ext uri="{FF2B5EF4-FFF2-40B4-BE49-F238E27FC236}">
                <a16:creationId xmlns:a16="http://schemas.microsoft.com/office/drawing/2014/main" id="{FC815E5A-3208-5CF3-5A3A-590868C59F65}"/>
              </a:ext>
            </a:extLst>
          </p:cNvPr>
          <p:cNvSpPr>
            <a:spLocks noGrp="1"/>
          </p:cNvSpPr>
          <p:nvPr>
            <p:ph type="ftr" idx="11"/>
          </p:nvPr>
        </p:nvSpPr>
        <p:spPr/>
        <p:txBody>
          <a:bodyPr/>
          <a:lstStyle/>
          <a:p>
            <a:r>
              <a:rPr lang="en-IN"/>
              <a:t>Web Developer-Python</a:t>
            </a:r>
          </a:p>
        </p:txBody>
      </p:sp>
      <p:sp>
        <p:nvSpPr>
          <p:cNvPr id="3" name="Slide Number Placeholder 2">
            <a:extLst>
              <a:ext uri="{FF2B5EF4-FFF2-40B4-BE49-F238E27FC236}">
                <a16:creationId xmlns:a16="http://schemas.microsoft.com/office/drawing/2014/main" id="{F18C9452-8E3C-9441-9F08-CB5F37665345}"/>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55"/>
        <p:cNvGrpSpPr/>
        <p:nvPr/>
      </p:nvGrpSpPr>
      <p:grpSpPr>
        <a:xfrm>
          <a:off x="0" y="0"/>
          <a:ext cx="0" cy="0"/>
          <a:chOff x="0" y="0"/>
          <a:chExt cx="0" cy="0"/>
        </a:xfrm>
      </p:grpSpPr>
      <p:sp>
        <p:nvSpPr>
          <p:cNvPr id="356" name="Google Shape;356;p32"/>
          <p:cNvSpPr txBox="1"/>
          <p:nvPr/>
        </p:nvSpPr>
        <p:spPr>
          <a:xfrm>
            <a:off x="304799" y="176513"/>
            <a:ext cx="10552253"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b="0">
                <a:solidFill>
                  <a:srgbClr val="3F3F3F"/>
                </a:solidFill>
                <a:latin typeface="Quattrocento Sans"/>
                <a:ea typeface="Quattrocento Sans"/>
                <a:cs typeface="Quattrocento Sans"/>
                <a:sym typeface="Quattrocento Sans"/>
              </a:rPr>
              <a:t>Introduction to widgets in layouts, grid layout</a:t>
            </a:r>
            <a:endParaRPr sz="2800" b="0">
              <a:solidFill>
                <a:srgbClr val="3F3F3F"/>
              </a:solidFill>
              <a:latin typeface="Quattrocento Sans"/>
              <a:ea typeface="Quattrocento Sans"/>
              <a:cs typeface="Quattrocento Sans"/>
              <a:sym typeface="Quattrocento Sans"/>
            </a:endParaRPr>
          </a:p>
        </p:txBody>
      </p:sp>
      <p:sp>
        <p:nvSpPr>
          <p:cNvPr id="357" name="Google Shape;357;p32"/>
          <p:cNvSpPr txBox="1"/>
          <p:nvPr/>
        </p:nvSpPr>
        <p:spPr>
          <a:xfrm>
            <a:off x="715256" y="1127968"/>
            <a:ext cx="7920743" cy="589072"/>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n-US" sz="2400">
                <a:solidFill>
                  <a:srgbClr val="262626"/>
                </a:solidFill>
                <a:latin typeface="Calibri"/>
                <a:ea typeface="Calibri"/>
                <a:cs typeface="Calibri"/>
                <a:sym typeface="Calibri"/>
              </a:rPr>
              <a:t>Explanation - organizing widgets with frame</a:t>
            </a:r>
            <a:endParaRPr/>
          </a:p>
        </p:txBody>
      </p:sp>
      <p:pic>
        <p:nvPicPr>
          <p:cNvPr id="358" name="Google Shape;358;p32" descr="Closed book with solid fill"/>
          <p:cNvPicPr preferRelativeResize="0"/>
          <p:nvPr/>
        </p:nvPicPr>
        <p:blipFill rotWithShape="1">
          <a:blip r:embed="rId3">
            <a:alphaModFix/>
          </a:blip>
          <a:srcRect/>
          <a:stretch/>
        </p:blipFill>
        <p:spPr>
          <a:xfrm>
            <a:off x="304799" y="1285266"/>
            <a:ext cx="518160" cy="408432"/>
          </a:xfrm>
          <a:prstGeom prst="rect">
            <a:avLst/>
          </a:prstGeom>
          <a:noFill/>
          <a:ln>
            <a:noFill/>
          </a:ln>
        </p:spPr>
      </p:pic>
      <p:sp>
        <p:nvSpPr>
          <p:cNvPr id="359" name="Google Shape;359;p32"/>
          <p:cNvSpPr txBox="1"/>
          <p:nvPr/>
        </p:nvSpPr>
        <p:spPr>
          <a:xfrm>
            <a:off x="715256" y="1971040"/>
            <a:ext cx="7585462" cy="2308324"/>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1800">
                <a:solidFill>
                  <a:schemeClr val="dk1"/>
                </a:solidFill>
                <a:latin typeface="Batang"/>
                <a:ea typeface="Batang"/>
                <a:cs typeface="Batang"/>
                <a:sym typeface="Batang"/>
              </a:rPr>
              <a:t>tk.Frame()</a:t>
            </a:r>
            <a:endParaRPr/>
          </a:p>
          <a:p>
            <a:pPr marL="0" marR="0" lvl="0" indent="0" algn="just" rtl="0">
              <a:spcBef>
                <a:spcPts val="0"/>
              </a:spcBef>
              <a:spcAft>
                <a:spcPts val="0"/>
              </a:spcAft>
              <a:buNone/>
            </a:pPr>
            <a:r>
              <a:rPr lang="en-US" sz="1800">
                <a:solidFill>
                  <a:schemeClr val="dk1"/>
                </a:solidFill>
                <a:latin typeface="Calibri"/>
                <a:ea typeface="Calibri"/>
                <a:cs typeface="Calibri"/>
                <a:sym typeface="Calibri"/>
              </a:rPr>
              <a:t>Creates a frame to group widgets.</a:t>
            </a:r>
            <a:endParaRPr/>
          </a:p>
          <a:p>
            <a:pPr marL="0" marR="0" lvl="0" indent="0" algn="just" rtl="0">
              <a:spcBef>
                <a:spcPts val="0"/>
              </a:spcBef>
              <a:spcAft>
                <a:spcPts val="0"/>
              </a:spcAft>
              <a:buNone/>
            </a:pPr>
            <a:endParaRPr sz="1800">
              <a:solidFill>
                <a:schemeClr val="dk1"/>
              </a:solidFill>
              <a:latin typeface="Calibri"/>
              <a:ea typeface="Calibri"/>
              <a:cs typeface="Calibri"/>
              <a:sym typeface="Calibri"/>
            </a:endParaRPr>
          </a:p>
          <a:p>
            <a:pPr marL="0" marR="0" lvl="0" indent="0" algn="just" rtl="0">
              <a:spcBef>
                <a:spcPts val="0"/>
              </a:spcBef>
              <a:spcAft>
                <a:spcPts val="0"/>
              </a:spcAft>
              <a:buNone/>
            </a:pPr>
            <a:r>
              <a:rPr lang="en-US" sz="1800">
                <a:solidFill>
                  <a:schemeClr val="dk1"/>
                </a:solidFill>
                <a:latin typeface="Batang"/>
                <a:ea typeface="Batang"/>
                <a:cs typeface="Batang"/>
                <a:sym typeface="Batang"/>
              </a:rPr>
              <a:t>frame.pack()</a:t>
            </a:r>
            <a:endParaRPr/>
          </a:p>
          <a:p>
            <a:pPr marL="0" marR="0" lvl="0" indent="0" algn="just" rtl="0">
              <a:spcBef>
                <a:spcPts val="0"/>
              </a:spcBef>
              <a:spcAft>
                <a:spcPts val="0"/>
              </a:spcAft>
              <a:buNone/>
            </a:pPr>
            <a:r>
              <a:rPr lang="en-US" sz="1800">
                <a:solidFill>
                  <a:schemeClr val="dk1"/>
                </a:solidFill>
                <a:latin typeface="Calibri"/>
                <a:ea typeface="Calibri"/>
                <a:cs typeface="Calibri"/>
                <a:sym typeface="Calibri"/>
              </a:rPr>
              <a:t>Adds the frame to the window.</a:t>
            </a:r>
            <a:endParaRPr/>
          </a:p>
          <a:p>
            <a:pPr marL="0" marR="0" lvl="0" indent="0" algn="just" rtl="0">
              <a:spcBef>
                <a:spcPts val="0"/>
              </a:spcBef>
              <a:spcAft>
                <a:spcPts val="0"/>
              </a:spcAft>
              <a:buNone/>
            </a:pPr>
            <a:endParaRPr sz="1800">
              <a:solidFill>
                <a:schemeClr val="dk1"/>
              </a:solidFill>
              <a:latin typeface="Calibri"/>
              <a:ea typeface="Calibri"/>
              <a:cs typeface="Calibri"/>
              <a:sym typeface="Calibri"/>
            </a:endParaRPr>
          </a:p>
          <a:p>
            <a:pPr marL="0" marR="0" lvl="0" indent="0" algn="just" rtl="0">
              <a:spcBef>
                <a:spcPts val="0"/>
              </a:spcBef>
              <a:spcAft>
                <a:spcPts val="0"/>
              </a:spcAft>
              <a:buNone/>
            </a:pPr>
            <a:endParaRPr sz="1800">
              <a:solidFill>
                <a:schemeClr val="dk1"/>
              </a:solidFill>
              <a:latin typeface="Calibri"/>
              <a:ea typeface="Calibri"/>
              <a:cs typeface="Calibri"/>
              <a:sym typeface="Calibri"/>
            </a:endParaRPr>
          </a:p>
          <a:p>
            <a:pPr marL="0" marR="0" lvl="0" indent="0" algn="just" rtl="0">
              <a:spcBef>
                <a:spcPts val="0"/>
              </a:spcBef>
              <a:spcAft>
                <a:spcPts val="0"/>
              </a:spcAft>
              <a:buNone/>
            </a:pPr>
            <a:r>
              <a:rPr lang="en-US" sz="1800">
                <a:solidFill>
                  <a:schemeClr val="dk1"/>
                </a:solidFill>
                <a:latin typeface="Calibri"/>
                <a:ea typeface="Calibri"/>
                <a:cs typeface="Calibri"/>
                <a:sym typeface="Calibri"/>
              </a:rPr>
              <a:t>Widgets can be added to specific frames for better organization.</a:t>
            </a:r>
            <a:endParaRPr sz="1800">
              <a:solidFill>
                <a:schemeClr val="dk1"/>
              </a:solidFill>
              <a:latin typeface="Calibri"/>
              <a:ea typeface="Calibri"/>
              <a:cs typeface="Calibri"/>
              <a:sym typeface="Calibri"/>
            </a:endParaRPr>
          </a:p>
        </p:txBody>
      </p:sp>
      <p:sp>
        <p:nvSpPr>
          <p:cNvPr id="2" name="Footer Placeholder 1">
            <a:extLst>
              <a:ext uri="{FF2B5EF4-FFF2-40B4-BE49-F238E27FC236}">
                <a16:creationId xmlns:a16="http://schemas.microsoft.com/office/drawing/2014/main" id="{3C7356AC-3ADB-F085-0991-A0B8E531749F}"/>
              </a:ext>
            </a:extLst>
          </p:cNvPr>
          <p:cNvSpPr>
            <a:spLocks noGrp="1"/>
          </p:cNvSpPr>
          <p:nvPr>
            <p:ph type="ftr" idx="11"/>
          </p:nvPr>
        </p:nvSpPr>
        <p:spPr/>
        <p:txBody>
          <a:bodyPr/>
          <a:lstStyle/>
          <a:p>
            <a:r>
              <a:rPr lang="en-IN"/>
              <a:t>Web Developer-Python</a:t>
            </a:r>
          </a:p>
        </p:txBody>
      </p:sp>
      <p:sp>
        <p:nvSpPr>
          <p:cNvPr id="3" name="Slide Number Placeholder 2">
            <a:extLst>
              <a:ext uri="{FF2B5EF4-FFF2-40B4-BE49-F238E27FC236}">
                <a16:creationId xmlns:a16="http://schemas.microsoft.com/office/drawing/2014/main" id="{A091F83B-6BCA-B19D-D7CB-4F7CCAF78A23}"/>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63"/>
        <p:cNvGrpSpPr/>
        <p:nvPr/>
      </p:nvGrpSpPr>
      <p:grpSpPr>
        <a:xfrm>
          <a:off x="0" y="0"/>
          <a:ext cx="0" cy="0"/>
          <a:chOff x="0" y="0"/>
          <a:chExt cx="0" cy="0"/>
        </a:xfrm>
      </p:grpSpPr>
      <p:sp>
        <p:nvSpPr>
          <p:cNvPr id="364" name="Google Shape;364;p33"/>
          <p:cNvSpPr txBox="1"/>
          <p:nvPr/>
        </p:nvSpPr>
        <p:spPr>
          <a:xfrm>
            <a:off x="304799" y="176513"/>
            <a:ext cx="10552253"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b="0">
                <a:solidFill>
                  <a:srgbClr val="3F3F3F"/>
                </a:solidFill>
                <a:latin typeface="Quattrocento Sans"/>
                <a:ea typeface="Quattrocento Sans"/>
                <a:cs typeface="Quattrocento Sans"/>
                <a:sym typeface="Quattrocento Sans"/>
              </a:rPr>
              <a:t>Introduction to widgets in layouts, grid layout</a:t>
            </a:r>
            <a:endParaRPr sz="2800" b="0">
              <a:solidFill>
                <a:srgbClr val="3F3F3F"/>
              </a:solidFill>
              <a:latin typeface="Quattrocento Sans"/>
              <a:ea typeface="Quattrocento Sans"/>
              <a:cs typeface="Quattrocento Sans"/>
              <a:sym typeface="Quattrocento Sans"/>
            </a:endParaRPr>
          </a:p>
        </p:txBody>
      </p:sp>
      <p:sp>
        <p:nvSpPr>
          <p:cNvPr id="365" name="Google Shape;365;p33"/>
          <p:cNvSpPr txBox="1"/>
          <p:nvPr/>
        </p:nvSpPr>
        <p:spPr>
          <a:xfrm>
            <a:off x="715257" y="1177144"/>
            <a:ext cx="7351782" cy="589072"/>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n-US" sz="2400">
                <a:solidFill>
                  <a:srgbClr val="262626"/>
                </a:solidFill>
                <a:latin typeface="Calibri"/>
                <a:ea typeface="Calibri"/>
                <a:cs typeface="Calibri"/>
                <a:sym typeface="Calibri"/>
              </a:rPr>
              <a:t>Adding multiple widgets to grid layout</a:t>
            </a:r>
            <a:endParaRPr/>
          </a:p>
        </p:txBody>
      </p:sp>
      <p:pic>
        <p:nvPicPr>
          <p:cNvPr id="366" name="Google Shape;366;p33" descr="Closed book with solid fill"/>
          <p:cNvPicPr preferRelativeResize="0"/>
          <p:nvPr/>
        </p:nvPicPr>
        <p:blipFill rotWithShape="1">
          <a:blip r:embed="rId3">
            <a:alphaModFix/>
          </a:blip>
          <a:srcRect/>
          <a:stretch/>
        </p:blipFill>
        <p:spPr>
          <a:xfrm>
            <a:off x="304799" y="1334442"/>
            <a:ext cx="518160" cy="408432"/>
          </a:xfrm>
          <a:prstGeom prst="rect">
            <a:avLst/>
          </a:prstGeom>
          <a:noFill/>
          <a:ln>
            <a:noFill/>
          </a:ln>
        </p:spPr>
      </p:pic>
      <p:pic>
        <p:nvPicPr>
          <p:cNvPr id="367" name="Google Shape;367;p33" descr="A screenshot of a computer&#10;&#10;Description automatically generated"/>
          <p:cNvPicPr preferRelativeResize="0"/>
          <p:nvPr/>
        </p:nvPicPr>
        <p:blipFill rotWithShape="1">
          <a:blip r:embed="rId4">
            <a:alphaModFix/>
          </a:blip>
          <a:srcRect t="10203"/>
          <a:stretch/>
        </p:blipFill>
        <p:spPr>
          <a:xfrm>
            <a:off x="6187440" y="1418111"/>
            <a:ext cx="5638243" cy="5159064"/>
          </a:xfrm>
          <a:prstGeom prst="rect">
            <a:avLst/>
          </a:prstGeom>
          <a:noFill/>
          <a:ln w="9525" cap="flat" cmpd="sng">
            <a:solidFill>
              <a:schemeClr val="dk1"/>
            </a:solidFill>
            <a:prstDash val="solid"/>
            <a:round/>
            <a:headEnd type="none" w="sm" len="sm"/>
            <a:tailEnd type="none" w="sm" len="sm"/>
          </a:ln>
        </p:spPr>
      </p:pic>
      <p:pic>
        <p:nvPicPr>
          <p:cNvPr id="368" name="Google Shape;368;p33" descr="A screenshot of a computer&#10;&#10;Description automatically generated"/>
          <p:cNvPicPr preferRelativeResize="0"/>
          <p:nvPr/>
        </p:nvPicPr>
        <p:blipFill rotWithShape="1">
          <a:blip r:embed="rId5">
            <a:alphaModFix/>
          </a:blip>
          <a:srcRect/>
          <a:stretch/>
        </p:blipFill>
        <p:spPr>
          <a:xfrm>
            <a:off x="806697" y="1923514"/>
            <a:ext cx="4232663" cy="4553064"/>
          </a:xfrm>
          <a:prstGeom prst="rect">
            <a:avLst/>
          </a:prstGeom>
          <a:noFill/>
          <a:ln>
            <a:noFill/>
          </a:ln>
        </p:spPr>
      </p:pic>
      <p:sp>
        <p:nvSpPr>
          <p:cNvPr id="2" name="Footer Placeholder 1">
            <a:extLst>
              <a:ext uri="{FF2B5EF4-FFF2-40B4-BE49-F238E27FC236}">
                <a16:creationId xmlns:a16="http://schemas.microsoft.com/office/drawing/2014/main" id="{93A8C248-D7F6-10BC-37A8-96136CE91A69}"/>
              </a:ext>
            </a:extLst>
          </p:cNvPr>
          <p:cNvSpPr>
            <a:spLocks noGrp="1"/>
          </p:cNvSpPr>
          <p:nvPr>
            <p:ph type="ftr" idx="11"/>
          </p:nvPr>
        </p:nvSpPr>
        <p:spPr/>
        <p:txBody>
          <a:bodyPr/>
          <a:lstStyle/>
          <a:p>
            <a:r>
              <a:rPr lang="en-IN"/>
              <a:t>Web Developer-Python</a:t>
            </a:r>
          </a:p>
        </p:txBody>
      </p:sp>
      <p:sp>
        <p:nvSpPr>
          <p:cNvPr id="3" name="Slide Number Placeholder 2">
            <a:extLst>
              <a:ext uri="{FF2B5EF4-FFF2-40B4-BE49-F238E27FC236}">
                <a16:creationId xmlns:a16="http://schemas.microsoft.com/office/drawing/2014/main" id="{8CDA6743-F245-3F31-6168-E357C37B18E4}"/>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72"/>
        <p:cNvGrpSpPr/>
        <p:nvPr/>
      </p:nvGrpSpPr>
      <p:grpSpPr>
        <a:xfrm>
          <a:off x="0" y="0"/>
          <a:ext cx="0" cy="0"/>
          <a:chOff x="0" y="0"/>
          <a:chExt cx="0" cy="0"/>
        </a:xfrm>
      </p:grpSpPr>
      <p:sp>
        <p:nvSpPr>
          <p:cNvPr id="373" name="Google Shape;373;p34"/>
          <p:cNvSpPr txBox="1"/>
          <p:nvPr/>
        </p:nvSpPr>
        <p:spPr>
          <a:xfrm>
            <a:off x="304799" y="176513"/>
            <a:ext cx="10552253"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b="0">
                <a:solidFill>
                  <a:srgbClr val="3F3F3F"/>
                </a:solidFill>
                <a:latin typeface="Quattrocento Sans"/>
                <a:ea typeface="Quattrocento Sans"/>
                <a:cs typeface="Quattrocento Sans"/>
                <a:sym typeface="Quattrocento Sans"/>
              </a:rPr>
              <a:t>Introduction to widgets in layouts, grid layout</a:t>
            </a:r>
            <a:endParaRPr sz="2800" b="0">
              <a:solidFill>
                <a:srgbClr val="3F3F3F"/>
              </a:solidFill>
              <a:latin typeface="Quattrocento Sans"/>
              <a:ea typeface="Quattrocento Sans"/>
              <a:cs typeface="Quattrocento Sans"/>
              <a:sym typeface="Quattrocento Sans"/>
            </a:endParaRPr>
          </a:p>
        </p:txBody>
      </p:sp>
      <p:sp>
        <p:nvSpPr>
          <p:cNvPr id="374" name="Google Shape;374;p34"/>
          <p:cNvSpPr txBox="1"/>
          <p:nvPr/>
        </p:nvSpPr>
        <p:spPr>
          <a:xfrm>
            <a:off x="715257" y="1177144"/>
            <a:ext cx="7351782" cy="589072"/>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n-US" sz="2400">
                <a:solidFill>
                  <a:srgbClr val="262626"/>
                </a:solidFill>
                <a:latin typeface="Calibri"/>
                <a:ea typeface="Calibri"/>
                <a:cs typeface="Calibri"/>
                <a:sym typeface="Calibri"/>
              </a:rPr>
              <a:t>Explanation - adding multiple widgets to grid layout</a:t>
            </a:r>
            <a:endParaRPr/>
          </a:p>
        </p:txBody>
      </p:sp>
      <p:pic>
        <p:nvPicPr>
          <p:cNvPr id="375" name="Google Shape;375;p34" descr="Closed book with solid fill"/>
          <p:cNvPicPr preferRelativeResize="0"/>
          <p:nvPr/>
        </p:nvPicPr>
        <p:blipFill rotWithShape="1">
          <a:blip r:embed="rId3">
            <a:alphaModFix/>
          </a:blip>
          <a:srcRect/>
          <a:stretch/>
        </p:blipFill>
        <p:spPr>
          <a:xfrm>
            <a:off x="304799" y="1334442"/>
            <a:ext cx="518160" cy="408432"/>
          </a:xfrm>
          <a:prstGeom prst="rect">
            <a:avLst/>
          </a:prstGeom>
          <a:noFill/>
          <a:ln>
            <a:noFill/>
          </a:ln>
        </p:spPr>
      </p:pic>
      <p:sp>
        <p:nvSpPr>
          <p:cNvPr id="376" name="Google Shape;376;p34"/>
          <p:cNvSpPr txBox="1"/>
          <p:nvPr/>
        </p:nvSpPr>
        <p:spPr>
          <a:xfrm>
            <a:off x="715256" y="1900172"/>
            <a:ext cx="10704583" cy="3650358"/>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n-US" sz="1800">
                <a:solidFill>
                  <a:schemeClr val="dk1"/>
                </a:solidFill>
                <a:latin typeface="Calibri"/>
                <a:ea typeface="Calibri"/>
                <a:cs typeface="Calibri"/>
                <a:sym typeface="Calibri"/>
              </a:rPr>
              <a:t>Each widget is placed in the grid using the grid method with specified row, column, padding, and sticky options.</a:t>
            </a:r>
            <a:endParaRPr/>
          </a:p>
          <a:p>
            <a:pPr marL="0" marR="0" lvl="0" indent="0" algn="just" rtl="0">
              <a:spcBef>
                <a:spcPts val="0"/>
              </a:spcBef>
              <a:spcAft>
                <a:spcPts val="0"/>
              </a:spcAft>
              <a:buNone/>
            </a:pPr>
            <a:endParaRPr sz="1800">
              <a:solidFill>
                <a:schemeClr val="dk1"/>
              </a:solidFill>
              <a:latin typeface="Calibri"/>
              <a:ea typeface="Calibri"/>
              <a:cs typeface="Calibri"/>
              <a:sym typeface="Calibri"/>
            </a:endParaRPr>
          </a:p>
          <a:p>
            <a:pPr marL="285750" marR="0" lvl="0" indent="-285750" algn="just" rtl="0">
              <a:lnSpc>
                <a:spcPct val="150000"/>
              </a:lnSpc>
              <a:spcBef>
                <a:spcPts val="0"/>
              </a:spcBef>
              <a:spcAft>
                <a:spcPts val="0"/>
              </a:spcAft>
              <a:buClr>
                <a:schemeClr val="dk1"/>
              </a:buClr>
              <a:buSzPts val="1800"/>
              <a:buFont typeface="Noto Sans Symbols"/>
              <a:buChar char="▪"/>
            </a:pPr>
            <a:r>
              <a:rPr lang="en-US" sz="1800">
                <a:solidFill>
                  <a:schemeClr val="dk1"/>
                </a:solidFill>
                <a:latin typeface="Calibri"/>
                <a:ea typeface="Calibri"/>
                <a:cs typeface="Calibri"/>
                <a:sym typeface="Calibri"/>
              </a:rPr>
              <a:t>label is placed at row 0, column 0.</a:t>
            </a:r>
            <a:endParaRPr/>
          </a:p>
          <a:p>
            <a:pPr marL="285750" marR="0" lvl="0" indent="-285750" algn="just" rtl="0">
              <a:lnSpc>
                <a:spcPct val="150000"/>
              </a:lnSpc>
              <a:spcBef>
                <a:spcPts val="0"/>
              </a:spcBef>
              <a:spcAft>
                <a:spcPts val="0"/>
              </a:spcAft>
              <a:buClr>
                <a:schemeClr val="dk1"/>
              </a:buClr>
              <a:buSzPts val="1800"/>
              <a:buFont typeface="Noto Sans Symbols"/>
              <a:buChar char="▪"/>
            </a:pPr>
            <a:r>
              <a:rPr lang="en-US" sz="1800">
                <a:solidFill>
                  <a:schemeClr val="dk1"/>
                </a:solidFill>
                <a:latin typeface="Calibri"/>
                <a:ea typeface="Calibri"/>
                <a:cs typeface="Calibri"/>
                <a:sym typeface="Calibri"/>
              </a:rPr>
              <a:t>button is placed at row 0, column 1.</a:t>
            </a:r>
            <a:endParaRPr/>
          </a:p>
          <a:p>
            <a:pPr marL="285750" marR="0" lvl="0" indent="-285750" algn="just" rtl="0">
              <a:lnSpc>
                <a:spcPct val="150000"/>
              </a:lnSpc>
              <a:spcBef>
                <a:spcPts val="0"/>
              </a:spcBef>
              <a:spcAft>
                <a:spcPts val="0"/>
              </a:spcAft>
              <a:buClr>
                <a:schemeClr val="dk1"/>
              </a:buClr>
              <a:buSzPts val="1800"/>
              <a:buFont typeface="Noto Sans Symbols"/>
              <a:buChar char="▪"/>
            </a:pPr>
            <a:r>
              <a:rPr lang="en-US" sz="1800">
                <a:solidFill>
                  <a:schemeClr val="dk1"/>
                </a:solidFill>
                <a:latin typeface="Calibri"/>
                <a:ea typeface="Calibri"/>
                <a:cs typeface="Calibri"/>
                <a:sym typeface="Calibri"/>
              </a:rPr>
              <a:t>entry is placed at row 1, column 0, spanning 2 columns.</a:t>
            </a:r>
            <a:endParaRPr/>
          </a:p>
          <a:p>
            <a:pPr marL="285750" marR="0" lvl="0" indent="-285750" algn="just" rtl="0">
              <a:lnSpc>
                <a:spcPct val="150000"/>
              </a:lnSpc>
              <a:spcBef>
                <a:spcPts val="0"/>
              </a:spcBef>
              <a:spcAft>
                <a:spcPts val="0"/>
              </a:spcAft>
              <a:buClr>
                <a:schemeClr val="dk1"/>
              </a:buClr>
              <a:buSzPts val="1800"/>
              <a:buFont typeface="Noto Sans Symbols"/>
              <a:buChar char="▪"/>
            </a:pPr>
            <a:r>
              <a:rPr lang="en-US" sz="1800">
                <a:solidFill>
                  <a:schemeClr val="dk1"/>
                </a:solidFill>
                <a:latin typeface="Calibri"/>
                <a:ea typeface="Calibri"/>
                <a:cs typeface="Calibri"/>
                <a:sym typeface="Calibri"/>
              </a:rPr>
              <a:t>text is placed at row 2, column 0, spanning 2 columns.</a:t>
            </a:r>
            <a:endParaRPr/>
          </a:p>
          <a:p>
            <a:pPr marL="285750" marR="0" lvl="0" indent="-285750" algn="just" rtl="0">
              <a:lnSpc>
                <a:spcPct val="150000"/>
              </a:lnSpc>
              <a:spcBef>
                <a:spcPts val="0"/>
              </a:spcBef>
              <a:spcAft>
                <a:spcPts val="0"/>
              </a:spcAft>
              <a:buClr>
                <a:schemeClr val="dk1"/>
              </a:buClr>
              <a:buSzPts val="1800"/>
              <a:buFont typeface="Noto Sans Symbols"/>
              <a:buChar char="▪"/>
            </a:pPr>
            <a:r>
              <a:rPr lang="en-US" sz="1800">
                <a:solidFill>
                  <a:schemeClr val="dk1"/>
                </a:solidFill>
                <a:latin typeface="Calibri"/>
                <a:ea typeface="Calibri"/>
                <a:cs typeface="Calibri"/>
                <a:sym typeface="Calibri"/>
              </a:rPr>
              <a:t>checkbutton is placed at row 3, column 0.</a:t>
            </a:r>
            <a:endParaRPr/>
          </a:p>
          <a:p>
            <a:pPr marL="285750" marR="0" lvl="0" indent="-285750" algn="just" rtl="0">
              <a:lnSpc>
                <a:spcPct val="150000"/>
              </a:lnSpc>
              <a:spcBef>
                <a:spcPts val="0"/>
              </a:spcBef>
              <a:spcAft>
                <a:spcPts val="0"/>
              </a:spcAft>
              <a:buClr>
                <a:schemeClr val="dk1"/>
              </a:buClr>
              <a:buSzPts val="1800"/>
              <a:buFont typeface="Noto Sans Symbols"/>
              <a:buChar char="▪"/>
            </a:pPr>
            <a:r>
              <a:rPr lang="en-US" sz="1800">
                <a:solidFill>
                  <a:schemeClr val="dk1"/>
                </a:solidFill>
                <a:latin typeface="Calibri"/>
                <a:ea typeface="Calibri"/>
                <a:cs typeface="Calibri"/>
                <a:sym typeface="Calibri"/>
              </a:rPr>
              <a:t>radiobutton1 is placed at row 3, column 1.</a:t>
            </a:r>
            <a:endParaRPr/>
          </a:p>
          <a:p>
            <a:pPr marL="285750" marR="0" lvl="0" indent="-285750" algn="just" rtl="0">
              <a:lnSpc>
                <a:spcPct val="150000"/>
              </a:lnSpc>
              <a:spcBef>
                <a:spcPts val="0"/>
              </a:spcBef>
              <a:spcAft>
                <a:spcPts val="0"/>
              </a:spcAft>
              <a:buClr>
                <a:schemeClr val="dk1"/>
              </a:buClr>
              <a:buSzPts val="1800"/>
              <a:buFont typeface="Noto Sans Symbols"/>
              <a:buChar char="▪"/>
            </a:pPr>
            <a:r>
              <a:rPr lang="en-US" sz="1800">
                <a:solidFill>
                  <a:schemeClr val="dk1"/>
                </a:solidFill>
                <a:latin typeface="Calibri"/>
                <a:ea typeface="Calibri"/>
                <a:cs typeface="Calibri"/>
                <a:sym typeface="Calibri"/>
              </a:rPr>
              <a:t>radiobutton2 is placed at row 4, column 1.</a:t>
            </a:r>
            <a:endParaRPr sz="1800">
              <a:solidFill>
                <a:schemeClr val="dk1"/>
              </a:solidFill>
              <a:latin typeface="Calibri"/>
              <a:ea typeface="Calibri"/>
              <a:cs typeface="Calibri"/>
              <a:sym typeface="Calibri"/>
            </a:endParaRPr>
          </a:p>
        </p:txBody>
      </p:sp>
      <p:sp>
        <p:nvSpPr>
          <p:cNvPr id="2" name="Footer Placeholder 1">
            <a:extLst>
              <a:ext uri="{FF2B5EF4-FFF2-40B4-BE49-F238E27FC236}">
                <a16:creationId xmlns:a16="http://schemas.microsoft.com/office/drawing/2014/main" id="{72BB0C59-55DC-47EA-F173-6CBADE2B4B13}"/>
              </a:ext>
            </a:extLst>
          </p:cNvPr>
          <p:cNvSpPr>
            <a:spLocks noGrp="1"/>
          </p:cNvSpPr>
          <p:nvPr>
            <p:ph type="ftr" idx="11"/>
          </p:nvPr>
        </p:nvSpPr>
        <p:spPr/>
        <p:txBody>
          <a:bodyPr/>
          <a:lstStyle/>
          <a:p>
            <a:r>
              <a:rPr lang="en-IN"/>
              <a:t>Web Developer-Python</a:t>
            </a:r>
          </a:p>
        </p:txBody>
      </p:sp>
      <p:sp>
        <p:nvSpPr>
          <p:cNvPr id="3" name="Slide Number Placeholder 2">
            <a:extLst>
              <a:ext uri="{FF2B5EF4-FFF2-40B4-BE49-F238E27FC236}">
                <a16:creationId xmlns:a16="http://schemas.microsoft.com/office/drawing/2014/main" id="{FD25EC00-BEC2-B50E-8283-78B02F1F648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381"/>
        <p:cNvGrpSpPr/>
        <p:nvPr/>
      </p:nvGrpSpPr>
      <p:grpSpPr>
        <a:xfrm>
          <a:off x="0" y="0"/>
          <a:ext cx="0" cy="0"/>
          <a:chOff x="0" y="0"/>
          <a:chExt cx="0" cy="0"/>
        </a:xfrm>
      </p:grpSpPr>
      <p:sp>
        <p:nvSpPr>
          <p:cNvPr id="382" name="Google Shape;382;p35"/>
          <p:cNvSpPr txBox="1"/>
          <p:nvPr/>
        </p:nvSpPr>
        <p:spPr>
          <a:xfrm>
            <a:off x="518160" y="135873"/>
            <a:ext cx="6065520"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b="0">
                <a:solidFill>
                  <a:srgbClr val="3F3F3F"/>
                </a:solidFill>
                <a:latin typeface="Quattrocento Sans"/>
                <a:ea typeface="Quattrocento Sans"/>
                <a:cs typeface="Quattrocento Sans"/>
                <a:sym typeface="Quattrocento Sans"/>
              </a:rPr>
              <a:t>GUI Development - Introduction</a:t>
            </a:r>
            <a:endParaRPr/>
          </a:p>
        </p:txBody>
      </p:sp>
      <p:pic>
        <p:nvPicPr>
          <p:cNvPr id="383" name="Google Shape;383;p35"/>
          <p:cNvPicPr preferRelativeResize="0"/>
          <p:nvPr/>
        </p:nvPicPr>
        <p:blipFill rotWithShape="1">
          <a:blip r:embed="rId3">
            <a:alphaModFix/>
          </a:blip>
          <a:srcRect/>
          <a:stretch/>
        </p:blipFill>
        <p:spPr>
          <a:xfrm>
            <a:off x="612036" y="1293293"/>
            <a:ext cx="1064364" cy="625414"/>
          </a:xfrm>
          <a:prstGeom prst="rect">
            <a:avLst/>
          </a:prstGeom>
          <a:noFill/>
          <a:ln>
            <a:noFill/>
          </a:ln>
        </p:spPr>
      </p:pic>
      <p:pic>
        <p:nvPicPr>
          <p:cNvPr id="384" name="Google Shape;384;p35" descr="A computer screen shot of a registration form&#10;&#10;Description automatically generated"/>
          <p:cNvPicPr preferRelativeResize="0"/>
          <p:nvPr/>
        </p:nvPicPr>
        <p:blipFill rotWithShape="1">
          <a:blip r:embed="rId4">
            <a:alphaModFix/>
          </a:blip>
          <a:srcRect/>
          <a:stretch/>
        </p:blipFill>
        <p:spPr>
          <a:xfrm>
            <a:off x="6390638" y="2039330"/>
            <a:ext cx="5344161" cy="4462243"/>
          </a:xfrm>
          <a:prstGeom prst="rect">
            <a:avLst/>
          </a:prstGeom>
          <a:noFill/>
          <a:ln>
            <a:noFill/>
          </a:ln>
        </p:spPr>
      </p:pic>
      <p:sp>
        <p:nvSpPr>
          <p:cNvPr id="385" name="Google Shape;385;p35"/>
          <p:cNvSpPr txBox="1"/>
          <p:nvPr/>
        </p:nvSpPr>
        <p:spPr>
          <a:xfrm>
            <a:off x="612036" y="2024588"/>
            <a:ext cx="6096000" cy="880369"/>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r>
              <a:rPr lang="en-US" sz="1800">
                <a:solidFill>
                  <a:schemeClr val="dk1"/>
                </a:solidFill>
                <a:latin typeface="Calibri"/>
                <a:ea typeface="Calibri"/>
                <a:cs typeface="Calibri"/>
                <a:sym typeface="Calibri"/>
              </a:rPr>
              <a:t>Write python code using Tkinter library to design the registration form. Use grid layout.</a:t>
            </a:r>
            <a:endParaRPr/>
          </a:p>
        </p:txBody>
      </p:sp>
      <p:sp>
        <p:nvSpPr>
          <p:cNvPr id="2" name="Footer Placeholder 1">
            <a:extLst>
              <a:ext uri="{FF2B5EF4-FFF2-40B4-BE49-F238E27FC236}">
                <a16:creationId xmlns:a16="http://schemas.microsoft.com/office/drawing/2014/main" id="{778AC710-3D7A-296C-1B13-93C5ABC7F400}"/>
              </a:ext>
            </a:extLst>
          </p:cNvPr>
          <p:cNvSpPr>
            <a:spLocks noGrp="1"/>
          </p:cNvSpPr>
          <p:nvPr>
            <p:ph type="ftr" idx="11"/>
          </p:nvPr>
        </p:nvSpPr>
        <p:spPr/>
        <p:txBody>
          <a:bodyPr/>
          <a:lstStyle/>
          <a:p>
            <a:r>
              <a:rPr lang="en-IN"/>
              <a:t>Web Developer-Python</a:t>
            </a:r>
          </a:p>
        </p:txBody>
      </p:sp>
      <p:sp>
        <p:nvSpPr>
          <p:cNvPr id="3" name="Slide Number Placeholder 2">
            <a:extLst>
              <a:ext uri="{FF2B5EF4-FFF2-40B4-BE49-F238E27FC236}">
                <a16:creationId xmlns:a16="http://schemas.microsoft.com/office/drawing/2014/main" id="{EE209B6E-996D-189A-F8F7-637EBDD0666E}"/>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389"/>
        <p:cNvGrpSpPr/>
        <p:nvPr/>
      </p:nvGrpSpPr>
      <p:grpSpPr>
        <a:xfrm>
          <a:off x="0" y="0"/>
          <a:ext cx="0" cy="0"/>
          <a:chOff x="0" y="0"/>
          <a:chExt cx="0" cy="0"/>
        </a:xfrm>
      </p:grpSpPr>
      <p:sp>
        <p:nvSpPr>
          <p:cNvPr id="390" name="Google Shape;390;p36"/>
          <p:cNvSpPr txBox="1">
            <a:spLocks noGrp="1"/>
          </p:cNvSpPr>
          <p:nvPr>
            <p:ph type="ctrTitle"/>
          </p:nvPr>
        </p:nvSpPr>
        <p:spPr>
          <a:xfrm>
            <a:off x="480000" y="2494400"/>
            <a:ext cx="11406800" cy="1058000"/>
          </a:xfrm>
          <a:prstGeom prst="rect">
            <a:avLst/>
          </a:prstGeom>
          <a:noFill/>
          <a:ln>
            <a:noFill/>
          </a:ln>
        </p:spPr>
        <p:txBody>
          <a:bodyPr spcFirstLastPara="1" wrap="square" lIns="121900" tIns="121900" rIns="121900" bIns="121900" anchor="ctr" anchorCtr="0">
            <a:noAutofit/>
          </a:bodyPr>
          <a:lstStyle/>
          <a:p>
            <a:pPr marL="0" lvl="0" indent="0" algn="l" rtl="0">
              <a:lnSpc>
                <a:spcPct val="100000"/>
              </a:lnSpc>
              <a:spcBef>
                <a:spcPts val="0"/>
              </a:spcBef>
              <a:spcAft>
                <a:spcPts val="0"/>
              </a:spcAft>
              <a:buClr>
                <a:srgbClr val="000000"/>
              </a:buClr>
              <a:buSzPts val="5000"/>
              <a:buFont typeface="Calibri"/>
              <a:buNone/>
            </a:pPr>
            <a:r>
              <a:rPr lang="en-US" sz="4000">
                <a:solidFill>
                  <a:srgbClr val="000000"/>
                </a:solidFill>
                <a:latin typeface="Calibri"/>
                <a:ea typeface="Calibri"/>
                <a:cs typeface="Calibri"/>
                <a:sym typeface="Calibri"/>
              </a:rPr>
              <a:t>6. </a:t>
            </a:r>
            <a:r>
              <a:rPr lang="en-US" sz="4000">
                <a:latin typeface="Calibri"/>
                <a:ea typeface="Calibri"/>
                <a:cs typeface="Calibri"/>
                <a:sym typeface="Calibri"/>
              </a:rPr>
              <a:t>Integration Using GUI-Designing User Interface</a:t>
            </a:r>
            <a:endParaRPr/>
          </a:p>
        </p:txBody>
      </p:sp>
      <p:sp>
        <p:nvSpPr>
          <p:cNvPr id="2" name="Footer Placeholder 1">
            <a:extLst>
              <a:ext uri="{FF2B5EF4-FFF2-40B4-BE49-F238E27FC236}">
                <a16:creationId xmlns:a16="http://schemas.microsoft.com/office/drawing/2014/main" id="{F64318F9-FFD1-102A-ED11-25BB2683785C}"/>
              </a:ext>
            </a:extLst>
          </p:cNvPr>
          <p:cNvSpPr>
            <a:spLocks noGrp="1"/>
          </p:cNvSpPr>
          <p:nvPr>
            <p:ph type="ftr" idx="11"/>
          </p:nvPr>
        </p:nvSpPr>
        <p:spPr/>
        <p:txBody>
          <a:bodyPr/>
          <a:lstStyle/>
          <a:p>
            <a:r>
              <a:rPr lang="en-IN"/>
              <a:t>Web Developer-Python</a:t>
            </a:r>
          </a:p>
        </p:txBody>
      </p:sp>
      <p:sp>
        <p:nvSpPr>
          <p:cNvPr id="3" name="Slide Number Placeholder 2">
            <a:extLst>
              <a:ext uri="{FF2B5EF4-FFF2-40B4-BE49-F238E27FC236}">
                <a16:creationId xmlns:a16="http://schemas.microsoft.com/office/drawing/2014/main" id="{0B623B62-E0BE-2134-5E4B-EFB7B565E884}"/>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394"/>
        <p:cNvGrpSpPr/>
        <p:nvPr/>
      </p:nvGrpSpPr>
      <p:grpSpPr>
        <a:xfrm>
          <a:off x="0" y="0"/>
          <a:ext cx="0" cy="0"/>
          <a:chOff x="0" y="0"/>
          <a:chExt cx="0" cy="0"/>
        </a:xfrm>
      </p:grpSpPr>
      <p:sp>
        <p:nvSpPr>
          <p:cNvPr id="395" name="Google Shape;395;p37"/>
          <p:cNvSpPr txBox="1"/>
          <p:nvPr/>
        </p:nvSpPr>
        <p:spPr>
          <a:xfrm>
            <a:off x="304799" y="176513"/>
            <a:ext cx="10552253"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b="0">
                <a:solidFill>
                  <a:srgbClr val="3F3F3F"/>
                </a:solidFill>
                <a:latin typeface="Quattrocento Sans"/>
                <a:ea typeface="Quattrocento Sans"/>
                <a:cs typeface="Quattrocento Sans"/>
                <a:sym typeface="Quattrocento Sans"/>
              </a:rPr>
              <a:t>Integration using GUI-designing user interface</a:t>
            </a:r>
            <a:endParaRPr sz="2800" b="0">
              <a:solidFill>
                <a:srgbClr val="3F3F3F"/>
              </a:solidFill>
              <a:latin typeface="Quattrocento Sans"/>
              <a:ea typeface="Quattrocento Sans"/>
              <a:cs typeface="Quattrocento Sans"/>
              <a:sym typeface="Quattrocento Sans"/>
            </a:endParaRPr>
          </a:p>
        </p:txBody>
      </p:sp>
      <p:sp>
        <p:nvSpPr>
          <p:cNvPr id="396" name="Google Shape;396;p37"/>
          <p:cNvSpPr txBox="1"/>
          <p:nvPr/>
        </p:nvSpPr>
        <p:spPr>
          <a:xfrm>
            <a:off x="715257" y="1177144"/>
            <a:ext cx="7351782" cy="589072"/>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n-US" sz="2400">
                <a:solidFill>
                  <a:srgbClr val="262626"/>
                </a:solidFill>
                <a:latin typeface="Calibri"/>
                <a:ea typeface="Calibri"/>
                <a:cs typeface="Calibri"/>
                <a:sym typeface="Calibri"/>
              </a:rPr>
              <a:t>Explanation</a:t>
            </a:r>
            <a:endParaRPr/>
          </a:p>
        </p:txBody>
      </p:sp>
      <p:pic>
        <p:nvPicPr>
          <p:cNvPr id="397" name="Google Shape;397;p37" descr="Closed book with solid fill"/>
          <p:cNvPicPr preferRelativeResize="0"/>
          <p:nvPr/>
        </p:nvPicPr>
        <p:blipFill rotWithShape="1">
          <a:blip r:embed="rId3">
            <a:alphaModFix/>
          </a:blip>
          <a:srcRect/>
          <a:stretch/>
        </p:blipFill>
        <p:spPr>
          <a:xfrm>
            <a:off x="304799" y="1334442"/>
            <a:ext cx="518160" cy="408432"/>
          </a:xfrm>
          <a:prstGeom prst="rect">
            <a:avLst/>
          </a:prstGeom>
          <a:noFill/>
          <a:ln>
            <a:noFill/>
          </a:ln>
        </p:spPr>
      </p:pic>
      <p:sp>
        <p:nvSpPr>
          <p:cNvPr id="398" name="Google Shape;398;p37"/>
          <p:cNvSpPr txBox="1"/>
          <p:nvPr/>
        </p:nvSpPr>
        <p:spPr>
          <a:xfrm>
            <a:off x="715256" y="1900172"/>
            <a:ext cx="10704583" cy="1295868"/>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n-US" sz="1800">
                <a:solidFill>
                  <a:schemeClr val="dk1"/>
                </a:solidFill>
                <a:latin typeface="Calibri"/>
                <a:ea typeface="Calibri"/>
                <a:cs typeface="Calibri"/>
                <a:sym typeface="Calibri"/>
              </a:rPr>
              <a:t>Integrating GUI design involves creating a visually appealing and functional interface using a GUI toolkit, connecting UI elements to program logic, handling user input and output, and ensuring smooth interaction between the UI and back-end functionality. </a:t>
            </a:r>
            <a:endParaRPr sz="1800">
              <a:solidFill>
                <a:schemeClr val="dk1"/>
              </a:solidFill>
              <a:latin typeface="Calibri"/>
              <a:ea typeface="Calibri"/>
              <a:cs typeface="Calibri"/>
              <a:sym typeface="Calibri"/>
            </a:endParaRPr>
          </a:p>
        </p:txBody>
      </p:sp>
      <p:pic>
        <p:nvPicPr>
          <p:cNvPr id="399" name="Google Shape;399;p37" title="Hanging Lightbulbs"/>
          <p:cNvPicPr preferRelativeResize="0"/>
          <p:nvPr/>
        </p:nvPicPr>
        <p:blipFill rotWithShape="1">
          <a:blip r:embed="rId4">
            <a:alphaModFix/>
          </a:blip>
          <a:srcRect/>
          <a:stretch/>
        </p:blipFill>
        <p:spPr>
          <a:xfrm>
            <a:off x="822959" y="3661961"/>
            <a:ext cx="4786487" cy="2692399"/>
          </a:xfrm>
          <a:prstGeom prst="rect">
            <a:avLst/>
          </a:prstGeom>
          <a:noFill/>
          <a:ln>
            <a:noFill/>
          </a:ln>
        </p:spPr>
      </p:pic>
      <p:sp>
        <p:nvSpPr>
          <p:cNvPr id="400" name="Google Shape;400;p37"/>
          <p:cNvSpPr txBox="1"/>
          <p:nvPr/>
        </p:nvSpPr>
        <p:spPr>
          <a:xfrm>
            <a:off x="5996427" y="3463841"/>
            <a:ext cx="5423412" cy="2126864"/>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n-US" sz="1800">
                <a:solidFill>
                  <a:schemeClr val="dk1"/>
                </a:solidFill>
                <a:latin typeface="Calibri"/>
                <a:ea typeface="Calibri"/>
                <a:cs typeface="Calibri"/>
                <a:sym typeface="Calibri"/>
              </a:rPr>
              <a:t>In the video - whenever the bigger bulb is appearing it turns on and turns off before disappearing. </a:t>
            </a:r>
            <a:endParaRPr/>
          </a:p>
          <a:p>
            <a:pPr marL="0" marR="0" lvl="0" indent="0" algn="just" rtl="0">
              <a:lnSpc>
                <a:spcPct val="150000"/>
              </a:lnSpc>
              <a:spcBef>
                <a:spcPts val="0"/>
              </a:spcBef>
              <a:spcAft>
                <a:spcPts val="0"/>
              </a:spcAft>
              <a:buNone/>
            </a:pPr>
            <a:endParaRPr sz="1800">
              <a:solidFill>
                <a:schemeClr val="dk1"/>
              </a:solidFill>
              <a:latin typeface="Calibri"/>
              <a:ea typeface="Calibri"/>
              <a:cs typeface="Calibri"/>
              <a:sym typeface="Calibri"/>
            </a:endParaRPr>
          </a:p>
          <a:p>
            <a:pPr marL="0" marR="0" lvl="0" indent="0" algn="just" rtl="0">
              <a:lnSpc>
                <a:spcPct val="150000"/>
              </a:lnSpc>
              <a:spcBef>
                <a:spcPts val="0"/>
              </a:spcBef>
              <a:spcAft>
                <a:spcPts val="0"/>
              </a:spcAft>
              <a:buNone/>
            </a:pPr>
            <a:r>
              <a:rPr lang="en-US" sz="1800">
                <a:solidFill>
                  <a:schemeClr val="dk1"/>
                </a:solidFill>
                <a:latin typeface="Calibri"/>
                <a:ea typeface="Calibri"/>
                <a:cs typeface="Calibri"/>
                <a:sym typeface="Calibri"/>
              </a:rPr>
              <a:t>Here, GUI (i.e. the bulb) is connected with the program logic to turn on/off considering event/situation.</a:t>
            </a:r>
            <a:endParaRPr/>
          </a:p>
        </p:txBody>
      </p:sp>
      <p:sp>
        <p:nvSpPr>
          <p:cNvPr id="2" name="Footer Placeholder 1">
            <a:extLst>
              <a:ext uri="{FF2B5EF4-FFF2-40B4-BE49-F238E27FC236}">
                <a16:creationId xmlns:a16="http://schemas.microsoft.com/office/drawing/2014/main" id="{1FEC0616-BD45-4C54-B403-5B3597B348EB}"/>
              </a:ext>
            </a:extLst>
          </p:cNvPr>
          <p:cNvSpPr>
            <a:spLocks noGrp="1"/>
          </p:cNvSpPr>
          <p:nvPr>
            <p:ph type="ftr" idx="11"/>
          </p:nvPr>
        </p:nvSpPr>
        <p:spPr/>
        <p:txBody>
          <a:bodyPr/>
          <a:lstStyle/>
          <a:p>
            <a:r>
              <a:rPr lang="en-IN"/>
              <a:t>Web Developer-Python</a:t>
            </a:r>
          </a:p>
        </p:txBody>
      </p:sp>
      <p:sp>
        <p:nvSpPr>
          <p:cNvPr id="3" name="Slide Number Placeholder 2">
            <a:extLst>
              <a:ext uri="{FF2B5EF4-FFF2-40B4-BE49-F238E27FC236}">
                <a16:creationId xmlns:a16="http://schemas.microsoft.com/office/drawing/2014/main" id="{74C860C0-1975-373B-2905-A6A0121B8C15}"/>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37</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99"/>
                                        </p:tgtEl>
                                        <p:attrNameLst>
                                          <p:attrName>style.visibility</p:attrName>
                                        </p:attrNameLst>
                                      </p:cBhvr>
                                      <p:to>
                                        <p:strVal val="visible"/>
                                      </p:to>
                                    </p:set>
                                    <p:animEffect transition="in" filter="fade">
                                      <p:cBhvr>
                                        <p:cTn id="7" dur="5000"/>
                                        <p:tgtEl>
                                          <p:spTgt spid="39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404"/>
        <p:cNvGrpSpPr/>
        <p:nvPr/>
      </p:nvGrpSpPr>
      <p:grpSpPr>
        <a:xfrm>
          <a:off x="0" y="0"/>
          <a:ext cx="0" cy="0"/>
          <a:chOff x="0" y="0"/>
          <a:chExt cx="0" cy="0"/>
        </a:xfrm>
      </p:grpSpPr>
      <p:sp>
        <p:nvSpPr>
          <p:cNvPr id="405" name="Google Shape;405;p38"/>
          <p:cNvSpPr txBox="1"/>
          <p:nvPr/>
        </p:nvSpPr>
        <p:spPr>
          <a:xfrm>
            <a:off x="304799" y="176513"/>
            <a:ext cx="10552253"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b="0">
                <a:solidFill>
                  <a:srgbClr val="3F3F3F"/>
                </a:solidFill>
                <a:latin typeface="Quattrocento Sans"/>
                <a:ea typeface="Quattrocento Sans"/>
                <a:cs typeface="Quattrocento Sans"/>
                <a:sym typeface="Quattrocento Sans"/>
              </a:rPr>
              <a:t>Integration using GUI-designing user interface</a:t>
            </a:r>
            <a:endParaRPr sz="2800" b="0">
              <a:solidFill>
                <a:srgbClr val="3F3F3F"/>
              </a:solidFill>
              <a:latin typeface="Quattrocento Sans"/>
              <a:ea typeface="Quattrocento Sans"/>
              <a:cs typeface="Quattrocento Sans"/>
              <a:sym typeface="Quattrocento Sans"/>
            </a:endParaRPr>
          </a:p>
        </p:txBody>
      </p:sp>
      <p:sp>
        <p:nvSpPr>
          <p:cNvPr id="406" name="Google Shape;406;p38"/>
          <p:cNvSpPr txBox="1"/>
          <p:nvPr/>
        </p:nvSpPr>
        <p:spPr>
          <a:xfrm>
            <a:off x="715257" y="1177144"/>
            <a:ext cx="7351782" cy="589072"/>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n-US" sz="2400">
                <a:solidFill>
                  <a:srgbClr val="262626"/>
                </a:solidFill>
                <a:latin typeface="Calibri"/>
                <a:ea typeface="Calibri"/>
                <a:cs typeface="Calibri"/>
                <a:sym typeface="Calibri"/>
              </a:rPr>
              <a:t>Example – GUI of “Click Me”</a:t>
            </a:r>
            <a:endParaRPr/>
          </a:p>
        </p:txBody>
      </p:sp>
      <p:pic>
        <p:nvPicPr>
          <p:cNvPr id="407" name="Google Shape;407;p38" descr="Closed book with solid fill"/>
          <p:cNvPicPr preferRelativeResize="0"/>
          <p:nvPr/>
        </p:nvPicPr>
        <p:blipFill rotWithShape="1">
          <a:blip r:embed="rId3">
            <a:alphaModFix/>
          </a:blip>
          <a:srcRect/>
          <a:stretch/>
        </p:blipFill>
        <p:spPr>
          <a:xfrm>
            <a:off x="304799" y="1334442"/>
            <a:ext cx="518160" cy="408432"/>
          </a:xfrm>
          <a:prstGeom prst="rect">
            <a:avLst/>
          </a:prstGeom>
          <a:noFill/>
          <a:ln>
            <a:noFill/>
          </a:ln>
        </p:spPr>
      </p:pic>
      <p:sp>
        <p:nvSpPr>
          <p:cNvPr id="408" name="Google Shape;408;p38"/>
          <p:cNvSpPr txBox="1"/>
          <p:nvPr/>
        </p:nvSpPr>
        <p:spPr>
          <a:xfrm>
            <a:off x="715257" y="5171692"/>
            <a:ext cx="10812285" cy="1295868"/>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n-US" sz="1800">
                <a:solidFill>
                  <a:schemeClr val="dk1"/>
                </a:solidFill>
                <a:latin typeface="Calibri"/>
                <a:ea typeface="Calibri"/>
                <a:cs typeface="Calibri"/>
                <a:sym typeface="Calibri"/>
              </a:rPr>
              <a:t>In this example, tkinter is used to create a simple window (root). A label (label) and a button (button) are added to root. Clicking the button triggers the button_click function, which updates the label's text from “Hello, GUI!” to “Button clicked”.</a:t>
            </a:r>
            <a:endParaRPr sz="1800">
              <a:solidFill>
                <a:schemeClr val="dk1"/>
              </a:solidFill>
              <a:latin typeface="Calibri"/>
              <a:ea typeface="Calibri"/>
              <a:cs typeface="Calibri"/>
              <a:sym typeface="Calibri"/>
            </a:endParaRPr>
          </a:p>
        </p:txBody>
      </p:sp>
      <p:pic>
        <p:nvPicPr>
          <p:cNvPr id="409" name="Google Shape;409;p38" descr="A screenshot of a computer&#10;&#10;Description automatically generated"/>
          <p:cNvPicPr preferRelativeResize="0"/>
          <p:nvPr/>
        </p:nvPicPr>
        <p:blipFill rotWithShape="1">
          <a:blip r:embed="rId4">
            <a:alphaModFix/>
          </a:blip>
          <a:srcRect/>
          <a:stretch/>
        </p:blipFill>
        <p:spPr>
          <a:xfrm>
            <a:off x="6586824" y="2087636"/>
            <a:ext cx="4782217" cy="2762636"/>
          </a:xfrm>
          <a:prstGeom prst="rect">
            <a:avLst/>
          </a:prstGeom>
          <a:noFill/>
          <a:ln>
            <a:noFill/>
          </a:ln>
        </p:spPr>
      </p:pic>
      <p:pic>
        <p:nvPicPr>
          <p:cNvPr id="410" name="Google Shape;410;p38" descr="A screenshot of a computer&#10;&#10;Description automatically generated"/>
          <p:cNvPicPr preferRelativeResize="0"/>
          <p:nvPr/>
        </p:nvPicPr>
        <p:blipFill rotWithShape="1">
          <a:blip r:embed="rId5">
            <a:alphaModFix/>
          </a:blip>
          <a:srcRect/>
          <a:stretch/>
        </p:blipFill>
        <p:spPr>
          <a:xfrm>
            <a:off x="955040" y="2087636"/>
            <a:ext cx="4782217" cy="2762636"/>
          </a:xfrm>
          <a:prstGeom prst="rect">
            <a:avLst/>
          </a:prstGeom>
          <a:noFill/>
          <a:ln>
            <a:noFill/>
          </a:ln>
        </p:spPr>
      </p:pic>
      <p:sp>
        <p:nvSpPr>
          <p:cNvPr id="2" name="Footer Placeholder 1">
            <a:extLst>
              <a:ext uri="{FF2B5EF4-FFF2-40B4-BE49-F238E27FC236}">
                <a16:creationId xmlns:a16="http://schemas.microsoft.com/office/drawing/2014/main" id="{FC1670E3-D49D-9EAA-9CEF-3C8D79317BD3}"/>
              </a:ext>
            </a:extLst>
          </p:cNvPr>
          <p:cNvSpPr>
            <a:spLocks noGrp="1"/>
          </p:cNvSpPr>
          <p:nvPr>
            <p:ph type="ftr" idx="11"/>
          </p:nvPr>
        </p:nvSpPr>
        <p:spPr/>
        <p:txBody>
          <a:bodyPr/>
          <a:lstStyle/>
          <a:p>
            <a:r>
              <a:rPr lang="en-IN"/>
              <a:t>Web Developer-Python</a:t>
            </a:r>
          </a:p>
        </p:txBody>
      </p:sp>
      <p:sp>
        <p:nvSpPr>
          <p:cNvPr id="3" name="Slide Number Placeholder 2">
            <a:extLst>
              <a:ext uri="{FF2B5EF4-FFF2-40B4-BE49-F238E27FC236}">
                <a16:creationId xmlns:a16="http://schemas.microsoft.com/office/drawing/2014/main" id="{24B5E218-A056-35AF-DC30-6120BF6BF47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414"/>
        <p:cNvGrpSpPr/>
        <p:nvPr/>
      </p:nvGrpSpPr>
      <p:grpSpPr>
        <a:xfrm>
          <a:off x="0" y="0"/>
          <a:ext cx="0" cy="0"/>
          <a:chOff x="0" y="0"/>
          <a:chExt cx="0" cy="0"/>
        </a:xfrm>
      </p:grpSpPr>
      <p:sp>
        <p:nvSpPr>
          <p:cNvPr id="415" name="Google Shape;415;p39"/>
          <p:cNvSpPr txBox="1"/>
          <p:nvPr/>
        </p:nvSpPr>
        <p:spPr>
          <a:xfrm>
            <a:off x="304799" y="176513"/>
            <a:ext cx="10552253"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b="0">
                <a:solidFill>
                  <a:srgbClr val="3F3F3F"/>
                </a:solidFill>
                <a:latin typeface="Quattrocento Sans"/>
                <a:ea typeface="Quattrocento Sans"/>
                <a:cs typeface="Quattrocento Sans"/>
                <a:sym typeface="Quattrocento Sans"/>
              </a:rPr>
              <a:t>Integration using GUI-designing user interface</a:t>
            </a:r>
            <a:endParaRPr sz="2800" b="0">
              <a:solidFill>
                <a:srgbClr val="3F3F3F"/>
              </a:solidFill>
              <a:latin typeface="Quattrocento Sans"/>
              <a:ea typeface="Quattrocento Sans"/>
              <a:cs typeface="Quattrocento Sans"/>
              <a:sym typeface="Quattrocento Sans"/>
            </a:endParaRPr>
          </a:p>
        </p:txBody>
      </p:sp>
      <p:sp>
        <p:nvSpPr>
          <p:cNvPr id="416" name="Google Shape;416;p39"/>
          <p:cNvSpPr txBox="1"/>
          <p:nvPr/>
        </p:nvSpPr>
        <p:spPr>
          <a:xfrm>
            <a:off x="715257" y="1177144"/>
            <a:ext cx="7351782" cy="589072"/>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n-US" sz="2400">
                <a:solidFill>
                  <a:srgbClr val="262626"/>
                </a:solidFill>
                <a:latin typeface="Calibri"/>
                <a:ea typeface="Calibri"/>
                <a:cs typeface="Calibri"/>
                <a:sym typeface="Calibri"/>
              </a:rPr>
              <a:t>Example – Code of “Click Me”</a:t>
            </a:r>
            <a:endParaRPr/>
          </a:p>
        </p:txBody>
      </p:sp>
      <p:pic>
        <p:nvPicPr>
          <p:cNvPr id="417" name="Google Shape;417;p39" descr="Closed book with solid fill"/>
          <p:cNvPicPr preferRelativeResize="0"/>
          <p:nvPr/>
        </p:nvPicPr>
        <p:blipFill rotWithShape="1">
          <a:blip r:embed="rId3">
            <a:alphaModFix/>
          </a:blip>
          <a:srcRect/>
          <a:stretch/>
        </p:blipFill>
        <p:spPr>
          <a:xfrm>
            <a:off x="304799" y="1334442"/>
            <a:ext cx="518160" cy="408432"/>
          </a:xfrm>
          <a:prstGeom prst="rect">
            <a:avLst/>
          </a:prstGeom>
          <a:noFill/>
          <a:ln>
            <a:noFill/>
          </a:ln>
        </p:spPr>
      </p:pic>
      <p:sp>
        <p:nvSpPr>
          <p:cNvPr id="418" name="Google Shape;418;p39"/>
          <p:cNvSpPr txBox="1"/>
          <p:nvPr/>
        </p:nvSpPr>
        <p:spPr>
          <a:xfrm>
            <a:off x="715257" y="1748251"/>
            <a:ext cx="10812285" cy="464871"/>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n-US" sz="1800">
                <a:solidFill>
                  <a:schemeClr val="dk1"/>
                </a:solidFill>
                <a:latin typeface="Calibri"/>
                <a:ea typeface="Calibri"/>
                <a:cs typeface="Calibri"/>
                <a:sym typeface="Calibri"/>
              </a:rPr>
              <a:t>Here is code for that GUI integration with program logic to change the label text on button click.</a:t>
            </a:r>
            <a:endParaRPr sz="1800">
              <a:solidFill>
                <a:schemeClr val="dk1"/>
              </a:solidFill>
              <a:latin typeface="Calibri"/>
              <a:ea typeface="Calibri"/>
              <a:cs typeface="Calibri"/>
              <a:sym typeface="Calibri"/>
            </a:endParaRPr>
          </a:p>
        </p:txBody>
      </p:sp>
      <p:pic>
        <p:nvPicPr>
          <p:cNvPr id="419" name="Google Shape;419;p39" descr="A computer screen shot of a program&#10;&#10;Description automatically generated"/>
          <p:cNvPicPr preferRelativeResize="0"/>
          <p:nvPr/>
        </p:nvPicPr>
        <p:blipFill rotWithShape="1">
          <a:blip r:embed="rId4">
            <a:alphaModFix/>
          </a:blip>
          <a:srcRect t="10203" b="24589"/>
          <a:stretch/>
        </p:blipFill>
        <p:spPr>
          <a:xfrm>
            <a:off x="946488" y="2337323"/>
            <a:ext cx="7291664" cy="4148707"/>
          </a:xfrm>
          <a:prstGeom prst="rect">
            <a:avLst/>
          </a:prstGeom>
          <a:noFill/>
          <a:ln>
            <a:noFill/>
          </a:ln>
        </p:spPr>
      </p:pic>
      <p:sp>
        <p:nvSpPr>
          <p:cNvPr id="2" name="Footer Placeholder 1">
            <a:extLst>
              <a:ext uri="{FF2B5EF4-FFF2-40B4-BE49-F238E27FC236}">
                <a16:creationId xmlns:a16="http://schemas.microsoft.com/office/drawing/2014/main" id="{E3EF4AC2-5AA4-457A-370C-F8277E02B1C9}"/>
              </a:ext>
            </a:extLst>
          </p:cNvPr>
          <p:cNvSpPr>
            <a:spLocks noGrp="1"/>
          </p:cNvSpPr>
          <p:nvPr>
            <p:ph type="ftr" idx="11"/>
          </p:nvPr>
        </p:nvSpPr>
        <p:spPr/>
        <p:txBody>
          <a:bodyPr/>
          <a:lstStyle/>
          <a:p>
            <a:r>
              <a:rPr lang="en-IN"/>
              <a:t>Web Developer-Python</a:t>
            </a:r>
          </a:p>
        </p:txBody>
      </p:sp>
      <p:sp>
        <p:nvSpPr>
          <p:cNvPr id="3" name="Slide Number Placeholder 2">
            <a:extLst>
              <a:ext uri="{FF2B5EF4-FFF2-40B4-BE49-F238E27FC236}">
                <a16:creationId xmlns:a16="http://schemas.microsoft.com/office/drawing/2014/main" id="{335C0758-6869-6626-E1C5-1FA7FDC46653}"/>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423"/>
        <p:cNvGrpSpPr/>
        <p:nvPr/>
      </p:nvGrpSpPr>
      <p:grpSpPr>
        <a:xfrm>
          <a:off x="0" y="0"/>
          <a:ext cx="0" cy="0"/>
          <a:chOff x="0" y="0"/>
          <a:chExt cx="0" cy="0"/>
        </a:xfrm>
      </p:grpSpPr>
      <p:sp>
        <p:nvSpPr>
          <p:cNvPr id="424" name="Google Shape;424;p40"/>
          <p:cNvSpPr txBox="1"/>
          <p:nvPr/>
        </p:nvSpPr>
        <p:spPr>
          <a:xfrm>
            <a:off x="304799" y="176513"/>
            <a:ext cx="10552253"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b="0">
                <a:solidFill>
                  <a:srgbClr val="3F3F3F"/>
                </a:solidFill>
                <a:latin typeface="Quattrocento Sans"/>
                <a:ea typeface="Quattrocento Sans"/>
                <a:cs typeface="Quattrocento Sans"/>
                <a:sym typeface="Quattrocento Sans"/>
              </a:rPr>
              <a:t>Integration using GUI-designing user interface</a:t>
            </a:r>
            <a:endParaRPr sz="2800" b="0">
              <a:solidFill>
                <a:srgbClr val="3F3F3F"/>
              </a:solidFill>
              <a:latin typeface="Quattrocento Sans"/>
              <a:ea typeface="Quattrocento Sans"/>
              <a:cs typeface="Quattrocento Sans"/>
              <a:sym typeface="Quattrocento Sans"/>
            </a:endParaRPr>
          </a:p>
        </p:txBody>
      </p:sp>
      <p:sp>
        <p:nvSpPr>
          <p:cNvPr id="425" name="Google Shape;425;p40"/>
          <p:cNvSpPr txBox="1"/>
          <p:nvPr/>
        </p:nvSpPr>
        <p:spPr>
          <a:xfrm>
            <a:off x="715257" y="1177144"/>
            <a:ext cx="7351782" cy="589072"/>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n-US" sz="2400">
                <a:solidFill>
                  <a:srgbClr val="262626"/>
                </a:solidFill>
                <a:latin typeface="Calibri"/>
                <a:ea typeface="Calibri"/>
                <a:cs typeface="Calibri"/>
                <a:sym typeface="Calibri"/>
              </a:rPr>
              <a:t>Example – GUI of temperature converter</a:t>
            </a:r>
            <a:endParaRPr/>
          </a:p>
        </p:txBody>
      </p:sp>
      <p:pic>
        <p:nvPicPr>
          <p:cNvPr id="426" name="Google Shape;426;p40" descr="Closed book with solid fill"/>
          <p:cNvPicPr preferRelativeResize="0"/>
          <p:nvPr/>
        </p:nvPicPr>
        <p:blipFill rotWithShape="1">
          <a:blip r:embed="rId3">
            <a:alphaModFix/>
          </a:blip>
          <a:srcRect/>
          <a:stretch/>
        </p:blipFill>
        <p:spPr>
          <a:xfrm>
            <a:off x="304799" y="1334442"/>
            <a:ext cx="518160" cy="408432"/>
          </a:xfrm>
          <a:prstGeom prst="rect">
            <a:avLst/>
          </a:prstGeom>
          <a:noFill/>
          <a:ln>
            <a:noFill/>
          </a:ln>
        </p:spPr>
      </p:pic>
      <p:sp>
        <p:nvSpPr>
          <p:cNvPr id="427" name="Google Shape;427;p40"/>
          <p:cNvSpPr txBox="1"/>
          <p:nvPr/>
        </p:nvSpPr>
        <p:spPr>
          <a:xfrm>
            <a:off x="715257" y="1748251"/>
            <a:ext cx="10812285" cy="1295868"/>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n-US" sz="1800">
                <a:solidFill>
                  <a:schemeClr val="dk1"/>
                </a:solidFill>
                <a:latin typeface="Calibri"/>
                <a:ea typeface="Calibri"/>
                <a:cs typeface="Calibri"/>
                <a:sym typeface="Calibri"/>
              </a:rPr>
              <a:t>This example creates a simple Fahrenheit to Celsius temperature converter. It uses an entry widget (entry) for user input, a button (convert_button) to trigger the conversion function (convert), and a label (result_label) to display the conversion result.</a:t>
            </a:r>
            <a:endParaRPr sz="1800">
              <a:solidFill>
                <a:schemeClr val="dk1"/>
              </a:solidFill>
              <a:latin typeface="Calibri"/>
              <a:ea typeface="Calibri"/>
              <a:cs typeface="Calibri"/>
              <a:sym typeface="Calibri"/>
            </a:endParaRPr>
          </a:p>
        </p:txBody>
      </p:sp>
      <p:pic>
        <p:nvPicPr>
          <p:cNvPr id="428" name="Google Shape;428;p40" descr="A screenshot of a computer&#10;&#10;Description automatically generated"/>
          <p:cNvPicPr preferRelativeResize="0"/>
          <p:nvPr/>
        </p:nvPicPr>
        <p:blipFill rotWithShape="1">
          <a:blip r:embed="rId4">
            <a:alphaModFix/>
          </a:blip>
          <a:srcRect/>
          <a:stretch/>
        </p:blipFill>
        <p:spPr>
          <a:xfrm>
            <a:off x="3769359" y="3615226"/>
            <a:ext cx="5077969" cy="2672616"/>
          </a:xfrm>
          <a:prstGeom prst="rect">
            <a:avLst/>
          </a:prstGeom>
          <a:noFill/>
          <a:ln>
            <a:noFill/>
          </a:ln>
        </p:spPr>
      </p:pic>
      <p:sp>
        <p:nvSpPr>
          <p:cNvPr id="2" name="Footer Placeholder 1">
            <a:extLst>
              <a:ext uri="{FF2B5EF4-FFF2-40B4-BE49-F238E27FC236}">
                <a16:creationId xmlns:a16="http://schemas.microsoft.com/office/drawing/2014/main" id="{675B0A82-06A2-BA0F-70E4-5B2BA9E06BD2}"/>
              </a:ext>
            </a:extLst>
          </p:cNvPr>
          <p:cNvSpPr>
            <a:spLocks noGrp="1"/>
          </p:cNvSpPr>
          <p:nvPr>
            <p:ph type="ftr" idx="11"/>
          </p:nvPr>
        </p:nvSpPr>
        <p:spPr/>
        <p:txBody>
          <a:bodyPr/>
          <a:lstStyle/>
          <a:p>
            <a:r>
              <a:rPr lang="en-IN"/>
              <a:t>Web Developer-Python</a:t>
            </a:r>
          </a:p>
        </p:txBody>
      </p:sp>
      <p:sp>
        <p:nvSpPr>
          <p:cNvPr id="3" name="Slide Number Placeholder 2">
            <a:extLst>
              <a:ext uri="{FF2B5EF4-FFF2-40B4-BE49-F238E27FC236}">
                <a16:creationId xmlns:a16="http://schemas.microsoft.com/office/drawing/2014/main" id="{DDD0889C-B01C-14A2-D2EE-DA981D584DDE}"/>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432"/>
        <p:cNvGrpSpPr/>
        <p:nvPr/>
      </p:nvGrpSpPr>
      <p:grpSpPr>
        <a:xfrm>
          <a:off x="0" y="0"/>
          <a:ext cx="0" cy="0"/>
          <a:chOff x="0" y="0"/>
          <a:chExt cx="0" cy="0"/>
        </a:xfrm>
      </p:grpSpPr>
      <p:sp>
        <p:nvSpPr>
          <p:cNvPr id="433" name="Google Shape;433;p41"/>
          <p:cNvSpPr txBox="1"/>
          <p:nvPr/>
        </p:nvSpPr>
        <p:spPr>
          <a:xfrm>
            <a:off x="304799" y="176513"/>
            <a:ext cx="10552253"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b="0">
                <a:solidFill>
                  <a:srgbClr val="3F3F3F"/>
                </a:solidFill>
                <a:latin typeface="Quattrocento Sans"/>
                <a:ea typeface="Quattrocento Sans"/>
                <a:cs typeface="Quattrocento Sans"/>
                <a:sym typeface="Quattrocento Sans"/>
              </a:rPr>
              <a:t>Integration using GUI-designing user interface</a:t>
            </a:r>
            <a:endParaRPr sz="2800" b="0">
              <a:solidFill>
                <a:srgbClr val="3F3F3F"/>
              </a:solidFill>
              <a:latin typeface="Quattrocento Sans"/>
              <a:ea typeface="Quattrocento Sans"/>
              <a:cs typeface="Quattrocento Sans"/>
              <a:sym typeface="Quattrocento Sans"/>
            </a:endParaRPr>
          </a:p>
        </p:txBody>
      </p:sp>
      <p:sp>
        <p:nvSpPr>
          <p:cNvPr id="434" name="Google Shape;434;p41"/>
          <p:cNvSpPr txBox="1"/>
          <p:nvPr/>
        </p:nvSpPr>
        <p:spPr>
          <a:xfrm>
            <a:off x="1379715" y="1515814"/>
            <a:ext cx="10812285" cy="1295868"/>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n-US" sz="1800">
                <a:solidFill>
                  <a:schemeClr val="dk1"/>
                </a:solidFill>
                <a:latin typeface="Calibri"/>
                <a:ea typeface="Calibri"/>
                <a:cs typeface="Calibri"/>
                <a:sym typeface="Calibri"/>
              </a:rPr>
              <a:t>Question : How do we handle run time error in Python?</a:t>
            </a:r>
            <a:endParaRPr/>
          </a:p>
          <a:p>
            <a:pPr marL="0" marR="0" lvl="0" indent="0" algn="just" rtl="0">
              <a:lnSpc>
                <a:spcPct val="150000"/>
              </a:lnSpc>
              <a:spcBef>
                <a:spcPts val="0"/>
              </a:spcBef>
              <a:spcAft>
                <a:spcPts val="0"/>
              </a:spcAft>
              <a:buNone/>
            </a:pPr>
            <a:r>
              <a:rPr lang="en-US" sz="1800">
                <a:solidFill>
                  <a:schemeClr val="dk1"/>
                </a:solidFill>
                <a:latin typeface="Calibri"/>
                <a:ea typeface="Calibri"/>
                <a:cs typeface="Calibri"/>
                <a:sym typeface="Calibri"/>
              </a:rPr>
              <a:t>Answer : Using try-except-else-finally block.</a:t>
            </a:r>
            <a:endParaRPr/>
          </a:p>
          <a:p>
            <a:pPr marL="0" marR="0" lvl="0" indent="0" algn="just" rtl="0">
              <a:lnSpc>
                <a:spcPct val="150000"/>
              </a:lnSpc>
              <a:spcBef>
                <a:spcPts val="0"/>
              </a:spcBef>
              <a:spcAft>
                <a:spcPts val="0"/>
              </a:spcAft>
              <a:buNone/>
            </a:pPr>
            <a:endParaRPr sz="1800">
              <a:solidFill>
                <a:schemeClr val="dk1"/>
              </a:solidFill>
              <a:latin typeface="Calibri"/>
              <a:ea typeface="Calibri"/>
              <a:cs typeface="Calibri"/>
              <a:sym typeface="Calibri"/>
            </a:endParaRPr>
          </a:p>
        </p:txBody>
      </p:sp>
      <p:pic>
        <p:nvPicPr>
          <p:cNvPr id="435" name="Google Shape;435;p41"/>
          <p:cNvPicPr preferRelativeResize="0"/>
          <p:nvPr/>
        </p:nvPicPr>
        <p:blipFill rotWithShape="1">
          <a:blip r:embed="rId3">
            <a:alphaModFix/>
          </a:blip>
          <a:srcRect/>
          <a:stretch/>
        </p:blipFill>
        <p:spPr>
          <a:xfrm>
            <a:off x="336750" y="1393280"/>
            <a:ext cx="757014" cy="709941"/>
          </a:xfrm>
          <a:prstGeom prst="rect">
            <a:avLst/>
          </a:prstGeom>
          <a:noFill/>
          <a:ln>
            <a:noFill/>
          </a:ln>
        </p:spPr>
      </p:pic>
      <p:sp>
        <p:nvSpPr>
          <p:cNvPr id="2" name="Footer Placeholder 1">
            <a:extLst>
              <a:ext uri="{FF2B5EF4-FFF2-40B4-BE49-F238E27FC236}">
                <a16:creationId xmlns:a16="http://schemas.microsoft.com/office/drawing/2014/main" id="{4E7FD9C8-4534-D0A5-7551-33ACDD247E06}"/>
              </a:ext>
            </a:extLst>
          </p:cNvPr>
          <p:cNvSpPr>
            <a:spLocks noGrp="1"/>
          </p:cNvSpPr>
          <p:nvPr>
            <p:ph type="ftr" idx="11"/>
          </p:nvPr>
        </p:nvSpPr>
        <p:spPr/>
        <p:txBody>
          <a:bodyPr/>
          <a:lstStyle/>
          <a:p>
            <a:r>
              <a:rPr lang="en-IN"/>
              <a:t>Web Developer-Python</a:t>
            </a:r>
          </a:p>
        </p:txBody>
      </p:sp>
      <p:sp>
        <p:nvSpPr>
          <p:cNvPr id="3" name="Slide Number Placeholder 2">
            <a:extLst>
              <a:ext uri="{FF2B5EF4-FFF2-40B4-BE49-F238E27FC236}">
                <a16:creationId xmlns:a16="http://schemas.microsoft.com/office/drawing/2014/main" id="{D5DD5B4B-6626-6816-51D2-E478D0D64B73}"/>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439"/>
        <p:cNvGrpSpPr/>
        <p:nvPr/>
      </p:nvGrpSpPr>
      <p:grpSpPr>
        <a:xfrm>
          <a:off x="0" y="0"/>
          <a:ext cx="0" cy="0"/>
          <a:chOff x="0" y="0"/>
          <a:chExt cx="0" cy="0"/>
        </a:xfrm>
      </p:grpSpPr>
      <p:sp>
        <p:nvSpPr>
          <p:cNvPr id="440" name="Google Shape;440;p42"/>
          <p:cNvSpPr txBox="1"/>
          <p:nvPr/>
        </p:nvSpPr>
        <p:spPr>
          <a:xfrm>
            <a:off x="304799" y="176513"/>
            <a:ext cx="10552253"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b="0">
                <a:solidFill>
                  <a:srgbClr val="3F3F3F"/>
                </a:solidFill>
                <a:latin typeface="Quattrocento Sans"/>
                <a:ea typeface="Quattrocento Sans"/>
                <a:cs typeface="Quattrocento Sans"/>
                <a:sym typeface="Quattrocento Sans"/>
              </a:rPr>
              <a:t>Integration using GUI-designing user interface</a:t>
            </a:r>
            <a:endParaRPr sz="2800" b="0">
              <a:solidFill>
                <a:srgbClr val="3F3F3F"/>
              </a:solidFill>
              <a:latin typeface="Quattrocento Sans"/>
              <a:ea typeface="Quattrocento Sans"/>
              <a:cs typeface="Quattrocento Sans"/>
              <a:sym typeface="Quattrocento Sans"/>
            </a:endParaRPr>
          </a:p>
        </p:txBody>
      </p:sp>
      <p:sp>
        <p:nvSpPr>
          <p:cNvPr id="441" name="Google Shape;441;p42"/>
          <p:cNvSpPr txBox="1"/>
          <p:nvPr/>
        </p:nvSpPr>
        <p:spPr>
          <a:xfrm>
            <a:off x="715257" y="1177144"/>
            <a:ext cx="7351782" cy="589072"/>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n-US" sz="2400">
                <a:solidFill>
                  <a:srgbClr val="262626"/>
                </a:solidFill>
                <a:latin typeface="Calibri"/>
                <a:ea typeface="Calibri"/>
                <a:cs typeface="Calibri"/>
                <a:sym typeface="Calibri"/>
              </a:rPr>
              <a:t>Example – Code of temperature converter</a:t>
            </a:r>
            <a:endParaRPr/>
          </a:p>
        </p:txBody>
      </p:sp>
      <p:pic>
        <p:nvPicPr>
          <p:cNvPr id="442" name="Google Shape;442;p42" descr="Closed book with solid fill"/>
          <p:cNvPicPr preferRelativeResize="0"/>
          <p:nvPr/>
        </p:nvPicPr>
        <p:blipFill rotWithShape="1">
          <a:blip r:embed="rId3">
            <a:alphaModFix/>
          </a:blip>
          <a:srcRect/>
          <a:stretch/>
        </p:blipFill>
        <p:spPr>
          <a:xfrm>
            <a:off x="304799" y="1334442"/>
            <a:ext cx="518160" cy="408432"/>
          </a:xfrm>
          <a:prstGeom prst="rect">
            <a:avLst/>
          </a:prstGeom>
          <a:noFill/>
          <a:ln>
            <a:noFill/>
          </a:ln>
        </p:spPr>
      </p:pic>
      <p:pic>
        <p:nvPicPr>
          <p:cNvPr id="443" name="Google Shape;443;p42" descr="A screenshot of a computer&#10;&#10;Description automatically generated"/>
          <p:cNvPicPr preferRelativeResize="0"/>
          <p:nvPr/>
        </p:nvPicPr>
        <p:blipFill rotWithShape="1">
          <a:blip r:embed="rId4">
            <a:alphaModFix/>
          </a:blip>
          <a:srcRect t="37913" r="22143"/>
          <a:stretch/>
        </p:blipFill>
        <p:spPr>
          <a:xfrm>
            <a:off x="6372861" y="2644872"/>
            <a:ext cx="5399918" cy="3757343"/>
          </a:xfrm>
          <a:prstGeom prst="rect">
            <a:avLst/>
          </a:prstGeom>
          <a:noFill/>
          <a:ln w="9525" cap="flat" cmpd="sng">
            <a:solidFill>
              <a:schemeClr val="dk1"/>
            </a:solidFill>
            <a:prstDash val="solid"/>
            <a:round/>
            <a:headEnd type="none" w="sm" len="sm"/>
            <a:tailEnd type="none" w="sm" len="sm"/>
          </a:ln>
        </p:spPr>
      </p:pic>
      <p:grpSp>
        <p:nvGrpSpPr>
          <p:cNvPr id="444" name="Google Shape;444;p42"/>
          <p:cNvGrpSpPr/>
          <p:nvPr/>
        </p:nvGrpSpPr>
        <p:grpSpPr>
          <a:xfrm>
            <a:off x="715257" y="4677386"/>
            <a:ext cx="5380743" cy="2004101"/>
            <a:chOff x="715257" y="4677386"/>
            <a:chExt cx="5380743" cy="2004101"/>
          </a:xfrm>
        </p:grpSpPr>
        <p:pic>
          <p:nvPicPr>
            <p:cNvPr id="445" name="Google Shape;445;p42" descr="A screenshot of a computer&#10;&#10;Description automatically generated"/>
            <p:cNvPicPr preferRelativeResize="0"/>
            <p:nvPr/>
          </p:nvPicPr>
          <p:blipFill rotWithShape="1">
            <a:blip r:embed="rId4">
              <a:alphaModFix/>
            </a:blip>
            <a:srcRect t="10203" r="22143" b="60609"/>
            <a:stretch/>
          </p:blipFill>
          <p:spPr>
            <a:xfrm>
              <a:off x="822959" y="4677386"/>
              <a:ext cx="5273041" cy="1724829"/>
            </a:xfrm>
            <a:prstGeom prst="rect">
              <a:avLst/>
            </a:prstGeom>
            <a:noFill/>
            <a:ln w="9525" cap="flat" cmpd="sng">
              <a:solidFill>
                <a:schemeClr val="dk1"/>
              </a:solidFill>
              <a:prstDash val="solid"/>
              <a:round/>
              <a:headEnd type="none" w="sm" len="sm"/>
              <a:tailEnd type="none" w="sm" len="sm"/>
            </a:ln>
          </p:spPr>
        </p:pic>
        <p:sp>
          <p:nvSpPr>
            <p:cNvPr id="446" name="Google Shape;446;p42"/>
            <p:cNvSpPr txBox="1"/>
            <p:nvPr/>
          </p:nvSpPr>
          <p:spPr>
            <a:xfrm>
              <a:off x="715257" y="5358048"/>
              <a:ext cx="436880" cy="132343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8000">
                  <a:solidFill>
                    <a:schemeClr val="dk1"/>
                  </a:solidFill>
                  <a:latin typeface="Calibri"/>
                  <a:ea typeface="Calibri"/>
                  <a:cs typeface="Calibri"/>
                  <a:sym typeface="Calibri"/>
                </a:rPr>
                <a:t>1</a:t>
              </a:r>
              <a:endParaRPr sz="8000">
                <a:solidFill>
                  <a:schemeClr val="dk1"/>
                </a:solidFill>
                <a:latin typeface="Arial"/>
                <a:ea typeface="Arial"/>
                <a:cs typeface="Arial"/>
                <a:sym typeface="Arial"/>
              </a:endParaRPr>
            </a:p>
          </p:txBody>
        </p:sp>
      </p:grpSp>
      <p:sp>
        <p:nvSpPr>
          <p:cNvPr id="447" name="Google Shape;447;p42"/>
          <p:cNvSpPr txBox="1"/>
          <p:nvPr/>
        </p:nvSpPr>
        <p:spPr>
          <a:xfrm>
            <a:off x="6356598" y="5358048"/>
            <a:ext cx="436880" cy="132343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8000">
                <a:solidFill>
                  <a:schemeClr val="dk1"/>
                </a:solidFill>
                <a:latin typeface="Calibri"/>
                <a:ea typeface="Calibri"/>
                <a:cs typeface="Calibri"/>
                <a:sym typeface="Calibri"/>
              </a:rPr>
              <a:t>2</a:t>
            </a:r>
            <a:endParaRPr sz="8000">
              <a:solidFill>
                <a:schemeClr val="dk1"/>
              </a:solidFill>
              <a:latin typeface="Arial"/>
              <a:ea typeface="Arial"/>
              <a:cs typeface="Arial"/>
              <a:sym typeface="Arial"/>
            </a:endParaRPr>
          </a:p>
        </p:txBody>
      </p:sp>
      <p:sp>
        <p:nvSpPr>
          <p:cNvPr id="448" name="Google Shape;448;p42"/>
          <p:cNvSpPr txBox="1"/>
          <p:nvPr/>
        </p:nvSpPr>
        <p:spPr>
          <a:xfrm>
            <a:off x="715257" y="1748251"/>
            <a:ext cx="10812285" cy="880369"/>
          </a:xfrm>
          <a:prstGeom prst="rect">
            <a:avLst/>
          </a:prstGeom>
          <a:noFill/>
          <a:ln>
            <a:noFill/>
          </a:ln>
        </p:spPr>
        <p:txBody>
          <a:bodyPr spcFirstLastPara="1" wrap="square" lIns="91425" tIns="45700" rIns="91425" bIns="45700" anchor="t" anchorCtr="0">
            <a:spAutoFit/>
          </a:bodyPr>
          <a:lstStyle/>
          <a:p>
            <a:pPr marL="342900" marR="0" lvl="0" indent="-342900" algn="just" rtl="0">
              <a:lnSpc>
                <a:spcPct val="150000"/>
              </a:lnSpc>
              <a:spcBef>
                <a:spcPts val="0"/>
              </a:spcBef>
              <a:spcAft>
                <a:spcPts val="0"/>
              </a:spcAft>
              <a:buClr>
                <a:schemeClr val="dk1"/>
              </a:buClr>
              <a:buSzPts val="1800"/>
              <a:buFont typeface="Play"/>
              <a:buAutoNum type="arabicPeriod"/>
            </a:pPr>
            <a:r>
              <a:rPr lang="en-US" sz="1800">
                <a:solidFill>
                  <a:schemeClr val="dk1"/>
                </a:solidFill>
                <a:latin typeface="Calibri"/>
                <a:ea typeface="Calibri"/>
                <a:cs typeface="Calibri"/>
                <a:sym typeface="Calibri"/>
              </a:rPr>
              <a:t>Defining the convert() function to convert the temperature.</a:t>
            </a:r>
            <a:endParaRPr/>
          </a:p>
          <a:p>
            <a:pPr marL="342900" marR="0" lvl="0" indent="-342900" algn="just" rtl="0">
              <a:lnSpc>
                <a:spcPct val="150000"/>
              </a:lnSpc>
              <a:spcBef>
                <a:spcPts val="0"/>
              </a:spcBef>
              <a:spcAft>
                <a:spcPts val="0"/>
              </a:spcAft>
              <a:buClr>
                <a:schemeClr val="dk1"/>
              </a:buClr>
              <a:buSzPts val="1800"/>
              <a:buFont typeface="Play"/>
              <a:buAutoNum type="arabicPeriod"/>
            </a:pPr>
            <a:r>
              <a:rPr lang="en-US" sz="1800">
                <a:solidFill>
                  <a:schemeClr val="dk1"/>
                </a:solidFill>
                <a:latin typeface="Calibri"/>
                <a:ea typeface="Calibri"/>
                <a:cs typeface="Calibri"/>
                <a:sym typeface="Calibri"/>
              </a:rPr>
              <a:t>Designing the GUI of converter and connecting with the convert() function.</a:t>
            </a:r>
            <a:endParaRPr sz="1800">
              <a:solidFill>
                <a:schemeClr val="dk1"/>
              </a:solidFill>
              <a:latin typeface="Calibri"/>
              <a:ea typeface="Calibri"/>
              <a:cs typeface="Calibri"/>
              <a:sym typeface="Calibri"/>
            </a:endParaRPr>
          </a:p>
        </p:txBody>
      </p:sp>
      <p:sp>
        <p:nvSpPr>
          <p:cNvPr id="2" name="Footer Placeholder 1">
            <a:extLst>
              <a:ext uri="{FF2B5EF4-FFF2-40B4-BE49-F238E27FC236}">
                <a16:creationId xmlns:a16="http://schemas.microsoft.com/office/drawing/2014/main" id="{DFEA7121-2B07-17F1-6C1E-7910CC7EBC50}"/>
              </a:ext>
            </a:extLst>
          </p:cNvPr>
          <p:cNvSpPr>
            <a:spLocks noGrp="1"/>
          </p:cNvSpPr>
          <p:nvPr>
            <p:ph type="ftr" idx="11"/>
          </p:nvPr>
        </p:nvSpPr>
        <p:spPr/>
        <p:txBody>
          <a:bodyPr/>
          <a:lstStyle/>
          <a:p>
            <a:r>
              <a:rPr lang="en-IN"/>
              <a:t>Web Developer-Python</a:t>
            </a:r>
          </a:p>
        </p:txBody>
      </p:sp>
      <p:sp>
        <p:nvSpPr>
          <p:cNvPr id="3" name="Slide Number Placeholder 2">
            <a:extLst>
              <a:ext uri="{FF2B5EF4-FFF2-40B4-BE49-F238E27FC236}">
                <a16:creationId xmlns:a16="http://schemas.microsoft.com/office/drawing/2014/main" id="{DCE2D889-447F-3056-7A5C-36540F891073}"/>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452"/>
        <p:cNvGrpSpPr/>
        <p:nvPr/>
      </p:nvGrpSpPr>
      <p:grpSpPr>
        <a:xfrm>
          <a:off x="0" y="0"/>
          <a:ext cx="0" cy="0"/>
          <a:chOff x="0" y="0"/>
          <a:chExt cx="0" cy="0"/>
        </a:xfrm>
      </p:grpSpPr>
      <p:sp>
        <p:nvSpPr>
          <p:cNvPr id="453" name="Google Shape;453;p43"/>
          <p:cNvSpPr txBox="1"/>
          <p:nvPr/>
        </p:nvSpPr>
        <p:spPr>
          <a:xfrm>
            <a:off x="304799" y="176513"/>
            <a:ext cx="10552253"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b="0">
                <a:solidFill>
                  <a:srgbClr val="3F3F3F"/>
                </a:solidFill>
                <a:latin typeface="Quattrocento Sans"/>
                <a:ea typeface="Quattrocento Sans"/>
                <a:cs typeface="Quattrocento Sans"/>
                <a:sym typeface="Quattrocento Sans"/>
              </a:rPr>
              <a:t>Integration using GUI-designing user interface</a:t>
            </a:r>
            <a:endParaRPr sz="2800" b="0">
              <a:solidFill>
                <a:srgbClr val="3F3F3F"/>
              </a:solidFill>
              <a:latin typeface="Quattrocento Sans"/>
              <a:ea typeface="Quattrocento Sans"/>
              <a:cs typeface="Quattrocento Sans"/>
              <a:sym typeface="Quattrocento Sans"/>
            </a:endParaRPr>
          </a:p>
        </p:txBody>
      </p:sp>
      <p:sp>
        <p:nvSpPr>
          <p:cNvPr id="454" name="Google Shape;454;p43"/>
          <p:cNvSpPr txBox="1"/>
          <p:nvPr/>
        </p:nvSpPr>
        <p:spPr>
          <a:xfrm>
            <a:off x="715257" y="1177144"/>
            <a:ext cx="7351782" cy="589072"/>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n-US" sz="2400">
                <a:solidFill>
                  <a:srgbClr val="262626"/>
                </a:solidFill>
                <a:latin typeface="Calibri"/>
                <a:ea typeface="Calibri"/>
                <a:cs typeface="Calibri"/>
                <a:sym typeface="Calibri"/>
              </a:rPr>
              <a:t>Explanation –Temperature converter</a:t>
            </a:r>
            <a:endParaRPr/>
          </a:p>
        </p:txBody>
      </p:sp>
      <p:pic>
        <p:nvPicPr>
          <p:cNvPr id="455" name="Google Shape;455;p43" descr="Closed book with solid fill"/>
          <p:cNvPicPr preferRelativeResize="0"/>
          <p:nvPr/>
        </p:nvPicPr>
        <p:blipFill rotWithShape="1">
          <a:blip r:embed="rId3">
            <a:alphaModFix/>
          </a:blip>
          <a:srcRect/>
          <a:stretch/>
        </p:blipFill>
        <p:spPr>
          <a:xfrm>
            <a:off x="304799" y="1334442"/>
            <a:ext cx="518160" cy="408432"/>
          </a:xfrm>
          <a:prstGeom prst="rect">
            <a:avLst/>
          </a:prstGeom>
          <a:noFill/>
          <a:ln>
            <a:noFill/>
          </a:ln>
        </p:spPr>
      </p:pic>
      <p:sp>
        <p:nvSpPr>
          <p:cNvPr id="456" name="Google Shape;456;p43"/>
          <p:cNvSpPr txBox="1"/>
          <p:nvPr/>
        </p:nvSpPr>
        <p:spPr>
          <a:xfrm>
            <a:off x="715257" y="1923514"/>
            <a:ext cx="10812285" cy="2957861"/>
          </a:xfrm>
          <a:prstGeom prst="rect">
            <a:avLst/>
          </a:prstGeom>
          <a:noFill/>
          <a:ln>
            <a:noFill/>
          </a:ln>
        </p:spPr>
        <p:txBody>
          <a:bodyPr spcFirstLastPara="1" wrap="square" lIns="91425" tIns="45700" rIns="91425" bIns="45700" anchor="t" anchorCtr="0">
            <a:spAutoFit/>
          </a:bodyPr>
          <a:lstStyle/>
          <a:p>
            <a:pPr marL="285750" marR="0" lvl="0" indent="-285750" algn="just" rtl="0">
              <a:lnSpc>
                <a:spcPct val="150000"/>
              </a:lnSpc>
              <a:spcBef>
                <a:spcPts val="0"/>
              </a:spcBef>
              <a:spcAft>
                <a:spcPts val="0"/>
              </a:spcAft>
              <a:buClr>
                <a:schemeClr val="dk1"/>
              </a:buClr>
              <a:buSzPts val="1800"/>
              <a:buFont typeface="Noto Sans Symbols"/>
              <a:buChar char="▪"/>
            </a:pPr>
            <a:r>
              <a:rPr lang="en-US" sz="1800">
                <a:solidFill>
                  <a:schemeClr val="dk1"/>
                </a:solidFill>
                <a:latin typeface="Calibri"/>
                <a:ea typeface="Calibri"/>
                <a:cs typeface="Calibri"/>
                <a:sym typeface="Calibri"/>
              </a:rPr>
              <a:t>Functionality:</a:t>
            </a:r>
            <a:endParaRPr/>
          </a:p>
          <a:p>
            <a:pPr marL="0" marR="0" lvl="0" indent="0" algn="just" rtl="0">
              <a:lnSpc>
                <a:spcPct val="150000"/>
              </a:lnSpc>
              <a:spcBef>
                <a:spcPts val="0"/>
              </a:spcBef>
              <a:spcAft>
                <a:spcPts val="0"/>
              </a:spcAft>
              <a:buNone/>
            </a:pPr>
            <a:r>
              <a:rPr lang="en-US" sz="1800">
                <a:solidFill>
                  <a:schemeClr val="dk1"/>
                </a:solidFill>
                <a:latin typeface="Calibri"/>
                <a:ea typeface="Calibri"/>
                <a:cs typeface="Calibri"/>
                <a:sym typeface="Calibri"/>
              </a:rPr>
              <a:t>The convert() function is called when the "Convert" button is clicked. It retrieves the Fahrenheit temperature from the entry widget, performs the conversion to Celsius, and updates the result_label with the converted temperature.</a:t>
            </a:r>
            <a:endParaRPr/>
          </a:p>
          <a:p>
            <a:pPr marL="0" marR="0" lvl="0" indent="0" algn="just" rtl="0">
              <a:lnSpc>
                <a:spcPct val="150000"/>
              </a:lnSpc>
              <a:spcBef>
                <a:spcPts val="0"/>
              </a:spcBef>
              <a:spcAft>
                <a:spcPts val="0"/>
              </a:spcAft>
              <a:buNone/>
            </a:pPr>
            <a:endParaRPr sz="1800">
              <a:solidFill>
                <a:schemeClr val="dk1"/>
              </a:solidFill>
              <a:latin typeface="Calibri"/>
              <a:ea typeface="Calibri"/>
              <a:cs typeface="Calibri"/>
              <a:sym typeface="Calibri"/>
            </a:endParaRPr>
          </a:p>
          <a:p>
            <a:pPr marL="285750" marR="0" lvl="0" indent="-285750" algn="just" rtl="0">
              <a:lnSpc>
                <a:spcPct val="150000"/>
              </a:lnSpc>
              <a:spcBef>
                <a:spcPts val="0"/>
              </a:spcBef>
              <a:spcAft>
                <a:spcPts val="0"/>
              </a:spcAft>
              <a:buClr>
                <a:schemeClr val="dk1"/>
              </a:buClr>
              <a:buSzPts val="1800"/>
              <a:buFont typeface="Noto Sans Symbols"/>
              <a:buChar char="▪"/>
            </a:pPr>
            <a:r>
              <a:rPr lang="en-US" sz="1800">
                <a:solidFill>
                  <a:schemeClr val="dk1"/>
                </a:solidFill>
                <a:latin typeface="Calibri"/>
                <a:ea typeface="Calibri"/>
                <a:cs typeface="Calibri"/>
                <a:sym typeface="Calibri"/>
              </a:rPr>
              <a:t>Grid Layout Control:</a:t>
            </a:r>
            <a:endParaRPr/>
          </a:p>
          <a:p>
            <a:pPr marL="0" marR="0" lvl="0" indent="0" algn="just" rtl="0">
              <a:lnSpc>
                <a:spcPct val="150000"/>
              </a:lnSpc>
              <a:spcBef>
                <a:spcPts val="0"/>
              </a:spcBef>
              <a:spcAft>
                <a:spcPts val="0"/>
              </a:spcAft>
              <a:buNone/>
            </a:pPr>
            <a:r>
              <a:rPr lang="en-US" sz="1800">
                <a:solidFill>
                  <a:schemeClr val="dk1"/>
                </a:solidFill>
                <a:latin typeface="Calibri"/>
                <a:ea typeface="Calibri"/>
                <a:cs typeface="Calibri"/>
                <a:sym typeface="Calibri"/>
              </a:rPr>
              <a:t>“padx” and “pady” parameters add padding around widgets to improve spacing and appearance.	</a:t>
            </a:r>
            <a:endParaRPr sz="1800">
              <a:solidFill>
                <a:schemeClr val="dk1"/>
              </a:solidFill>
              <a:latin typeface="Calibri"/>
              <a:ea typeface="Calibri"/>
              <a:cs typeface="Calibri"/>
              <a:sym typeface="Calibri"/>
            </a:endParaRPr>
          </a:p>
        </p:txBody>
      </p:sp>
      <p:sp>
        <p:nvSpPr>
          <p:cNvPr id="2" name="Footer Placeholder 1">
            <a:extLst>
              <a:ext uri="{FF2B5EF4-FFF2-40B4-BE49-F238E27FC236}">
                <a16:creationId xmlns:a16="http://schemas.microsoft.com/office/drawing/2014/main" id="{1F286D29-0A35-19F3-D0B5-180CBB2EEBB8}"/>
              </a:ext>
            </a:extLst>
          </p:cNvPr>
          <p:cNvSpPr>
            <a:spLocks noGrp="1"/>
          </p:cNvSpPr>
          <p:nvPr>
            <p:ph type="ftr" idx="11"/>
          </p:nvPr>
        </p:nvSpPr>
        <p:spPr/>
        <p:txBody>
          <a:bodyPr/>
          <a:lstStyle/>
          <a:p>
            <a:r>
              <a:rPr lang="en-IN"/>
              <a:t>Web Developer-Python</a:t>
            </a:r>
          </a:p>
        </p:txBody>
      </p:sp>
      <p:sp>
        <p:nvSpPr>
          <p:cNvPr id="3" name="Slide Number Placeholder 2">
            <a:extLst>
              <a:ext uri="{FF2B5EF4-FFF2-40B4-BE49-F238E27FC236}">
                <a16:creationId xmlns:a16="http://schemas.microsoft.com/office/drawing/2014/main" id="{022FB02F-B1A7-7A15-9EBE-B58BD24F05E3}"/>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460"/>
        <p:cNvGrpSpPr/>
        <p:nvPr/>
      </p:nvGrpSpPr>
      <p:grpSpPr>
        <a:xfrm>
          <a:off x="0" y="0"/>
          <a:ext cx="0" cy="0"/>
          <a:chOff x="0" y="0"/>
          <a:chExt cx="0" cy="0"/>
        </a:xfrm>
      </p:grpSpPr>
      <p:sp>
        <p:nvSpPr>
          <p:cNvPr id="461" name="Google Shape;461;p44"/>
          <p:cNvSpPr txBox="1">
            <a:spLocks noGrp="1"/>
          </p:cNvSpPr>
          <p:nvPr>
            <p:ph type="ctrTitle"/>
          </p:nvPr>
        </p:nvSpPr>
        <p:spPr>
          <a:xfrm>
            <a:off x="480000" y="2494400"/>
            <a:ext cx="11406800" cy="1058000"/>
          </a:xfrm>
          <a:prstGeom prst="rect">
            <a:avLst/>
          </a:prstGeom>
          <a:noFill/>
          <a:ln>
            <a:noFill/>
          </a:ln>
        </p:spPr>
        <p:txBody>
          <a:bodyPr spcFirstLastPara="1" wrap="square" lIns="121900" tIns="121900" rIns="121900" bIns="121900" anchor="ctr" anchorCtr="0">
            <a:noAutofit/>
          </a:bodyPr>
          <a:lstStyle/>
          <a:p>
            <a:pPr marL="0" lvl="0" indent="0" algn="l" rtl="0">
              <a:lnSpc>
                <a:spcPct val="100000"/>
              </a:lnSpc>
              <a:spcBef>
                <a:spcPts val="0"/>
              </a:spcBef>
              <a:spcAft>
                <a:spcPts val="0"/>
              </a:spcAft>
              <a:buClr>
                <a:srgbClr val="000000"/>
              </a:buClr>
              <a:buSzPts val="5000"/>
              <a:buFont typeface="Calibri"/>
              <a:buNone/>
            </a:pPr>
            <a:r>
              <a:rPr lang="en-US" sz="4000">
                <a:solidFill>
                  <a:srgbClr val="000000"/>
                </a:solidFill>
                <a:latin typeface="Calibri"/>
                <a:ea typeface="Calibri"/>
                <a:cs typeface="Calibri"/>
                <a:sym typeface="Calibri"/>
              </a:rPr>
              <a:t>7. Events</a:t>
            </a:r>
            <a:endParaRPr sz="4000">
              <a:latin typeface="Calibri"/>
              <a:ea typeface="Calibri"/>
              <a:cs typeface="Calibri"/>
              <a:sym typeface="Calibri"/>
            </a:endParaRPr>
          </a:p>
        </p:txBody>
      </p:sp>
      <p:sp>
        <p:nvSpPr>
          <p:cNvPr id="2" name="Footer Placeholder 1">
            <a:extLst>
              <a:ext uri="{FF2B5EF4-FFF2-40B4-BE49-F238E27FC236}">
                <a16:creationId xmlns:a16="http://schemas.microsoft.com/office/drawing/2014/main" id="{873FAF79-8B63-9D74-8D39-DBF76D2CACB2}"/>
              </a:ext>
            </a:extLst>
          </p:cNvPr>
          <p:cNvSpPr>
            <a:spLocks noGrp="1"/>
          </p:cNvSpPr>
          <p:nvPr>
            <p:ph type="ftr" idx="11"/>
          </p:nvPr>
        </p:nvSpPr>
        <p:spPr/>
        <p:txBody>
          <a:bodyPr/>
          <a:lstStyle/>
          <a:p>
            <a:r>
              <a:rPr lang="en-IN"/>
              <a:t>Web Developer-Python</a:t>
            </a:r>
          </a:p>
        </p:txBody>
      </p:sp>
      <p:sp>
        <p:nvSpPr>
          <p:cNvPr id="3" name="Slide Number Placeholder 2">
            <a:extLst>
              <a:ext uri="{FF2B5EF4-FFF2-40B4-BE49-F238E27FC236}">
                <a16:creationId xmlns:a16="http://schemas.microsoft.com/office/drawing/2014/main" id="{A45ADC7D-2DC8-1D36-362E-9ED4E1015F96}"/>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465"/>
        <p:cNvGrpSpPr/>
        <p:nvPr/>
      </p:nvGrpSpPr>
      <p:grpSpPr>
        <a:xfrm>
          <a:off x="0" y="0"/>
          <a:ext cx="0" cy="0"/>
          <a:chOff x="0" y="0"/>
          <a:chExt cx="0" cy="0"/>
        </a:xfrm>
      </p:grpSpPr>
      <p:sp>
        <p:nvSpPr>
          <p:cNvPr id="466" name="Google Shape;466;p45"/>
          <p:cNvSpPr txBox="1"/>
          <p:nvPr/>
        </p:nvSpPr>
        <p:spPr>
          <a:xfrm>
            <a:off x="304799" y="176513"/>
            <a:ext cx="10552253"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b="0">
                <a:solidFill>
                  <a:srgbClr val="3F3F3F"/>
                </a:solidFill>
                <a:latin typeface="Quattrocento Sans"/>
                <a:ea typeface="Quattrocento Sans"/>
                <a:cs typeface="Quattrocento Sans"/>
                <a:sym typeface="Quattrocento Sans"/>
              </a:rPr>
              <a:t>Events</a:t>
            </a:r>
            <a:endParaRPr sz="2800" b="0">
              <a:solidFill>
                <a:srgbClr val="3F3F3F"/>
              </a:solidFill>
              <a:latin typeface="Quattrocento Sans"/>
              <a:ea typeface="Quattrocento Sans"/>
              <a:cs typeface="Quattrocento Sans"/>
              <a:sym typeface="Quattrocento Sans"/>
            </a:endParaRPr>
          </a:p>
        </p:txBody>
      </p:sp>
      <p:sp>
        <p:nvSpPr>
          <p:cNvPr id="467" name="Google Shape;467;p45"/>
          <p:cNvSpPr txBox="1"/>
          <p:nvPr/>
        </p:nvSpPr>
        <p:spPr>
          <a:xfrm>
            <a:off x="715257" y="1177144"/>
            <a:ext cx="7351782" cy="589072"/>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n-US" sz="2400">
                <a:solidFill>
                  <a:srgbClr val="262626"/>
                </a:solidFill>
                <a:latin typeface="Calibri"/>
                <a:ea typeface="Calibri"/>
                <a:cs typeface="Calibri"/>
                <a:sym typeface="Calibri"/>
              </a:rPr>
              <a:t>Explanation</a:t>
            </a:r>
            <a:endParaRPr/>
          </a:p>
        </p:txBody>
      </p:sp>
      <p:pic>
        <p:nvPicPr>
          <p:cNvPr id="468" name="Google Shape;468;p45" descr="Closed book with solid fill"/>
          <p:cNvPicPr preferRelativeResize="0"/>
          <p:nvPr/>
        </p:nvPicPr>
        <p:blipFill rotWithShape="1">
          <a:blip r:embed="rId3">
            <a:alphaModFix/>
          </a:blip>
          <a:srcRect/>
          <a:stretch/>
        </p:blipFill>
        <p:spPr>
          <a:xfrm>
            <a:off x="304799" y="1334442"/>
            <a:ext cx="518160" cy="408432"/>
          </a:xfrm>
          <a:prstGeom prst="rect">
            <a:avLst/>
          </a:prstGeom>
          <a:noFill/>
          <a:ln>
            <a:noFill/>
          </a:ln>
        </p:spPr>
      </p:pic>
      <p:sp>
        <p:nvSpPr>
          <p:cNvPr id="469" name="Google Shape;469;p45"/>
          <p:cNvSpPr txBox="1"/>
          <p:nvPr/>
        </p:nvSpPr>
        <p:spPr>
          <a:xfrm>
            <a:off x="715257" y="1923514"/>
            <a:ext cx="10812285" cy="2126864"/>
          </a:xfrm>
          <a:prstGeom prst="rect">
            <a:avLst/>
          </a:prstGeom>
          <a:noFill/>
          <a:ln>
            <a:noFill/>
          </a:ln>
        </p:spPr>
        <p:txBody>
          <a:bodyPr spcFirstLastPara="1" wrap="square" lIns="91425" tIns="45700" rIns="91425" bIns="45700" anchor="t" anchorCtr="0">
            <a:spAutoFit/>
          </a:bodyPr>
          <a:lstStyle/>
          <a:p>
            <a:pPr marL="285750" marR="0" lvl="0" indent="-285750" algn="just" rtl="0">
              <a:lnSpc>
                <a:spcPct val="150000"/>
              </a:lnSpc>
              <a:spcBef>
                <a:spcPts val="0"/>
              </a:spcBef>
              <a:spcAft>
                <a:spcPts val="0"/>
              </a:spcAft>
              <a:buClr>
                <a:schemeClr val="dk1"/>
              </a:buClr>
              <a:buSzPts val="1800"/>
              <a:buFont typeface="Noto Sans Symbols"/>
              <a:buChar char="▪"/>
            </a:pPr>
            <a:r>
              <a:rPr lang="en-US" sz="1800">
                <a:solidFill>
                  <a:schemeClr val="dk1"/>
                </a:solidFill>
                <a:latin typeface="Calibri"/>
                <a:ea typeface="Calibri"/>
                <a:cs typeface="Calibri"/>
                <a:sym typeface="Calibri"/>
              </a:rPr>
              <a:t>In the context of Python GUI programming, an event refers to any action or occurrence that happens within the graphical user interface, typically triggered by user interaction or system events.</a:t>
            </a:r>
            <a:endParaRPr/>
          </a:p>
          <a:p>
            <a:pPr marL="285750" marR="0" lvl="0" indent="-171450" algn="just" rtl="0">
              <a:lnSpc>
                <a:spcPct val="150000"/>
              </a:lnSpc>
              <a:spcBef>
                <a:spcPts val="0"/>
              </a:spcBef>
              <a:spcAft>
                <a:spcPts val="0"/>
              </a:spcAft>
              <a:buClr>
                <a:schemeClr val="dk1"/>
              </a:buClr>
              <a:buSzPts val="1800"/>
              <a:buFont typeface="Noto Sans Symbols"/>
              <a:buNone/>
            </a:pPr>
            <a:endParaRPr sz="1800">
              <a:solidFill>
                <a:schemeClr val="dk1"/>
              </a:solidFill>
              <a:latin typeface="Calibri"/>
              <a:ea typeface="Calibri"/>
              <a:cs typeface="Calibri"/>
              <a:sym typeface="Calibri"/>
            </a:endParaRPr>
          </a:p>
          <a:p>
            <a:pPr marL="285750" marR="0" lvl="0" indent="-285750" algn="just" rtl="0">
              <a:lnSpc>
                <a:spcPct val="150000"/>
              </a:lnSpc>
              <a:spcBef>
                <a:spcPts val="0"/>
              </a:spcBef>
              <a:spcAft>
                <a:spcPts val="0"/>
              </a:spcAft>
              <a:buClr>
                <a:schemeClr val="dk1"/>
              </a:buClr>
              <a:buSzPts val="1800"/>
              <a:buFont typeface="Noto Sans Symbols"/>
              <a:buChar char="▪"/>
            </a:pPr>
            <a:r>
              <a:rPr lang="en-US" sz="1800">
                <a:solidFill>
                  <a:schemeClr val="dk1"/>
                </a:solidFill>
                <a:latin typeface="Calibri"/>
                <a:ea typeface="Calibri"/>
                <a:cs typeface="Calibri"/>
                <a:sym typeface="Calibri"/>
              </a:rPr>
              <a:t>These events could include clicking a button, typing in a text field, moving the mouse, resizing a window, or any other action that causes a change in the state or behavior of the GUI application.</a:t>
            </a:r>
            <a:endParaRPr sz="1800">
              <a:solidFill>
                <a:schemeClr val="dk1"/>
              </a:solidFill>
              <a:latin typeface="Calibri"/>
              <a:ea typeface="Calibri"/>
              <a:cs typeface="Calibri"/>
              <a:sym typeface="Calibri"/>
            </a:endParaRPr>
          </a:p>
        </p:txBody>
      </p:sp>
      <p:sp>
        <p:nvSpPr>
          <p:cNvPr id="2" name="Footer Placeholder 1">
            <a:extLst>
              <a:ext uri="{FF2B5EF4-FFF2-40B4-BE49-F238E27FC236}">
                <a16:creationId xmlns:a16="http://schemas.microsoft.com/office/drawing/2014/main" id="{DA5885D0-C49E-55EF-FD02-44223CE69E8B}"/>
              </a:ext>
            </a:extLst>
          </p:cNvPr>
          <p:cNvSpPr>
            <a:spLocks noGrp="1"/>
          </p:cNvSpPr>
          <p:nvPr>
            <p:ph type="ftr" idx="11"/>
          </p:nvPr>
        </p:nvSpPr>
        <p:spPr/>
        <p:txBody>
          <a:bodyPr/>
          <a:lstStyle/>
          <a:p>
            <a:r>
              <a:rPr lang="en-IN"/>
              <a:t>Web Developer-Python</a:t>
            </a:r>
          </a:p>
        </p:txBody>
      </p:sp>
      <p:sp>
        <p:nvSpPr>
          <p:cNvPr id="3" name="Slide Number Placeholder 2">
            <a:extLst>
              <a:ext uri="{FF2B5EF4-FFF2-40B4-BE49-F238E27FC236}">
                <a16:creationId xmlns:a16="http://schemas.microsoft.com/office/drawing/2014/main" id="{152F61C0-DF7D-D6E3-F966-F646A43B8E39}"/>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473"/>
        <p:cNvGrpSpPr/>
        <p:nvPr/>
      </p:nvGrpSpPr>
      <p:grpSpPr>
        <a:xfrm>
          <a:off x="0" y="0"/>
          <a:ext cx="0" cy="0"/>
          <a:chOff x="0" y="0"/>
          <a:chExt cx="0" cy="0"/>
        </a:xfrm>
      </p:grpSpPr>
      <p:sp>
        <p:nvSpPr>
          <p:cNvPr id="474" name="Google Shape;474;p46"/>
          <p:cNvSpPr txBox="1"/>
          <p:nvPr/>
        </p:nvSpPr>
        <p:spPr>
          <a:xfrm>
            <a:off x="304799" y="176513"/>
            <a:ext cx="10552253"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b="0">
                <a:solidFill>
                  <a:srgbClr val="3F3F3F"/>
                </a:solidFill>
                <a:latin typeface="Quattrocento Sans"/>
                <a:ea typeface="Quattrocento Sans"/>
                <a:cs typeface="Quattrocento Sans"/>
                <a:sym typeface="Quattrocento Sans"/>
              </a:rPr>
              <a:t>Events</a:t>
            </a:r>
            <a:endParaRPr sz="2800" b="0">
              <a:solidFill>
                <a:srgbClr val="3F3F3F"/>
              </a:solidFill>
              <a:latin typeface="Quattrocento Sans"/>
              <a:ea typeface="Quattrocento Sans"/>
              <a:cs typeface="Quattrocento Sans"/>
              <a:sym typeface="Quattrocento Sans"/>
            </a:endParaRPr>
          </a:p>
        </p:txBody>
      </p:sp>
      <p:pic>
        <p:nvPicPr>
          <p:cNvPr id="475" name="Google Shape;475;p46" descr="A screenshot of a computer&#10;&#10;Description automatically generated"/>
          <p:cNvPicPr preferRelativeResize="0"/>
          <p:nvPr/>
        </p:nvPicPr>
        <p:blipFill rotWithShape="1">
          <a:blip r:embed="rId3">
            <a:alphaModFix/>
          </a:blip>
          <a:srcRect/>
          <a:stretch/>
        </p:blipFill>
        <p:spPr>
          <a:xfrm>
            <a:off x="6664959" y="3676186"/>
            <a:ext cx="5077969" cy="2672616"/>
          </a:xfrm>
          <a:prstGeom prst="rect">
            <a:avLst/>
          </a:prstGeom>
          <a:noFill/>
          <a:ln>
            <a:noFill/>
          </a:ln>
        </p:spPr>
      </p:pic>
      <p:pic>
        <p:nvPicPr>
          <p:cNvPr id="476" name="Google Shape;476;p46"/>
          <p:cNvPicPr preferRelativeResize="0"/>
          <p:nvPr/>
        </p:nvPicPr>
        <p:blipFill rotWithShape="1">
          <a:blip r:embed="rId4">
            <a:alphaModFix/>
          </a:blip>
          <a:srcRect/>
          <a:stretch/>
        </p:blipFill>
        <p:spPr>
          <a:xfrm>
            <a:off x="304799" y="1349547"/>
            <a:ext cx="757014" cy="709941"/>
          </a:xfrm>
          <a:prstGeom prst="rect">
            <a:avLst/>
          </a:prstGeom>
          <a:noFill/>
          <a:ln>
            <a:noFill/>
          </a:ln>
        </p:spPr>
      </p:pic>
      <p:sp>
        <p:nvSpPr>
          <p:cNvPr id="477" name="Google Shape;477;p46"/>
          <p:cNvSpPr txBox="1"/>
          <p:nvPr/>
        </p:nvSpPr>
        <p:spPr>
          <a:xfrm>
            <a:off x="1177089" y="1349547"/>
            <a:ext cx="10533888" cy="64633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A button (convert_button) to trigger the conversion function (convert), and a label (result_label) to display the conversion result.</a:t>
            </a:r>
            <a:endParaRPr sz="1800">
              <a:solidFill>
                <a:schemeClr val="dk1"/>
              </a:solidFill>
              <a:latin typeface="Calibri"/>
              <a:ea typeface="Calibri"/>
              <a:cs typeface="Calibri"/>
              <a:sym typeface="Calibri"/>
            </a:endParaRPr>
          </a:p>
        </p:txBody>
      </p:sp>
      <p:sp>
        <p:nvSpPr>
          <p:cNvPr id="478" name="Google Shape;478;p46"/>
          <p:cNvSpPr/>
          <p:nvPr/>
        </p:nvSpPr>
        <p:spPr>
          <a:xfrm>
            <a:off x="7752080" y="4917440"/>
            <a:ext cx="1259840" cy="763416"/>
          </a:xfrm>
          <a:prstGeom prst="rect">
            <a:avLst/>
          </a:prstGeom>
          <a:noFill/>
          <a:ln w="38100" cap="flat" cmpd="sng">
            <a:solidFill>
              <a:srgbClr val="FF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cxnSp>
        <p:nvCxnSpPr>
          <p:cNvPr id="479" name="Google Shape;479;p46"/>
          <p:cNvCxnSpPr/>
          <p:nvPr/>
        </p:nvCxnSpPr>
        <p:spPr>
          <a:xfrm>
            <a:off x="3098800" y="1747520"/>
            <a:ext cx="4521300" cy="3566100"/>
          </a:xfrm>
          <a:prstGeom prst="bentConnector3">
            <a:avLst>
              <a:gd name="adj1" fmla="val 337"/>
            </a:avLst>
          </a:prstGeom>
          <a:noFill/>
          <a:ln w="19050" cap="flat" cmpd="sng">
            <a:solidFill>
              <a:schemeClr val="accent1"/>
            </a:solidFill>
            <a:prstDash val="solid"/>
            <a:miter lim="800000"/>
            <a:headEnd type="none" w="sm" len="sm"/>
            <a:tailEnd type="triangle" w="med" len="med"/>
          </a:ln>
        </p:spPr>
      </p:cxnSp>
      <p:sp>
        <p:nvSpPr>
          <p:cNvPr id="2" name="Footer Placeholder 1">
            <a:extLst>
              <a:ext uri="{FF2B5EF4-FFF2-40B4-BE49-F238E27FC236}">
                <a16:creationId xmlns:a16="http://schemas.microsoft.com/office/drawing/2014/main" id="{96CC1184-AFE7-A334-FA26-B587679D075F}"/>
              </a:ext>
            </a:extLst>
          </p:cNvPr>
          <p:cNvSpPr>
            <a:spLocks noGrp="1"/>
          </p:cNvSpPr>
          <p:nvPr>
            <p:ph type="ftr" idx="11"/>
          </p:nvPr>
        </p:nvSpPr>
        <p:spPr/>
        <p:txBody>
          <a:bodyPr/>
          <a:lstStyle/>
          <a:p>
            <a:r>
              <a:rPr lang="en-IN"/>
              <a:t>Web Developer-Python</a:t>
            </a:r>
          </a:p>
        </p:txBody>
      </p:sp>
      <p:sp>
        <p:nvSpPr>
          <p:cNvPr id="3" name="Slide Number Placeholder 2">
            <a:extLst>
              <a:ext uri="{FF2B5EF4-FFF2-40B4-BE49-F238E27FC236}">
                <a16:creationId xmlns:a16="http://schemas.microsoft.com/office/drawing/2014/main" id="{B95CE900-D487-D194-D7CD-473FB2A89408}"/>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483"/>
        <p:cNvGrpSpPr/>
        <p:nvPr/>
      </p:nvGrpSpPr>
      <p:grpSpPr>
        <a:xfrm>
          <a:off x="0" y="0"/>
          <a:ext cx="0" cy="0"/>
          <a:chOff x="0" y="0"/>
          <a:chExt cx="0" cy="0"/>
        </a:xfrm>
      </p:grpSpPr>
      <p:sp>
        <p:nvSpPr>
          <p:cNvPr id="484" name="Google Shape;484;p47"/>
          <p:cNvSpPr txBox="1"/>
          <p:nvPr/>
        </p:nvSpPr>
        <p:spPr>
          <a:xfrm>
            <a:off x="304799" y="176513"/>
            <a:ext cx="10552253"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b="0">
                <a:solidFill>
                  <a:srgbClr val="3F3F3F"/>
                </a:solidFill>
                <a:latin typeface="Quattrocento Sans"/>
                <a:ea typeface="Quattrocento Sans"/>
                <a:cs typeface="Quattrocento Sans"/>
                <a:sym typeface="Quattrocento Sans"/>
              </a:rPr>
              <a:t>Events</a:t>
            </a:r>
            <a:endParaRPr sz="2800" b="0">
              <a:solidFill>
                <a:srgbClr val="3F3F3F"/>
              </a:solidFill>
              <a:latin typeface="Quattrocento Sans"/>
              <a:ea typeface="Quattrocento Sans"/>
              <a:cs typeface="Quattrocento Sans"/>
              <a:sym typeface="Quattrocento Sans"/>
            </a:endParaRPr>
          </a:p>
        </p:txBody>
      </p:sp>
      <p:sp>
        <p:nvSpPr>
          <p:cNvPr id="485" name="Google Shape;485;p47"/>
          <p:cNvSpPr txBox="1"/>
          <p:nvPr/>
        </p:nvSpPr>
        <p:spPr>
          <a:xfrm>
            <a:off x="715257" y="1177144"/>
            <a:ext cx="7351782" cy="589072"/>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n-US" sz="2400">
                <a:solidFill>
                  <a:srgbClr val="262626"/>
                </a:solidFill>
                <a:latin typeface="Calibri"/>
                <a:ea typeface="Calibri"/>
                <a:cs typeface="Calibri"/>
                <a:sym typeface="Calibri"/>
              </a:rPr>
              <a:t>How events work in Tkinter</a:t>
            </a:r>
            <a:endParaRPr/>
          </a:p>
        </p:txBody>
      </p:sp>
      <p:pic>
        <p:nvPicPr>
          <p:cNvPr id="486" name="Google Shape;486;p47" descr="Closed book with solid fill"/>
          <p:cNvPicPr preferRelativeResize="0"/>
          <p:nvPr/>
        </p:nvPicPr>
        <p:blipFill rotWithShape="1">
          <a:blip r:embed="rId3">
            <a:alphaModFix/>
          </a:blip>
          <a:srcRect/>
          <a:stretch/>
        </p:blipFill>
        <p:spPr>
          <a:xfrm>
            <a:off x="304799" y="1334442"/>
            <a:ext cx="518160" cy="408432"/>
          </a:xfrm>
          <a:prstGeom prst="rect">
            <a:avLst/>
          </a:prstGeom>
          <a:noFill/>
          <a:ln>
            <a:noFill/>
          </a:ln>
        </p:spPr>
      </p:pic>
      <p:sp>
        <p:nvSpPr>
          <p:cNvPr id="487" name="Google Shape;487;p47"/>
          <p:cNvSpPr txBox="1"/>
          <p:nvPr/>
        </p:nvSpPr>
        <p:spPr>
          <a:xfrm>
            <a:off x="715257" y="1921890"/>
            <a:ext cx="11027671" cy="4204356"/>
          </a:xfrm>
          <a:prstGeom prst="rect">
            <a:avLst/>
          </a:prstGeom>
          <a:noFill/>
          <a:ln>
            <a:noFill/>
          </a:ln>
        </p:spPr>
        <p:txBody>
          <a:bodyPr spcFirstLastPara="1" wrap="square" lIns="91425" tIns="45700" rIns="91425" bIns="45700" anchor="t" anchorCtr="0">
            <a:spAutoFit/>
          </a:bodyPr>
          <a:lstStyle/>
          <a:p>
            <a:pPr marL="285750" marR="0" lvl="0" indent="-285750" algn="just" rtl="0">
              <a:lnSpc>
                <a:spcPct val="150000"/>
              </a:lnSpc>
              <a:spcBef>
                <a:spcPts val="0"/>
              </a:spcBef>
              <a:spcAft>
                <a:spcPts val="0"/>
              </a:spcAft>
              <a:buClr>
                <a:schemeClr val="dk1"/>
              </a:buClr>
              <a:buSzPts val="1800"/>
              <a:buFont typeface="Noto Sans Symbols"/>
              <a:buChar char="▪"/>
            </a:pPr>
            <a:r>
              <a:rPr lang="en-US" sz="1800" b="1">
                <a:solidFill>
                  <a:schemeClr val="dk1"/>
                </a:solidFill>
                <a:latin typeface="Calibri"/>
                <a:ea typeface="Calibri"/>
                <a:cs typeface="Calibri"/>
                <a:sym typeface="Calibri"/>
              </a:rPr>
              <a:t>Event Binding</a:t>
            </a:r>
            <a:r>
              <a:rPr lang="en-US" sz="1800">
                <a:solidFill>
                  <a:schemeClr val="dk1"/>
                </a:solidFill>
                <a:latin typeface="Calibri"/>
                <a:ea typeface="Calibri"/>
                <a:cs typeface="Calibri"/>
                <a:sym typeface="Calibri"/>
              </a:rPr>
              <a:t>: Bind an event (such as button click) to a function (event handler). This is typically done using the command parameter for buttons or through methods like .bind() for other widgets or custom events.</a:t>
            </a:r>
            <a:endParaRPr/>
          </a:p>
          <a:p>
            <a:pPr marL="285750" marR="0" lvl="0" indent="-171450" algn="just" rtl="0">
              <a:lnSpc>
                <a:spcPct val="150000"/>
              </a:lnSpc>
              <a:spcBef>
                <a:spcPts val="0"/>
              </a:spcBef>
              <a:spcAft>
                <a:spcPts val="0"/>
              </a:spcAft>
              <a:buClr>
                <a:schemeClr val="dk1"/>
              </a:buClr>
              <a:buSzPts val="1800"/>
              <a:buFont typeface="Noto Sans Symbols"/>
              <a:buNone/>
            </a:pPr>
            <a:endParaRPr sz="1800">
              <a:solidFill>
                <a:schemeClr val="dk1"/>
              </a:solidFill>
              <a:latin typeface="Calibri"/>
              <a:ea typeface="Calibri"/>
              <a:cs typeface="Calibri"/>
              <a:sym typeface="Calibri"/>
            </a:endParaRPr>
          </a:p>
          <a:p>
            <a:pPr marL="285750" marR="0" lvl="0" indent="-285750" algn="just" rtl="0">
              <a:lnSpc>
                <a:spcPct val="150000"/>
              </a:lnSpc>
              <a:spcBef>
                <a:spcPts val="0"/>
              </a:spcBef>
              <a:spcAft>
                <a:spcPts val="0"/>
              </a:spcAft>
              <a:buClr>
                <a:schemeClr val="dk1"/>
              </a:buClr>
              <a:buSzPts val="1800"/>
              <a:buFont typeface="Noto Sans Symbols"/>
              <a:buChar char="▪"/>
            </a:pPr>
            <a:r>
              <a:rPr lang="en-US" sz="1800" b="1">
                <a:solidFill>
                  <a:schemeClr val="dk1"/>
                </a:solidFill>
                <a:latin typeface="Calibri"/>
                <a:ea typeface="Calibri"/>
                <a:cs typeface="Calibri"/>
                <a:sym typeface="Calibri"/>
              </a:rPr>
              <a:t>Event Handlers</a:t>
            </a:r>
            <a:r>
              <a:rPr lang="en-US" sz="1800">
                <a:solidFill>
                  <a:schemeClr val="dk1"/>
                </a:solidFill>
                <a:latin typeface="Calibri"/>
                <a:ea typeface="Calibri"/>
                <a:cs typeface="Calibri"/>
                <a:sym typeface="Calibri"/>
              </a:rPr>
              <a:t>: Event handlers (like on_button_click() in the example) are functions that execute in response to specific events. These functions can manipulate widgets, update data, or perform any action based on user interaction or system events.</a:t>
            </a:r>
            <a:endParaRPr/>
          </a:p>
          <a:p>
            <a:pPr marL="285750" marR="0" lvl="0" indent="-171450" algn="just" rtl="0">
              <a:lnSpc>
                <a:spcPct val="150000"/>
              </a:lnSpc>
              <a:spcBef>
                <a:spcPts val="0"/>
              </a:spcBef>
              <a:spcAft>
                <a:spcPts val="0"/>
              </a:spcAft>
              <a:buClr>
                <a:schemeClr val="dk1"/>
              </a:buClr>
              <a:buSzPts val="1800"/>
              <a:buFont typeface="Noto Sans Symbols"/>
              <a:buNone/>
            </a:pPr>
            <a:endParaRPr sz="1800">
              <a:solidFill>
                <a:schemeClr val="dk1"/>
              </a:solidFill>
              <a:latin typeface="Calibri"/>
              <a:ea typeface="Calibri"/>
              <a:cs typeface="Calibri"/>
              <a:sym typeface="Calibri"/>
            </a:endParaRPr>
          </a:p>
          <a:p>
            <a:pPr marL="285750" marR="0" lvl="0" indent="-285750" algn="just" rtl="0">
              <a:lnSpc>
                <a:spcPct val="150000"/>
              </a:lnSpc>
              <a:spcBef>
                <a:spcPts val="0"/>
              </a:spcBef>
              <a:spcAft>
                <a:spcPts val="0"/>
              </a:spcAft>
              <a:buClr>
                <a:schemeClr val="dk1"/>
              </a:buClr>
              <a:buSzPts val="1800"/>
              <a:buFont typeface="Noto Sans Symbols"/>
              <a:buChar char="▪"/>
            </a:pPr>
            <a:r>
              <a:rPr lang="en-US" sz="1800" b="1">
                <a:solidFill>
                  <a:schemeClr val="dk1"/>
                </a:solidFill>
                <a:latin typeface="Calibri"/>
                <a:ea typeface="Calibri"/>
                <a:cs typeface="Calibri"/>
                <a:sym typeface="Calibri"/>
              </a:rPr>
              <a:t>Event Queue</a:t>
            </a:r>
            <a:r>
              <a:rPr lang="en-US" sz="1800">
                <a:solidFill>
                  <a:schemeClr val="dk1"/>
                </a:solidFill>
                <a:latin typeface="Calibri"/>
                <a:ea typeface="Calibri"/>
                <a:cs typeface="Calibri"/>
                <a:sym typeface="Calibri"/>
              </a:rPr>
              <a:t>: When an event (e.g., button click) occurs, Tkinter places the event in the queue. The event loop (mainloop()) retrieves events from the queue, dispatches them to the appropriate event handlers, and executes the associated functions.</a:t>
            </a:r>
            <a:endParaRPr sz="1800">
              <a:solidFill>
                <a:schemeClr val="dk1"/>
              </a:solidFill>
              <a:latin typeface="Calibri"/>
              <a:ea typeface="Calibri"/>
              <a:cs typeface="Calibri"/>
              <a:sym typeface="Calibri"/>
            </a:endParaRPr>
          </a:p>
        </p:txBody>
      </p:sp>
      <p:sp>
        <p:nvSpPr>
          <p:cNvPr id="2" name="Footer Placeholder 1">
            <a:extLst>
              <a:ext uri="{FF2B5EF4-FFF2-40B4-BE49-F238E27FC236}">
                <a16:creationId xmlns:a16="http://schemas.microsoft.com/office/drawing/2014/main" id="{6A9995D2-CD9D-CE1A-ED8A-E8BAEE28A80B}"/>
              </a:ext>
            </a:extLst>
          </p:cNvPr>
          <p:cNvSpPr>
            <a:spLocks noGrp="1"/>
          </p:cNvSpPr>
          <p:nvPr>
            <p:ph type="ftr" idx="11"/>
          </p:nvPr>
        </p:nvSpPr>
        <p:spPr/>
        <p:txBody>
          <a:bodyPr/>
          <a:lstStyle/>
          <a:p>
            <a:r>
              <a:rPr lang="en-IN"/>
              <a:t>Web Developer-Python</a:t>
            </a:r>
          </a:p>
        </p:txBody>
      </p:sp>
      <p:sp>
        <p:nvSpPr>
          <p:cNvPr id="3" name="Slide Number Placeholder 2">
            <a:extLst>
              <a:ext uri="{FF2B5EF4-FFF2-40B4-BE49-F238E27FC236}">
                <a16:creationId xmlns:a16="http://schemas.microsoft.com/office/drawing/2014/main" id="{124C4A13-E014-CC0C-2921-558D04F18A19}"/>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491"/>
        <p:cNvGrpSpPr/>
        <p:nvPr/>
      </p:nvGrpSpPr>
      <p:grpSpPr>
        <a:xfrm>
          <a:off x="0" y="0"/>
          <a:ext cx="0" cy="0"/>
          <a:chOff x="0" y="0"/>
          <a:chExt cx="0" cy="0"/>
        </a:xfrm>
      </p:grpSpPr>
      <p:sp>
        <p:nvSpPr>
          <p:cNvPr id="492" name="Google Shape;492;p48"/>
          <p:cNvSpPr txBox="1"/>
          <p:nvPr/>
        </p:nvSpPr>
        <p:spPr>
          <a:xfrm>
            <a:off x="304799" y="176513"/>
            <a:ext cx="10552253"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b="0">
                <a:solidFill>
                  <a:srgbClr val="3F3F3F"/>
                </a:solidFill>
                <a:latin typeface="Quattrocento Sans"/>
                <a:ea typeface="Quattrocento Sans"/>
                <a:cs typeface="Quattrocento Sans"/>
                <a:sym typeface="Quattrocento Sans"/>
              </a:rPr>
              <a:t>Events</a:t>
            </a:r>
            <a:endParaRPr sz="2800" b="0">
              <a:solidFill>
                <a:srgbClr val="3F3F3F"/>
              </a:solidFill>
              <a:latin typeface="Quattrocento Sans"/>
              <a:ea typeface="Quattrocento Sans"/>
              <a:cs typeface="Quattrocento Sans"/>
              <a:sym typeface="Quattrocento Sans"/>
            </a:endParaRPr>
          </a:p>
        </p:txBody>
      </p:sp>
      <p:sp>
        <p:nvSpPr>
          <p:cNvPr id="493" name="Google Shape;493;p48"/>
          <p:cNvSpPr txBox="1"/>
          <p:nvPr/>
        </p:nvSpPr>
        <p:spPr>
          <a:xfrm>
            <a:off x="715257" y="1177144"/>
            <a:ext cx="7351782" cy="589072"/>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n-US" sz="2400">
                <a:solidFill>
                  <a:srgbClr val="262626"/>
                </a:solidFill>
                <a:latin typeface="Calibri"/>
                <a:ea typeface="Calibri"/>
                <a:cs typeface="Calibri"/>
                <a:sym typeface="Calibri"/>
              </a:rPr>
              <a:t>Example - Handling “key” and “focus” events</a:t>
            </a:r>
            <a:endParaRPr sz="2400">
              <a:solidFill>
                <a:srgbClr val="262626"/>
              </a:solidFill>
              <a:latin typeface="Calibri"/>
              <a:ea typeface="Calibri"/>
              <a:cs typeface="Calibri"/>
              <a:sym typeface="Calibri"/>
            </a:endParaRPr>
          </a:p>
        </p:txBody>
      </p:sp>
      <p:pic>
        <p:nvPicPr>
          <p:cNvPr id="494" name="Google Shape;494;p48" descr="Closed book with solid fill"/>
          <p:cNvPicPr preferRelativeResize="0"/>
          <p:nvPr/>
        </p:nvPicPr>
        <p:blipFill rotWithShape="1">
          <a:blip r:embed="rId3">
            <a:alphaModFix/>
          </a:blip>
          <a:srcRect/>
          <a:stretch/>
        </p:blipFill>
        <p:spPr>
          <a:xfrm>
            <a:off x="304799" y="1334442"/>
            <a:ext cx="518160" cy="408432"/>
          </a:xfrm>
          <a:prstGeom prst="rect">
            <a:avLst/>
          </a:prstGeom>
          <a:noFill/>
          <a:ln>
            <a:noFill/>
          </a:ln>
        </p:spPr>
      </p:pic>
      <p:sp>
        <p:nvSpPr>
          <p:cNvPr id="495" name="Google Shape;495;p48"/>
          <p:cNvSpPr txBox="1"/>
          <p:nvPr/>
        </p:nvSpPr>
        <p:spPr>
          <a:xfrm>
            <a:off x="715257" y="1763194"/>
            <a:ext cx="11027671" cy="880369"/>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n-US" sz="1800">
                <a:solidFill>
                  <a:schemeClr val="dk1"/>
                </a:solidFill>
                <a:latin typeface="Calibri"/>
                <a:ea typeface="Calibri"/>
                <a:cs typeface="Calibri"/>
                <a:sym typeface="Calibri"/>
              </a:rPr>
              <a:t>We will create a Tkinter window with an Entry widget. We'll handle events such as typing in the entry field (&lt;Key&gt; event) and gaining focus (&lt;FocusIn&gt; event).</a:t>
            </a:r>
            <a:endParaRPr sz="1800">
              <a:solidFill>
                <a:schemeClr val="dk1"/>
              </a:solidFill>
              <a:latin typeface="Calibri"/>
              <a:ea typeface="Calibri"/>
              <a:cs typeface="Calibri"/>
              <a:sym typeface="Calibri"/>
            </a:endParaRPr>
          </a:p>
        </p:txBody>
      </p:sp>
      <p:pic>
        <p:nvPicPr>
          <p:cNvPr id="496" name="Google Shape;496;p48" descr="A screenshot of a computer&#10;&#10;Description automatically generated"/>
          <p:cNvPicPr preferRelativeResize="0"/>
          <p:nvPr/>
        </p:nvPicPr>
        <p:blipFill rotWithShape="1">
          <a:blip r:embed="rId4">
            <a:alphaModFix/>
          </a:blip>
          <a:srcRect t="62498"/>
          <a:stretch/>
        </p:blipFill>
        <p:spPr>
          <a:xfrm>
            <a:off x="2166097" y="3429000"/>
            <a:ext cx="7859806" cy="2571896"/>
          </a:xfrm>
          <a:prstGeom prst="rect">
            <a:avLst/>
          </a:prstGeom>
          <a:noFill/>
          <a:ln w="9525" cap="flat" cmpd="sng">
            <a:solidFill>
              <a:schemeClr val="dk1"/>
            </a:solidFill>
            <a:prstDash val="solid"/>
            <a:round/>
            <a:headEnd type="none" w="sm" len="sm"/>
            <a:tailEnd type="none" w="sm" len="sm"/>
          </a:ln>
        </p:spPr>
      </p:pic>
      <p:sp>
        <p:nvSpPr>
          <p:cNvPr id="2" name="Footer Placeholder 1">
            <a:extLst>
              <a:ext uri="{FF2B5EF4-FFF2-40B4-BE49-F238E27FC236}">
                <a16:creationId xmlns:a16="http://schemas.microsoft.com/office/drawing/2014/main" id="{750FAE20-7B73-26BB-0257-7513E3ECEF56}"/>
              </a:ext>
            </a:extLst>
          </p:cNvPr>
          <p:cNvSpPr>
            <a:spLocks noGrp="1"/>
          </p:cNvSpPr>
          <p:nvPr>
            <p:ph type="ftr" idx="11"/>
          </p:nvPr>
        </p:nvSpPr>
        <p:spPr/>
        <p:txBody>
          <a:bodyPr/>
          <a:lstStyle/>
          <a:p>
            <a:r>
              <a:rPr lang="en-IN"/>
              <a:t>Web Developer-Python</a:t>
            </a:r>
          </a:p>
        </p:txBody>
      </p:sp>
      <p:sp>
        <p:nvSpPr>
          <p:cNvPr id="3" name="Slide Number Placeholder 2">
            <a:extLst>
              <a:ext uri="{FF2B5EF4-FFF2-40B4-BE49-F238E27FC236}">
                <a16:creationId xmlns:a16="http://schemas.microsoft.com/office/drawing/2014/main" id="{869D850D-867C-CC16-0666-93D888D0DDA3}"/>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500"/>
        <p:cNvGrpSpPr/>
        <p:nvPr/>
      </p:nvGrpSpPr>
      <p:grpSpPr>
        <a:xfrm>
          <a:off x="0" y="0"/>
          <a:ext cx="0" cy="0"/>
          <a:chOff x="0" y="0"/>
          <a:chExt cx="0" cy="0"/>
        </a:xfrm>
      </p:grpSpPr>
      <p:pic>
        <p:nvPicPr>
          <p:cNvPr id="501" name="Google Shape;501;p49" descr="A screenshot of a computer&#10;&#10;Description automatically generated"/>
          <p:cNvPicPr preferRelativeResize="0"/>
          <p:nvPr/>
        </p:nvPicPr>
        <p:blipFill rotWithShape="1">
          <a:blip r:embed="rId3">
            <a:alphaModFix/>
          </a:blip>
          <a:srcRect l="5823" t="10201" r="19564" b="49965"/>
          <a:stretch/>
        </p:blipFill>
        <p:spPr>
          <a:xfrm>
            <a:off x="822957" y="2243626"/>
            <a:ext cx="5782139" cy="3279932"/>
          </a:xfrm>
          <a:prstGeom prst="rect">
            <a:avLst/>
          </a:prstGeom>
          <a:noFill/>
          <a:ln>
            <a:noFill/>
          </a:ln>
        </p:spPr>
      </p:pic>
      <p:sp>
        <p:nvSpPr>
          <p:cNvPr id="502" name="Google Shape;502;p49"/>
          <p:cNvSpPr txBox="1"/>
          <p:nvPr/>
        </p:nvSpPr>
        <p:spPr>
          <a:xfrm>
            <a:off x="304799" y="176513"/>
            <a:ext cx="10552253"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b="0">
                <a:solidFill>
                  <a:srgbClr val="3F3F3F"/>
                </a:solidFill>
                <a:latin typeface="Quattrocento Sans"/>
                <a:ea typeface="Quattrocento Sans"/>
                <a:cs typeface="Quattrocento Sans"/>
                <a:sym typeface="Quattrocento Sans"/>
              </a:rPr>
              <a:t>Events</a:t>
            </a:r>
            <a:endParaRPr sz="2800" b="0">
              <a:solidFill>
                <a:srgbClr val="3F3F3F"/>
              </a:solidFill>
              <a:latin typeface="Quattrocento Sans"/>
              <a:ea typeface="Quattrocento Sans"/>
              <a:cs typeface="Quattrocento Sans"/>
              <a:sym typeface="Quattrocento Sans"/>
            </a:endParaRPr>
          </a:p>
        </p:txBody>
      </p:sp>
      <p:sp>
        <p:nvSpPr>
          <p:cNvPr id="503" name="Google Shape;503;p49"/>
          <p:cNvSpPr txBox="1"/>
          <p:nvPr/>
        </p:nvSpPr>
        <p:spPr>
          <a:xfrm>
            <a:off x="715256" y="1177144"/>
            <a:ext cx="9708903" cy="589072"/>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n-US" sz="2400">
                <a:solidFill>
                  <a:srgbClr val="262626"/>
                </a:solidFill>
                <a:latin typeface="Calibri"/>
                <a:ea typeface="Calibri"/>
                <a:cs typeface="Calibri"/>
                <a:sym typeface="Calibri"/>
              </a:rPr>
              <a:t>Example – Code for handling “key” and “focus” events</a:t>
            </a:r>
            <a:endParaRPr sz="2400">
              <a:solidFill>
                <a:srgbClr val="262626"/>
              </a:solidFill>
              <a:latin typeface="Calibri"/>
              <a:ea typeface="Calibri"/>
              <a:cs typeface="Calibri"/>
              <a:sym typeface="Calibri"/>
            </a:endParaRPr>
          </a:p>
        </p:txBody>
      </p:sp>
      <p:pic>
        <p:nvPicPr>
          <p:cNvPr id="504" name="Google Shape;504;p49" descr="Closed book with solid fill"/>
          <p:cNvPicPr preferRelativeResize="0"/>
          <p:nvPr/>
        </p:nvPicPr>
        <p:blipFill rotWithShape="1">
          <a:blip r:embed="rId4">
            <a:alphaModFix/>
          </a:blip>
          <a:srcRect/>
          <a:stretch/>
        </p:blipFill>
        <p:spPr>
          <a:xfrm>
            <a:off x="304799" y="1334442"/>
            <a:ext cx="518160" cy="408432"/>
          </a:xfrm>
          <a:prstGeom prst="rect">
            <a:avLst/>
          </a:prstGeom>
          <a:noFill/>
          <a:ln>
            <a:noFill/>
          </a:ln>
        </p:spPr>
      </p:pic>
      <p:pic>
        <p:nvPicPr>
          <p:cNvPr id="505" name="Google Shape;505;p49" descr="A screenshot of a computer&#10;&#10;Description automatically generated"/>
          <p:cNvPicPr preferRelativeResize="0"/>
          <p:nvPr/>
        </p:nvPicPr>
        <p:blipFill rotWithShape="1">
          <a:blip r:embed="rId3">
            <a:alphaModFix/>
          </a:blip>
          <a:srcRect l="5711" t="49905" r="13065" b="5946"/>
          <a:stretch/>
        </p:blipFill>
        <p:spPr>
          <a:xfrm>
            <a:off x="6156960" y="2243626"/>
            <a:ext cx="6035040" cy="3485353"/>
          </a:xfrm>
          <a:prstGeom prst="rect">
            <a:avLst/>
          </a:prstGeom>
          <a:noFill/>
          <a:ln>
            <a:noFill/>
          </a:ln>
        </p:spPr>
      </p:pic>
      <p:sp>
        <p:nvSpPr>
          <p:cNvPr id="2" name="Footer Placeholder 1">
            <a:extLst>
              <a:ext uri="{FF2B5EF4-FFF2-40B4-BE49-F238E27FC236}">
                <a16:creationId xmlns:a16="http://schemas.microsoft.com/office/drawing/2014/main" id="{A57720B5-4DE6-5581-10F8-78B807E7F7C3}"/>
              </a:ext>
            </a:extLst>
          </p:cNvPr>
          <p:cNvSpPr>
            <a:spLocks noGrp="1"/>
          </p:cNvSpPr>
          <p:nvPr>
            <p:ph type="ftr" idx="11"/>
          </p:nvPr>
        </p:nvSpPr>
        <p:spPr/>
        <p:txBody>
          <a:bodyPr/>
          <a:lstStyle/>
          <a:p>
            <a:r>
              <a:rPr lang="en-IN"/>
              <a:t>Web Developer-Python</a:t>
            </a:r>
          </a:p>
        </p:txBody>
      </p:sp>
      <p:sp>
        <p:nvSpPr>
          <p:cNvPr id="3" name="Slide Number Placeholder 2">
            <a:extLst>
              <a:ext uri="{FF2B5EF4-FFF2-40B4-BE49-F238E27FC236}">
                <a16:creationId xmlns:a16="http://schemas.microsoft.com/office/drawing/2014/main" id="{9D57865F-CD71-429F-78EC-1EFBFF060BA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509"/>
        <p:cNvGrpSpPr/>
        <p:nvPr/>
      </p:nvGrpSpPr>
      <p:grpSpPr>
        <a:xfrm>
          <a:off x="0" y="0"/>
          <a:ext cx="0" cy="0"/>
          <a:chOff x="0" y="0"/>
          <a:chExt cx="0" cy="0"/>
        </a:xfrm>
      </p:grpSpPr>
      <p:sp>
        <p:nvSpPr>
          <p:cNvPr id="510" name="Google Shape;510;p50"/>
          <p:cNvSpPr txBox="1"/>
          <p:nvPr/>
        </p:nvSpPr>
        <p:spPr>
          <a:xfrm>
            <a:off x="304799" y="176513"/>
            <a:ext cx="10552253"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b="0">
                <a:solidFill>
                  <a:srgbClr val="3F3F3F"/>
                </a:solidFill>
                <a:latin typeface="Quattrocento Sans"/>
                <a:ea typeface="Quattrocento Sans"/>
                <a:cs typeface="Quattrocento Sans"/>
                <a:sym typeface="Quattrocento Sans"/>
              </a:rPr>
              <a:t>Events</a:t>
            </a:r>
            <a:endParaRPr sz="2800" b="0">
              <a:solidFill>
                <a:srgbClr val="3F3F3F"/>
              </a:solidFill>
              <a:latin typeface="Quattrocento Sans"/>
              <a:ea typeface="Quattrocento Sans"/>
              <a:cs typeface="Quattrocento Sans"/>
              <a:sym typeface="Quattrocento Sans"/>
            </a:endParaRPr>
          </a:p>
        </p:txBody>
      </p:sp>
      <p:sp>
        <p:nvSpPr>
          <p:cNvPr id="511" name="Google Shape;511;p50"/>
          <p:cNvSpPr txBox="1"/>
          <p:nvPr/>
        </p:nvSpPr>
        <p:spPr>
          <a:xfrm>
            <a:off x="715256" y="1177144"/>
            <a:ext cx="9708903" cy="589072"/>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n-US" sz="2400">
                <a:solidFill>
                  <a:srgbClr val="262626"/>
                </a:solidFill>
                <a:latin typeface="Calibri"/>
                <a:ea typeface="Calibri"/>
                <a:cs typeface="Calibri"/>
                <a:sym typeface="Calibri"/>
              </a:rPr>
              <a:t>Example – Explanation of handling “key” and “focus” events</a:t>
            </a:r>
            <a:endParaRPr sz="2400">
              <a:solidFill>
                <a:srgbClr val="262626"/>
              </a:solidFill>
              <a:latin typeface="Calibri"/>
              <a:ea typeface="Calibri"/>
              <a:cs typeface="Calibri"/>
              <a:sym typeface="Calibri"/>
            </a:endParaRPr>
          </a:p>
        </p:txBody>
      </p:sp>
      <p:pic>
        <p:nvPicPr>
          <p:cNvPr id="512" name="Google Shape;512;p50" descr="Closed book with solid fill"/>
          <p:cNvPicPr preferRelativeResize="0"/>
          <p:nvPr/>
        </p:nvPicPr>
        <p:blipFill rotWithShape="1">
          <a:blip r:embed="rId3">
            <a:alphaModFix/>
          </a:blip>
          <a:srcRect/>
          <a:stretch/>
        </p:blipFill>
        <p:spPr>
          <a:xfrm>
            <a:off x="304799" y="1334442"/>
            <a:ext cx="518160" cy="408432"/>
          </a:xfrm>
          <a:prstGeom prst="rect">
            <a:avLst/>
          </a:prstGeom>
          <a:noFill/>
          <a:ln>
            <a:noFill/>
          </a:ln>
        </p:spPr>
      </p:pic>
      <p:sp>
        <p:nvSpPr>
          <p:cNvPr id="513" name="Google Shape;513;p50"/>
          <p:cNvSpPr txBox="1"/>
          <p:nvPr/>
        </p:nvSpPr>
        <p:spPr>
          <a:xfrm>
            <a:off x="715256" y="2106394"/>
            <a:ext cx="11027671" cy="2819362"/>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1800" b="1">
                <a:solidFill>
                  <a:schemeClr val="dk1"/>
                </a:solidFill>
                <a:latin typeface="Calibri"/>
                <a:ea typeface="Calibri"/>
                <a:cs typeface="Calibri"/>
                <a:sym typeface="Calibri"/>
              </a:rPr>
              <a:t>Event Handling Functions</a:t>
            </a:r>
            <a:endParaRPr/>
          </a:p>
          <a:p>
            <a:pPr marL="0" marR="0" lvl="0" indent="0" algn="just" rtl="0">
              <a:lnSpc>
                <a:spcPct val="150000"/>
              </a:lnSpc>
              <a:spcBef>
                <a:spcPts val="0"/>
              </a:spcBef>
              <a:spcAft>
                <a:spcPts val="0"/>
              </a:spcAft>
              <a:buNone/>
            </a:pPr>
            <a:endParaRPr sz="1800">
              <a:solidFill>
                <a:schemeClr val="dk1"/>
              </a:solidFill>
              <a:latin typeface="Calibri"/>
              <a:ea typeface="Calibri"/>
              <a:cs typeface="Calibri"/>
              <a:sym typeface="Calibri"/>
            </a:endParaRPr>
          </a:p>
          <a:p>
            <a:pPr marL="342900" marR="0" lvl="0" indent="-342900" algn="just" rtl="0">
              <a:lnSpc>
                <a:spcPct val="150000"/>
              </a:lnSpc>
              <a:spcBef>
                <a:spcPts val="0"/>
              </a:spcBef>
              <a:spcAft>
                <a:spcPts val="0"/>
              </a:spcAft>
              <a:buClr>
                <a:schemeClr val="dk1"/>
              </a:buClr>
              <a:buSzPts val="1800"/>
              <a:buFont typeface="Noto Sans Symbols"/>
              <a:buChar char="▪"/>
            </a:pPr>
            <a:r>
              <a:rPr lang="en-US" sz="1800">
                <a:solidFill>
                  <a:schemeClr val="dk1"/>
                </a:solidFill>
                <a:latin typeface="Calibri"/>
                <a:ea typeface="Calibri"/>
                <a:cs typeface="Calibri"/>
                <a:sym typeface="Calibri"/>
              </a:rPr>
              <a:t>on_key_press(event): This function handles the &lt;Key&gt; event, which occurs whenever a key is pressed while the entry widget has focus. It prints the current text in the entry widget to the console.</a:t>
            </a:r>
            <a:endParaRPr/>
          </a:p>
          <a:p>
            <a:pPr marL="342900" marR="0" lvl="0" indent="-228600" algn="just" rtl="0">
              <a:lnSpc>
                <a:spcPct val="150000"/>
              </a:lnSpc>
              <a:spcBef>
                <a:spcPts val="0"/>
              </a:spcBef>
              <a:spcAft>
                <a:spcPts val="0"/>
              </a:spcAft>
              <a:buClr>
                <a:schemeClr val="dk1"/>
              </a:buClr>
              <a:buSzPts val="1800"/>
              <a:buFont typeface="Noto Sans Symbols"/>
              <a:buNone/>
            </a:pPr>
            <a:endParaRPr sz="1800">
              <a:solidFill>
                <a:schemeClr val="dk1"/>
              </a:solidFill>
              <a:latin typeface="Calibri"/>
              <a:ea typeface="Calibri"/>
              <a:cs typeface="Calibri"/>
              <a:sym typeface="Calibri"/>
            </a:endParaRPr>
          </a:p>
          <a:p>
            <a:pPr marL="342900" marR="0" lvl="0" indent="-342900" algn="just" rtl="0">
              <a:lnSpc>
                <a:spcPct val="150000"/>
              </a:lnSpc>
              <a:spcBef>
                <a:spcPts val="0"/>
              </a:spcBef>
              <a:spcAft>
                <a:spcPts val="0"/>
              </a:spcAft>
              <a:buClr>
                <a:schemeClr val="dk1"/>
              </a:buClr>
              <a:buSzPts val="1800"/>
              <a:buFont typeface="Noto Sans Symbols"/>
              <a:buChar char="▪"/>
            </a:pPr>
            <a:r>
              <a:rPr lang="en-US" sz="1800">
                <a:solidFill>
                  <a:schemeClr val="dk1"/>
                </a:solidFill>
                <a:latin typeface="Calibri"/>
                <a:ea typeface="Calibri"/>
                <a:cs typeface="Calibri"/>
                <a:sym typeface="Calibri"/>
              </a:rPr>
              <a:t>on_entry_focus_in(event): This function handles the &lt;FocusIn&gt; event, which occurs when the entry widget gains focus. It simply prints a message to indicate that the widget has been focused.</a:t>
            </a:r>
            <a:endParaRPr sz="1800">
              <a:solidFill>
                <a:schemeClr val="dk1"/>
              </a:solidFill>
              <a:latin typeface="Calibri"/>
              <a:ea typeface="Calibri"/>
              <a:cs typeface="Calibri"/>
              <a:sym typeface="Calibri"/>
            </a:endParaRPr>
          </a:p>
        </p:txBody>
      </p:sp>
      <p:sp>
        <p:nvSpPr>
          <p:cNvPr id="2" name="Footer Placeholder 1">
            <a:extLst>
              <a:ext uri="{FF2B5EF4-FFF2-40B4-BE49-F238E27FC236}">
                <a16:creationId xmlns:a16="http://schemas.microsoft.com/office/drawing/2014/main" id="{28D8F2A5-9F98-E9D7-C6FA-BA418B46CA30}"/>
              </a:ext>
            </a:extLst>
          </p:cNvPr>
          <p:cNvSpPr>
            <a:spLocks noGrp="1"/>
          </p:cNvSpPr>
          <p:nvPr>
            <p:ph type="ftr" idx="11"/>
          </p:nvPr>
        </p:nvSpPr>
        <p:spPr/>
        <p:txBody>
          <a:bodyPr/>
          <a:lstStyle/>
          <a:p>
            <a:r>
              <a:rPr lang="en-IN"/>
              <a:t>Web Developer-Python</a:t>
            </a:r>
          </a:p>
        </p:txBody>
      </p:sp>
      <p:sp>
        <p:nvSpPr>
          <p:cNvPr id="3" name="Slide Number Placeholder 2">
            <a:extLst>
              <a:ext uri="{FF2B5EF4-FFF2-40B4-BE49-F238E27FC236}">
                <a16:creationId xmlns:a16="http://schemas.microsoft.com/office/drawing/2014/main" id="{94E957FD-EF52-66BA-4335-889796541E24}"/>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517"/>
        <p:cNvGrpSpPr/>
        <p:nvPr/>
      </p:nvGrpSpPr>
      <p:grpSpPr>
        <a:xfrm>
          <a:off x="0" y="0"/>
          <a:ext cx="0" cy="0"/>
          <a:chOff x="0" y="0"/>
          <a:chExt cx="0" cy="0"/>
        </a:xfrm>
      </p:grpSpPr>
      <p:sp>
        <p:nvSpPr>
          <p:cNvPr id="518" name="Google Shape;518;p51"/>
          <p:cNvSpPr txBox="1"/>
          <p:nvPr/>
        </p:nvSpPr>
        <p:spPr>
          <a:xfrm>
            <a:off x="304799" y="176513"/>
            <a:ext cx="10552253"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b="0">
                <a:solidFill>
                  <a:srgbClr val="3F3F3F"/>
                </a:solidFill>
                <a:latin typeface="Quattrocento Sans"/>
                <a:ea typeface="Quattrocento Sans"/>
                <a:cs typeface="Quattrocento Sans"/>
                <a:sym typeface="Quattrocento Sans"/>
              </a:rPr>
              <a:t>Events</a:t>
            </a:r>
            <a:endParaRPr sz="2800" b="0">
              <a:solidFill>
                <a:srgbClr val="3F3F3F"/>
              </a:solidFill>
              <a:latin typeface="Quattrocento Sans"/>
              <a:ea typeface="Quattrocento Sans"/>
              <a:cs typeface="Quattrocento Sans"/>
              <a:sym typeface="Quattrocento Sans"/>
            </a:endParaRPr>
          </a:p>
        </p:txBody>
      </p:sp>
      <p:sp>
        <p:nvSpPr>
          <p:cNvPr id="519" name="Google Shape;519;p51"/>
          <p:cNvSpPr txBox="1"/>
          <p:nvPr/>
        </p:nvSpPr>
        <p:spPr>
          <a:xfrm>
            <a:off x="715256" y="1847704"/>
            <a:ext cx="9708903" cy="589072"/>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n-US" sz="2400">
                <a:solidFill>
                  <a:srgbClr val="262626"/>
                </a:solidFill>
                <a:latin typeface="Calibri"/>
                <a:ea typeface="Calibri"/>
                <a:cs typeface="Calibri"/>
                <a:sym typeface="Calibri"/>
              </a:rPr>
              <a:t>Create a GUI with Keyboard Shortcuts</a:t>
            </a:r>
            <a:endParaRPr/>
          </a:p>
        </p:txBody>
      </p:sp>
      <p:sp>
        <p:nvSpPr>
          <p:cNvPr id="520" name="Google Shape;520;p51"/>
          <p:cNvSpPr txBox="1"/>
          <p:nvPr/>
        </p:nvSpPr>
        <p:spPr>
          <a:xfrm>
            <a:off x="786376" y="2362841"/>
            <a:ext cx="11027671" cy="4116768"/>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n-US" sz="1600">
                <a:solidFill>
                  <a:schemeClr val="dk1"/>
                </a:solidFill>
                <a:latin typeface="Calibri"/>
                <a:ea typeface="Calibri"/>
                <a:cs typeface="Calibri"/>
                <a:sym typeface="Calibri"/>
              </a:rPr>
              <a:t>Create a Tkinter GUI application that includes a text entry widget and uses keyboard shortcuts to interact with the text. </a:t>
            </a:r>
            <a:endParaRPr/>
          </a:p>
          <a:p>
            <a:pPr marL="0" marR="0" lvl="0" indent="0" algn="just" rtl="0">
              <a:lnSpc>
                <a:spcPct val="150000"/>
              </a:lnSpc>
              <a:spcBef>
                <a:spcPts val="0"/>
              </a:spcBef>
              <a:spcAft>
                <a:spcPts val="0"/>
              </a:spcAft>
              <a:buNone/>
            </a:pPr>
            <a:endParaRPr sz="1600">
              <a:solidFill>
                <a:schemeClr val="dk1"/>
              </a:solidFill>
              <a:latin typeface="Calibri"/>
              <a:ea typeface="Calibri"/>
              <a:cs typeface="Calibri"/>
              <a:sym typeface="Calibri"/>
            </a:endParaRPr>
          </a:p>
          <a:p>
            <a:pPr marL="0" marR="0" lvl="0" indent="0" algn="just" rtl="0">
              <a:lnSpc>
                <a:spcPct val="150000"/>
              </a:lnSpc>
              <a:spcBef>
                <a:spcPts val="0"/>
              </a:spcBef>
              <a:spcAft>
                <a:spcPts val="0"/>
              </a:spcAft>
              <a:buNone/>
            </a:pPr>
            <a:r>
              <a:rPr lang="en-US" sz="1600">
                <a:solidFill>
                  <a:schemeClr val="dk1"/>
                </a:solidFill>
                <a:latin typeface="Calibri"/>
                <a:ea typeface="Calibri"/>
                <a:cs typeface="Calibri"/>
                <a:sym typeface="Calibri"/>
              </a:rPr>
              <a:t>Implement the following features:</a:t>
            </a:r>
            <a:endParaRPr/>
          </a:p>
          <a:p>
            <a:pPr marL="342900" marR="0" lvl="0" indent="-342900" algn="just" rtl="0">
              <a:lnSpc>
                <a:spcPct val="150000"/>
              </a:lnSpc>
              <a:spcBef>
                <a:spcPts val="0"/>
              </a:spcBef>
              <a:spcAft>
                <a:spcPts val="0"/>
              </a:spcAft>
              <a:buClr>
                <a:schemeClr val="dk1"/>
              </a:buClr>
              <a:buSzPts val="1600"/>
              <a:buFont typeface="Play"/>
              <a:buAutoNum type="arabicPeriod"/>
            </a:pPr>
            <a:r>
              <a:rPr lang="en-US" sz="1600">
                <a:solidFill>
                  <a:schemeClr val="dk1"/>
                </a:solidFill>
                <a:latin typeface="Calibri"/>
                <a:ea typeface="Calibri"/>
                <a:cs typeface="Calibri"/>
                <a:sym typeface="Calibri"/>
              </a:rPr>
              <a:t>Pressing the Enter key while typing in the text entry widget should print the current text in the entry widget to the console.</a:t>
            </a:r>
            <a:endParaRPr/>
          </a:p>
          <a:p>
            <a:pPr marL="342900" marR="0" lvl="0" indent="-342900" algn="just" rtl="0">
              <a:lnSpc>
                <a:spcPct val="150000"/>
              </a:lnSpc>
              <a:spcBef>
                <a:spcPts val="0"/>
              </a:spcBef>
              <a:spcAft>
                <a:spcPts val="0"/>
              </a:spcAft>
              <a:buClr>
                <a:schemeClr val="dk1"/>
              </a:buClr>
              <a:buSzPts val="1600"/>
              <a:buFont typeface="Play"/>
              <a:buAutoNum type="arabicPeriod"/>
            </a:pPr>
            <a:r>
              <a:rPr lang="en-US" sz="1600">
                <a:solidFill>
                  <a:schemeClr val="dk1"/>
                </a:solidFill>
                <a:latin typeface="Calibri"/>
                <a:ea typeface="Calibri"/>
                <a:cs typeface="Calibri"/>
                <a:sym typeface="Calibri"/>
              </a:rPr>
              <a:t>Pressing the Escape key should clear the text in the entry widget.</a:t>
            </a:r>
            <a:endParaRPr/>
          </a:p>
          <a:p>
            <a:pPr marL="342900" marR="0" lvl="0" indent="-241300" algn="just" rtl="0">
              <a:lnSpc>
                <a:spcPct val="150000"/>
              </a:lnSpc>
              <a:spcBef>
                <a:spcPts val="0"/>
              </a:spcBef>
              <a:spcAft>
                <a:spcPts val="0"/>
              </a:spcAft>
              <a:buClr>
                <a:schemeClr val="dk1"/>
              </a:buClr>
              <a:buSzPts val="1600"/>
              <a:buFont typeface="Play"/>
              <a:buNone/>
            </a:pPr>
            <a:endParaRPr sz="1600">
              <a:solidFill>
                <a:schemeClr val="dk1"/>
              </a:solidFill>
              <a:latin typeface="Calibri"/>
              <a:ea typeface="Calibri"/>
              <a:cs typeface="Calibri"/>
              <a:sym typeface="Calibri"/>
            </a:endParaRPr>
          </a:p>
          <a:p>
            <a:pPr marL="0" marR="0" lvl="0" indent="0" algn="just" rtl="0">
              <a:lnSpc>
                <a:spcPct val="150000"/>
              </a:lnSpc>
              <a:spcBef>
                <a:spcPts val="0"/>
              </a:spcBef>
              <a:spcAft>
                <a:spcPts val="0"/>
              </a:spcAft>
              <a:buNone/>
            </a:pPr>
            <a:r>
              <a:rPr lang="en-US" sz="1600">
                <a:solidFill>
                  <a:schemeClr val="dk1"/>
                </a:solidFill>
                <a:latin typeface="Calibri"/>
                <a:ea typeface="Calibri"/>
                <a:cs typeface="Calibri"/>
                <a:sym typeface="Calibri"/>
              </a:rPr>
              <a:t>Requirements:</a:t>
            </a:r>
            <a:endParaRPr/>
          </a:p>
          <a:p>
            <a:pPr marL="342900" marR="0" lvl="0" indent="-342900" algn="just" rtl="0">
              <a:lnSpc>
                <a:spcPct val="150000"/>
              </a:lnSpc>
              <a:spcBef>
                <a:spcPts val="0"/>
              </a:spcBef>
              <a:spcAft>
                <a:spcPts val="0"/>
              </a:spcAft>
              <a:buClr>
                <a:schemeClr val="dk1"/>
              </a:buClr>
              <a:buSzPts val="1600"/>
              <a:buFont typeface="Play"/>
              <a:buAutoNum type="arabicPeriod"/>
            </a:pPr>
            <a:r>
              <a:rPr lang="en-US" sz="1600">
                <a:solidFill>
                  <a:schemeClr val="dk1"/>
                </a:solidFill>
                <a:latin typeface="Calibri"/>
                <a:ea typeface="Calibri"/>
                <a:cs typeface="Calibri"/>
                <a:sym typeface="Calibri"/>
              </a:rPr>
              <a:t>Create a main window with a title "Keyboard Shortcuts Example".</a:t>
            </a:r>
            <a:endParaRPr/>
          </a:p>
          <a:p>
            <a:pPr marL="342900" marR="0" lvl="0" indent="-342900" algn="just" rtl="0">
              <a:lnSpc>
                <a:spcPct val="150000"/>
              </a:lnSpc>
              <a:spcBef>
                <a:spcPts val="0"/>
              </a:spcBef>
              <a:spcAft>
                <a:spcPts val="0"/>
              </a:spcAft>
              <a:buClr>
                <a:schemeClr val="dk1"/>
              </a:buClr>
              <a:buSzPts val="1600"/>
              <a:buFont typeface="Play"/>
              <a:buAutoNum type="arabicPeriod"/>
            </a:pPr>
            <a:r>
              <a:rPr lang="en-US" sz="1600">
                <a:solidFill>
                  <a:schemeClr val="dk1"/>
                </a:solidFill>
                <a:latin typeface="Calibri"/>
                <a:ea typeface="Calibri"/>
                <a:cs typeface="Calibri"/>
                <a:sym typeface="Calibri"/>
              </a:rPr>
              <a:t>Add an Entry widget to the window where users can type text.</a:t>
            </a:r>
            <a:endParaRPr/>
          </a:p>
          <a:p>
            <a:pPr marL="342900" marR="0" lvl="0" indent="-342900" algn="just" rtl="0">
              <a:lnSpc>
                <a:spcPct val="150000"/>
              </a:lnSpc>
              <a:spcBef>
                <a:spcPts val="0"/>
              </a:spcBef>
              <a:spcAft>
                <a:spcPts val="0"/>
              </a:spcAft>
              <a:buClr>
                <a:schemeClr val="dk1"/>
              </a:buClr>
              <a:buSzPts val="1600"/>
              <a:buFont typeface="Play"/>
              <a:buAutoNum type="arabicPeriod"/>
            </a:pPr>
            <a:r>
              <a:rPr lang="en-US" sz="1600">
                <a:solidFill>
                  <a:schemeClr val="dk1"/>
                </a:solidFill>
                <a:latin typeface="Calibri"/>
                <a:ea typeface="Calibri"/>
                <a:cs typeface="Calibri"/>
                <a:sym typeface="Calibri"/>
              </a:rPr>
              <a:t>Implement an event handler for the Enter key that prints the current text in the entry widget to the console.</a:t>
            </a:r>
            <a:endParaRPr/>
          </a:p>
          <a:p>
            <a:pPr marL="342900" marR="0" lvl="0" indent="-342900" algn="just" rtl="0">
              <a:lnSpc>
                <a:spcPct val="150000"/>
              </a:lnSpc>
              <a:spcBef>
                <a:spcPts val="0"/>
              </a:spcBef>
              <a:spcAft>
                <a:spcPts val="0"/>
              </a:spcAft>
              <a:buClr>
                <a:schemeClr val="dk1"/>
              </a:buClr>
              <a:buSzPts val="1600"/>
              <a:buFont typeface="Play"/>
              <a:buAutoNum type="arabicPeriod"/>
            </a:pPr>
            <a:r>
              <a:rPr lang="en-US" sz="1600">
                <a:solidFill>
                  <a:schemeClr val="dk1"/>
                </a:solidFill>
                <a:latin typeface="Calibri"/>
                <a:ea typeface="Calibri"/>
                <a:cs typeface="Calibri"/>
                <a:sym typeface="Calibri"/>
              </a:rPr>
              <a:t>Implement an event handler for the Escape key that clears the text in the entry widget.</a:t>
            </a:r>
            <a:endParaRPr sz="1600">
              <a:solidFill>
                <a:schemeClr val="dk1"/>
              </a:solidFill>
              <a:latin typeface="Calibri"/>
              <a:ea typeface="Calibri"/>
              <a:cs typeface="Calibri"/>
              <a:sym typeface="Calibri"/>
            </a:endParaRPr>
          </a:p>
        </p:txBody>
      </p:sp>
      <p:pic>
        <p:nvPicPr>
          <p:cNvPr id="521" name="Google Shape;521;p51"/>
          <p:cNvPicPr preferRelativeResize="0"/>
          <p:nvPr/>
        </p:nvPicPr>
        <p:blipFill rotWithShape="1">
          <a:blip r:embed="rId3">
            <a:alphaModFix/>
          </a:blip>
          <a:srcRect/>
          <a:stretch/>
        </p:blipFill>
        <p:spPr>
          <a:xfrm>
            <a:off x="460180" y="1332507"/>
            <a:ext cx="898400" cy="477450"/>
          </a:xfrm>
          <a:prstGeom prst="rect">
            <a:avLst/>
          </a:prstGeom>
          <a:noFill/>
          <a:ln>
            <a:noFill/>
          </a:ln>
        </p:spPr>
      </p:pic>
      <p:sp>
        <p:nvSpPr>
          <p:cNvPr id="2" name="Footer Placeholder 1">
            <a:extLst>
              <a:ext uri="{FF2B5EF4-FFF2-40B4-BE49-F238E27FC236}">
                <a16:creationId xmlns:a16="http://schemas.microsoft.com/office/drawing/2014/main" id="{24506B89-FCB9-4BD5-174D-058E9F43F737}"/>
              </a:ext>
            </a:extLst>
          </p:cNvPr>
          <p:cNvSpPr>
            <a:spLocks noGrp="1"/>
          </p:cNvSpPr>
          <p:nvPr>
            <p:ph type="ftr" idx="11"/>
          </p:nvPr>
        </p:nvSpPr>
        <p:spPr/>
        <p:txBody>
          <a:bodyPr/>
          <a:lstStyle/>
          <a:p>
            <a:r>
              <a:rPr lang="en-IN"/>
              <a:t>Web Developer-Python</a:t>
            </a:r>
          </a:p>
        </p:txBody>
      </p:sp>
      <p:sp>
        <p:nvSpPr>
          <p:cNvPr id="3" name="Slide Number Placeholder 2">
            <a:extLst>
              <a:ext uri="{FF2B5EF4-FFF2-40B4-BE49-F238E27FC236}">
                <a16:creationId xmlns:a16="http://schemas.microsoft.com/office/drawing/2014/main" id="{21245F5C-2838-AD94-C53A-448933C35314}"/>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525"/>
        <p:cNvGrpSpPr/>
        <p:nvPr/>
      </p:nvGrpSpPr>
      <p:grpSpPr>
        <a:xfrm>
          <a:off x="0" y="0"/>
          <a:ext cx="0" cy="0"/>
          <a:chOff x="0" y="0"/>
          <a:chExt cx="0" cy="0"/>
        </a:xfrm>
      </p:grpSpPr>
      <p:sp>
        <p:nvSpPr>
          <p:cNvPr id="526" name="Google Shape;526;p52"/>
          <p:cNvSpPr txBox="1">
            <a:spLocks noGrp="1"/>
          </p:cNvSpPr>
          <p:nvPr>
            <p:ph type="ctrTitle"/>
          </p:nvPr>
        </p:nvSpPr>
        <p:spPr>
          <a:xfrm>
            <a:off x="480000" y="2494400"/>
            <a:ext cx="11406800" cy="1058000"/>
          </a:xfrm>
          <a:prstGeom prst="rect">
            <a:avLst/>
          </a:prstGeom>
          <a:noFill/>
          <a:ln>
            <a:noFill/>
          </a:ln>
        </p:spPr>
        <p:txBody>
          <a:bodyPr spcFirstLastPara="1" wrap="square" lIns="121900" tIns="121900" rIns="121900" bIns="121900" anchor="ctr" anchorCtr="0">
            <a:noAutofit/>
          </a:bodyPr>
          <a:lstStyle/>
          <a:p>
            <a:pPr marL="0" lvl="0" indent="0" algn="l" rtl="0">
              <a:lnSpc>
                <a:spcPct val="100000"/>
              </a:lnSpc>
              <a:spcBef>
                <a:spcPts val="0"/>
              </a:spcBef>
              <a:spcAft>
                <a:spcPts val="0"/>
              </a:spcAft>
              <a:buClr>
                <a:srgbClr val="000000"/>
              </a:buClr>
              <a:buSzPts val="5000"/>
              <a:buFont typeface="Calibri"/>
              <a:buNone/>
            </a:pPr>
            <a:r>
              <a:rPr lang="en-US" sz="4000">
                <a:solidFill>
                  <a:srgbClr val="000000"/>
                </a:solidFill>
                <a:latin typeface="Calibri"/>
                <a:ea typeface="Calibri"/>
                <a:cs typeface="Calibri"/>
                <a:sym typeface="Calibri"/>
              </a:rPr>
              <a:t>7. </a:t>
            </a:r>
            <a:r>
              <a:rPr lang="en-US" sz="4000">
                <a:latin typeface="Calibri"/>
                <a:ea typeface="Calibri"/>
                <a:cs typeface="Calibri"/>
                <a:sym typeface="Calibri"/>
              </a:rPr>
              <a:t>Functions and Layouts</a:t>
            </a:r>
            <a:endParaRPr/>
          </a:p>
        </p:txBody>
      </p:sp>
      <p:sp>
        <p:nvSpPr>
          <p:cNvPr id="2" name="Footer Placeholder 1">
            <a:extLst>
              <a:ext uri="{FF2B5EF4-FFF2-40B4-BE49-F238E27FC236}">
                <a16:creationId xmlns:a16="http://schemas.microsoft.com/office/drawing/2014/main" id="{6EA4F5E4-BA8C-46F2-67EA-2E9C81695071}"/>
              </a:ext>
            </a:extLst>
          </p:cNvPr>
          <p:cNvSpPr>
            <a:spLocks noGrp="1"/>
          </p:cNvSpPr>
          <p:nvPr>
            <p:ph type="ftr" idx="11"/>
          </p:nvPr>
        </p:nvSpPr>
        <p:spPr/>
        <p:txBody>
          <a:bodyPr/>
          <a:lstStyle/>
          <a:p>
            <a:r>
              <a:rPr lang="en-IN"/>
              <a:t>Web Developer-Python</a:t>
            </a:r>
          </a:p>
        </p:txBody>
      </p:sp>
      <p:sp>
        <p:nvSpPr>
          <p:cNvPr id="3" name="Slide Number Placeholder 2">
            <a:extLst>
              <a:ext uri="{FF2B5EF4-FFF2-40B4-BE49-F238E27FC236}">
                <a16:creationId xmlns:a16="http://schemas.microsoft.com/office/drawing/2014/main" id="{521AE55C-0D98-7E4A-68CB-4D59EF8760D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530"/>
        <p:cNvGrpSpPr/>
        <p:nvPr/>
      </p:nvGrpSpPr>
      <p:grpSpPr>
        <a:xfrm>
          <a:off x="0" y="0"/>
          <a:ext cx="0" cy="0"/>
          <a:chOff x="0" y="0"/>
          <a:chExt cx="0" cy="0"/>
        </a:xfrm>
      </p:grpSpPr>
      <p:sp>
        <p:nvSpPr>
          <p:cNvPr id="531" name="Google Shape;531;p53"/>
          <p:cNvSpPr txBox="1"/>
          <p:nvPr/>
        </p:nvSpPr>
        <p:spPr>
          <a:xfrm>
            <a:off x="304799" y="176513"/>
            <a:ext cx="10552253"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b="0">
                <a:solidFill>
                  <a:srgbClr val="3F3F3F"/>
                </a:solidFill>
                <a:latin typeface="Quattrocento Sans"/>
                <a:ea typeface="Quattrocento Sans"/>
                <a:cs typeface="Quattrocento Sans"/>
                <a:sym typeface="Quattrocento Sans"/>
              </a:rPr>
              <a:t>Functions and Layouts</a:t>
            </a:r>
            <a:endParaRPr sz="2800" b="0">
              <a:solidFill>
                <a:srgbClr val="3F3F3F"/>
              </a:solidFill>
              <a:latin typeface="Quattrocento Sans"/>
              <a:ea typeface="Quattrocento Sans"/>
              <a:cs typeface="Quattrocento Sans"/>
              <a:sym typeface="Quattrocento Sans"/>
            </a:endParaRPr>
          </a:p>
        </p:txBody>
      </p:sp>
      <p:sp>
        <p:nvSpPr>
          <p:cNvPr id="532" name="Google Shape;532;p53"/>
          <p:cNvSpPr txBox="1"/>
          <p:nvPr/>
        </p:nvSpPr>
        <p:spPr>
          <a:xfrm>
            <a:off x="715256" y="1177144"/>
            <a:ext cx="9708903" cy="589072"/>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n-US" sz="2400">
                <a:solidFill>
                  <a:srgbClr val="262626"/>
                </a:solidFill>
                <a:latin typeface="Calibri"/>
                <a:ea typeface="Calibri"/>
                <a:cs typeface="Calibri"/>
                <a:sym typeface="Calibri"/>
              </a:rPr>
              <a:t>Functions</a:t>
            </a:r>
            <a:endParaRPr sz="2400">
              <a:solidFill>
                <a:srgbClr val="262626"/>
              </a:solidFill>
              <a:latin typeface="Calibri"/>
              <a:ea typeface="Calibri"/>
              <a:cs typeface="Calibri"/>
              <a:sym typeface="Calibri"/>
            </a:endParaRPr>
          </a:p>
        </p:txBody>
      </p:sp>
      <p:pic>
        <p:nvPicPr>
          <p:cNvPr id="533" name="Google Shape;533;p53" descr="Closed book with solid fill"/>
          <p:cNvPicPr preferRelativeResize="0"/>
          <p:nvPr/>
        </p:nvPicPr>
        <p:blipFill rotWithShape="1">
          <a:blip r:embed="rId3">
            <a:alphaModFix/>
          </a:blip>
          <a:srcRect/>
          <a:stretch/>
        </p:blipFill>
        <p:spPr>
          <a:xfrm>
            <a:off x="304799" y="1334442"/>
            <a:ext cx="518160" cy="408432"/>
          </a:xfrm>
          <a:prstGeom prst="rect">
            <a:avLst/>
          </a:prstGeom>
          <a:noFill/>
          <a:ln>
            <a:noFill/>
          </a:ln>
        </p:spPr>
      </p:pic>
      <p:sp>
        <p:nvSpPr>
          <p:cNvPr id="534" name="Google Shape;534;p53"/>
          <p:cNvSpPr txBox="1"/>
          <p:nvPr/>
        </p:nvSpPr>
        <p:spPr>
          <a:xfrm>
            <a:off x="715255" y="1780100"/>
            <a:ext cx="11027671" cy="880369"/>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n-US" sz="1800">
                <a:solidFill>
                  <a:schemeClr val="dk1"/>
                </a:solidFill>
                <a:latin typeface="Calibri"/>
                <a:ea typeface="Calibri"/>
                <a:cs typeface="Calibri"/>
                <a:sym typeface="Calibri"/>
              </a:rPr>
              <a:t>Functions in Tkinter are used to define the behavior and logic of your application. These functions are typically linked to events or widgets, such as button clicks, menu selections, or other user actions. </a:t>
            </a:r>
            <a:endParaRPr sz="1800">
              <a:solidFill>
                <a:schemeClr val="dk1"/>
              </a:solidFill>
              <a:latin typeface="Calibri"/>
              <a:ea typeface="Calibri"/>
              <a:cs typeface="Calibri"/>
              <a:sym typeface="Calibri"/>
            </a:endParaRPr>
          </a:p>
        </p:txBody>
      </p:sp>
      <p:sp>
        <p:nvSpPr>
          <p:cNvPr id="535" name="Google Shape;535;p53"/>
          <p:cNvSpPr txBox="1"/>
          <p:nvPr/>
        </p:nvSpPr>
        <p:spPr>
          <a:xfrm>
            <a:off x="715256" y="2846583"/>
            <a:ext cx="9708903" cy="589072"/>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n-US" sz="2400">
                <a:solidFill>
                  <a:srgbClr val="262626"/>
                </a:solidFill>
                <a:latin typeface="Calibri"/>
                <a:ea typeface="Calibri"/>
                <a:cs typeface="Calibri"/>
                <a:sym typeface="Calibri"/>
              </a:rPr>
              <a:t>Need of function to work with Tkinter?</a:t>
            </a:r>
            <a:endParaRPr sz="2400">
              <a:solidFill>
                <a:srgbClr val="262626"/>
              </a:solidFill>
              <a:latin typeface="Calibri"/>
              <a:ea typeface="Calibri"/>
              <a:cs typeface="Calibri"/>
              <a:sym typeface="Calibri"/>
            </a:endParaRPr>
          </a:p>
        </p:txBody>
      </p:sp>
      <p:pic>
        <p:nvPicPr>
          <p:cNvPr id="536" name="Google Shape;536;p53" descr="Closed book with solid fill"/>
          <p:cNvPicPr preferRelativeResize="0"/>
          <p:nvPr/>
        </p:nvPicPr>
        <p:blipFill rotWithShape="1">
          <a:blip r:embed="rId3">
            <a:alphaModFix/>
          </a:blip>
          <a:srcRect/>
          <a:stretch/>
        </p:blipFill>
        <p:spPr>
          <a:xfrm>
            <a:off x="304799" y="3003881"/>
            <a:ext cx="518160" cy="408432"/>
          </a:xfrm>
          <a:prstGeom prst="rect">
            <a:avLst/>
          </a:prstGeom>
          <a:noFill/>
          <a:ln>
            <a:noFill/>
          </a:ln>
        </p:spPr>
      </p:pic>
      <p:sp>
        <p:nvSpPr>
          <p:cNvPr id="537" name="Google Shape;537;p53"/>
          <p:cNvSpPr txBox="1"/>
          <p:nvPr/>
        </p:nvSpPr>
        <p:spPr>
          <a:xfrm>
            <a:off x="715256" y="3523681"/>
            <a:ext cx="11027671" cy="3139321"/>
          </a:xfrm>
          <a:prstGeom prst="rect">
            <a:avLst/>
          </a:prstGeom>
          <a:noFill/>
          <a:ln>
            <a:noFill/>
          </a:ln>
        </p:spPr>
        <p:txBody>
          <a:bodyPr spcFirstLastPara="1" wrap="square" lIns="91425" tIns="45700" rIns="91425" bIns="45700" anchor="t" anchorCtr="0">
            <a:spAutoFit/>
          </a:bodyPr>
          <a:lstStyle/>
          <a:p>
            <a:pPr marL="285750" marR="0" lvl="0" indent="-285750" algn="just" rtl="0">
              <a:spcBef>
                <a:spcPts val="0"/>
              </a:spcBef>
              <a:spcAft>
                <a:spcPts val="0"/>
              </a:spcAft>
              <a:buClr>
                <a:schemeClr val="dk1"/>
              </a:buClr>
              <a:buSzPts val="1800"/>
              <a:buFont typeface="Noto Sans Symbols"/>
              <a:buChar char="▪"/>
            </a:pPr>
            <a:r>
              <a:rPr lang="en-US" sz="1800">
                <a:solidFill>
                  <a:schemeClr val="dk1"/>
                </a:solidFill>
                <a:latin typeface="Calibri"/>
                <a:ea typeface="Calibri"/>
                <a:cs typeface="Calibri"/>
                <a:sym typeface="Calibri"/>
              </a:rPr>
              <a:t>Event Handling : Functions allow you to define how your application should respond to specific events, such as button clicks, key presses, or mouse movements.</a:t>
            </a:r>
            <a:endParaRPr/>
          </a:p>
          <a:p>
            <a:pPr marL="285750" marR="0" lvl="0" indent="-171450" algn="just" rtl="0">
              <a:spcBef>
                <a:spcPts val="0"/>
              </a:spcBef>
              <a:spcAft>
                <a:spcPts val="0"/>
              </a:spcAft>
              <a:buClr>
                <a:schemeClr val="dk1"/>
              </a:buClr>
              <a:buSzPts val="1800"/>
              <a:buFont typeface="Noto Sans Symbols"/>
              <a:buNone/>
            </a:pPr>
            <a:endParaRPr sz="1800">
              <a:solidFill>
                <a:schemeClr val="dk1"/>
              </a:solidFill>
              <a:latin typeface="Calibri"/>
              <a:ea typeface="Calibri"/>
              <a:cs typeface="Calibri"/>
              <a:sym typeface="Calibri"/>
            </a:endParaRPr>
          </a:p>
          <a:p>
            <a:pPr marL="285750" marR="0" lvl="0" indent="-285750" algn="just" rtl="0">
              <a:spcBef>
                <a:spcPts val="0"/>
              </a:spcBef>
              <a:spcAft>
                <a:spcPts val="0"/>
              </a:spcAft>
              <a:buClr>
                <a:schemeClr val="dk1"/>
              </a:buClr>
              <a:buSzPts val="1800"/>
              <a:buFont typeface="Noto Sans Symbols"/>
              <a:buChar char="▪"/>
            </a:pPr>
            <a:r>
              <a:rPr lang="en-US" sz="1800">
                <a:solidFill>
                  <a:schemeClr val="dk1"/>
                </a:solidFill>
                <a:latin typeface="Calibri"/>
                <a:ea typeface="Calibri"/>
                <a:cs typeface="Calibri"/>
                <a:sym typeface="Calibri"/>
              </a:rPr>
              <a:t>Modularity : Functions make your code modular by breaking it into smaller, manageable pieces. This modularity allows you to test and debug individual parts of your application separately.</a:t>
            </a:r>
            <a:endParaRPr/>
          </a:p>
          <a:p>
            <a:pPr marL="285750" marR="0" lvl="0" indent="-171450" algn="just" rtl="0">
              <a:spcBef>
                <a:spcPts val="0"/>
              </a:spcBef>
              <a:spcAft>
                <a:spcPts val="0"/>
              </a:spcAft>
              <a:buClr>
                <a:schemeClr val="dk1"/>
              </a:buClr>
              <a:buSzPts val="1800"/>
              <a:buFont typeface="Noto Sans Symbols"/>
              <a:buNone/>
            </a:pPr>
            <a:endParaRPr sz="1800">
              <a:solidFill>
                <a:schemeClr val="dk1"/>
              </a:solidFill>
              <a:latin typeface="Calibri"/>
              <a:ea typeface="Calibri"/>
              <a:cs typeface="Calibri"/>
              <a:sym typeface="Calibri"/>
            </a:endParaRPr>
          </a:p>
          <a:p>
            <a:pPr marL="285750" marR="0" lvl="0" indent="-285750" algn="just" rtl="0">
              <a:spcBef>
                <a:spcPts val="0"/>
              </a:spcBef>
              <a:spcAft>
                <a:spcPts val="0"/>
              </a:spcAft>
              <a:buClr>
                <a:schemeClr val="dk1"/>
              </a:buClr>
              <a:buSzPts val="1800"/>
              <a:buFont typeface="Noto Sans Symbols"/>
              <a:buChar char="▪"/>
            </a:pPr>
            <a:r>
              <a:rPr lang="en-US" sz="1800">
                <a:solidFill>
                  <a:schemeClr val="dk1"/>
                </a:solidFill>
                <a:latin typeface="Calibri"/>
                <a:ea typeface="Calibri"/>
                <a:cs typeface="Calibri"/>
                <a:sym typeface="Calibri"/>
              </a:rPr>
              <a:t>State Management : Functions can help manage the state of your application. For example, you can create functions that update the content of widgets or variables based on user interactions.</a:t>
            </a:r>
            <a:endParaRPr/>
          </a:p>
          <a:p>
            <a:pPr marL="285750" marR="0" lvl="0" indent="-171450" algn="just" rtl="0">
              <a:spcBef>
                <a:spcPts val="0"/>
              </a:spcBef>
              <a:spcAft>
                <a:spcPts val="0"/>
              </a:spcAft>
              <a:buClr>
                <a:schemeClr val="dk1"/>
              </a:buClr>
              <a:buSzPts val="1800"/>
              <a:buFont typeface="Noto Sans Symbols"/>
              <a:buNone/>
            </a:pPr>
            <a:endParaRPr sz="1800">
              <a:solidFill>
                <a:schemeClr val="dk1"/>
              </a:solidFill>
              <a:latin typeface="Calibri"/>
              <a:ea typeface="Calibri"/>
              <a:cs typeface="Calibri"/>
              <a:sym typeface="Calibri"/>
            </a:endParaRPr>
          </a:p>
          <a:p>
            <a:pPr marL="285750" marR="0" lvl="0" indent="-285750" algn="just" rtl="0">
              <a:spcBef>
                <a:spcPts val="0"/>
              </a:spcBef>
              <a:spcAft>
                <a:spcPts val="0"/>
              </a:spcAft>
              <a:buClr>
                <a:schemeClr val="dk1"/>
              </a:buClr>
              <a:buSzPts val="1800"/>
              <a:buFont typeface="Noto Sans Symbols"/>
              <a:buChar char="▪"/>
            </a:pPr>
            <a:r>
              <a:rPr lang="en-US" sz="1800">
                <a:solidFill>
                  <a:schemeClr val="dk1"/>
                </a:solidFill>
                <a:latin typeface="Calibri"/>
                <a:ea typeface="Calibri"/>
                <a:cs typeface="Calibri"/>
                <a:sym typeface="Calibri"/>
              </a:rPr>
              <a:t>Reusability : Functions promote reusability. Once you define a function, you can reuse it across different parts of your application or even in different applications.</a:t>
            </a:r>
            <a:endParaRPr sz="1800">
              <a:solidFill>
                <a:schemeClr val="dk1"/>
              </a:solidFill>
              <a:latin typeface="Calibri"/>
              <a:ea typeface="Calibri"/>
              <a:cs typeface="Calibri"/>
              <a:sym typeface="Calibri"/>
            </a:endParaRPr>
          </a:p>
        </p:txBody>
      </p:sp>
      <p:sp>
        <p:nvSpPr>
          <p:cNvPr id="2" name="Footer Placeholder 1">
            <a:extLst>
              <a:ext uri="{FF2B5EF4-FFF2-40B4-BE49-F238E27FC236}">
                <a16:creationId xmlns:a16="http://schemas.microsoft.com/office/drawing/2014/main" id="{1545963C-7B3B-B1F1-A722-8E7855218623}"/>
              </a:ext>
            </a:extLst>
          </p:cNvPr>
          <p:cNvSpPr>
            <a:spLocks noGrp="1"/>
          </p:cNvSpPr>
          <p:nvPr>
            <p:ph type="ftr" idx="11"/>
          </p:nvPr>
        </p:nvSpPr>
        <p:spPr/>
        <p:txBody>
          <a:bodyPr/>
          <a:lstStyle/>
          <a:p>
            <a:r>
              <a:rPr lang="en-IN"/>
              <a:t>Web Developer-Python</a:t>
            </a:r>
          </a:p>
        </p:txBody>
      </p:sp>
      <p:sp>
        <p:nvSpPr>
          <p:cNvPr id="3" name="Slide Number Placeholder 2">
            <a:extLst>
              <a:ext uri="{FF2B5EF4-FFF2-40B4-BE49-F238E27FC236}">
                <a16:creationId xmlns:a16="http://schemas.microsoft.com/office/drawing/2014/main" id="{C7B76C70-E1B9-B85C-EF07-8864D10EC52D}"/>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541"/>
        <p:cNvGrpSpPr/>
        <p:nvPr/>
      </p:nvGrpSpPr>
      <p:grpSpPr>
        <a:xfrm>
          <a:off x="0" y="0"/>
          <a:ext cx="0" cy="0"/>
          <a:chOff x="0" y="0"/>
          <a:chExt cx="0" cy="0"/>
        </a:xfrm>
      </p:grpSpPr>
      <p:sp>
        <p:nvSpPr>
          <p:cNvPr id="542" name="Google Shape;542;p54"/>
          <p:cNvSpPr txBox="1"/>
          <p:nvPr/>
        </p:nvSpPr>
        <p:spPr>
          <a:xfrm>
            <a:off x="304799" y="176513"/>
            <a:ext cx="10552253"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b="0">
                <a:solidFill>
                  <a:srgbClr val="3F3F3F"/>
                </a:solidFill>
                <a:latin typeface="Quattrocento Sans"/>
                <a:ea typeface="Quattrocento Sans"/>
                <a:cs typeface="Quattrocento Sans"/>
                <a:sym typeface="Quattrocento Sans"/>
              </a:rPr>
              <a:t>Functions and Layouts</a:t>
            </a:r>
            <a:endParaRPr sz="2800" b="0">
              <a:solidFill>
                <a:srgbClr val="3F3F3F"/>
              </a:solidFill>
              <a:latin typeface="Quattrocento Sans"/>
              <a:ea typeface="Quattrocento Sans"/>
              <a:cs typeface="Quattrocento Sans"/>
              <a:sym typeface="Quattrocento Sans"/>
            </a:endParaRPr>
          </a:p>
        </p:txBody>
      </p:sp>
      <p:sp>
        <p:nvSpPr>
          <p:cNvPr id="543" name="Google Shape;543;p54"/>
          <p:cNvSpPr txBox="1"/>
          <p:nvPr/>
        </p:nvSpPr>
        <p:spPr>
          <a:xfrm>
            <a:off x="1391920" y="1439981"/>
            <a:ext cx="11027671" cy="464871"/>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n-US" sz="1800">
                <a:solidFill>
                  <a:schemeClr val="dk1"/>
                </a:solidFill>
                <a:latin typeface="Calibri"/>
                <a:ea typeface="Calibri"/>
                <a:cs typeface="Calibri"/>
                <a:sym typeface="Calibri"/>
              </a:rPr>
              <a:t>We have already used on_keypress() and on_entry_focus_in() functions to handle key press and get fucus events.</a:t>
            </a:r>
            <a:endParaRPr sz="1800">
              <a:solidFill>
                <a:schemeClr val="dk1"/>
              </a:solidFill>
              <a:latin typeface="Calibri"/>
              <a:ea typeface="Calibri"/>
              <a:cs typeface="Calibri"/>
              <a:sym typeface="Calibri"/>
            </a:endParaRPr>
          </a:p>
        </p:txBody>
      </p:sp>
      <p:pic>
        <p:nvPicPr>
          <p:cNvPr id="544" name="Google Shape;544;p54" descr="A screenshot of a computer&#10;&#10;Description automatically generated"/>
          <p:cNvPicPr preferRelativeResize="0"/>
          <p:nvPr/>
        </p:nvPicPr>
        <p:blipFill rotWithShape="1">
          <a:blip r:embed="rId3">
            <a:alphaModFix/>
          </a:blip>
          <a:srcRect l="5823" t="10201" r="19564" b="49965"/>
          <a:stretch/>
        </p:blipFill>
        <p:spPr>
          <a:xfrm>
            <a:off x="2393180" y="2247553"/>
            <a:ext cx="7405639" cy="4200866"/>
          </a:xfrm>
          <a:prstGeom prst="rect">
            <a:avLst/>
          </a:prstGeom>
          <a:noFill/>
          <a:ln w="9525" cap="flat" cmpd="sng">
            <a:solidFill>
              <a:schemeClr val="dk1"/>
            </a:solidFill>
            <a:prstDash val="solid"/>
            <a:round/>
            <a:headEnd type="none" w="sm" len="sm"/>
            <a:tailEnd type="none" w="sm" len="sm"/>
          </a:ln>
        </p:spPr>
      </p:pic>
      <p:pic>
        <p:nvPicPr>
          <p:cNvPr id="545" name="Google Shape;545;p54"/>
          <p:cNvPicPr preferRelativeResize="0"/>
          <p:nvPr/>
        </p:nvPicPr>
        <p:blipFill rotWithShape="1">
          <a:blip r:embed="rId4">
            <a:alphaModFix/>
          </a:blip>
          <a:srcRect/>
          <a:stretch/>
        </p:blipFill>
        <p:spPr>
          <a:xfrm>
            <a:off x="449073" y="1280160"/>
            <a:ext cx="942847" cy="880369"/>
          </a:xfrm>
          <a:prstGeom prst="rect">
            <a:avLst/>
          </a:prstGeom>
          <a:noFill/>
          <a:ln>
            <a:noFill/>
          </a:ln>
        </p:spPr>
      </p:pic>
      <p:sp>
        <p:nvSpPr>
          <p:cNvPr id="2" name="Footer Placeholder 1">
            <a:extLst>
              <a:ext uri="{FF2B5EF4-FFF2-40B4-BE49-F238E27FC236}">
                <a16:creationId xmlns:a16="http://schemas.microsoft.com/office/drawing/2014/main" id="{D6A613DF-449D-6433-170E-38D9B62DB587}"/>
              </a:ext>
            </a:extLst>
          </p:cNvPr>
          <p:cNvSpPr>
            <a:spLocks noGrp="1"/>
          </p:cNvSpPr>
          <p:nvPr>
            <p:ph type="ftr" idx="11"/>
          </p:nvPr>
        </p:nvSpPr>
        <p:spPr/>
        <p:txBody>
          <a:bodyPr/>
          <a:lstStyle/>
          <a:p>
            <a:r>
              <a:rPr lang="en-IN"/>
              <a:t>Web Developer-Python</a:t>
            </a:r>
          </a:p>
        </p:txBody>
      </p:sp>
      <p:sp>
        <p:nvSpPr>
          <p:cNvPr id="3" name="Slide Number Placeholder 2">
            <a:extLst>
              <a:ext uri="{FF2B5EF4-FFF2-40B4-BE49-F238E27FC236}">
                <a16:creationId xmlns:a16="http://schemas.microsoft.com/office/drawing/2014/main" id="{A6C985E8-EFF3-0A3D-CDCF-293880210DD9}"/>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549"/>
        <p:cNvGrpSpPr/>
        <p:nvPr/>
      </p:nvGrpSpPr>
      <p:grpSpPr>
        <a:xfrm>
          <a:off x="0" y="0"/>
          <a:ext cx="0" cy="0"/>
          <a:chOff x="0" y="0"/>
          <a:chExt cx="0" cy="0"/>
        </a:xfrm>
      </p:grpSpPr>
      <p:sp>
        <p:nvSpPr>
          <p:cNvPr id="550" name="Google Shape;550;p55"/>
          <p:cNvSpPr txBox="1"/>
          <p:nvPr/>
        </p:nvSpPr>
        <p:spPr>
          <a:xfrm>
            <a:off x="304799" y="176513"/>
            <a:ext cx="10552253"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b="0">
                <a:solidFill>
                  <a:srgbClr val="3F3F3F"/>
                </a:solidFill>
                <a:latin typeface="Quattrocento Sans"/>
                <a:ea typeface="Quattrocento Sans"/>
                <a:cs typeface="Quattrocento Sans"/>
                <a:sym typeface="Quattrocento Sans"/>
              </a:rPr>
              <a:t>Functions and Layouts</a:t>
            </a:r>
            <a:endParaRPr sz="2800" b="0">
              <a:solidFill>
                <a:srgbClr val="3F3F3F"/>
              </a:solidFill>
              <a:latin typeface="Quattrocento Sans"/>
              <a:ea typeface="Quattrocento Sans"/>
              <a:cs typeface="Quattrocento Sans"/>
              <a:sym typeface="Quattrocento Sans"/>
            </a:endParaRPr>
          </a:p>
        </p:txBody>
      </p:sp>
      <p:pic>
        <p:nvPicPr>
          <p:cNvPr id="551" name="Google Shape;551;p55"/>
          <p:cNvPicPr preferRelativeResize="0"/>
          <p:nvPr/>
        </p:nvPicPr>
        <p:blipFill rotWithShape="1">
          <a:blip r:embed="rId3">
            <a:alphaModFix/>
          </a:blip>
          <a:srcRect/>
          <a:stretch/>
        </p:blipFill>
        <p:spPr>
          <a:xfrm>
            <a:off x="304799" y="1338212"/>
            <a:ext cx="942847" cy="880369"/>
          </a:xfrm>
          <a:prstGeom prst="rect">
            <a:avLst/>
          </a:prstGeom>
          <a:noFill/>
          <a:ln>
            <a:noFill/>
          </a:ln>
        </p:spPr>
      </p:pic>
      <p:grpSp>
        <p:nvGrpSpPr>
          <p:cNvPr id="552" name="Google Shape;552;p55"/>
          <p:cNvGrpSpPr/>
          <p:nvPr/>
        </p:nvGrpSpPr>
        <p:grpSpPr>
          <a:xfrm>
            <a:off x="304799" y="2401461"/>
            <a:ext cx="11409680" cy="3975546"/>
            <a:chOff x="304799" y="2218581"/>
            <a:chExt cx="11409680" cy="3975546"/>
          </a:xfrm>
        </p:grpSpPr>
        <p:pic>
          <p:nvPicPr>
            <p:cNvPr id="553" name="Google Shape;553;p55" descr="Closed book with solid fill"/>
            <p:cNvPicPr preferRelativeResize="0"/>
            <p:nvPr/>
          </p:nvPicPr>
          <p:blipFill rotWithShape="1">
            <a:blip r:embed="rId4">
              <a:alphaModFix/>
            </a:blip>
            <a:srcRect/>
            <a:stretch/>
          </p:blipFill>
          <p:spPr>
            <a:xfrm>
              <a:off x="304799" y="2375879"/>
              <a:ext cx="518160" cy="408432"/>
            </a:xfrm>
            <a:prstGeom prst="rect">
              <a:avLst/>
            </a:prstGeom>
            <a:noFill/>
            <a:ln>
              <a:noFill/>
            </a:ln>
          </p:spPr>
        </p:pic>
        <p:grpSp>
          <p:nvGrpSpPr>
            <p:cNvPr id="554" name="Google Shape;554;p55"/>
            <p:cNvGrpSpPr/>
            <p:nvPr/>
          </p:nvGrpSpPr>
          <p:grpSpPr>
            <a:xfrm>
              <a:off x="304799" y="2218581"/>
              <a:ext cx="11409680" cy="3975546"/>
              <a:chOff x="304799" y="2562543"/>
              <a:chExt cx="11409680" cy="3975546"/>
            </a:xfrm>
          </p:grpSpPr>
          <p:sp>
            <p:nvSpPr>
              <p:cNvPr id="555" name="Google Shape;555;p55"/>
              <p:cNvSpPr txBox="1"/>
              <p:nvPr/>
            </p:nvSpPr>
            <p:spPr>
              <a:xfrm>
                <a:off x="715257" y="3993020"/>
                <a:ext cx="4609096" cy="589072"/>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n-US" sz="2400">
                    <a:solidFill>
                      <a:srgbClr val="262626"/>
                    </a:solidFill>
                    <a:latin typeface="Calibri"/>
                    <a:ea typeface="Calibri"/>
                    <a:cs typeface="Calibri"/>
                    <a:sym typeface="Calibri"/>
                  </a:rPr>
                  <a:t>Type of layouts</a:t>
                </a:r>
                <a:endParaRPr/>
              </a:p>
            </p:txBody>
          </p:sp>
          <p:pic>
            <p:nvPicPr>
              <p:cNvPr id="556" name="Google Shape;556;p55" descr="Closed book with solid fill"/>
              <p:cNvPicPr preferRelativeResize="0"/>
              <p:nvPr/>
            </p:nvPicPr>
            <p:blipFill rotWithShape="1">
              <a:blip r:embed="rId4">
                <a:alphaModFix/>
              </a:blip>
              <a:srcRect/>
              <a:stretch/>
            </p:blipFill>
            <p:spPr>
              <a:xfrm>
                <a:off x="304799" y="4150318"/>
                <a:ext cx="518160" cy="408432"/>
              </a:xfrm>
              <a:prstGeom prst="rect">
                <a:avLst/>
              </a:prstGeom>
              <a:noFill/>
              <a:ln>
                <a:noFill/>
              </a:ln>
            </p:spPr>
          </p:pic>
          <p:sp>
            <p:nvSpPr>
              <p:cNvPr id="557" name="Google Shape;557;p55"/>
              <p:cNvSpPr txBox="1"/>
              <p:nvPr/>
            </p:nvSpPr>
            <p:spPr>
              <a:xfrm>
                <a:off x="715257" y="4623449"/>
                <a:ext cx="10999222" cy="369332"/>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1800">
                    <a:solidFill>
                      <a:schemeClr val="dk1"/>
                    </a:solidFill>
                    <a:latin typeface="Calibri"/>
                    <a:ea typeface="Calibri"/>
                    <a:cs typeface="Calibri"/>
                    <a:sym typeface="Calibri"/>
                  </a:rPr>
                  <a:t>Tkinter offers several ways to place widgets in the window, the most commons are - </a:t>
                </a:r>
                <a:endParaRPr sz="1800">
                  <a:solidFill>
                    <a:schemeClr val="dk1"/>
                  </a:solidFill>
                  <a:latin typeface="Calibri"/>
                  <a:ea typeface="Calibri"/>
                  <a:cs typeface="Calibri"/>
                  <a:sym typeface="Calibri"/>
                </a:endParaRPr>
              </a:p>
            </p:txBody>
          </p:sp>
          <p:sp>
            <p:nvSpPr>
              <p:cNvPr id="558" name="Google Shape;558;p55"/>
              <p:cNvSpPr txBox="1"/>
              <p:nvPr/>
            </p:nvSpPr>
            <p:spPr>
              <a:xfrm>
                <a:off x="715257" y="4861348"/>
                <a:ext cx="10999222" cy="1676741"/>
              </a:xfrm>
              <a:prstGeom prst="rect">
                <a:avLst/>
              </a:prstGeom>
              <a:noFill/>
              <a:ln>
                <a:noFill/>
              </a:ln>
            </p:spPr>
            <p:txBody>
              <a:bodyPr spcFirstLastPara="1" wrap="square" lIns="91425" tIns="45700" rIns="91425" bIns="45700" anchor="t" anchorCtr="0">
                <a:spAutoFit/>
              </a:bodyPr>
              <a:lstStyle/>
              <a:p>
                <a:pPr marL="285750" marR="0" lvl="0" indent="-285750" algn="just" rtl="0">
                  <a:lnSpc>
                    <a:spcPct val="200000"/>
                  </a:lnSpc>
                  <a:spcBef>
                    <a:spcPts val="0"/>
                  </a:spcBef>
                  <a:spcAft>
                    <a:spcPts val="0"/>
                  </a:spcAft>
                  <a:buClr>
                    <a:schemeClr val="dk1"/>
                  </a:buClr>
                  <a:buSzPts val="1800"/>
                  <a:buFont typeface="Noto Sans Symbols"/>
                  <a:buChar char="▪"/>
                </a:pPr>
                <a:r>
                  <a:rPr lang="en-US" sz="1800">
                    <a:solidFill>
                      <a:schemeClr val="dk1"/>
                    </a:solidFill>
                    <a:latin typeface="Calibri"/>
                    <a:ea typeface="Calibri"/>
                    <a:cs typeface="Calibri"/>
                    <a:sym typeface="Calibri"/>
                  </a:rPr>
                  <a:t>Pack layout</a:t>
                </a:r>
                <a:endParaRPr/>
              </a:p>
              <a:p>
                <a:pPr marL="285750" marR="0" lvl="0" indent="-285750" algn="just" rtl="0">
                  <a:lnSpc>
                    <a:spcPct val="200000"/>
                  </a:lnSpc>
                  <a:spcBef>
                    <a:spcPts val="0"/>
                  </a:spcBef>
                  <a:spcAft>
                    <a:spcPts val="0"/>
                  </a:spcAft>
                  <a:buClr>
                    <a:schemeClr val="dk1"/>
                  </a:buClr>
                  <a:buSzPts val="1800"/>
                  <a:buFont typeface="Noto Sans Symbols"/>
                  <a:buChar char="▪"/>
                </a:pPr>
                <a:r>
                  <a:rPr lang="en-US" sz="1800">
                    <a:solidFill>
                      <a:schemeClr val="dk1"/>
                    </a:solidFill>
                    <a:latin typeface="Calibri"/>
                    <a:ea typeface="Calibri"/>
                    <a:cs typeface="Calibri"/>
                    <a:sym typeface="Calibri"/>
                  </a:rPr>
                  <a:t>Grid layout</a:t>
                </a:r>
                <a:endParaRPr/>
              </a:p>
              <a:p>
                <a:pPr marL="285750" marR="0" lvl="0" indent="-285750" algn="just" rtl="0">
                  <a:lnSpc>
                    <a:spcPct val="200000"/>
                  </a:lnSpc>
                  <a:spcBef>
                    <a:spcPts val="0"/>
                  </a:spcBef>
                  <a:spcAft>
                    <a:spcPts val="0"/>
                  </a:spcAft>
                  <a:buClr>
                    <a:schemeClr val="dk1"/>
                  </a:buClr>
                  <a:buSzPts val="1800"/>
                  <a:buFont typeface="Noto Sans Symbols"/>
                  <a:buChar char="▪"/>
                </a:pPr>
                <a:r>
                  <a:rPr lang="en-US" sz="1800">
                    <a:solidFill>
                      <a:schemeClr val="dk1"/>
                    </a:solidFill>
                    <a:latin typeface="Calibri"/>
                    <a:ea typeface="Calibri"/>
                    <a:cs typeface="Calibri"/>
                    <a:sym typeface="Calibri"/>
                  </a:rPr>
                  <a:t>Place layout</a:t>
                </a:r>
                <a:endParaRPr/>
              </a:p>
            </p:txBody>
          </p:sp>
          <p:sp>
            <p:nvSpPr>
              <p:cNvPr id="559" name="Google Shape;559;p55"/>
              <p:cNvSpPr txBox="1"/>
              <p:nvPr/>
            </p:nvSpPr>
            <p:spPr>
              <a:xfrm>
                <a:off x="715257" y="2562543"/>
                <a:ext cx="4609096" cy="589072"/>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n-US" sz="2400">
                    <a:solidFill>
                      <a:srgbClr val="262626"/>
                    </a:solidFill>
                    <a:latin typeface="Calibri"/>
                    <a:ea typeface="Calibri"/>
                    <a:cs typeface="Calibri"/>
                    <a:sym typeface="Calibri"/>
                  </a:rPr>
                  <a:t>Explanation</a:t>
                </a:r>
                <a:endParaRPr/>
              </a:p>
            </p:txBody>
          </p:sp>
          <p:sp>
            <p:nvSpPr>
              <p:cNvPr id="560" name="Google Shape;560;p55"/>
              <p:cNvSpPr txBox="1"/>
              <p:nvPr/>
            </p:nvSpPr>
            <p:spPr>
              <a:xfrm>
                <a:off x="715257" y="3192972"/>
                <a:ext cx="10999222" cy="646331"/>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1800">
                    <a:solidFill>
                      <a:schemeClr val="dk1"/>
                    </a:solidFill>
                    <a:latin typeface="Calibri"/>
                    <a:ea typeface="Calibri"/>
                    <a:cs typeface="Calibri"/>
                    <a:sym typeface="Calibri"/>
                  </a:rPr>
                  <a:t>In Tkinter, a layout refers to the way widgets (such as buttons, labels, text boxes, etc.) are organized within a window or frame.</a:t>
                </a:r>
                <a:endParaRPr sz="1800">
                  <a:solidFill>
                    <a:schemeClr val="dk1"/>
                  </a:solidFill>
                  <a:latin typeface="Calibri"/>
                  <a:ea typeface="Calibri"/>
                  <a:cs typeface="Calibri"/>
                  <a:sym typeface="Calibri"/>
                </a:endParaRPr>
              </a:p>
            </p:txBody>
          </p:sp>
        </p:grpSp>
      </p:grpSp>
      <p:sp>
        <p:nvSpPr>
          <p:cNvPr id="561" name="Google Shape;561;p55"/>
          <p:cNvSpPr txBox="1"/>
          <p:nvPr/>
        </p:nvSpPr>
        <p:spPr>
          <a:xfrm>
            <a:off x="1379726" y="1547563"/>
            <a:ext cx="6096000"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rgbClr val="262626"/>
                </a:solidFill>
                <a:latin typeface="Calibri"/>
                <a:ea typeface="Calibri"/>
                <a:cs typeface="Calibri"/>
                <a:sym typeface="Calibri"/>
              </a:rPr>
              <a:t>Layouts</a:t>
            </a:r>
            <a:endParaRPr sz="2400">
              <a:solidFill>
                <a:schemeClr val="dk1"/>
              </a:solidFill>
              <a:latin typeface="Arial"/>
              <a:ea typeface="Arial"/>
              <a:cs typeface="Arial"/>
              <a:sym typeface="Arial"/>
            </a:endParaRPr>
          </a:p>
        </p:txBody>
      </p:sp>
      <p:sp>
        <p:nvSpPr>
          <p:cNvPr id="2" name="Footer Placeholder 1">
            <a:extLst>
              <a:ext uri="{FF2B5EF4-FFF2-40B4-BE49-F238E27FC236}">
                <a16:creationId xmlns:a16="http://schemas.microsoft.com/office/drawing/2014/main" id="{E789E1C1-F467-69E1-4AB7-22D518E95254}"/>
              </a:ext>
            </a:extLst>
          </p:cNvPr>
          <p:cNvSpPr>
            <a:spLocks noGrp="1"/>
          </p:cNvSpPr>
          <p:nvPr>
            <p:ph type="ftr" idx="11"/>
          </p:nvPr>
        </p:nvSpPr>
        <p:spPr/>
        <p:txBody>
          <a:bodyPr/>
          <a:lstStyle/>
          <a:p>
            <a:r>
              <a:rPr lang="en-IN"/>
              <a:t>Web Developer-Python</a:t>
            </a:r>
          </a:p>
        </p:txBody>
      </p:sp>
      <p:sp>
        <p:nvSpPr>
          <p:cNvPr id="3" name="Slide Number Placeholder 2">
            <a:extLst>
              <a:ext uri="{FF2B5EF4-FFF2-40B4-BE49-F238E27FC236}">
                <a16:creationId xmlns:a16="http://schemas.microsoft.com/office/drawing/2014/main" id="{5DC48002-4AF5-F027-D7FA-B74FBC8624A4}"/>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565"/>
        <p:cNvGrpSpPr/>
        <p:nvPr/>
      </p:nvGrpSpPr>
      <p:grpSpPr>
        <a:xfrm>
          <a:off x="0" y="0"/>
          <a:ext cx="0" cy="0"/>
          <a:chOff x="0" y="0"/>
          <a:chExt cx="0" cy="0"/>
        </a:xfrm>
      </p:grpSpPr>
      <p:sp>
        <p:nvSpPr>
          <p:cNvPr id="566" name="Google Shape;566;p56"/>
          <p:cNvSpPr txBox="1"/>
          <p:nvPr/>
        </p:nvSpPr>
        <p:spPr>
          <a:xfrm>
            <a:off x="304799" y="176513"/>
            <a:ext cx="10552253"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b="0">
                <a:solidFill>
                  <a:srgbClr val="3F3F3F"/>
                </a:solidFill>
                <a:latin typeface="Quattrocento Sans"/>
                <a:ea typeface="Quattrocento Sans"/>
                <a:cs typeface="Quattrocento Sans"/>
                <a:sym typeface="Quattrocento Sans"/>
              </a:rPr>
              <a:t>Functions and Layouts</a:t>
            </a:r>
            <a:endParaRPr sz="2800" b="0">
              <a:solidFill>
                <a:srgbClr val="3F3F3F"/>
              </a:solidFill>
              <a:latin typeface="Quattrocento Sans"/>
              <a:ea typeface="Quattrocento Sans"/>
              <a:cs typeface="Quattrocento Sans"/>
              <a:sym typeface="Quattrocento Sans"/>
            </a:endParaRPr>
          </a:p>
        </p:txBody>
      </p:sp>
      <p:pic>
        <p:nvPicPr>
          <p:cNvPr id="567" name="Google Shape;567;p56"/>
          <p:cNvPicPr preferRelativeResize="0"/>
          <p:nvPr/>
        </p:nvPicPr>
        <p:blipFill rotWithShape="1">
          <a:blip r:embed="rId3">
            <a:alphaModFix/>
          </a:blip>
          <a:srcRect/>
          <a:stretch/>
        </p:blipFill>
        <p:spPr>
          <a:xfrm>
            <a:off x="304799" y="1338212"/>
            <a:ext cx="942847" cy="880369"/>
          </a:xfrm>
          <a:prstGeom prst="rect">
            <a:avLst/>
          </a:prstGeom>
          <a:noFill/>
          <a:ln>
            <a:noFill/>
          </a:ln>
        </p:spPr>
      </p:pic>
      <p:sp>
        <p:nvSpPr>
          <p:cNvPr id="568" name="Google Shape;568;p56"/>
          <p:cNvSpPr txBox="1"/>
          <p:nvPr/>
        </p:nvSpPr>
        <p:spPr>
          <a:xfrm>
            <a:off x="1379726" y="1547563"/>
            <a:ext cx="6096000"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rgbClr val="262626"/>
                </a:solidFill>
                <a:latin typeface="Calibri"/>
                <a:ea typeface="Calibri"/>
                <a:cs typeface="Calibri"/>
                <a:sym typeface="Calibri"/>
              </a:rPr>
              <a:t>Layouts</a:t>
            </a:r>
            <a:endParaRPr sz="2400">
              <a:solidFill>
                <a:schemeClr val="dk1"/>
              </a:solidFill>
              <a:latin typeface="Arial"/>
              <a:ea typeface="Arial"/>
              <a:cs typeface="Arial"/>
              <a:sym typeface="Arial"/>
            </a:endParaRPr>
          </a:p>
        </p:txBody>
      </p:sp>
      <p:pic>
        <p:nvPicPr>
          <p:cNvPr id="569" name="Google Shape;569;p56"/>
          <p:cNvPicPr preferRelativeResize="0"/>
          <p:nvPr/>
        </p:nvPicPr>
        <p:blipFill rotWithShape="1">
          <a:blip r:embed="rId4">
            <a:alphaModFix/>
          </a:blip>
          <a:srcRect l="63205" t="29661" r="3140" b="24145"/>
          <a:stretch/>
        </p:blipFill>
        <p:spPr>
          <a:xfrm>
            <a:off x="1020029" y="2857058"/>
            <a:ext cx="3066288" cy="2346960"/>
          </a:xfrm>
          <a:prstGeom prst="rect">
            <a:avLst/>
          </a:prstGeom>
          <a:noFill/>
          <a:ln>
            <a:noFill/>
          </a:ln>
        </p:spPr>
      </p:pic>
      <p:pic>
        <p:nvPicPr>
          <p:cNvPr id="570" name="Google Shape;570;p56"/>
          <p:cNvPicPr preferRelativeResize="0"/>
          <p:nvPr/>
        </p:nvPicPr>
        <p:blipFill rotWithShape="1">
          <a:blip r:embed="rId5">
            <a:alphaModFix/>
          </a:blip>
          <a:srcRect l="60593" t="30087" r="5360" b="23278"/>
          <a:stretch/>
        </p:blipFill>
        <p:spPr>
          <a:xfrm>
            <a:off x="4516120" y="2857058"/>
            <a:ext cx="3159759" cy="2412462"/>
          </a:xfrm>
          <a:prstGeom prst="rect">
            <a:avLst/>
          </a:prstGeom>
          <a:noFill/>
          <a:ln>
            <a:noFill/>
          </a:ln>
        </p:spPr>
      </p:pic>
      <p:pic>
        <p:nvPicPr>
          <p:cNvPr id="571" name="Google Shape;571;p56"/>
          <p:cNvPicPr preferRelativeResize="0"/>
          <p:nvPr/>
        </p:nvPicPr>
        <p:blipFill rotWithShape="1">
          <a:blip r:embed="rId6">
            <a:alphaModFix/>
          </a:blip>
          <a:srcRect l="63649" t="22709" r="2459" b="30869"/>
          <a:stretch/>
        </p:blipFill>
        <p:spPr>
          <a:xfrm>
            <a:off x="8105682" y="2824306"/>
            <a:ext cx="3159759" cy="2412463"/>
          </a:xfrm>
          <a:prstGeom prst="rect">
            <a:avLst/>
          </a:prstGeom>
          <a:noFill/>
          <a:ln>
            <a:noFill/>
          </a:ln>
        </p:spPr>
      </p:pic>
      <p:sp>
        <p:nvSpPr>
          <p:cNvPr id="572" name="Google Shape;572;p56"/>
          <p:cNvSpPr txBox="1"/>
          <p:nvPr/>
        </p:nvSpPr>
        <p:spPr>
          <a:xfrm>
            <a:off x="1706880" y="5310437"/>
            <a:ext cx="1849120" cy="369332"/>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a:solidFill>
                  <a:schemeClr val="dk1"/>
                </a:solidFill>
                <a:latin typeface="Calibri"/>
                <a:ea typeface="Calibri"/>
                <a:cs typeface="Calibri"/>
                <a:sym typeface="Calibri"/>
              </a:rPr>
              <a:t>Pack layout</a:t>
            </a:r>
            <a:endParaRPr/>
          </a:p>
        </p:txBody>
      </p:sp>
      <p:sp>
        <p:nvSpPr>
          <p:cNvPr id="573" name="Google Shape;573;p56"/>
          <p:cNvSpPr txBox="1"/>
          <p:nvPr/>
        </p:nvSpPr>
        <p:spPr>
          <a:xfrm>
            <a:off x="5171439" y="5331086"/>
            <a:ext cx="1849120" cy="369332"/>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a:solidFill>
                  <a:schemeClr val="dk1"/>
                </a:solidFill>
                <a:latin typeface="Calibri"/>
                <a:ea typeface="Calibri"/>
                <a:cs typeface="Calibri"/>
                <a:sym typeface="Calibri"/>
              </a:rPr>
              <a:t>Grid layout</a:t>
            </a:r>
            <a:endParaRPr/>
          </a:p>
        </p:txBody>
      </p:sp>
      <p:sp>
        <p:nvSpPr>
          <p:cNvPr id="574" name="Google Shape;574;p56"/>
          <p:cNvSpPr txBox="1"/>
          <p:nvPr/>
        </p:nvSpPr>
        <p:spPr>
          <a:xfrm>
            <a:off x="8761001" y="5310437"/>
            <a:ext cx="1849120" cy="369332"/>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a:solidFill>
                  <a:schemeClr val="dk1"/>
                </a:solidFill>
                <a:latin typeface="Calibri"/>
                <a:ea typeface="Calibri"/>
                <a:cs typeface="Calibri"/>
                <a:sym typeface="Calibri"/>
              </a:rPr>
              <a:t>Place layout</a:t>
            </a:r>
            <a:endParaRPr/>
          </a:p>
        </p:txBody>
      </p:sp>
      <p:sp>
        <p:nvSpPr>
          <p:cNvPr id="2" name="Footer Placeholder 1">
            <a:extLst>
              <a:ext uri="{FF2B5EF4-FFF2-40B4-BE49-F238E27FC236}">
                <a16:creationId xmlns:a16="http://schemas.microsoft.com/office/drawing/2014/main" id="{13E171E4-79BC-C33A-A309-E74CBBD32EE8}"/>
              </a:ext>
            </a:extLst>
          </p:cNvPr>
          <p:cNvSpPr>
            <a:spLocks noGrp="1"/>
          </p:cNvSpPr>
          <p:nvPr>
            <p:ph type="ftr" idx="11"/>
          </p:nvPr>
        </p:nvSpPr>
        <p:spPr/>
        <p:txBody>
          <a:bodyPr/>
          <a:lstStyle/>
          <a:p>
            <a:r>
              <a:rPr lang="en-IN"/>
              <a:t>Web Developer-Python</a:t>
            </a:r>
          </a:p>
        </p:txBody>
      </p:sp>
      <p:sp>
        <p:nvSpPr>
          <p:cNvPr id="3" name="Slide Number Placeholder 2">
            <a:extLst>
              <a:ext uri="{FF2B5EF4-FFF2-40B4-BE49-F238E27FC236}">
                <a16:creationId xmlns:a16="http://schemas.microsoft.com/office/drawing/2014/main" id="{7305408C-32FC-F5EA-70E1-B6238E4EE227}"/>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578"/>
        <p:cNvGrpSpPr/>
        <p:nvPr/>
      </p:nvGrpSpPr>
      <p:grpSpPr>
        <a:xfrm>
          <a:off x="0" y="0"/>
          <a:ext cx="0" cy="0"/>
          <a:chOff x="0" y="0"/>
          <a:chExt cx="0" cy="0"/>
        </a:xfrm>
      </p:grpSpPr>
      <p:sp>
        <p:nvSpPr>
          <p:cNvPr id="579" name="Google Shape;579;p57"/>
          <p:cNvSpPr txBox="1"/>
          <p:nvPr/>
        </p:nvSpPr>
        <p:spPr>
          <a:xfrm>
            <a:off x="304799" y="176513"/>
            <a:ext cx="10552253"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b="0">
                <a:solidFill>
                  <a:srgbClr val="3F3F3F"/>
                </a:solidFill>
                <a:latin typeface="Quattrocento Sans"/>
                <a:ea typeface="Quattrocento Sans"/>
                <a:cs typeface="Quattrocento Sans"/>
                <a:sym typeface="Quattrocento Sans"/>
              </a:rPr>
              <a:t>Functions and Layouts</a:t>
            </a:r>
            <a:endParaRPr sz="2800" b="0">
              <a:solidFill>
                <a:srgbClr val="3F3F3F"/>
              </a:solidFill>
              <a:latin typeface="Quattrocento Sans"/>
              <a:ea typeface="Quattrocento Sans"/>
              <a:cs typeface="Quattrocento Sans"/>
              <a:sym typeface="Quattrocento Sans"/>
            </a:endParaRPr>
          </a:p>
        </p:txBody>
      </p:sp>
      <p:sp>
        <p:nvSpPr>
          <p:cNvPr id="580" name="Google Shape;580;p57"/>
          <p:cNvSpPr txBox="1"/>
          <p:nvPr/>
        </p:nvSpPr>
        <p:spPr>
          <a:xfrm>
            <a:off x="460180" y="2374727"/>
            <a:ext cx="9708900" cy="461700"/>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n-US" sz="2400">
                <a:solidFill>
                  <a:srgbClr val="262626"/>
                </a:solidFill>
                <a:latin typeface="Calibri"/>
                <a:ea typeface="Calibri"/>
                <a:cs typeface="Calibri"/>
                <a:sym typeface="Calibri"/>
              </a:rPr>
              <a:t>Create a GUI with different layouts and functions.</a:t>
            </a:r>
            <a:endParaRPr/>
          </a:p>
        </p:txBody>
      </p:sp>
      <p:sp>
        <p:nvSpPr>
          <p:cNvPr id="581" name="Google Shape;581;p57"/>
          <p:cNvSpPr txBox="1"/>
          <p:nvPr/>
        </p:nvSpPr>
        <p:spPr>
          <a:xfrm>
            <a:off x="460180" y="2963799"/>
            <a:ext cx="10396800" cy="3232500"/>
          </a:xfrm>
          <a:prstGeom prst="rect">
            <a:avLst/>
          </a:prstGeom>
          <a:noFill/>
          <a:ln>
            <a:noFill/>
          </a:ln>
        </p:spPr>
        <p:txBody>
          <a:bodyPr spcFirstLastPara="1" wrap="square" lIns="91425" tIns="45700" rIns="91425" bIns="45700" anchor="t" anchorCtr="0">
            <a:spAutoFit/>
          </a:bodyPr>
          <a:lstStyle/>
          <a:p>
            <a:pPr marL="0" lvl="0" indent="0" algn="just" rtl="0">
              <a:lnSpc>
                <a:spcPct val="115000"/>
              </a:lnSpc>
              <a:spcBef>
                <a:spcPts val="0"/>
              </a:spcBef>
              <a:spcAft>
                <a:spcPts val="0"/>
              </a:spcAft>
              <a:buSzPts val="1100"/>
              <a:buNone/>
            </a:pPr>
            <a:r>
              <a:rPr lang="en-US" sz="1600">
                <a:solidFill>
                  <a:schemeClr val="dk1"/>
                </a:solidFill>
                <a:latin typeface="Calibri"/>
                <a:ea typeface="Calibri"/>
                <a:cs typeface="Calibri"/>
                <a:sym typeface="Calibri"/>
              </a:rPr>
              <a:t>Create a Tkinter GUI of Registration form. Collect data from user inputs – name, email, mobile number, age, gender, hobbies,  and address,  and display these into terminal.</a:t>
            </a:r>
            <a:endParaRPr sz="1600">
              <a:solidFill>
                <a:schemeClr val="dk1"/>
              </a:solidFill>
              <a:latin typeface="Calibri"/>
              <a:ea typeface="Calibri"/>
              <a:cs typeface="Calibri"/>
              <a:sym typeface="Calibri"/>
            </a:endParaRPr>
          </a:p>
          <a:p>
            <a:pPr marL="0" lvl="0" indent="0" algn="just" rtl="0">
              <a:lnSpc>
                <a:spcPct val="115000"/>
              </a:lnSpc>
              <a:spcBef>
                <a:spcPts val="0"/>
              </a:spcBef>
              <a:spcAft>
                <a:spcPts val="0"/>
              </a:spcAft>
              <a:buClr>
                <a:schemeClr val="dk1"/>
              </a:buClr>
              <a:buSzPts val="1100"/>
              <a:buFont typeface="Arial"/>
              <a:buNone/>
            </a:pPr>
            <a:endParaRPr sz="1600">
              <a:solidFill>
                <a:schemeClr val="dk1"/>
              </a:solidFill>
              <a:latin typeface="Calibri"/>
              <a:ea typeface="Calibri"/>
              <a:cs typeface="Calibri"/>
              <a:sym typeface="Calibri"/>
            </a:endParaRPr>
          </a:p>
          <a:p>
            <a:pPr marL="0" lvl="0" indent="0" algn="just" rtl="0">
              <a:lnSpc>
                <a:spcPct val="115000"/>
              </a:lnSpc>
              <a:spcBef>
                <a:spcPts val="0"/>
              </a:spcBef>
              <a:spcAft>
                <a:spcPts val="0"/>
              </a:spcAft>
              <a:buSzPts val="1100"/>
              <a:buNone/>
            </a:pPr>
            <a:r>
              <a:rPr lang="en-US" sz="1600">
                <a:solidFill>
                  <a:schemeClr val="dk1"/>
                </a:solidFill>
                <a:latin typeface="Calibri"/>
                <a:ea typeface="Calibri"/>
                <a:cs typeface="Calibri"/>
                <a:sym typeface="Calibri"/>
              </a:rPr>
              <a:t>Instructions:</a:t>
            </a:r>
            <a:endParaRPr sz="1600">
              <a:solidFill>
                <a:schemeClr val="dk1"/>
              </a:solidFill>
              <a:latin typeface="Calibri"/>
              <a:ea typeface="Calibri"/>
              <a:cs typeface="Calibri"/>
              <a:sym typeface="Calibri"/>
            </a:endParaRPr>
          </a:p>
          <a:p>
            <a:pPr marL="0" lvl="0" indent="0" algn="just" rtl="0">
              <a:lnSpc>
                <a:spcPct val="115000"/>
              </a:lnSpc>
              <a:spcBef>
                <a:spcPts val="0"/>
              </a:spcBef>
              <a:spcAft>
                <a:spcPts val="0"/>
              </a:spcAft>
              <a:buClr>
                <a:schemeClr val="dk1"/>
              </a:buClr>
              <a:buSzPts val="1100"/>
              <a:buFont typeface="Arial"/>
              <a:buNone/>
            </a:pPr>
            <a:endParaRPr sz="1600">
              <a:solidFill>
                <a:schemeClr val="dk1"/>
              </a:solidFill>
              <a:latin typeface="Calibri"/>
              <a:ea typeface="Calibri"/>
              <a:cs typeface="Calibri"/>
              <a:sym typeface="Calibri"/>
            </a:endParaRPr>
          </a:p>
          <a:p>
            <a:pPr marL="0" lvl="0" indent="0" algn="just" rtl="0">
              <a:lnSpc>
                <a:spcPct val="150000"/>
              </a:lnSpc>
              <a:spcBef>
                <a:spcPts val="0"/>
              </a:spcBef>
              <a:spcAft>
                <a:spcPts val="0"/>
              </a:spcAft>
              <a:buClr>
                <a:schemeClr val="dk1"/>
              </a:buClr>
              <a:buSzPts val="1100"/>
              <a:buFont typeface="Arial"/>
              <a:buNone/>
            </a:pPr>
            <a:r>
              <a:rPr lang="en-US" sz="1600">
                <a:solidFill>
                  <a:schemeClr val="dk1"/>
                </a:solidFill>
              </a:rPr>
              <a:t>1.</a:t>
            </a:r>
            <a:r>
              <a:rPr lang="en-US" sz="1600">
                <a:solidFill>
                  <a:schemeClr val="dk1"/>
                </a:solidFill>
                <a:latin typeface="Calibri"/>
                <a:ea typeface="Calibri"/>
                <a:cs typeface="Calibri"/>
                <a:sym typeface="Calibri"/>
              </a:rPr>
              <a:t>Use functions to handle various events corresponding to widgets.</a:t>
            </a:r>
            <a:endParaRPr sz="1600">
              <a:solidFill>
                <a:schemeClr val="dk1"/>
              </a:solidFill>
              <a:latin typeface="Calibri"/>
              <a:ea typeface="Calibri"/>
              <a:cs typeface="Calibri"/>
              <a:sym typeface="Calibri"/>
            </a:endParaRPr>
          </a:p>
          <a:p>
            <a:pPr marL="0" lvl="0" indent="0" algn="just" rtl="0">
              <a:lnSpc>
                <a:spcPct val="150000"/>
              </a:lnSpc>
              <a:spcBef>
                <a:spcPts val="0"/>
              </a:spcBef>
              <a:spcAft>
                <a:spcPts val="0"/>
              </a:spcAft>
              <a:buClr>
                <a:schemeClr val="dk1"/>
              </a:buClr>
              <a:buSzPts val="1100"/>
              <a:buFont typeface="Arial"/>
              <a:buNone/>
            </a:pPr>
            <a:r>
              <a:rPr lang="en-US" sz="1600">
                <a:solidFill>
                  <a:schemeClr val="dk1"/>
                </a:solidFill>
              </a:rPr>
              <a:t>2.</a:t>
            </a:r>
            <a:r>
              <a:rPr lang="en-US" sz="1600">
                <a:solidFill>
                  <a:schemeClr val="dk1"/>
                </a:solidFill>
                <a:latin typeface="Calibri"/>
                <a:ea typeface="Calibri"/>
                <a:cs typeface="Calibri"/>
                <a:sym typeface="Calibri"/>
              </a:rPr>
              <a:t>Use appropriate layout to organize the widgets.</a:t>
            </a:r>
            <a:endParaRPr sz="1600">
              <a:solidFill>
                <a:schemeClr val="dk1"/>
              </a:solidFill>
              <a:latin typeface="Calibri"/>
              <a:ea typeface="Calibri"/>
              <a:cs typeface="Calibri"/>
              <a:sym typeface="Calibri"/>
            </a:endParaRPr>
          </a:p>
          <a:p>
            <a:pPr marL="0" lvl="0" indent="0" algn="just" rtl="0">
              <a:lnSpc>
                <a:spcPct val="150000"/>
              </a:lnSpc>
              <a:spcBef>
                <a:spcPts val="0"/>
              </a:spcBef>
              <a:spcAft>
                <a:spcPts val="0"/>
              </a:spcAft>
              <a:buClr>
                <a:schemeClr val="dk1"/>
              </a:buClr>
              <a:buSzPts val="1100"/>
              <a:buFont typeface="Arial"/>
              <a:buNone/>
            </a:pPr>
            <a:r>
              <a:rPr lang="en-US" sz="1600">
                <a:solidFill>
                  <a:schemeClr val="dk1"/>
                </a:solidFill>
              </a:rPr>
              <a:t>3.</a:t>
            </a:r>
            <a:r>
              <a:rPr lang="en-US" sz="1600">
                <a:solidFill>
                  <a:schemeClr val="dk1"/>
                </a:solidFill>
                <a:latin typeface="Calibri"/>
                <a:ea typeface="Calibri"/>
                <a:cs typeface="Calibri"/>
                <a:sym typeface="Calibri"/>
              </a:rPr>
              <a:t>On click of the “Submit” button all the data inputted by user should be display on terminal.</a:t>
            </a:r>
            <a:endParaRPr sz="1600">
              <a:solidFill>
                <a:schemeClr val="dk1"/>
              </a:solidFill>
              <a:latin typeface="Calibri"/>
              <a:ea typeface="Calibri"/>
              <a:cs typeface="Calibri"/>
              <a:sym typeface="Calibri"/>
            </a:endParaRPr>
          </a:p>
          <a:p>
            <a:pPr marL="0" lvl="0" indent="0" algn="just" rtl="0">
              <a:lnSpc>
                <a:spcPct val="150000"/>
              </a:lnSpc>
              <a:spcBef>
                <a:spcPts val="0"/>
              </a:spcBef>
              <a:spcAft>
                <a:spcPts val="0"/>
              </a:spcAft>
              <a:buClr>
                <a:schemeClr val="dk1"/>
              </a:buClr>
              <a:buSzPts val="1100"/>
              <a:buFont typeface="Arial"/>
              <a:buNone/>
            </a:pPr>
            <a:r>
              <a:rPr lang="en-US" sz="1600">
                <a:solidFill>
                  <a:schemeClr val="dk1"/>
                </a:solidFill>
                <a:latin typeface="Calibri"/>
                <a:ea typeface="Calibri"/>
                <a:cs typeface="Calibri"/>
                <a:sym typeface="Calibri"/>
              </a:rPr>
              <a:t>4. Use a variety of widgets.</a:t>
            </a:r>
            <a:endParaRPr sz="1600">
              <a:solidFill>
                <a:schemeClr val="dk1"/>
              </a:solidFill>
              <a:latin typeface="Calibri"/>
              <a:ea typeface="Calibri"/>
              <a:cs typeface="Calibri"/>
              <a:sym typeface="Calibri"/>
            </a:endParaRPr>
          </a:p>
          <a:p>
            <a:pPr marL="0" marR="0" lvl="0" indent="0" algn="just" rtl="0">
              <a:lnSpc>
                <a:spcPct val="150000"/>
              </a:lnSpc>
              <a:spcBef>
                <a:spcPts val="0"/>
              </a:spcBef>
              <a:spcAft>
                <a:spcPts val="0"/>
              </a:spcAft>
              <a:buNone/>
            </a:pPr>
            <a:endParaRPr sz="1600">
              <a:solidFill>
                <a:schemeClr val="dk1"/>
              </a:solidFill>
              <a:latin typeface="Calibri"/>
              <a:ea typeface="Calibri"/>
              <a:cs typeface="Calibri"/>
              <a:sym typeface="Calibri"/>
            </a:endParaRPr>
          </a:p>
        </p:txBody>
      </p:sp>
      <p:pic>
        <p:nvPicPr>
          <p:cNvPr id="582" name="Google Shape;582;p57"/>
          <p:cNvPicPr preferRelativeResize="0"/>
          <p:nvPr/>
        </p:nvPicPr>
        <p:blipFill rotWithShape="1">
          <a:blip r:embed="rId3">
            <a:alphaModFix/>
          </a:blip>
          <a:srcRect/>
          <a:stretch/>
        </p:blipFill>
        <p:spPr>
          <a:xfrm>
            <a:off x="460180" y="1332507"/>
            <a:ext cx="898400" cy="477450"/>
          </a:xfrm>
          <a:prstGeom prst="rect">
            <a:avLst/>
          </a:prstGeom>
          <a:noFill/>
          <a:ln>
            <a:noFill/>
          </a:ln>
        </p:spPr>
      </p:pic>
      <p:sp>
        <p:nvSpPr>
          <p:cNvPr id="2" name="Footer Placeholder 1">
            <a:extLst>
              <a:ext uri="{FF2B5EF4-FFF2-40B4-BE49-F238E27FC236}">
                <a16:creationId xmlns:a16="http://schemas.microsoft.com/office/drawing/2014/main" id="{EBC424F9-24E0-C126-AF42-B2669CBE54A2}"/>
              </a:ext>
            </a:extLst>
          </p:cNvPr>
          <p:cNvSpPr>
            <a:spLocks noGrp="1"/>
          </p:cNvSpPr>
          <p:nvPr>
            <p:ph type="ftr" idx="11"/>
          </p:nvPr>
        </p:nvSpPr>
        <p:spPr/>
        <p:txBody>
          <a:bodyPr/>
          <a:lstStyle/>
          <a:p>
            <a:r>
              <a:rPr lang="en-IN"/>
              <a:t>Web Developer-Python</a:t>
            </a:r>
          </a:p>
        </p:txBody>
      </p:sp>
      <p:sp>
        <p:nvSpPr>
          <p:cNvPr id="3" name="Slide Number Placeholder 2">
            <a:extLst>
              <a:ext uri="{FF2B5EF4-FFF2-40B4-BE49-F238E27FC236}">
                <a16:creationId xmlns:a16="http://schemas.microsoft.com/office/drawing/2014/main" id="{D4860075-433F-1BE4-3B5B-5D7EC1AFD236}"/>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586"/>
        <p:cNvGrpSpPr/>
        <p:nvPr/>
      </p:nvGrpSpPr>
      <p:grpSpPr>
        <a:xfrm>
          <a:off x="0" y="0"/>
          <a:ext cx="0" cy="0"/>
          <a:chOff x="0" y="0"/>
          <a:chExt cx="0" cy="0"/>
        </a:xfrm>
      </p:grpSpPr>
      <p:sp>
        <p:nvSpPr>
          <p:cNvPr id="587" name="Google Shape;587;p58"/>
          <p:cNvSpPr txBox="1"/>
          <p:nvPr/>
        </p:nvSpPr>
        <p:spPr>
          <a:xfrm>
            <a:off x="3063240" y="3167390"/>
            <a:ext cx="6065520" cy="523220"/>
          </a:xfrm>
          <a:prstGeom prst="rect">
            <a:avLst/>
          </a:prstGeom>
          <a:noFill/>
          <a:ln>
            <a:noFill/>
          </a:ln>
        </p:spPr>
        <p:txBody>
          <a:bodyPr spcFirstLastPara="1" wrap="square" lIns="91425" tIns="45700" rIns="91425" bIns="45700" anchor="ctr" anchorCtr="0">
            <a:spAutoFit/>
          </a:bodyPr>
          <a:lstStyle/>
          <a:p>
            <a:pPr marL="0" marR="0" lvl="0" indent="0" algn="ctr" rtl="0">
              <a:spcBef>
                <a:spcPts val="0"/>
              </a:spcBef>
              <a:spcAft>
                <a:spcPts val="0"/>
              </a:spcAft>
              <a:buNone/>
            </a:pPr>
            <a:r>
              <a:rPr lang="en-US" sz="2800" b="0">
                <a:solidFill>
                  <a:srgbClr val="C00000"/>
                </a:solidFill>
                <a:latin typeface="Quattrocento Sans"/>
                <a:ea typeface="Quattrocento Sans"/>
                <a:cs typeface="Quattrocento Sans"/>
                <a:sym typeface="Quattrocento Sans"/>
              </a:rPr>
              <a:t>Question?</a:t>
            </a:r>
            <a:endParaRPr sz="2800" b="0">
              <a:solidFill>
                <a:srgbClr val="C00000"/>
              </a:solidFill>
              <a:latin typeface="Quattrocento Sans"/>
              <a:ea typeface="Quattrocento Sans"/>
              <a:cs typeface="Quattrocento Sans"/>
              <a:sym typeface="Quattrocento Sans"/>
            </a:endParaRPr>
          </a:p>
        </p:txBody>
      </p:sp>
      <p:sp>
        <p:nvSpPr>
          <p:cNvPr id="2" name="Footer Placeholder 1">
            <a:extLst>
              <a:ext uri="{FF2B5EF4-FFF2-40B4-BE49-F238E27FC236}">
                <a16:creationId xmlns:a16="http://schemas.microsoft.com/office/drawing/2014/main" id="{9F9CDE7E-1FF7-CB71-30AF-00AABE0C107F}"/>
              </a:ext>
            </a:extLst>
          </p:cNvPr>
          <p:cNvSpPr>
            <a:spLocks noGrp="1"/>
          </p:cNvSpPr>
          <p:nvPr>
            <p:ph type="ftr" idx="11"/>
          </p:nvPr>
        </p:nvSpPr>
        <p:spPr/>
        <p:txBody>
          <a:bodyPr/>
          <a:lstStyle/>
          <a:p>
            <a:r>
              <a:rPr lang="en-IN"/>
              <a:t>Web Developer-Python</a:t>
            </a:r>
          </a:p>
        </p:txBody>
      </p:sp>
      <p:sp>
        <p:nvSpPr>
          <p:cNvPr id="3" name="Slide Number Placeholder 2">
            <a:extLst>
              <a:ext uri="{FF2B5EF4-FFF2-40B4-BE49-F238E27FC236}">
                <a16:creationId xmlns:a16="http://schemas.microsoft.com/office/drawing/2014/main" id="{A2798BF2-63EE-7E1C-D3CA-F0D49E1F749E}"/>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591"/>
        <p:cNvGrpSpPr/>
        <p:nvPr/>
      </p:nvGrpSpPr>
      <p:grpSpPr>
        <a:xfrm>
          <a:off x="0" y="0"/>
          <a:ext cx="0" cy="0"/>
          <a:chOff x="0" y="0"/>
          <a:chExt cx="0" cy="0"/>
        </a:xfrm>
      </p:grpSpPr>
      <p:sp>
        <p:nvSpPr>
          <p:cNvPr id="592" name="Google Shape;592;p59"/>
          <p:cNvSpPr txBox="1"/>
          <p:nvPr/>
        </p:nvSpPr>
        <p:spPr>
          <a:xfrm>
            <a:off x="3063240" y="3197870"/>
            <a:ext cx="6065520" cy="707886"/>
          </a:xfrm>
          <a:prstGeom prst="rect">
            <a:avLst/>
          </a:prstGeom>
          <a:noFill/>
          <a:ln>
            <a:noFill/>
          </a:ln>
        </p:spPr>
        <p:txBody>
          <a:bodyPr spcFirstLastPara="1" wrap="square" lIns="91425" tIns="45700" rIns="91425" bIns="45700" anchor="ctr" anchorCtr="0">
            <a:spAutoFit/>
          </a:bodyPr>
          <a:lstStyle/>
          <a:p>
            <a:pPr marL="0" marR="0" lvl="0" indent="0" algn="ctr" rtl="0">
              <a:spcBef>
                <a:spcPts val="0"/>
              </a:spcBef>
              <a:spcAft>
                <a:spcPts val="0"/>
              </a:spcAft>
              <a:buNone/>
            </a:pPr>
            <a:r>
              <a:rPr lang="en-US" sz="4000" b="0">
                <a:solidFill>
                  <a:srgbClr val="3F3F3F"/>
                </a:solidFill>
                <a:latin typeface="Quattrocento Sans"/>
                <a:ea typeface="Quattrocento Sans"/>
                <a:cs typeface="Quattrocento Sans"/>
                <a:sym typeface="Quattrocento Sans"/>
              </a:rPr>
              <a:t>Thank you</a:t>
            </a:r>
            <a:endParaRPr sz="4000" b="0">
              <a:solidFill>
                <a:srgbClr val="3F3F3F"/>
              </a:solidFill>
              <a:latin typeface="Quattrocento Sans"/>
              <a:ea typeface="Quattrocento Sans"/>
              <a:cs typeface="Quattrocento Sans"/>
              <a:sym typeface="Quattrocento Sans"/>
            </a:endParaRPr>
          </a:p>
        </p:txBody>
      </p:sp>
      <p:sp>
        <p:nvSpPr>
          <p:cNvPr id="2" name="Footer Placeholder 1">
            <a:extLst>
              <a:ext uri="{FF2B5EF4-FFF2-40B4-BE49-F238E27FC236}">
                <a16:creationId xmlns:a16="http://schemas.microsoft.com/office/drawing/2014/main" id="{7B2ECC6C-E7AC-7F89-108D-699A2F831A34}"/>
              </a:ext>
            </a:extLst>
          </p:cNvPr>
          <p:cNvSpPr>
            <a:spLocks noGrp="1"/>
          </p:cNvSpPr>
          <p:nvPr>
            <p:ph type="ftr" idx="11"/>
          </p:nvPr>
        </p:nvSpPr>
        <p:spPr/>
        <p:txBody>
          <a:bodyPr/>
          <a:lstStyle/>
          <a:p>
            <a:r>
              <a:rPr lang="en-IN"/>
              <a:t>Web Developer-Python</a:t>
            </a:r>
          </a:p>
        </p:txBody>
      </p:sp>
      <p:sp>
        <p:nvSpPr>
          <p:cNvPr id="3" name="Slide Number Placeholder 2">
            <a:extLst>
              <a:ext uri="{FF2B5EF4-FFF2-40B4-BE49-F238E27FC236}">
                <a16:creationId xmlns:a16="http://schemas.microsoft.com/office/drawing/2014/main" id="{4DB2066B-99B0-ACC3-B93F-40FF119B8732}"/>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59</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TotalTime>
  <Words>2988</Words>
  <Application>Microsoft Office PowerPoint</Application>
  <PresentationFormat>Widescreen</PresentationFormat>
  <Paragraphs>428</Paragraphs>
  <Slides>59</Slides>
  <Notes>59</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59</vt:i4>
      </vt:variant>
    </vt:vector>
  </HeadingPairs>
  <TitlesOfParts>
    <vt:vector size="67" baseType="lpstr">
      <vt:lpstr>Quattrocento Sans</vt:lpstr>
      <vt:lpstr>Noto Sans Symbols</vt:lpstr>
      <vt:lpstr>Avenir</vt:lpstr>
      <vt:lpstr>Play</vt:lpstr>
      <vt:lpstr>Arial</vt:lpstr>
      <vt:lpstr>Calibri</vt:lpstr>
      <vt:lpstr>Batang</vt:lpstr>
      <vt:lpstr>Office Theme</vt:lpstr>
      <vt:lpstr>PowerPoint Presentation</vt:lpstr>
      <vt:lpstr>PowerPoint Presentation</vt:lpstr>
      <vt:lpstr>PowerPoint Presentation</vt:lpstr>
      <vt:lpstr>1. Introduction to Tkinter</vt:lpstr>
      <vt:lpstr>PowerPoint Presentation</vt:lpstr>
      <vt:lpstr>PowerPoint Presentation</vt:lpstr>
      <vt:lpstr>2. Tkinter - Making The First Window</vt:lpstr>
      <vt:lpstr>PowerPoint Presentation</vt:lpstr>
      <vt:lpstr>PowerPoint Presentation</vt:lpstr>
      <vt:lpstr>PowerPoint Presentation</vt:lpstr>
      <vt:lpstr>PowerPoint Presentation</vt:lpstr>
      <vt:lpstr>PowerPoint Presentation</vt:lpstr>
      <vt:lpstr>3. Introduction to Tkinter - Titles and Icons</vt:lpstr>
      <vt:lpstr>PowerPoint Presentation</vt:lpstr>
      <vt:lpstr>PowerPoint Presentation</vt:lpstr>
      <vt:lpstr>PowerPoint Presentation</vt:lpstr>
      <vt:lpstr>4. Layouts in Tkinter - Introduction to Layouts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5. Introduction to Widgets in Layouts, Grid Layout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6. Integration Using GUI-Designing User Interface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7. Events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7. Functions and Layouts</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Mrinal Das</dc:creator>
  <cp:lastModifiedBy>o3</cp:lastModifiedBy>
  <cp:revision>5</cp:revision>
  <dcterms:created xsi:type="dcterms:W3CDTF">2024-06-05T15:10:18Z</dcterms:created>
  <dcterms:modified xsi:type="dcterms:W3CDTF">2024-07-11T10:03:52Z</dcterms:modified>
</cp:coreProperties>
</file>