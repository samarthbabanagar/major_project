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27"/>
  </p:notesMasterIdLst>
  <p:sldIdLst>
    <p:sldId id="315" r:id="rId2"/>
    <p:sldId id="262" r:id="rId3"/>
    <p:sldId id="320" r:id="rId4"/>
    <p:sldId id="319" r:id="rId5"/>
    <p:sldId id="365" r:id="rId6"/>
    <p:sldId id="391" r:id="rId7"/>
    <p:sldId id="376" r:id="rId8"/>
    <p:sldId id="392" r:id="rId9"/>
    <p:sldId id="375" r:id="rId10"/>
    <p:sldId id="377" r:id="rId11"/>
    <p:sldId id="379" r:id="rId12"/>
    <p:sldId id="393" r:id="rId13"/>
    <p:sldId id="380" r:id="rId14"/>
    <p:sldId id="381" r:id="rId15"/>
    <p:sldId id="382" r:id="rId16"/>
    <p:sldId id="378" r:id="rId17"/>
    <p:sldId id="366" r:id="rId18"/>
    <p:sldId id="384" r:id="rId19"/>
    <p:sldId id="385" r:id="rId20"/>
    <p:sldId id="387" r:id="rId21"/>
    <p:sldId id="386" r:id="rId22"/>
    <p:sldId id="390" r:id="rId23"/>
    <p:sldId id="307" r:id="rId24"/>
    <p:sldId id="314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4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3E920-6CC0-41E3-9005-F6673C6B13EB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22966-F9BF-4741-9FCE-5A74186CB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9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0f6ef15d1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10f6ef15d1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11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771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8459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150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BFC9-F2A6-36A7-12F4-95C6A35BC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1923-A563-08D4-661F-27647DD8E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0609-6735-DFA1-5E31-E9F0D30C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333B91-B95D-4E06-8D6E-5D9E3267A32F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CA9A-1F92-B203-6509-DB28E0AC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61B4F-8AAF-247E-178D-7B6045AC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6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53B6-6D16-FB2F-987A-FA5BFA0A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9F5D-99EB-526F-9EBF-2B0FDFA1C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8B00-ADDF-6D38-3DDF-5DB92F78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0B6CB2-EC81-49F2-BE9A-43A16DF93DEB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E767-E1BA-9361-35DF-FB83AD5E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F32C-D814-90B9-0A0D-7400ECF8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5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35DF-F4C9-E0CE-C5A1-280115D9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9A2D-78F3-6813-EDF2-2F672BE6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BB96-2C47-5098-9362-14010CD1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5F0E1C-AB97-4796-AF97-FE5F18DC0F39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A93-1029-A414-2744-E6286A14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BA88-DFF7-601D-A5A7-EBA057E2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7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139A-5249-6637-E7F9-9B0F85BB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50DC-82BF-2805-43AD-AA6395B3C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1538-46D2-54C1-13BA-A4B773A37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9043-7544-27CF-11D3-09B5EBD2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DF25E-112C-4728-9F10-1CB01CB37AA4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EEEC1-26FF-191E-0C60-89DAECAB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2C259-F538-E1AC-7B3F-7239BEF0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6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4AD5-C5EB-6651-699F-902AE230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3B80-E4C8-3B7B-ACE6-DAAF09D9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6A75-1D24-4D59-A0DA-5356EC9BA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20EBC-473E-F6CA-67AE-049CA1D29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57311-19DD-3940-0DCB-0E7626E29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A11D8-C3B4-2A2D-9222-FB044547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A4A985-C175-4C8A-96AC-EE1D086FE043}" type="datetime1">
              <a:rPr lang="en-IN" smtClean="0"/>
              <a:t>11-07-2024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165EF-4777-384E-B0E9-435C1305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1AE0B-BF97-46B5-7927-3B78B101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92F2-61C7-92E8-8294-09B76B07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644B-EBDF-F873-0925-00D40765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0E0203-B6EF-49D5-8187-A0380764D4B5}" type="datetime1">
              <a:rPr lang="en-IN" smtClean="0"/>
              <a:t>11-07-2024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F7C5B-5E40-2191-3D5E-2FFD1C15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5EBB-8814-FD34-8B16-C5F9D622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2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55F00-0193-BB91-7CF3-B10292EC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A9C6BB-B1EB-46DA-8C3B-FFBE0EEE0B6A}" type="datetime1">
              <a:rPr lang="en-IN" smtClean="0"/>
              <a:t>11-07-2024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C6ED6-4096-7D22-A8D4-B3AD92D4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4C8D-E4ED-C145-8E89-AB8CE04F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870-656C-89EC-C013-BED43E72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E0D3-3711-7FA4-217E-D7A0CE61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733F-7DAC-84AE-E3A1-A669F4F6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6ED36-A81F-9891-EE3B-EA8C99E3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2596D-402D-43B9-86AA-9D0A00DC7EC6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AB7BC-DBB7-77C9-3DFC-79239A36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B3633-6417-D001-4CCB-AE5966AF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9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2D99-5C01-79CA-000C-BBE88D13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320A0-7AED-2373-530B-563ABA7C9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E700A-58CE-8DDF-E427-A2EDB902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CBF25-2F69-53DE-200C-36EB686F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469F4F-E825-45C0-9E03-58CDE9CE8BA1}" type="datetime1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A5D7-70C8-7C23-CA85-818EEE1C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Developer-Python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6E48F-1C22-739E-4B80-486204E1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52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88E7-5C58-B6A6-EB75-DA09461F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712A0-31A7-67CC-CE60-801173B9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5AA02-72C6-17A0-132A-9318984C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EC6504-6D50-4595-BF7D-0A1A753A1E18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036C-5DCE-32C5-699E-8AFC9B8F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23E4-0EA7-48DF-C716-DCA0926F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2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A3681-9217-06B5-56D8-6B79B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D44B9-7F03-0687-17F2-E0E31B915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1ED6E-6A3F-3AF5-318A-07EC72BF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F6BF3A-B0EB-4072-922F-F44A7148A2CA}" type="datetime1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93E9-953C-FAFB-A635-9FF269F9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5095-5C7F-D21D-7629-5295A48A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8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FC773-A6AC-8222-9259-50EBB27C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BAE6-38E3-C515-2033-21CF42FE0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87FD-0497-D168-74EA-AF83ED7FC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5582" y="63119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6526-AEBA-07A4-E5DA-3F660EC23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5312F0C1-4985-2D48-B252-3A7A0FA2207E}"/>
              </a:ext>
            </a:extLst>
          </p:cNvPr>
          <p:cNvGrpSpPr/>
          <p:nvPr userDrawn="1"/>
        </p:nvGrpSpPr>
        <p:grpSpPr>
          <a:xfrm>
            <a:off x="0" y="-42"/>
            <a:ext cx="69574" cy="6858042"/>
            <a:chOff x="0" y="-42"/>
            <a:chExt cx="67800" cy="5143466"/>
          </a:xfrm>
        </p:grpSpPr>
        <p:sp>
          <p:nvSpPr>
            <p:cNvPr id="8" name="Google Shape;10;p1">
              <a:extLst>
                <a:ext uri="{FF2B5EF4-FFF2-40B4-BE49-F238E27FC236}">
                  <a16:creationId xmlns:a16="http://schemas.microsoft.com/office/drawing/2014/main" id="{4B70AB85-C5CA-C94D-8710-64C0D8B63F9C}"/>
                </a:ext>
              </a:extLst>
            </p:cNvPr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;p1">
              <a:extLst>
                <a:ext uri="{FF2B5EF4-FFF2-40B4-BE49-F238E27FC236}">
                  <a16:creationId xmlns:a16="http://schemas.microsoft.com/office/drawing/2014/main" id="{EED52405-188E-9F43-8F21-1D14B2B469CC}"/>
                </a:ext>
              </a:extLst>
            </p:cNvPr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" name="Picture 10" descr="A logo with a butterfly&#10;&#10;Description automatically generated">
            <a:extLst>
              <a:ext uri="{FF2B5EF4-FFF2-40B4-BE49-F238E27FC236}">
                <a16:creationId xmlns:a16="http://schemas.microsoft.com/office/drawing/2014/main" id="{E0D7B113-10E9-6514-A496-0A3A8919E9F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046" y="59532"/>
            <a:ext cx="11525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9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etbrains.com/pycharm/download/?section=windows" TargetMode="Externa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/>
        </p:nvSpPr>
        <p:spPr>
          <a:xfrm>
            <a:off x="1082833" y="2946800"/>
            <a:ext cx="103696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3500"/>
            </a:pPr>
            <a:r>
              <a:rPr lang="en-GB" sz="4000" dirty="0">
                <a:latin typeface="Avenir"/>
                <a:ea typeface="Avenir"/>
                <a:cs typeface="Avenir"/>
                <a:sym typeface="Avenir"/>
              </a:rPr>
              <a:t>GUI Development - Introduction</a:t>
            </a:r>
            <a:endParaRPr lang="en-GB" sz="4000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1216533" y="3836739"/>
            <a:ext cx="1898400" cy="1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3114933" y="3836733"/>
            <a:ext cx="7852400" cy="1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0" y="0"/>
            <a:ext cx="96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9"/>
          <p:cNvGrpSpPr/>
          <p:nvPr/>
        </p:nvGrpSpPr>
        <p:grpSpPr>
          <a:xfrm>
            <a:off x="0" y="-56"/>
            <a:ext cx="90400" cy="6857955"/>
            <a:chOff x="0" y="-42"/>
            <a:chExt cx="67800" cy="5143466"/>
          </a:xfrm>
        </p:grpSpPr>
        <p:sp>
          <p:nvSpPr>
            <p:cNvPr id="47" name="Google Shape;47;p9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C51FBF-E02B-500B-D16D-14DA2BF1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6DB332-112E-F1A7-E79D-B2D29F14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BDEA17-78BF-7310-1F5A-2BE28EA0A300}"/>
              </a:ext>
            </a:extLst>
          </p:cNvPr>
          <p:cNvGrpSpPr/>
          <p:nvPr/>
        </p:nvGrpSpPr>
        <p:grpSpPr>
          <a:xfrm>
            <a:off x="543877" y="6108987"/>
            <a:ext cx="11205845" cy="0"/>
            <a:chOff x="539115" y="3792507"/>
            <a:chExt cx="11205845" cy="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0F649CE-EA0F-37C1-EC9C-24223EB69FB8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5" y="3792507"/>
              <a:ext cx="10059035" cy="0"/>
            </a:xfrm>
            <a:prstGeom prst="line">
              <a:avLst/>
            </a:prstGeom>
            <a:ln w="1016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F0C3E38-2196-3104-9918-4D2962BC3E3E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5" y="3792507"/>
              <a:ext cx="1553845" cy="0"/>
            </a:xfrm>
            <a:prstGeom prst="line">
              <a:avLst/>
            </a:prstGeom>
            <a:ln w="1016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oogle Shape;127;p28">
            <a:extLst>
              <a:ext uri="{FF2B5EF4-FFF2-40B4-BE49-F238E27FC236}">
                <a16:creationId xmlns:a16="http://schemas.microsoft.com/office/drawing/2014/main" id="{E9679C81-2DEE-9E40-BCE3-26034AC38AD4}"/>
              </a:ext>
            </a:extLst>
          </p:cNvPr>
          <p:cNvGrpSpPr/>
          <p:nvPr/>
        </p:nvGrpSpPr>
        <p:grpSpPr>
          <a:xfrm>
            <a:off x="3320787" y="4776459"/>
            <a:ext cx="4736716" cy="776075"/>
            <a:chOff x="2076884" y="3202000"/>
            <a:chExt cx="4736716" cy="776075"/>
          </a:xfrm>
        </p:grpSpPr>
        <p:sp>
          <p:nvSpPr>
            <p:cNvPr id="26" name="Google Shape;130;p28">
              <a:extLst>
                <a:ext uri="{FF2B5EF4-FFF2-40B4-BE49-F238E27FC236}">
                  <a16:creationId xmlns:a16="http://schemas.microsoft.com/office/drawing/2014/main" id="{9C0573B6-9BC2-0F75-22C7-8993C0C4580E}"/>
                </a:ext>
              </a:extLst>
            </p:cNvPr>
            <p:cNvSpPr/>
            <p:nvPr/>
          </p:nvSpPr>
          <p:spPr>
            <a:xfrm>
              <a:off x="2463132" y="3247534"/>
              <a:ext cx="314092" cy="3140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" name="Google Shape;138;p28">
              <a:extLst>
                <a:ext uri="{FF2B5EF4-FFF2-40B4-BE49-F238E27FC236}">
                  <a16:creationId xmlns:a16="http://schemas.microsoft.com/office/drawing/2014/main" id="{30E29816-73BD-A666-C6F1-88923458CBC9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840597" y="3215575"/>
              <a:ext cx="898400" cy="47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9;p28">
              <a:extLst>
                <a:ext uri="{FF2B5EF4-FFF2-40B4-BE49-F238E27FC236}">
                  <a16:creationId xmlns:a16="http://schemas.microsoft.com/office/drawing/2014/main" id="{E5199EFC-4BE2-3574-9CB7-811B6355E24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94523" y="3202000"/>
              <a:ext cx="434169" cy="40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40;p28">
              <a:extLst>
                <a:ext uri="{FF2B5EF4-FFF2-40B4-BE49-F238E27FC236}">
                  <a16:creationId xmlns:a16="http://schemas.microsoft.com/office/drawing/2014/main" id="{B3C8C285-5ACE-265A-F85A-A5360650F12E}"/>
                </a:ext>
              </a:extLst>
            </p:cNvPr>
            <p:cNvSpPr txBox="1"/>
            <p:nvPr/>
          </p:nvSpPr>
          <p:spPr>
            <a:xfrm>
              <a:off x="2076884" y="3684675"/>
              <a:ext cx="1086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 dirty="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Error/ Warning</a:t>
              </a:r>
              <a:endParaRPr sz="11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41;p28">
              <a:extLst>
                <a:ext uri="{FF2B5EF4-FFF2-40B4-BE49-F238E27FC236}">
                  <a16:creationId xmlns:a16="http://schemas.microsoft.com/office/drawing/2014/main" id="{0A70C051-02BF-85F2-7588-4F52835DCFCC}"/>
                </a:ext>
              </a:extLst>
            </p:cNvPr>
            <p:cNvSpPr txBox="1"/>
            <p:nvPr/>
          </p:nvSpPr>
          <p:spPr>
            <a:xfrm>
              <a:off x="3347450" y="3684675"/>
              <a:ext cx="8652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Information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2;p28">
              <a:extLst>
                <a:ext uri="{FF2B5EF4-FFF2-40B4-BE49-F238E27FC236}">
                  <a16:creationId xmlns:a16="http://schemas.microsoft.com/office/drawing/2014/main" id="{6FA4745F-3A7E-F726-EAEB-9CDADF401184}"/>
                </a:ext>
              </a:extLst>
            </p:cNvPr>
            <p:cNvSpPr txBox="1"/>
            <p:nvPr/>
          </p:nvSpPr>
          <p:spPr>
            <a:xfrm>
              <a:off x="4543561" y="3684675"/>
              <a:ext cx="7629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Flashback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3;p28">
              <a:extLst>
                <a:ext uri="{FF2B5EF4-FFF2-40B4-BE49-F238E27FC236}">
                  <a16:creationId xmlns:a16="http://schemas.microsoft.com/office/drawing/2014/main" id="{89D3CE3A-2EA3-139D-B4A6-E67DA26D4C22}"/>
                </a:ext>
              </a:extLst>
            </p:cNvPr>
            <p:cNvSpPr txBox="1"/>
            <p:nvPr/>
          </p:nvSpPr>
          <p:spPr>
            <a:xfrm>
              <a:off x="5766000" y="3684675"/>
              <a:ext cx="1047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Class Exercise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56350378-92D3-A819-39B3-8549B7AA3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2276" y="4794102"/>
            <a:ext cx="423609" cy="423609"/>
          </a:xfrm>
          <a:prstGeom prst="rect">
            <a:avLst/>
          </a:prstGeom>
        </p:spPr>
      </p:pic>
      <p:pic>
        <p:nvPicPr>
          <p:cNvPr id="31" name="Graphic 30" descr="Information with solid fill">
            <a:extLst>
              <a:ext uri="{FF2B5EF4-FFF2-40B4-BE49-F238E27FC236}">
                <a16:creationId xmlns:a16="http://schemas.microsoft.com/office/drawing/2014/main" id="{60FFFCA9-0A0D-6D97-0F45-056DDF3EC8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0717" y="4752681"/>
            <a:ext cx="506453" cy="5064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B12C0-D6A8-04E0-3AFC-BB6FC176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1FB1C-A13C-6C4E-4C74-98693773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6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758975-0063-6FC8-8343-053EED4A463B}"/>
              </a:ext>
            </a:extLst>
          </p:cNvPr>
          <p:cNvSpPr txBox="1"/>
          <p:nvPr/>
        </p:nvSpPr>
        <p:spPr>
          <a:xfrm>
            <a:off x="1160676" y="3051652"/>
            <a:ext cx="212344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IN" sz="32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5232400" y="2370512"/>
            <a:ext cx="6410959" cy="18528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GUI Programming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Programming, Installing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Pycharm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GUI Programming - Working on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Pycharm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390ED6-4CC9-DD56-B300-71A05AE121D3}"/>
              </a:ext>
            </a:extLst>
          </p:cNvPr>
          <p:cNvCxnSpPr>
            <a:cxnSpLocks/>
          </p:cNvCxnSpPr>
          <p:nvPr/>
        </p:nvCxnSpPr>
        <p:spPr>
          <a:xfrm>
            <a:off x="4236720" y="984250"/>
            <a:ext cx="0" cy="4889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A208F-FDA4-427D-27D5-0B7CDEA0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FC314-89C0-9AF6-B2B7-A06DCEC6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5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SzPts val="5000"/>
            </a:pPr>
            <a:r>
              <a:rPr lang="en-GB" sz="4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GUI Programming</a:t>
            </a:r>
            <a:endParaRPr lang="en-GB" sz="4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37DB42-3BED-EF04-F3A5-588562B2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130BDD-BA18-8FEB-7D69-9818DDBA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5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606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</a:t>
            </a:r>
            <a:endParaRPr lang="en-IN" sz="28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715258" y="2070840"/>
            <a:ext cx="6596878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Graphical User Interface (GUI) is a type of user interface that allows users to interact with electronic devices through graphical elements rather than text-based commands.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GUIs are designed to be intuitive and user-friendly, making it easier for users to understand and navigate software applications.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77055"/>
            <a:ext cx="375817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GUI?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34353"/>
            <a:ext cx="518160" cy="408432"/>
          </a:xfrm>
          <a:prstGeom prst="rect">
            <a:avLst/>
          </a:prstGeom>
        </p:spPr>
      </p:pic>
      <p:pic>
        <p:nvPicPr>
          <p:cNvPr id="15" name="Picture 14" descr="A purple screenshot of a computer&#10;&#10;Description automatically generated">
            <a:extLst>
              <a:ext uri="{FF2B5EF4-FFF2-40B4-BE49-F238E27FC236}">
                <a16:creationId xmlns:a16="http://schemas.microsoft.com/office/drawing/2014/main" id="{BA186F07-167B-A2F0-981A-B788977C3E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9" t="5900" r="5217" b="6061"/>
          <a:stretch/>
        </p:blipFill>
        <p:spPr>
          <a:xfrm>
            <a:off x="7841367" y="2179665"/>
            <a:ext cx="3834425" cy="381473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97C42-0E03-6562-01C0-C423A9B9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60CCE-4ED4-0528-B4EC-3536E5B5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9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606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</a:t>
            </a:r>
            <a:endParaRPr lang="en-IN" sz="2800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90CE6F-5E5D-C5FA-06E2-E3D1E79717A0}"/>
              </a:ext>
            </a:extLst>
          </p:cNvPr>
          <p:cNvSpPr txBox="1"/>
          <p:nvPr/>
        </p:nvSpPr>
        <p:spPr>
          <a:xfrm>
            <a:off x="715258" y="1781195"/>
            <a:ext cx="10950374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User-Friendly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More intuitive for users, especially those not familiar with command-line interfaces.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Allows users of all skill levels to interact with software easily.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Provides quick access to functions and features through visual elements.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Multitasking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Users can manage multiple applications or tasks simultaneously in different windows.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57948-E093-F3B3-F609-F27D45C5A9D8}"/>
              </a:ext>
            </a:extLst>
          </p:cNvPr>
          <p:cNvSpPr txBox="1"/>
          <p:nvPr/>
        </p:nvSpPr>
        <p:spPr>
          <a:xfrm>
            <a:off x="715258" y="1150766"/>
            <a:ext cx="375817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GUI?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Graphic 11" descr="Closed book with solid fill">
            <a:extLst>
              <a:ext uri="{FF2B5EF4-FFF2-40B4-BE49-F238E27FC236}">
                <a16:creationId xmlns:a16="http://schemas.microsoft.com/office/drawing/2014/main" id="{BC316CF3-F6AA-7E2E-8238-919D813A2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08064"/>
            <a:ext cx="518160" cy="40843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34231B-024D-9D4D-260E-557E2585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0E162-AAE9-B3AB-274E-362687DF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1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</a:t>
            </a:r>
            <a:endParaRPr lang="en-IN" sz="28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728482" y="1806680"/>
            <a:ext cx="10950374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(Graphical User Interface) programming involves creating applications that have a visual interface through which users can interact.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56735"/>
            <a:ext cx="4609096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What is GUI programming?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14033"/>
            <a:ext cx="518160" cy="40843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EC04A-D7C6-35EF-AF21-F17F0351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9BB6C-8D3C-FE72-55D7-BF7B7C13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1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</a:t>
            </a:r>
            <a:endParaRPr lang="en-IN" sz="28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C13E8-839B-1306-BA1A-15E3993CD301}"/>
              </a:ext>
            </a:extLst>
          </p:cNvPr>
          <p:cNvSpPr txBox="1"/>
          <p:nvPr/>
        </p:nvSpPr>
        <p:spPr>
          <a:xfrm>
            <a:off x="715258" y="1156735"/>
            <a:ext cx="5746502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Key concepts in GUI programming?</a:t>
            </a:r>
          </a:p>
        </p:txBody>
      </p:sp>
      <p:pic>
        <p:nvPicPr>
          <p:cNvPr id="5" name="Graphic 4" descr="Closed book with solid fill">
            <a:extLst>
              <a:ext uri="{FF2B5EF4-FFF2-40B4-BE49-F238E27FC236}">
                <a16:creationId xmlns:a16="http://schemas.microsoft.com/office/drawing/2014/main" id="{81140A89-CDBB-B800-7529-6A345AE4D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14033"/>
            <a:ext cx="518160" cy="408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7391A4-CE2C-E128-A4FB-A781EF67003C}"/>
              </a:ext>
            </a:extLst>
          </p:cNvPr>
          <p:cNvSpPr txBox="1"/>
          <p:nvPr/>
        </p:nvSpPr>
        <p:spPr>
          <a:xfrm>
            <a:off x="728482" y="1750775"/>
            <a:ext cx="10950374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Widgets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building blocks of a GUI, such as buttons, labels, text boxes, and sliders.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Actions triggered by user interactions, like clicking a button, moving a mouse, or pressing a key.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Loop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mechanism that waits for and dispatches events or messages in a program. It runs continuously to keep the GUI responsive.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Layouts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Methods to arrange widgets within a window. Common layouts include grid, pack, and place.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Callbacks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Functions that are called in response to an event.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EDF58A-9AF6-ECB7-3D48-3E0A7309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3C8D3-C84E-261B-D021-CEC7EF0B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31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</a:t>
            </a:r>
            <a:endParaRPr lang="en-IN" sz="28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728482" y="1786360"/>
            <a:ext cx="10833598" cy="444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Rectangular areas on the screen where content is displayed.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Small graphical representations of programs, files, or functions that users can click.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Clickable elements that perform actions or commands.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Lists of options or commands that drop down when selected.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Toolbar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Strips of buttons or icons that provide quick access to commonly used functions.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Areas where users can input text.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Controls that allow users to adjust values by sliding a knob along a bar.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Dialog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Popup windows that prompt the user to make decisions or enter information.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36415"/>
            <a:ext cx="4609096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Key widgets of GUI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293713"/>
            <a:ext cx="518160" cy="40843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B9F8F-2B8B-F674-AABB-CDEC549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18BE9-6E0F-BCFF-EFD3-1D7529ED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21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SzPts val="5000"/>
            </a:pPr>
            <a:r>
              <a:rPr lang="en-GB" sz="4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Programming and Installing PyCharm</a:t>
            </a:r>
            <a:endParaRPr lang="en-GB" sz="4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90EB1F-DEC8-677F-98F1-F462242C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C1890E-7BFF-E278-90F4-E9D6274D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6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34C55C-4269-345D-3E6A-5A106B1BAA86}"/>
              </a:ext>
            </a:extLst>
          </p:cNvPr>
          <p:cNvSpPr txBox="1"/>
          <p:nvPr/>
        </p:nvSpPr>
        <p:spPr>
          <a:xfrm>
            <a:off x="822960" y="1846065"/>
            <a:ext cx="9652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offers several libraries for creating GUIs, with the most popular ones being: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Tkinter: Built-in Python library.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PyQt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PySide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Set of Python bindings for the Qt libraries.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Kivy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Open-source library for rapid development of applications.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course we will learn Tkinter and for development will use PyCharm IDE.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programming and installing PyCharm</a:t>
            </a:r>
            <a:endParaRPr lang="en-IN" sz="2800" b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46575"/>
            <a:ext cx="4609096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GUI programming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03873"/>
            <a:ext cx="518160" cy="40843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0F4261-DF9D-1077-3C27-ED860EBF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9E8EBC-FB06-8507-89C5-7D6ECFB8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3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D171D3-1012-F569-8B19-187C3DDA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40" y="2893414"/>
            <a:ext cx="5240049" cy="3587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programming and installing PyCharm</a:t>
            </a:r>
            <a:endParaRPr lang="en-IN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C9FDD-3A1A-35C2-E5EE-773F364E0724}"/>
              </a:ext>
            </a:extLst>
          </p:cNvPr>
          <p:cNvSpPr txBox="1"/>
          <p:nvPr/>
        </p:nvSpPr>
        <p:spPr>
          <a:xfrm>
            <a:off x="715258" y="1177446"/>
            <a:ext cx="3135382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Download PyCharm</a:t>
            </a:r>
          </a:p>
        </p:txBody>
      </p:sp>
      <p:pic>
        <p:nvPicPr>
          <p:cNvPr id="9" name="Graphic 8" descr="Closed book with solid fill">
            <a:extLst>
              <a:ext uri="{FF2B5EF4-FFF2-40B4-BE49-F238E27FC236}">
                <a16:creationId xmlns:a16="http://schemas.microsoft.com/office/drawing/2014/main" id="{606929A7-B6B2-C163-8F2F-EF44DB63A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1334744"/>
            <a:ext cx="518160" cy="4084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C5ED21-14BA-EF9F-A942-0E9296372F61}"/>
              </a:ext>
            </a:extLst>
          </p:cNvPr>
          <p:cNvSpPr txBox="1"/>
          <p:nvPr/>
        </p:nvSpPr>
        <p:spPr>
          <a:xfrm>
            <a:off x="715258" y="2338523"/>
            <a:ext cx="965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4678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https://www.jetbrains.com/pycharm/download/?section=windows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CCC55-2E7C-63DA-96E5-FCC5D88DCE52}"/>
              </a:ext>
            </a:extLst>
          </p:cNvPr>
          <p:cNvSpPr txBox="1"/>
          <p:nvPr/>
        </p:nvSpPr>
        <p:spPr>
          <a:xfrm>
            <a:off x="715258" y="1876712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 the below link to download the PyChram Community edition.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B2501E-D30F-5037-C908-DB29EA3F1688}"/>
              </a:ext>
            </a:extLst>
          </p:cNvPr>
          <p:cNvSpPr/>
          <p:nvPr/>
        </p:nvSpPr>
        <p:spPr>
          <a:xfrm>
            <a:off x="6984350" y="4854804"/>
            <a:ext cx="3267090" cy="110668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7755F2-DCA4-6E11-EAEA-C87465CF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845E76-E3E8-9F5E-3211-52A3AD4A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12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programming and installing PyCharm </a:t>
            </a:r>
            <a:r>
              <a:rPr lang="en-US" sz="2000" b="0" i="1" dirty="0"/>
              <a:t>(continued)</a:t>
            </a:r>
            <a:endParaRPr lang="en-IN" sz="2800" b="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66895"/>
            <a:ext cx="4609096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Installing PyCharm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24193"/>
            <a:ext cx="518160" cy="408432"/>
          </a:xfrm>
          <a:prstGeom prst="rect">
            <a:avLst/>
          </a:prstGeom>
        </p:spPr>
      </p:pic>
      <p:pic>
        <p:nvPicPr>
          <p:cNvPr id="2052" name="Picture 4" descr="Lightbox">
            <a:extLst>
              <a:ext uri="{FF2B5EF4-FFF2-40B4-BE49-F238E27FC236}">
                <a16:creationId xmlns:a16="http://schemas.microsoft.com/office/drawing/2014/main" id="{A923DF4B-8915-75CD-8FF5-FE59E2491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" y="2443480"/>
            <a:ext cx="475297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58BD4F3-3E20-8C0F-E125-2999DD6B4A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83" b="31799"/>
          <a:stretch/>
        </p:blipFill>
        <p:spPr bwMode="auto">
          <a:xfrm>
            <a:off x="6605590" y="2434676"/>
            <a:ext cx="4752975" cy="367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69024-82F0-9ED8-9CE6-5E37161A7576}"/>
              </a:ext>
            </a:extLst>
          </p:cNvPr>
          <p:cNvSpPr txBox="1"/>
          <p:nvPr/>
        </p:nvSpPr>
        <p:spPr>
          <a:xfrm>
            <a:off x="1036320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7AEC2-210E-9EC3-8C3A-3084CAD339A5}"/>
              </a:ext>
            </a:extLst>
          </p:cNvPr>
          <p:cNvSpPr txBox="1"/>
          <p:nvPr/>
        </p:nvSpPr>
        <p:spPr>
          <a:xfrm>
            <a:off x="6866695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A12BE-90AD-40B6-B6A7-6590FEBE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C2710-E928-C8BF-B03A-8F0BD452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57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programming and installing PyCharm </a:t>
            </a:r>
            <a:r>
              <a:rPr lang="en-US" sz="2000" b="0" i="1" dirty="0"/>
              <a:t>(continued)</a:t>
            </a:r>
            <a:endParaRPr lang="en-IN" sz="2800" b="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46575"/>
            <a:ext cx="4609096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Installing PyCharm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03873"/>
            <a:ext cx="518160" cy="40843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923DF4B-8915-75CD-8FF5-FE59E2491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5687" y="2413000"/>
            <a:ext cx="472847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58BD4F3-3E20-8C0F-E125-2999DD6B4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24638" y="2396613"/>
            <a:ext cx="4733925" cy="369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69024-82F0-9ED8-9CE6-5E37161A7576}"/>
              </a:ext>
            </a:extLst>
          </p:cNvPr>
          <p:cNvSpPr txBox="1"/>
          <p:nvPr/>
        </p:nvSpPr>
        <p:spPr>
          <a:xfrm>
            <a:off x="1036320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7AEC2-210E-9EC3-8C3A-3084CAD339A5}"/>
              </a:ext>
            </a:extLst>
          </p:cNvPr>
          <p:cNvSpPr txBox="1"/>
          <p:nvPr/>
        </p:nvSpPr>
        <p:spPr>
          <a:xfrm>
            <a:off x="6866695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36456-F4A3-11EB-4053-799F1DEC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F533E-9E46-C0ED-391B-6D4284CD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20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800" y="176513"/>
            <a:ext cx="819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programming and installing PyCharm </a:t>
            </a:r>
            <a:r>
              <a:rPr lang="en-US" sz="2000" b="0" i="1" dirty="0"/>
              <a:t>(continued)</a:t>
            </a:r>
            <a:endParaRPr lang="en-IN" sz="2800" b="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A0B86-5EF8-2756-72AE-302DFCA47800}"/>
              </a:ext>
            </a:extLst>
          </p:cNvPr>
          <p:cNvSpPr txBox="1"/>
          <p:nvPr/>
        </p:nvSpPr>
        <p:spPr>
          <a:xfrm>
            <a:off x="715258" y="115673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Installing PyCharm</a:t>
            </a:r>
          </a:p>
        </p:txBody>
      </p:sp>
      <p:pic>
        <p:nvPicPr>
          <p:cNvPr id="46" name="Graphic 45" descr="Closed book with solid fill">
            <a:extLst>
              <a:ext uri="{FF2B5EF4-FFF2-40B4-BE49-F238E27FC236}">
                <a16:creationId xmlns:a16="http://schemas.microsoft.com/office/drawing/2014/main" id="{D302FF55-D0A1-D60A-11E5-8EB70D1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14033"/>
            <a:ext cx="518160" cy="40843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923DF4B-8915-75CD-8FF5-FE59E2491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5687" y="2440659"/>
            <a:ext cx="4728475" cy="366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58BD4F3-3E20-8C0F-E125-2999DD6B4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24638" y="2416933"/>
            <a:ext cx="4733924" cy="369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69024-82F0-9ED8-9CE6-5E37161A7576}"/>
              </a:ext>
            </a:extLst>
          </p:cNvPr>
          <p:cNvSpPr txBox="1"/>
          <p:nvPr/>
        </p:nvSpPr>
        <p:spPr>
          <a:xfrm>
            <a:off x="1036320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7AEC2-210E-9EC3-8C3A-3084CAD339A5}"/>
              </a:ext>
            </a:extLst>
          </p:cNvPr>
          <p:cNvSpPr txBox="1"/>
          <p:nvPr/>
        </p:nvSpPr>
        <p:spPr>
          <a:xfrm>
            <a:off x="6866695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6A771-8A56-3F1B-4904-34C56AD9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9C45D-C2DE-AB97-6644-57F28911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60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SzPts val="5000"/>
            </a:pPr>
            <a:r>
              <a:rPr lang="en-GB" sz="3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GUI Programming - Working on PyCharm</a:t>
            </a:r>
            <a:endParaRPr lang="en-GB" sz="3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CE3083-A7E4-2319-E83C-3C7E0F8B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CA0CF1-928C-F7F2-42F8-5A1ECC3D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5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45474-CC20-DEA5-D27B-8FCDDFE6D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9025" y="1923944"/>
            <a:ext cx="5257703" cy="43354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124B26-2ABB-C1A7-A272-8AC6864B660B}"/>
              </a:ext>
            </a:extLst>
          </p:cNvPr>
          <p:cNvSpPr txBox="1"/>
          <p:nvPr/>
        </p:nvSpPr>
        <p:spPr>
          <a:xfrm>
            <a:off x="715257" y="114657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on PyCharm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1A5DB2F2-E581-0B10-1A4E-587C17DCC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799" y="1303873"/>
            <a:ext cx="518160" cy="40843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D2A3035-C128-3B6E-5F06-E52A36B0C2CE}"/>
              </a:ext>
            </a:extLst>
          </p:cNvPr>
          <p:cNvGrpSpPr/>
          <p:nvPr/>
        </p:nvGrpSpPr>
        <p:grpSpPr>
          <a:xfrm>
            <a:off x="6348257" y="1923944"/>
            <a:ext cx="5282354" cy="4335466"/>
            <a:chOff x="6360778" y="1289830"/>
            <a:chExt cx="5282354" cy="433546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F031DE3-9DF3-081E-E041-513EEFDC1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60778" y="1289830"/>
              <a:ext cx="5282354" cy="433546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926CF5-AF73-F4A9-081D-DFF7B983570D}"/>
                </a:ext>
              </a:extLst>
            </p:cNvPr>
            <p:cNvSpPr/>
            <p:nvPr/>
          </p:nvSpPr>
          <p:spPr>
            <a:xfrm>
              <a:off x="7357872" y="1584960"/>
              <a:ext cx="4212336" cy="67665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0000"/>
                </a:highlight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6C69A8D-1DA9-904A-B630-18D4F2C6D347}"/>
              </a:ext>
            </a:extLst>
          </p:cNvPr>
          <p:cNvSpPr txBox="1"/>
          <p:nvPr/>
        </p:nvSpPr>
        <p:spPr>
          <a:xfrm>
            <a:off x="1036320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81383-A7C0-1342-9B16-F693E830D879}"/>
              </a:ext>
            </a:extLst>
          </p:cNvPr>
          <p:cNvSpPr txBox="1"/>
          <p:nvPr/>
        </p:nvSpPr>
        <p:spPr>
          <a:xfrm>
            <a:off x="6502400" y="4389120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84117-482D-2382-6CD9-12AE23AA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6172B-B476-5BC6-9B2D-A2D78981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242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76EB4CD-34CF-C4C0-E6FC-A2A3748BFF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43"/>
          <a:stretch/>
        </p:blipFill>
        <p:spPr>
          <a:xfrm>
            <a:off x="822959" y="2000048"/>
            <a:ext cx="5135309" cy="47017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46859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on PyCharm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304157"/>
            <a:ext cx="518160" cy="40843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6B5E18D-A9D3-C39D-4D57-8BC378C521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" r="32677"/>
          <a:stretch/>
        </p:blipFill>
        <p:spPr>
          <a:xfrm>
            <a:off x="6445517" y="2000048"/>
            <a:ext cx="5135309" cy="47017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53CCDF-0EA1-34F9-6838-48A07EA16695}"/>
              </a:ext>
            </a:extLst>
          </p:cNvPr>
          <p:cNvSpPr txBox="1"/>
          <p:nvPr/>
        </p:nvSpPr>
        <p:spPr>
          <a:xfrm>
            <a:off x="1036319" y="4846604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04ACD8-AC5D-4002-EB8B-7BA6D616A481}"/>
              </a:ext>
            </a:extLst>
          </p:cNvPr>
          <p:cNvSpPr txBox="1"/>
          <p:nvPr/>
        </p:nvSpPr>
        <p:spPr>
          <a:xfrm>
            <a:off x="6502399" y="4846604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86FEC-A239-F92F-122F-DD7EDFA4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0BD5B-5947-C4E1-DFC8-88768E33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224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46860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on PyCharm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304158"/>
            <a:ext cx="518160" cy="408432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06F6424-8701-AAE0-F952-75FADFBE20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20"/>
          <a:stretch/>
        </p:blipFill>
        <p:spPr>
          <a:xfrm>
            <a:off x="822959" y="2000050"/>
            <a:ext cx="5496996" cy="470175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3EDF160-C236-3913-D97A-F62746F2AC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98"/>
          <a:stretch/>
        </p:blipFill>
        <p:spPr>
          <a:xfrm>
            <a:off x="6868160" y="2000050"/>
            <a:ext cx="4801792" cy="4701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F20513-99CF-CC22-2731-590D5B179C95}"/>
              </a:ext>
            </a:extLst>
          </p:cNvPr>
          <p:cNvSpPr txBox="1"/>
          <p:nvPr/>
        </p:nvSpPr>
        <p:spPr>
          <a:xfrm>
            <a:off x="1036319" y="4846605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A74F-61C5-B9D3-DCF8-405BA254F2AF}"/>
              </a:ext>
            </a:extLst>
          </p:cNvPr>
          <p:cNvSpPr txBox="1"/>
          <p:nvPr/>
        </p:nvSpPr>
        <p:spPr>
          <a:xfrm>
            <a:off x="6979919" y="4846605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E34F33-302E-223B-DDBA-8DE4DCDE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2E7D2-7719-A11D-6ACA-88AF95E6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23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8" y="115673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Installing Tkinter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14033"/>
            <a:ext cx="518160" cy="40843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49EF8B5-7D6F-DE79-D1C4-6334CC218C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3"/>
          <a:stretch/>
        </p:blipFill>
        <p:spPr>
          <a:xfrm>
            <a:off x="1596817" y="3021021"/>
            <a:ext cx="8998366" cy="3440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822960" y="1934104"/>
            <a:ext cx="10034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`pip` on command prompt to install Tkinter on windows.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pip install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</a:t>
            </a:r>
            <a:endParaRPr lang="en-IN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6F59E6-18E9-9ACF-B011-570A0327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5C478-0686-1B09-0873-BF3BBBAC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3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4111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 Simple Window: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98413"/>
            <a:ext cx="518160" cy="408432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4FF9736-4F4D-63EA-268C-4C3D222A3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520" y="1686525"/>
            <a:ext cx="7487142" cy="47549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D65411-E395-FC2B-9897-47B0ED67A433}"/>
              </a:ext>
            </a:extLst>
          </p:cNvPr>
          <p:cNvSpPr txBox="1"/>
          <p:nvPr/>
        </p:nvSpPr>
        <p:spPr>
          <a:xfrm>
            <a:off x="715257" y="2138265"/>
            <a:ext cx="30744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tk.Tk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Initializes the main window.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root.title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("Simple GUI")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the window title.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root.geometry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("300x200")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the window size.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root.mainloop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 the event loop to keep the window open.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11FD23-9FBA-5B6F-C2BF-41C2DDAA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404287-6A8C-385D-B269-15A8F2E7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123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Introduction to GUI Programming - Working on PyCharm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264615"/>
            <a:ext cx="460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root.mainloop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D9D67-F1C3-CE4F-AC0C-3F5448EE8187}"/>
              </a:ext>
            </a:extLst>
          </p:cNvPr>
          <p:cNvSpPr txBox="1"/>
          <p:nvPr/>
        </p:nvSpPr>
        <p:spPr>
          <a:xfrm>
            <a:off x="715257" y="1816559"/>
            <a:ext cx="685458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Tkinter,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root.mainloop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is a crucial function that starts the main event loop of the GUI application. This loop is responsible for handling all the events and updates within the application.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2A1F23-4F7D-1FA0-EBC9-2C030734D7BF}"/>
              </a:ext>
            </a:extLst>
          </p:cNvPr>
          <p:cNvGrpSpPr/>
          <p:nvPr/>
        </p:nvGrpSpPr>
        <p:grpSpPr>
          <a:xfrm>
            <a:off x="7878700" y="1447031"/>
            <a:ext cx="3724671" cy="3176687"/>
            <a:chOff x="7980300" y="846673"/>
            <a:chExt cx="3724671" cy="31766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E2BD46-F3F1-48C0-5B49-C95B580DB1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067" b="46338"/>
            <a:stretch/>
          </p:blipFill>
          <p:spPr>
            <a:xfrm>
              <a:off x="7980300" y="846673"/>
              <a:ext cx="3724671" cy="3176687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892692-5887-EFED-10F9-C0555653987E}"/>
                </a:ext>
              </a:extLst>
            </p:cNvPr>
            <p:cNvSpPr/>
            <p:nvPr/>
          </p:nvSpPr>
          <p:spPr>
            <a:xfrm>
              <a:off x="8630551" y="3514105"/>
              <a:ext cx="1422398" cy="2844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513F233-FAB2-F20B-7E2A-B66E6AE74CBA}"/>
              </a:ext>
            </a:extLst>
          </p:cNvPr>
          <p:cNvSpPr txBox="1"/>
          <p:nvPr/>
        </p:nvSpPr>
        <p:spPr>
          <a:xfrm>
            <a:off x="715257" y="3998278"/>
            <a:ext cx="107614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Events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loop waits for events like mouse click, key press and window action.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Events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an event occurs, it dispatches the event to the appropriate widget or handler function (e.g. - a button click executes its command).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Operation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loop runs continuously until the application window is closed, keeping the GUI active and responsive.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9EED8-DEF0-1632-58E4-EBC3C18BCF3C}"/>
              </a:ext>
            </a:extLst>
          </p:cNvPr>
          <p:cNvSpPr txBox="1"/>
          <p:nvPr/>
        </p:nvSpPr>
        <p:spPr>
          <a:xfrm>
            <a:off x="715257" y="3448983"/>
            <a:ext cx="460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Closed book with solid fill">
            <a:extLst>
              <a:ext uri="{FF2B5EF4-FFF2-40B4-BE49-F238E27FC236}">
                <a16:creationId xmlns:a16="http://schemas.microsoft.com/office/drawing/2014/main" id="{DC4FD63E-F41D-76E1-C214-4320ADD61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98413"/>
            <a:ext cx="518160" cy="40843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1D257-9C58-9D46-70CB-B0CDD808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F5F781-53D9-032B-9471-9730CC82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11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518160" y="135873"/>
            <a:ext cx="606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GUI Development - Introduction</a:t>
            </a:r>
          </a:p>
        </p:txBody>
      </p:sp>
      <p:pic>
        <p:nvPicPr>
          <p:cNvPr id="11" name="Google Shape;138;p28">
            <a:extLst>
              <a:ext uri="{FF2B5EF4-FFF2-40B4-BE49-F238E27FC236}">
                <a16:creationId xmlns:a16="http://schemas.microsoft.com/office/drawing/2014/main" id="{1F22B567-FCD8-FCCA-D37F-1E016B1DC1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36" y="1345751"/>
            <a:ext cx="1064364" cy="6254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76B639-CA7B-A964-88EE-7D939DBCB6F3}"/>
              </a:ext>
            </a:extLst>
          </p:cNvPr>
          <p:cNvSpPr txBox="1"/>
          <p:nvPr/>
        </p:nvSpPr>
        <p:spPr>
          <a:xfrm>
            <a:off x="518160" y="2068748"/>
            <a:ext cx="11236960" cy="2762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Study: Building a Simple Tkinter GUI Application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GUI  - A window with title – “Welcome to Python GUI”</a:t>
            </a:r>
          </a:p>
          <a:p>
            <a:pPr algn="just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to Create the GUI Application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 and Import: Install Python and ensure Tkinter is available.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Main Window: Initialize the Tkinter window and set its properties.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the Event Loop: Keep the window open and responsive.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4D4C99-0D53-723E-8C6B-8F58E5C9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7DDB7-AF76-E5FD-B557-ABDC103E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338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67390"/>
            <a:ext cx="6065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2800" b="0" dirty="0">
                <a:solidFill>
                  <a:srgbClr val="C00000"/>
                </a:solidFill>
              </a:rPr>
              <a:t>Question?</a:t>
            </a:r>
            <a:endParaRPr lang="en-IN" sz="2800" b="0" dirty="0">
              <a:solidFill>
                <a:srgbClr val="C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216C5B-E5F4-7531-BAC3-136E1C7F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6D46F9-36AE-633D-4EBC-9F86C076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9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97870"/>
            <a:ext cx="6065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4000" b="0" dirty="0"/>
              <a:t>Thank you</a:t>
            </a:r>
            <a:endParaRPr lang="en-IN" sz="40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7C67A5-71AC-737F-9869-41E88D7F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EF2E7-81FA-7B78-9945-102D2614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3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6116</TotalTime>
  <Words>966</Words>
  <Application>Microsoft Office PowerPoint</Application>
  <PresentationFormat>Widescreen</PresentationFormat>
  <Paragraphs>171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Batang</vt:lpstr>
      <vt:lpstr>Aptos</vt:lpstr>
      <vt:lpstr>Aptos Display</vt:lpstr>
      <vt:lpstr>Arial</vt:lpstr>
      <vt:lpstr>Avenir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1. Introduction to GUI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GUI Programming and Installing PyCharm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Introduction to GUI Programming - Working on PyCharm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Mrinal Das</dc:creator>
  <cp:lastModifiedBy>o3</cp:lastModifiedBy>
  <cp:revision>296</cp:revision>
  <dcterms:created xsi:type="dcterms:W3CDTF">2024-06-05T15:10:18Z</dcterms:created>
  <dcterms:modified xsi:type="dcterms:W3CDTF">2024-07-11T09:59:20Z</dcterms:modified>
</cp:coreProperties>
</file>