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72"/>
  </p:notesMasterIdLst>
  <p:sldIdLst>
    <p:sldId id="315" r:id="rId2"/>
    <p:sldId id="262" r:id="rId3"/>
    <p:sldId id="320" r:id="rId4"/>
    <p:sldId id="319" r:id="rId5"/>
    <p:sldId id="387" r:id="rId6"/>
    <p:sldId id="397" r:id="rId7"/>
    <p:sldId id="386" r:id="rId8"/>
    <p:sldId id="398" r:id="rId9"/>
    <p:sldId id="399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10" r:id="rId19"/>
    <p:sldId id="411" r:id="rId20"/>
    <p:sldId id="412" r:id="rId21"/>
    <p:sldId id="414" r:id="rId22"/>
    <p:sldId id="413" r:id="rId23"/>
    <p:sldId id="416" r:id="rId24"/>
    <p:sldId id="417" r:id="rId25"/>
    <p:sldId id="418" r:id="rId26"/>
    <p:sldId id="419" r:id="rId27"/>
    <p:sldId id="420" r:id="rId28"/>
    <p:sldId id="421" r:id="rId29"/>
    <p:sldId id="422" r:id="rId30"/>
    <p:sldId id="423" r:id="rId31"/>
    <p:sldId id="424" r:id="rId32"/>
    <p:sldId id="425" r:id="rId33"/>
    <p:sldId id="426" r:id="rId34"/>
    <p:sldId id="427" r:id="rId35"/>
    <p:sldId id="428" r:id="rId36"/>
    <p:sldId id="429" r:id="rId37"/>
    <p:sldId id="430" r:id="rId38"/>
    <p:sldId id="431" r:id="rId39"/>
    <p:sldId id="432" r:id="rId40"/>
    <p:sldId id="433" r:id="rId41"/>
    <p:sldId id="434" r:id="rId42"/>
    <p:sldId id="435" r:id="rId43"/>
    <p:sldId id="436" r:id="rId44"/>
    <p:sldId id="437" r:id="rId45"/>
    <p:sldId id="438" r:id="rId46"/>
    <p:sldId id="439" r:id="rId47"/>
    <p:sldId id="440" r:id="rId48"/>
    <p:sldId id="441" r:id="rId49"/>
    <p:sldId id="442" r:id="rId50"/>
    <p:sldId id="443" r:id="rId51"/>
    <p:sldId id="444" r:id="rId52"/>
    <p:sldId id="445" r:id="rId53"/>
    <p:sldId id="446" r:id="rId54"/>
    <p:sldId id="447" r:id="rId55"/>
    <p:sldId id="448" r:id="rId56"/>
    <p:sldId id="449" r:id="rId57"/>
    <p:sldId id="450" r:id="rId58"/>
    <p:sldId id="451" r:id="rId59"/>
    <p:sldId id="452" r:id="rId60"/>
    <p:sldId id="453" r:id="rId61"/>
    <p:sldId id="454" r:id="rId62"/>
    <p:sldId id="455" r:id="rId63"/>
    <p:sldId id="456" r:id="rId64"/>
    <p:sldId id="457" r:id="rId65"/>
    <p:sldId id="461" r:id="rId66"/>
    <p:sldId id="458" r:id="rId67"/>
    <p:sldId id="459" r:id="rId68"/>
    <p:sldId id="460" r:id="rId69"/>
    <p:sldId id="314" r:id="rId70"/>
    <p:sldId id="310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4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3E920-6CC0-41E3-9005-F6673C6B13EB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22966-F9BF-4741-9FCE-5A74186CB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9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0f6ef15d1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10f6ef15d1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11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4808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319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1220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871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834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771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8672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33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3103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655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389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611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732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2706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845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785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22966-F9BF-4741-9FCE-5A74186CBDA3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3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BFC9-F2A6-36A7-12F4-95C6A35BC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1923-A563-08D4-661F-27647DD8E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CA9A-1F92-B203-6509-DB28E0AC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81173"/>
            <a:ext cx="4114800" cy="365125"/>
          </a:xfrm>
        </p:spPr>
        <p:txBody>
          <a:bodyPr/>
          <a:lstStyle/>
          <a:p>
            <a:r>
              <a:rPr lang="en-IN" dirty="0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61B4F-8AAF-247E-178D-7B6045AC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9696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53B6-6D16-FB2F-987A-FA5BFA0A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9F5D-99EB-526F-9EBF-2B0FDFA1C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8B00-ADDF-6D38-3DDF-5DB92F78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E767-E1BA-9361-35DF-FB83AD5E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F32C-D814-90B9-0A0D-7400ECF8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5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35DF-F4C9-E0CE-C5A1-280115D9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9A2D-78F3-6813-EDF2-2F672BE6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BB96-2C47-5098-9362-14010CD1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A93-1029-A414-2744-E6286A14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BA88-DFF7-601D-A5A7-EBA057E2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7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139A-5249-6637-E7F9-9B0F85BB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50DC-82BF-2805-43AD-AA6395B3C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1538-46D2-54C1-13BA-A4B773A37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89043-7544-27CF-11D3-09B5EBD2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EEEC1-26FF-191E-0C60-89DAECAB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2C259-F538-E1AC-7B3F-7239BEF0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6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4AD5-C5EB-6651-699F-902AE230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3B80-E4C8-3B7B-ACE6-DAAF09D9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6A75-1D24-4D59-A0DA-5356EC9BA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20EBC-473E-F6CA-67AE-049CA1D29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57311-19DD-3940-0DCB-0E7626E29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A11D8-C3B4-2A2D-9222-FB044547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165EF-4777-384E-B0E9-435C1305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1AE0B-BF97-46B5-7927-3B78B101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3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92F2-61C7-92E8-8294-09B76B07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644B-EBDF-F873-0925-00D407654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F7C5B-5E40-2191-3D5E-2FFD1C15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5EBB-8814-FD34-8B16-C5F9D622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2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55F00-0193-BB91-7CF3-B10292EC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C6ED6-4096-7D22-A8D4-B3AD92D4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4C8D-E4ED-C145-8E89-AB8CE04F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870-656C-89EC-C013-BED43E72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E0D3-3711-7FA4-217E-D7A0CE61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733F-7DAC-84AE-E3A1-A669F4F6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6ED36-A81F-9891-EE3B-EA8C99E3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AB7BC-DBB7-77C9-3DFC-79239A36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B3633-6417-D001-4CCB-AE5966AF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9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2D99-5C01-79CA-000C-BBE88D13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320A0-7AED-2373-530B-563ABA7C9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E700A-58CE-8DDF-E427-A2EDB902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CBF25-2F69-53DE-200C-36EB686F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A5D7-70C8-7C23-CA85-818EEE1C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Developer-Python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6E48F-1C22-739E-4B80-486204E1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52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88E7-5C58-B6A6-EB75-DA09461F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712A0-31A7-67CC-CE60-801173B9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5AA02-72C6-17A0-132A-9318984C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036C-5DCE-32C5-699E-8AFC9B8F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23E4-0EA7-48DF-C716-DCA0926F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2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A3681-9217-06B5-56D8-6B79B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D44B9-7F03-0687-17F2-E0E31B915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1ED6E-6A3F-3AF5-318A-07EC72BF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93E9-953C-FAFB-A635-9FF269F9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5095-5C7F-D21D-7629-5295A48A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8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FC773-A6AC-8222-9259-50EBB27C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BAE6-38E3-C515-2033-21CF42FE0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87FD-0497-D168-74EA-AF83ED7FC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67194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6526-AEBA-07A4-E5DA-3F660EC23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5312F0C1-4985-2D48-B252-3A7A0FA2207E}"/>
              </a:ext>
            </a:extLst>
          </p:cNvPr>
          <p:cNvGrpSpPr/>
          <p:nvPr userDrawn="1"/>
        </p:nvGrpSpPr>
        <p:grpSpPr>
          <a:xfrm>
            <a:off x="0" y="-42"/>
            <a:ext cx="69574" cy="6858042"/>
            <a:chOff x="0" y="-42"/>
            <a:chExt cx="67800" cy="5143466"/>
          </a:xfrm>
        </p:grpSpPr>
        <p:sp>
          <p:nvSpPr>
            <p:cNvPr id="8" name="Google Shape;10;p1">
              <a:extLst>
                <a:ext uri="{FF2B5EF4-FFF2-40B4-BE49-F238E27FC236}">
                  <a16:creationId xmlns:a16="http://schemas.microsoft.com/office/drawing/2014/main" id="{4B70AB85-C5CA-C94D-8710-64C0D8B63F9C}"/>
                </a:ext>
              </a:extLst>
            </p:cNvPr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;p1">
              <a:extLst>
                <a:ext uri="{FF2B5EF4-FFF2-40B4-BE49-F238E27FC236}">
                  <a16:creationId xmlns:a16="http://schemas.microsoft.com/office/drawing/2014/main" id="{EED52405-188E-9F43-8F21-1D14B2B469CC}"/>
                </a:ext>
              </a:extLst>
            </p:cNvPr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" name="Picture 10" descr="A logo with a butterfly&#10;&#10;Description automatically generated">
            <a:extLst>
              <a:ext uri="{FF2B5EF4-FFF2-40B4-BE49-F238E27FC236}">
                <a16:creationId xmlns:a16="http://schemas.microsoft.com/office/drawing/2014/main" id="{DFDED404-99B6-1A28-A8F3-554FBE152D9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01" y="59532"/>
            <a:ext cx="11525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9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/>
        </p:nvSpPr>
        <p:spPr>
          <a:xfrm>
            <a:off x="1082833" y="2946800"/>
            <a:ext cx="103696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3500"/>
            </a:pPr>
            <a:r>
              <a:rPr lang="en-GB" sz="4000" dirty="0" err="1">
                <a:latin typeface="Avenir"/>
                <a:ea typeface="Avenir"/>
                <a:cs typeface="Avenir"/>
                <a:sym typeface="Avenir"/>
              </a:rPr>
              <a:t>Tkinter</a:t>
            </a:r>
            <a:r>
              <a:rPr lang="en-GB" sz="4000" dirty="0">
                <a:latin typeface="Avenir"/>
                <a:ea typeface="Avenir"/>
                <a:cs typeface="Avenir"/>
                <a:sym typeface="Avenir"/>
              </a:rPr>
              <a:t> - Widgets</a:t>
            </a:r>
            <a:endParaRPr lang="en-GB" sz="4000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1216533" y="3836739"/>
            <a:ext cx="1898400" cy="1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3114933" y="3836733"/>
            <a:ext cx="7852400" cy="1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0" y="0"/>
            <a:ext cx="96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9"/>
          <p:cNvGrpSpPr/>
          <p:nvPr/>
        </p:nvGrpSpPr>
        <p:grpSpPr>
          <a:xfrm>
            <a:off x="0" y="-56"/>
            <a:ext cx="90400" cy="6857955"/>
            <a:chOff x="0" y="-42"/>
            <a:chExt cx="67800" cy="5143466"/>
          </a:xfrm>
        </p:grpSpPr>
        <p:sp>
          <p:nvSpPr>
            <p:cNvPr id="47" name="Google Shape;47;p9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56F7FD-0EB1-5F38-00C4-924440F0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03603F-D0E9-F7C9-A0A5-07F2E69F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BDEA17-78BF-7310-1F5A-2BE28EA0A300}"/>
              </a:ext>
            </a:extLst>
          </p:cNvPr>
          <p:cNvGrpSpPr/>
          <p:nvPr/>
        </p:nvGrpSpPr>
        <p:grpSpPr>
          <a:xfrm>
            <a:off x="543877" y="6108987"/>
            <a:ext cx="11205845" cy="0"/>
            <a:chOff x="539115" y="3792507"/>
            <a:chExt cx="11205845" cy="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0F649CE-EA0F-37C1-EC9C-24223EB69FB8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25" y="3792507"/>
              <a:ext cx="10059035" cy="0"/>
            </a:xfrm>
            <a:prstGeom prst="line">
              <a:avLst/>
            </a:prstGeom>
            <a:ln w="1016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F0C3E38-2196-3104-9918-4D2962BC3E3E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5" y="3792507"/>
              <a:ext cx="1553845" cy="0"/>
            </a:xfrm>
            <a:prstGeom prst="line">
              <a:avLst/>
            </a:prstGeom>
            <a:ln w="1016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oogle Shape;127;p28">
            <a:extLst>
              <a:ext uri="{FF2B5EF4-FFF2-40B4-BE49-F238E27FC236}">
                <a16:creationId xmlns:a16="http://schemas.microsoft.com/office/drawing/2014/main" id="{E9679C81-2DEE-9E40-BCE3-26034AC38AD4}"/>
              </a:ext>
            </a:extLst>
          </p:cNvPr>
          <p:cNvGrpSpPr/>
          <p:nvPr/>
        </p:nvGrpSpPr>
        <p:grpSpPr>
          <a:xfrm>
            <a:off x="3320787" y="4776459"/>
            <a:ext cx="4736716" cy="776075"/>
            <a:chOff x="2076884" y="3202000"/>
            <a:chExt cx="4736716" cy="776075"/>
          </a:xfrm>
        </p:grpSpPr>
        <p:sp>
          <p:nvSpPr>
            <p:cNvPr id="26" name="Google Shape;130;p28">
              <a:extLst>
                <a:ext uri="{FF2B5EF4-FFF2-40B4-BE49-F238E27FC236}">
                  <a16:creationId xmlns:a16="http://schemas.microsoft.com/office/drawing/2014/main" id="{9C0573B6-9BC2-0F75-22C7-8993C0C4580E}"/>
                </a:ext>
              </a:extLst>
            </p:cNvPr>
            <p:cNvSpPr/>
            <p:nvPr/>
          </p:nvSpPr>
          <p:spPr>
            <a:xfrm>
              <a:off x="2463132" y="3247534"/>
              <a:ext cx="314092" cy="3140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" name="Google Shape;138;p28">
              <a:extLst>
                <a:ext uri="{FF2B5EF4-FFF2-40B4-BE49-F238E27FC236}">
                  <a16:creationId xmlns:a16="http://schemas.microsoft.com/office/drawing/2014/main" id="{30E29816-73BD-A666-C6F1-88923458CBC9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840597" y="3215575"/>
              <a:ext cx="898400" cy="47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9;p28">
              <a:extLst>
                <a:ext uri="{FF2B5EF4-FFF2-40B4-BE49-F238E27FC236}">
                  <a16:creationId xmlns:a16="http://schemas.microsoft.com/office/drawing/2014/main" id="{E5199EFC-4BE2-3574-9CB7-811B6355E24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94523" y="3202000"/>
              <a:ext cx="434169" cy="40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40;p28">
              <a:extLst>
                <a:ext uri="{FF2B5EF4-FFF2-40B4-BE49-F238E27FC236}">
                  <a16:creationId xmlns:a16="http://schemas.microsoft.com/office/drawing/2014/main" id="{B3C8C285-5ACE-265A-F85A-A5360650F12E}"/>
                </a:ext>
              </a:extLst>
            </p:cNvPr>
            <p:cNvSpPr txBox="1"/>
            <p:nvPr/>
          </p:nvSpPr>
          <p:spPr>
            <a:xfrm>
              <a:off x="2076884" y="3684675"/>
              <a:ext cx="1086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 dirty="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Error/ Warning</a:t>
              </a:r>
              <a:endParaRPr sz="11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41;p28">
              <a:extLst>
                <a:ext uri="{FF2B5EF4-FFF2-40B4-BE49-F238E27FC236}">
                  <a16:creationId xmlns:a16="http://schemas.microsoft.com/office/drawing/2014/main" id="{0A70C051-02BF-85F2-7588-4F52835DCFCC}"/>
                </a:ext>
              </a:extLst>
            </p:cNvPr>
            <p:cNvSpPr txBox="1"/>
            <p:nvPr/>
          </p:nvSpPr>
          <p:spPr>
            <a:xfrm>
              <a:off x="3347450" y="3684675"/>
              <a:ext cx="8652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Information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42;p28">
              <a:extLst>
                <a:ext uri="{FF2B5EF4-FFF2-40B4-BE49-F238E27FC236}">
                  <a16:creationId xmlns:a16="http://schemas.microsoft.com/office/drawing/2014/main" id="{6FA4745F-3A7E-F726-EAEB-9CDADF401184}"/>
                </a:ext>
              </a:extLst>
            </p:cNvPr>
            <p:cNvSpPr txBox="1"/>
            <p:nvPr/>
          </p:nvSpPr>
          <p:spPr>
            <a:xfrm>
              <a:off x="4543561" y="3684675"/>
              <a:ext cx="7629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Flashback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3;p28">
              <a:extLst>
                <a:ext uri="{FF2B5EF4-FFF2-40B4-BE49-F238E27FC236}">
                  <a16:creationId xmlns:a16="http://schemas.microsoft.com/office/drawing/2014/main" id="{89D3CE3A-2EA3-139D-B4A6-E67DA26D4C22}"/>
                </a:ext>
              </a:extLst>
            </p:cNvPr>
            <p:cNvSpPr txBox="1"/>
            <p:nvPr/>
          </p:nvSpPr>
          <p:spPr>
            <a:xfrm>
              <a:off x="5766000" y="3684675"/>
              <a:ext cx="1047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1100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Class Exercise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56350378-92D3-A819-39B3-8549B7AA3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2276" y="4794102"/>
            <a:ext cx="423609" cy="423609"/>
          </a:xfrm>
          <a:prstGeom prst="rect">
            <a:avLst/>
          </a:prstGeom>
        </p:spPr>
      </p:pic>
      <p:pic>
        <p:nvPicPr>
          <p:cNvPr id="31" name="Graphic 30" descr="Information with solid fill">
            <a:extLst>
              <a:ext uri="{FF2B5EF4-FFF2-40B4-BE49-F238E27FC236}">
                <a16:creationId xmlns:a16="http://schemas.microsoft.com/office/drawing/2014/main" id="{60FFFCA9-0A0D-6D97-0F45-056DDF3EC8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0717" y="4752681"/>
            <a:ext cx="506453" cy="5064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B026D-0FDC-4B6E-3043-DDA8FDEC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B94AC-48AF-2EA1-318D-2C9B1282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06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758975-0063-6FC8-8343-053EED4A463B}"/>
              </a:ext>
            </a:extLst>
          </p:cNvPr>
          <p:cNvSpPr txBox="1"/>
          <p:nvPr/>
        </p:nvSpPr>
        <p:spPr>
          <a:xfrm>
            <a:off x="1" y="3136613"/>
            <a:ext cx="289559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IN" sz="32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AA9BA-D131-0393-1DE2-00401DD68232}"/>
              </a:ext>
            </a:extLst>
          </p:cNvPr>
          <p:cNvSpPr txBox="1"/>
          <p:nvPr/>
        </p:nvSpPr>
        <p:spPr>
          <a:xfrm>
            <a:off x="3474719" y="504616"/>
            <a:ext cx="8432797" cy="55846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Tkinter is and its importance in python GUI programming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Hierarchy of widgets and how they are organized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components of A Tkinter application: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window, frames &amp; widgets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Widgets using GUI - drop down menus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Toolbar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widget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Spinbox widget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Messagebox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Graphics and shapes-line graphics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Graphics and shapes - box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Graphics and shapes - canvas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Graphics and shapes - images in GUI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390ED6-4CC9-DD56-B300-71A05AE121D3}"/>
              </a:ext>
            </a:extLst>
          </p:cNvPr>
          <p:cNvCxnSpPr>
            <a:cxnSpLocks/>
          </p:cNvCxnSpPr>
          <p:nvPr/>
        </p:nvCxnSpPr>
        <p:spPr>
          <a:xfrm>
            <a:off x="2895600" y="619125"/>
            <a:ext cx="0" cy="5619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F8004-E1CA-4793-EFAC-9099C110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94FC0-0851-4879-903E-A9516918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5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34290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Tkinter Is and Its Importance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Python GUI Programming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CD689-7207-C0D6-FE48-9D94379F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A27829-742A-702E-F682-0335F108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55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What Tkinter is and its importance in python GUI programming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822958" y="1903624"/>
            <a:ext cx="109118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is the standard GUI (Graphical User Interface) library for Python, providing a fast and easy way to create GUI applications.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thin object-oriented layer on top of 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Tcl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/Tk GUI toolkit.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name Tkinter comes from </a:t>
            </a:r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 inter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27903D-93EE-16C6-553D-52218434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86F61-19DF-462A-5100-64ACA2CE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822959" y="1849283"/>
            <a:ext cx="3698241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library integration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Cross-platform compatibility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Ease of use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 widget set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Event-driven programming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layout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C1FB1-6799-6BC9-EDFA-956EF672E2D5}"/>
              </a:ext>
            </a:extLst>
          </p:cNvPr>
          <p:cNvSpPr txBox="1"/>
          <p:nvPr/>
        </p:nvSpPr>
        <p:spPr>
          <a:xfrm>
            <a:off x="6390639" y="1872625"/>
            <a:ext cx="3698241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Customizable appearance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 widget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Extensible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documentation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other libraries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90B29-6169-3830-0289-3FC8DD2C3941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What Tkinter is and its importance in python GUI programming</a:t>
            </a:r>
            <a:endParaRPr lang="en-IN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70DE4-8A3F-9220-2A14-1B648B90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1188-A950-76F8-775E-0EDB4D69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4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079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 Simple Window: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78093"/>
            <a:ext cx="518160" cy="408432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4FF9736-4F4D-63EA-268C-4C3D222A3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429" y="1818605"/>
            <a:ext cx="7487142" cy="4754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8BE4E6-193C-701D-F9B5-D33673AB2A6E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What Tkinter is and its importance in python GUI programming</a:t>
            </a:r>
            <a:endParaRPr lang="en-IN" sz="2800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D8FD3-0B9E-86F6-AC16-A8D05BBE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48686-28DF-E297-5492-F401870A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12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Hierarchy of Widgets and How They Are Organized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2D8B42-2BB0-E352-E9A9-C142056E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CFA24-3EC9-FA73-A059-D2F048AD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46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Hierarchy of widgets and how they are organized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dirty="0"/>
              <a:t>Hierarchy of widgets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35620"/>
            <a:ext cx="1101954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Tkinter, widgets are organized in a hierarchical manner. The main window (or root window) is at the top of the hierarchy, and other widgets are added as children to this window or to other widgets.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014B1B-B060-CEED-546C-C755E3A766F3}"/>
              </a:ext>
            </a:extLst>
          </p:cNvPr>
          <p:cNvGrpSpPr/>
          <p:nvPr/>
        </p:nvGrpSpPr>
        <p:grpSpPr>
          <a:xfrm>
            <a:off x="1675770" y="3505928"/>
            <a:ext cx="8056881" cy="2610747"/>
            <a:chOff x="1675770" y="3505928"/>
            <a:chExt cx="8056881" cy="261074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B0A1852-7575-019F-ABFD-A21D3BF2F874}"/>
                </a:ext>
              </a:extLst>
            </p:cNvPr>
            <p:cNvSpPr/>
            <p:nvPr/>
          </p:nvSpPr>
          <p:spPr>
            <a:xfrm>
              <a:off x="5324353" y="3505928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Root window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6B930D7-76C0-AAF6-E792-8BF00E89B373}"/>
                </a:ext>
              </a:extLst>
            </p:cNvPr>
            <p:cNvSpPr/>
            <p:nvPr/>
          </p:nvSpPr>
          <p:spPr>
            <a:xfrm>
              <a:off x="2887096" y="4449352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Frame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91526E7-9B64-9EB5-1C1C-0BEFE1C11AF7}"/>
                </a:ext>
              </a:extLst>
            </p:cNvPr>
            <p:cNvSpPr/>
            <p:nvPr/>
          </p:nvSpPr>
          <p:spPr>
            <a:xfrm>
              <a:off x="7761611" y="4449352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Entry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E328513-1284-7FD6-5AAC-00D38BC61DFC}"/>
                </a:ext>
              </a:extLst>
            </p:cNvPr>
            <p:cNvSpPr/>
            <p:nvPr/>
          </p:nvSpPr>
          <p:spPr>
            <a:xfrm>
              <a:off x="5324353" y="4449352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Label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493B8C5-C050-C52C-7BB6-3E58C96C4C80}"/>
                </a:ext>
              </a:extLst>
            </p:cNvPr>
            <p:cNvSpPr/>
            <p:nvPr/>
          </p:nvSpPr>
          <p:spPr>
            <a:xfrm>
              <a:off x="4113028" y="5634075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Radio button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38DF4DF-449A-672C-1CB9-FDDF31BC05BA}"/>
                </a:ext>
              </a:extLst>
            </p:cNvPr>
            <p:cNvSpPr/>
            <p:nvPr/>
          </p:nvSpPr>
          <p:spPr>
            <a:xfrm>
              <a:off x="1675770" y="5634075"/>
              <a:ext cx="1971040" cy="4826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Radio button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7AD0B175-3B7C-C86B-4174-F5BF46CC650C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7295393" y="3736340"/>
              <a:ext cx="1451738" cy="71301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FE9A01F6-EA22-71CC-F137-E161157DB4D3}"/>
                </a:ext>
              </a:extLst>
            </p:cNvPr>
            <p:cNvCxnSpPr>
              <a:cxnSpLocks/>
              <a:stCxn id="33" idx="1"/>
              <a:endCxn id="34" idx="0"/>
            </p:cNvCxnSpPr>
            <p:nvPr/>
          </p:nvCxnSpPr>
          <p:spPr>
            <a:xfrm rot="10800000" flipV="1">
              <a:off x="3872617" y="3747228"/>
              <a:ext cx="1451737" cy="70212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AC64B66F-D8DD-7B7E-F1DF-97681206E238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 rot="5400000">
              <a:off x="2915892" y="4677350"/>
              <a:ext cx="702123" cy="12113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8035FCCA-9D78-7A34-9EB9-DF4184D9BCE9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 rot="16200000" flipH="1">
              <a:off x="4134521" y="4670047"/>
              <a:ext cx="702123" cy="122593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634F08E-D341-B678-84E2-4714B57A2AFF}"/>
                </a:ext>
              </a:extLst>
            </p:cNvPr>
            <p:cNvCxnSpPr>
              <a:cxnSpLocks/>
              <a:stCxn id="33" idx="2"/>
              <a:endCxn id="36" idx="0"/>
            </p:cNvCxnSpPr>
            <p:nvPr/>
          </p:nvCxnSpPr>
          <p:spPr>
            <a:xfrm>
              <a:off x="6309873" y="3988528"/>
              <a:ext cx="0" cy="46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C2D1BA-8F87-C578-4BB4-4530AC04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B3BAF-4335-D9A4-7EF2-83F9BAF1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8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Hierarchy of widgets and how they are organized</a:t>
            </a:r>
            <a:endParaRPr lang="en-IN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7" y="1126255"/>
            <a:ext cx="46090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H</a:t>
            </a:r>
            <a:r>
              <a:rPr lang="en-US" sz="2400" b="0" dirty="0"/>
              <a:t>ow they are organized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35620"/>
            <a:ext cx="11019542" cy="195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Tkinter, widgets are organized in a tree-like structure.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tree-like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oraganization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essential in Tkinter because it defines the parent-child relationship between widgets, influencing their placement and behavior.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widget can have only one parent, but a parent can have multiple child widgets.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FB1579-6F7E-29D2-359F-8733676D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EE0DC-CBAF-1AAB-D471-7467EA31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6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055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Hierarchy of widgets and how they are organized</a:t>
            </a:r>
            <a:endParaRPr lang="en-IN" sz="2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304799" y="1801554"/>
            <a:ext cx="10726203" cy="392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with the following hierarchy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main application window.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frame inside the root window.</a:t>
            </a:r>
          </a:p>
          <a:p>
            <a:pPr marL="1200150" lvl="2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1: A label inside Frame 1 with the text "Label in Frame 1".</a:t>
            </a:r>
          </a:p>
          <a:p>
            <a:pPr marL="1200150" lvl="2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1: A button inside Frame 1 with the text "Button in Frame 1".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Another frame inside the root window.</a:t>
            </a:r>
          </a:p>
          <a:p>
            <a:pPr marL="1200150" lvl="2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2: A label inside Frame 2 with the text "Label in Frame 2".</a:t>
            </a:r>
          </a:p>
          <a:p>
            <a:pPr marL="1200150" lvl="2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2: A button inside Frame 2 with the text "Button in Frame 2".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138;p28">
            <a:extLst>
              <a:ext uri="{FF2B5EF4-FFF2-40B4-BE49-F238E27FC236}">
                <a16:creationId xmlns:a16="http://schemas.microsoft.com/office/drawing/2014/main" id="{FCBE7569-F048-02D5-2C6F-D03530A06E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4799" y="1312327"/>
            <a:ext cx="898400" cy="4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268A82-B7B4-84EF-ABB1-99AC1C0F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83B7CC-0731-2B68-E188-AC72E12B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67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Main Components of Tkinter Application: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4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window, frames &amp; widgets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21E868-2BC6-9B42-3351-2C999CD0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EB00F0-743E-0B60-1447-B574485D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77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Main components of Tkinter application: </a:t>
            </a:r>
            <a:r>
              <a:rPr lang="en-US" sz="2400" b="0" i="1" dirty="0"/>
              <a:t>root window, frames &amp; widgets</a:t>
            </a:r>
            <a:endParaRPr lang="en-IN" sz="2800" b="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6193543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dirty="0"/>
              <a:t>Main components of Tkinter application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26A71-4BEC-CD31-38E6-908A9A5D5BA1}"/>
              </a:ext>
            </a:extLst>
          </p:cNvPr>
          <p:cNvSpPr txBox="1"/>
          <p:nvPr/>
        </p:nvSpPr>
        <p:spPr>
          <a:xfrm>
            <a:off x="715257" y="1835620"/>
            <a:ext cx="11019542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main window of a Tkinter application. It is the parent container for all other widgets and frames.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Containers used to organize and group widgets within the root window. They help in structuring the layout of the application.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Widgets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individual UI elements like buttons, labels, entry fields, etc., that are placed inside frames or directly within the root window.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94D5B8-3C7C-5D8D-2AA9-BA96F40A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564BF5-C3AB-6E8C-FDFF-180841FD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Main components of Tkinter application: </a:t>
            </a:r>
            <a:r>
              <a:rPr lang="en-US" sz="2400" b="0" i="1" dirty="0"/>
              <a:t>root window, frames &amp; widgets</a:t>
            </a:r>
            <a:endParaRPr lang="en-IN" sz="2800" b="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dirty="0"/>
              <a:t>Example - Main components of Tkinter application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7268103-25C3-15C2-A690-BB9735B06A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5" t="11407" r="4820" b="22051"/>
          <a:stretch/>
        </p:blipFill>
        <p:spPr>
          <a:xfrm>
            <a:off x="2336800" y="1979695"/>
            <a:ext cx="7518400" cy="45633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C788C4-398C-F71D-BBA0-2AC3BD26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2A8D-EC15-DFF5-2680-A68F4E31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3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Main components of Tkinter application: </a:t>
            </a:r>
            <a:r>
              <a:rPr lang="en-US" sz="2400" b="0" i="1" dirty="0"/>
              <a:t>root window, frames &amp; widgets</a:t>
            </a:r>
            <a:endParaRPr lang="en-IN" sz="2800" b="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dirty="0"/>
              <a:t>Explanation – Example of main components of Tkinter application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tk.Tk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title is set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root.title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("Main Components Example").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tk.Frame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(root, ...)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with background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border (bd), and relief style (relief).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to the root window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frame.pack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=10,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=10) which adds padding around the frame.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tk.Label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(frame, text="This is a label")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to the frame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label.pack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=5) which adds padding around the label.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E510D2-26BC-FDBE-10A8-93C7BB4A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36637D-30C2-601D-2AD0-0D6CABF0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583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Widgets Using GUI - Dropdown Menus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328487-DBFF-E28D-6FC1-46448D8D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3A0DA-7CDE-4E58-41D9-1F31B95E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20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Widgets using GUI - drop down menus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Drop-Down Menu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Tkinter, a dropdown, often referred to as a "dropdown menu" or a "dropdown list," is a graphical control element that allows users to select one option from a list of predefined choices.</a:t>
            </a:r>
          </a:p>
          <a:p>
            <a:pPr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to create a dropdown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Root Window: Initialize the main application window.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Menu Widget: This will be the main menu bar.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the Menu: Set the menu as the root window's menu.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Submenus: Add items to the menu bar and create submenus for drop-down functionality.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Commands to Submenus: Populate the submenus with commands or actions.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036285-8269-3C7C-2E78-5AC47CCD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18F73-A91D-4593-12C6-12335159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201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Widgets using GUI - drop down menus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Drop-Down Menu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129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create a Tkinter application with a menu bar that contains two menus: "File" and "Edit". The "File" menu should have the options "New", "Open", and "Exit". The "Edit" menu should have the options "Undo" and "Redo". Display a message in the console when any menu item is clicked.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25C34-4A54-841C-3C9D-B2E72D95E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39" y="3941973"/>
            <a:ext cx="5239481" cy="247684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1054276D-DD03-BC9A-1A88-2B839C5AB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19" y="3941973"/>
            <a:ext cx="5239481" cy="247684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4A3701-FF3D-9841-C2D1-92504CD6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29EEE-FD2B-B3B4-CEE2-FFD16135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66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Widgets using GUI - drop down menus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Drop-Down Menu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A902DB-AD12-EE4D-75EE-75DF92D3ED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0" t="10863" r="62833" b="31412"/>
          <a:stretch/>
        </p:blipFill>
        <p:spPr>
          <a:xfrm>
            <a:off x="822959" y="2028102"/>
            <a:ext cx="4492272" cy="3973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FDE62-0ACE-D4A8-6C13-E09CF3C989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00" t="32195" r="50000" b="18706"/>
          <a:stretch/>
        </p:blipFill>
        <p:spPr>
          <a:xfrm>
            <a:off x="5313680" y="2144927"/>
            <a:ext cx="6746515" cy="370470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8DE157-02D5-A04B-0E5D-2ECFC04A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01F5C-797C-1A64-BA39-25056D6F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78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Widgets using GUI - drop down menus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Drop-Down Menu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1718405"/>
            <a:ext cx="11283704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 Bar: The main menu bar is 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tk.Menu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Configuring Menu Bar: The menu bar is set as the root window's menu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root.config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(menu=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menu_bar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Menu: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tk.Menu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menu_bar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tearoff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=0)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to the menu bar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menu_bar.add_cascade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(label="File", menu=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file_menu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Commands ("New", "Open", "Exit") are added to the file menu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file_menu.add_command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(...)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separator is added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file_menu.add_separator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"Exit" command is linked to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root.quit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close the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 Menu: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tk.Menu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menu_bar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tearoff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=0)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to the menu bar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menu_bar.add_cascade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(label="Edit", menu=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edit_menu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Commands ("Undo", "Redo") are added to the edit menu using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edit_menu.add_command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(...)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B1CDD6-763C-BDE5-E11B-4DF360AC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B9529-155B-4A5E-55AE-CDD2E39A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175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Widgets using GUI - drop down menus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59974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previous example by adding a "Help" menu with an "About" option that shows an informational message box with the message "This is a simple Tkinter application".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80F6C7-DC59-3688-F70F-A0216A1573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17" t="25051" r="32334" b="43491"/>
          <a:stretch/>
        </p:blipFill>
        <p:spPr>
          <a:xfrm>
            <a:off x="3439160" y="3316763"/>
            <a:ext cx="5313680" cy="298499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D16CF-E7C6-E737-634E-44C20C1A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EE4F9-9A4D-A981-1364-A0A4C1DA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3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Toolbar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5C3D33-9FFA-E03B-2F17-7EF4AAAB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275F8-F4C1-5CC3-6D26-96177B8D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73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Toolbar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Toolbar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30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toolbar in Tkinter can be created using the Frame widget, which acts as a container for buttons or other widgets that represent tools or actions. Toolbars are typically placed at the top of the application window and provide quick access to commonly used functions.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to create a Toolbar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Root Window: Initialize the main application window.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Frame for the Toolbar: This frame will hold the toolbar buttons.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Buttons to the Toolbar: Create and add buttons to the toolbar frame.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 the Toolbar Frame: Place the toolbar frame at the top of the root window.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69CE9D-804D-5EF3-A7B9-040E6792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E1BB1-776E-1956-6E5E-BD1A2A06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47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Toolbar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Toolbar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with a toolbar that contains three buttons: "New", "Open", and "Save". Each button should print a message to the console when clicked.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139B2-B257-F974-DA62-0E51A5FDD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891" y="2712820"/>
            <a:ext cx="4782217" cy="395342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E179E2-3513-4A27-F7E1-F0FA9DC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639-DD05-9777-C38F-9F52C83A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435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Toolbar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Toolbar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030740-03C3-A6C5-97CB-372340CAD8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0" t="10235" r="65167" b="21059"/>
          <a:stretch/>
        </p:blipFill>
        <p:spPr>
          <a:xfrm>
            <a:off x="822958" y="1849283"/>
            <a:ext cx="4257041" cy="4805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AF1400-964D-094F-F857-AA3E1BFB0C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00" t="43333" r="53833" b="16876"/>
          <a:stretch/>
        </p:blipFill>
        <p:spPr>
          <a:xfrm>
            <a:off x="5618479" y="2144927"/>
            <a:ext cx="6024883" cy="291661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D91188-70C0-0BDD-40BE-343FEE26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9C138-AD1A-1DE0-FB32-416D4022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141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Toolbar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Toolbar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1718405"/>
            <a:ext cx="11283704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Window: The main application window is created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tk.Tk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Toolbar Frame: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tk.Frame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(root, bd=1, relief=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tk.RAISED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with a border (bd) and a raised relief style (relief).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Placed at the top of the root window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toolbar.pack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(side=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tk.TOP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fill=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tk.Button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(toolbar, text="Button Text", command=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command_function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to the toolbar frame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button.pack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(side=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tk.LEFT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padx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=2,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pady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=2).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Commands: Each button is linked to a function that prints a message to the console.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F2B6C3-50D6-0F5C-BA56-06568ACD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629E7-159E-8C71-5147-122345BF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082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Toolbar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59974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previous example by adding a "Cut", "Copy", and "Paste" button to the toolbar. Each button should print a corresponding message to the console when clicked.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673F75-FD22-4657-7242-EFBFD3F4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194" y="3308063"/>
            <a:ext cx="6669611" cy="28082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8BC97-ADE8-D91D-8D73-523076A4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D2C71-E542-BA81-61CE-1A7E37E0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785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Scale Widget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011165-C19D-FE0D-9FFF-568005D9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AB673-6452-77A8-96B3-985AEB7F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184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Scale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widget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scale widget in Tkinter is a graphical slider that allows users to select a value within a specified numeric range. It provides a way to interactively adjust and input numeric values using a GUI interface.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to create a scale widget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Root Window: Initialize the main application window.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Frame for the Toolbar: This frame will hold the scale widget.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the Scale Widget: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scale widget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tk.Scale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within the frame.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Specify the parent widget (frame), the range of values (from_ and to parameters), orientation (orient parameter), and a function (command parameter) to handle value changes.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 the Scale Widget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DDD408-C74F-2E57-8EF5-2A8EC38F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8B5E2-DD83-C0AC-5A54-4239230E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26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Scale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Scale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with a scale widget  that scales from 0 to 100.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7F552-DFD5-2BC6-0706-491F54279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891" y="3162529"/>
            <a:ext cx="4782217" cy="276263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8B7FF4-00CB-EA7D-3B30-9F162488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273E2A-F74C-F37D-9577-B39B8778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090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Scale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Scale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D2A65-11DD-A15B-7C8C-6320129D1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0" t="9765" r="66755" b="43804"/>
          <a:stretch/>
        </p:blipFill>
        <p:spPr>
          <a:xfrm>
            <a:off x="715256" y="2132236"/>
            <a:ext cx="4070104" cy="3265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029AF-79FE-0BC5-FA07-14D63533DE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0" t="55882" r="42500"/>
          <a:stretch/>
        </p:blipFill>
        <p:spPr>
          <a:xfrm>
            <a:off x="4866638" y="2132236"/>
            <a:ext cx="6896339" cy="326526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0F0396-A022-0792-A3D9-63A0129B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CD8D2-CF89-DE85-136D-31AA3393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58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Scale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Scale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1849283"/>
            <a:ext cx="11283704" cy="2780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</a:rPr>
              <a:t>scale =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</a:rPr>
              <a:t>tk.Scale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</a:rPr>
              <a:t>(…):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horizontal scale widget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tk.Scale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within the frame.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from_=0 and to=100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Specifies the range of values for the scale widget (from 0 to 100).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orient=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tk.HORIZONTAL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Specifies the orientation of the scale widget (horizontal).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command=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on_scale_change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Specifies the function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on_scale_change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call during scale value changes.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531D94-A2C7-BD2B-2BB4-36B0E70C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BE7455-021A-A056-896D-E47F473D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30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Scale widget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59974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scale widget example by adding a label that changes its font size based on the selected scale value.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CEC863-075A-6321-2461-4C750277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507" y="3245337"/>
            <a:ext cx="5334744" cy="211484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800C5-E4D4-44D4-8A6C-B7FFCDCC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97E3-5E37-B180-FF71-BD540421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14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SpinBox Widget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4E5856-88B3-D6CF-3C58-83FD14B8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DF0832-C935-EBD9-3668-1D2810EB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18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SpinBox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dirty="0"/>
              <a:t>SpinBox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SpinBox widget in Tkinter is a graphical control element consisting of a text box and two small arrow buttons that allow users to select a numeric value within a specified range by incrementing or decrementing.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to create a </a:t>
            </a:r>
            <a:r>
              <a:rPr lang="en-US" sz="1800" b="1" dirty="0"/>
              <a:t>SpinBox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Main Application Window: root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tk.Tk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SpinBox Widget: spinbox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tk.Spinbox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(root, from_=0, to=100)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Pack SpinBox Widget: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spinbox.pack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SpinBox Value Changes: Define a function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on_spinbox_change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to update based on SpinBox value.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07C6CD-2928-2A88-4EB4-1B32A367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7D5301-217B-00FF-ECD5-39A5DB82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939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SpinBox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US" sz="2400" b="0" dirty="0"/>
              <a:t>SpinBox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with a spinbox widget  that spins from 0 to 100.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722C1-7850-200A-EE73-FFAB28A2B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627" y="3463704"/>
            <a:ext cx="6058746" cy="14237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CB36DB-B474-95A9-112C-7C578300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BBE5-77FB-381A-A23D-687C5EB2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564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SpinBox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b="0" dirty="0"/>
              <a:t>SpinBox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4A0AC-939B-FB6D-8543-FA91BBB7F2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20" t="11664" r="20860" b="15891"/>
          <a:stretch/>
        </p:blipFill>
        <p:spPr>
          <a:xfrm>
            <a:off x="3068319" y="1718405"/>
            <a:ext cx="6167120" cy="496824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8A8346-B970-91E6-9D48-0C0EFBAF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947DD3-0D02-C55C-2ED1-E4AC2B2A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401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SpinBox widget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b="0" dirty="0"/>
              <a:t>SpinBox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1849283"/>
            <a:ext cx="11283704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a function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on_spinbox_change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Retrieves the current value of the SpinBox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spinbox.get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().Updates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text of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label_value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display the selected value.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</a:rPr>
              <a:t>spinbox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</a:rPr>
              <a:t> = </a:t>
            </a:r>
            <a:r>
              <a:rPr lang="en-IN" dirty="0" err="1">
                <a:latin typeface="Batang" panose="02030600000101010101" pitchFamily="18" charset="-127"/>
                <a:ea typeface="Batang" panose="02030600000101010101" pitchFamily="18" charset="-127"/>
              </a:rPr>
              <a:t>tk.Spinbox</a:t>
            </a:r>
            <a:r>
              <a:rPr lang="en-IN" dirty="0">
                <a:latin typeface="Batang" panose="02030600000101010101" pitchFamily="18" charset="-127"/>
                <a:ea typeface="Batang" panose="02030600000101010101" pitchFamily="18" charset="-127"/>
              </a:rPr>
              <a:t>(root, …)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SpinBox widget “spinbox” within the main window “root”.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from_=0 and to=100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Specifies the range of values (from 0 to 100).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command=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on_spinbox_change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Specifies the function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on_spinbox_change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call whenever the SpinBox value changes.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131525-3A0F-5B1E-BB4E-CF5103DF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D8E9E-53A1-EE87-A36E-2FD97E89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283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SpinBox widget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59974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SpinBox example to dynamically change the background color of a label based on the selected value of the SpinBox.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BCF00-80BD-B4EA-6D6B-ABE3478F9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334" y="3314680"/>
            <a:ext cx="5441331" cy="258270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7F4FB-D569-F0A2-6C5C-B1294E35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C202C-E67B-949A-335D-7AF6D817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80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MessageBox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1F09D4-B872-BC95-2D11-14D40199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7C89E-4575-4EE1-136E-8B0DF911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659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 err="1"/>
              <a:t>MessageBox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210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dialog boxes to show messages to users, including alerts, warnings, and confirmation prompts.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create a </a:t>
            </a:r>
            <a:r>
              <a:rPr lang="en-US" sz="1800" b="1" dirty="0" err="1"/>
              <a:t>messegebox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import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tkinter.messagebox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as mb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DE58E6-629D-E1EF-5BED-B11143E8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4F41C-CF2F-309B-48FE-9A5AA95C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609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 err="1"/>
              <a:t>MessageBox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US" sz="2400" b="0" dirty="0" err="1"/>
              <a:t>MessageBox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display a prompt to user upon a button click.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3E359-8358-BD48-7A70-5FE3C043DC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418" t="27961" r="17333" b="40666"/>
          <a:stretch/>
        </p:blipFill>
        <p:spPr>
          <a:xfrm>
            <a:off x="3840480" y="3111771"/>
            <a:ext cx="4511040" cy="286415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6B61CB-1CF9-D814-4708-AF6448C2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E68F0-2D75-DD4B-F250-241877C4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209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 err="1"/>
              <a:t>MessageBox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b="0" dirty="0" err="1"/>
              <a:t>MessageBox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9EBE6A-2A60-7789-EA4B-67A3B827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816" y="2144927"/>
            <a:ext cx="7920367" cy="410225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BC5035-8140-08DD-1D22-FF9D7057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F873D-D7F7-1BF7-E362-F481629C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67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 err="1"/>
              <a:t>MessageBox</a:t>
            </a: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b="0" dirty="0" err="1"/>
              <a:t>MessageBox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1849283"/>
            <a:ext cx="11283704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import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tkinter.messagebox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as mb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it Imports the Tkinter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 as mb for convenience.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show_message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a function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show_message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displays an informational message box using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mb.showinfo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114C63-2AA0-797B-BDDA-247D16DD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1884E0-2D88-2C67-471E-42A267F0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9209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 err="1"/>
              <a:t>MessageBox</a:t>
            </a:r>
            <a:endParaRPr lang="en-US" sz="28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59974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example to include different types of message boxes (warning, error, question) and handle user responses (e.g., display a different message or take different actions based on user input).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4603D9-2C33-297F-CA32-640B90A61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33" t="25076" r="17084" b="33467"/>
          <a:stretch/>
        </p:blipFill>
        <p:spPr>
          <a:xfrm>
            <a:off x="3104163" y="3313143"/>
            <a:ext cx="5983673" cy="302669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680B8-170A-D889-2642-572D9B06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D84D6-5459-51AC-B85B-EB8EC9BF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320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Graphics and Shapes - Line Graphics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B4F201-E09C-01A5-CDB8-7ABFF5E2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36FCD8-A14E-AAD0-5FF9-CD547506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296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line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210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allows drawing lines between specified points using the Canvas widget.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create a </a:t>
            </a:r>
            <a:r>
              <a:rPr lang="en-US" sz="1800" b="1" dirty="0"/>
              <a:t>line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canvas.create_line</a:t>
            </a:r>
            <a:r>
              <a:rPr lang="es-E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(x1, y1, x2, y2, ...)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EF19C0-AA8E-265F-866D-AC1D555D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8EF161-3349-FE1D-F0A9-88C03AE4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36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line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</a:t>
            </a:r>
            <a:r>
              <a:rPr lang="en-US" sz="2400" b="0" dirty="0"/>
              <a:t>Line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display a line on canvas.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DC93A-8E54-C27A-30A6-F9468B14E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502" y="2445032"/>
            <a:ext cx="4267796" cy="4020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3B55A1-3860-0B57-AE2B-8F3AEDFD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6BDC0-C698-BE1A-53F1-73561E08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098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line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b="0" dirty="0"/>
              <a:t>Line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681D86-8A61-643F-813B-3D07A801D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76" y="1954376"/>
            <a:ext cx="6328647" cy="412200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3046F0-98A4-A8D7-1407-011818C1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60283-2EB3-E8D8-D66E-A1AB0098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56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line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b="0" dirty="0"/>
              <a:t>Line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 Widget: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Canvas widget (canvas) within the main window (root) with specified width and height.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create_line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canvas.create_line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draw lines: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create_line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(50, 50, 200, 50, fill="blue", width=3):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Draws a blue line from (50, 50) to (200, 50) with a width of 3 pixels.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canvas.create_line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(200, 50, 200, 200, fill="red", width=5):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Draws a red line from (200, 50) to (200, 200) with a width of 5 pixels.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2B4CD5-9F67-13E4-9F67-24B28846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3D1B7-05FE-00A8-B03D-5D73B85D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401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line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2035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example by allowing users to input coordinates via entry widgets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draw lines dynamically based on those coordinates.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50E89-739D-52B5-8AB0-6AB3FDC0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760" y="1335634"/>
            <a:ext cx="3362960" cy="531971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43FFE-0C90-A87C-63EC-A98DD1CD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301B-A59D-7B2B-61E7-17F51841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891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Graphics and Shapes - Box Graphics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6843DD-3E1A-BD9C-6148-9B6A01F6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B89555-1A3B-C6F8-611E-F7CF69A4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158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box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210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Canvas widget allows drawing rectangles or boxes with specified coordinates and attributes.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create a </a:t>
            </a:r>
            <a:r>
              <a:rPr lang="en-US" sz="1800" b="1" dirty="0"/>
              <a:t>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canvas.create_rectangle</a:t>
            </a:r>
            <a:r>
              <a:rPr lang="es-E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(x1, y1, x2, y2, ...)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A466EE-7779-3DD7-7509-C14BD98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63A811-502E-CA9B-61DB-89E164A0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650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box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display a box on canvas.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810A0-2599-34CD-85ED-565699C42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17" y="2512865"/>
            <a:ext cx="3877965" cy="416862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86FF4A-9DA5-4AF2-6CD0-7ECFE147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65A79-3D02-E852-B4D5-F4848B2C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331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box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b="0" dirty="0"/>
              <a:t>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997C3C-6B7A-2A20-8D16-2AB1EF412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520" y="2264512"/>
            <a:ext cx="8624959" cy="346723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3F602A-91EF-CCF3-6B7C-40A62CD2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BAB6E-7763-2A4A-3464-771D5CAE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136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box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create_rectangle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canvas.create_rectangle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draw a rectangle:</a:t>
            </a:r>
          </a:p>
          <a:p>
            <a:pPr marL="1200150" lvl="2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canvas.create_rectangle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(50, 50, 200, 200, outline="black", fill="yellow", width=2):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Draws a rectangle with top-left corner at (50, 50) and bottom-right corner at (200, 200).</a:t>
            </a:r>
          </a:p>
          <a:p>
            <a:pPr marL="1200150" lvl="2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outline="black":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the outline color to black.</a:t>
            </a:r>
          </a:p>
          <a:p>
            <a:pPr marL="1200150" lvl="2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fill="yellow":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Fills the rectangle with yellow color.</a:t>
            </a:r>
          </a:p>
          <a:p>
            <a:pPr marL="1200150" lvl="2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width=2: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the outline width to 2 pixels.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C9DC61-B6EB-747A-94B4-D225F5A7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3A4E1-6A73-3305-C81B-4610FEE1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318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box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399220" y="1813084"/>
            <a:ext cx="112035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Enhance the example to allow users to change the size, color, and position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of the rectangle using entry widgets or dropdown menus.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38;p28">
            <a:extLst>
              <a:ext uri="{FF2B5EF4-FFF2-40B4-BE49-F238E27FC236}">
                <a16:creationId xmlns:a16="http://schemas.microsoft.com/office/drawing/2014/main" id="{875605CF-F6D2-F01A-9DAA-6AF143E7BC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220" y="1335634"/>
            <a:ext cx="898400" cy="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50E89-739D-52B5-8AB0-6AB3FDC01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992" y="1335634"/>
            <a:ext cx="3154495" cy="531971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CAE8C-AE98-0E72-C5E8-CBED3DDD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2FF59-2F9F-3BCA-532B-0B290960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28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Graphics and Shapes - Canvas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B94B22-5A96-FE9A-08B3-138E2961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36DCCC-E457-D5CF-F4B4-12BFE0C0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858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canvas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168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Canvas widget provides a drawing space to create graphics, shapes, and images.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create a c</a:t>
            </a:r>
            <a:r>
              <a:rPr lang="en-US" sz="1800" b="1" dirty="0"/>
              <a:t>anvas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 =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tk.Canvas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(root, width=400, height=400)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2A7AC3-D940-4D43-D953-E9DCC8D2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EFA4B0-A53C-AC4F-5093-40FE5929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7270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canvas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GUI of Canvas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makes a canvas placing some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shapes on it.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1566C-743E-F201-AD50-865A46AF2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556" y="1849283"/>
            <a:ext cx="4303564" cy="462612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5FBDC0-8EBA-B325-A071-BFFD4F2E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E50F4-E6BB-6A8F-EF02-D7F348C5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4619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canvas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A77324-F6E4-97D3-FB05-A53DA8744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461" y="2398897"/>
            <a:ext cx="8411077" cy="333284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AAA045-B174-70D9-27DD-00A00F18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D1F39-8308-6D36-EC07-6A96067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921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- canvas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 Widget: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Canvas widget (canvas) within the main window (root) with specified width and height.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Drawing Methods: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canvas.create_line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canvas.create_rectangle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,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canvas.create_oval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to draw: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blue line from (50, 50) to (200, 50) with a width of 3 pixels.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yellow rectangle with outline in black, from (50, 100) to (200, 200) with a width of 2 pixels.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light green oval with outline in green, from (50, 250) to (200, 350) with a width of 2 pixels.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A2CF50-6FB5-6CAF-026C-6898F50A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201F6-729B-2D94-D4DA-9970124D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11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480000" y="2494400"/>
            <a:ext cx="11406800" cy="23620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 Graphics and Shapes - Images in GUI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FEFDB7-5AC2-E3E7-6A40-E73E9A5A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42FCF-387F-C644-C4ED-90EA8A5F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3656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– images in GUI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 in GUI</a:t>
            </a: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210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allows showing images (e.g., PNG, JPEG) within GUI applications using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PhotoImage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to add an image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photo = </a:t>
            </a:r>
            <a:r>
              <a:rPr lang="fr-FR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tk.PhotoImage</a:t>
            </a:r>
            <a:r>
              <a:rPr lang="fr-FR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(file="image.png")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4689AD-4C4E-2760-40FA-1015CF6B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E0572-FAB7-A7AF-2491-A95E175A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3023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– images in GUI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375919" y="2092960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Tkinter some image formats are not supported by default. How can we address that issue?</a:t>
            </a:r>
          </a:p>
        </p:txBody>
      </p:sp>
      <p:pic>
        <p:nvPicPr>
          <p:cNvPr id="2" name="Google Shape;139;p28">
            <a:extLst>
              <a:ext uri="{FF2B5EF4-FFF2-40B4-BE49-F238E27FC236}">
                <a16:creationId xmlns:a16="http://schemas.microsoft.com/office/drawing/2014/main" id="{B6105F6F-F945-7C51-03E7-E8976A4C69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5439" y="1290491"/>
            <a:ext cx="883921" cy="8024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8C0CA-2FFE-2011-3C9A-68353002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66553-1FB8-0745-71D0-B5BED385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6080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showing an image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1EDB65-B60E-3184-FDE0-8973F327997C}"/>
              </a:ext>
            </a:extLst>
          </p:cNvPr>
          <p:cNvSpPr txBox="1"/>
          <p:nvPr/>
        </p:nvSpPr>
        <p:spPr>
          <a:xfrm>
            <a:off x="715256" y="1849283"/>
            <a:ext cx="1103986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Tkinter application that shows an image.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D8665C-CE4E-AF39-53E1-6B687A6DDD1F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– images in GUI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E44FA-76D7-1590-52B2-C6AD529D8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356" y="2592092"/>
            <a:ext cx="6493288" cy="39407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63A1F-AC3D-67D8-4FBE-0BE4F651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3B093-8A05-3651-3A4D-A9C6B342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724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Code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showing an image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2ADE72-F4DB-8E33-B3AF-975DE6B775AE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– images in GUI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C06D9-306D-B778-BE93-F2E534F54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160" y="1992526"/>
            <a:ext cx="7029679" cy="411839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BF951-2873-ACDF-4B10-4AC9966D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F63DB-FE0C-950F-BD89-4B29BB51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863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098698-6B88-7FAD-61B3-1D71528C0644}"/>
              </a:ext>
            </a:extLst>
          </p:cNvPr>
          <p:cNvSpPr txBox="1"/>
          <p:nvPr/>
        </p:nvSpPr>
        <p:spPr>
          <a:xfrm>
            <a:off x="715256" y="1126255"/>
            <a:ext cx="9739384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- Example of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Graphic 9" descr="Closed book with solid fill">
            <a:extLst>
              <a:ext uri="{FF2B5EF4-FFF2-40B4-BE49-F238E27FC236}">
                <a16:creationId xmlns:a16="http://schemas.microsoft.com/office/drawing/2014/main" id="{BC16B96B-7CC7-5C21-C184-98159B28A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1283553"/>
            <a:ext cx="518160" cy="408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BEC6F-ED45-1940-DC4E-4B3F35E13EB5}"/>
              </a:ext>
            </a:extLst>
          </p:cNvPr>
          <p:cNvSpPr txBox="1"/>
          <p:nvPr/>
        </p:nvSpPr>
        <p:spPr>
          <a:xfrm>
            <a:off x="715256" y="2105652"/>
            <a:ext cx="11283704" cy="8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PhotoImage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tk.PhotoImage</a:t>
            </a:r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(file="image.png")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create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PhotoImage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 (photo) from an image file (image.png).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BF950-E90E-BDCD-DE03-FA3CFD3F983B}"/>
              </a:ext>
            </a:extLst>
          </p:cNvPr>
          <p:cNvSpPr txBox="1"/>
          <p:nvPr/>
        </p:nvSpPr>
        <p:spPr>
          <a:xfrm>
            <a:off x="304799" y="176513"/>
            <a:ext cx="11694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b="0" dirty="0"/>
              <a:t>Graphics and shapes – images in GUI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F6A5-CD9B-6D98-0E86-E18F72E0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6073-E6CE-9A05-8879-CB50311B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198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67390"/>
            <a:ext cx="6065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2800" b="0" dirty="0">
                <a:solidFill>
                  <a:srgbClr val="C00000"/>
                </a:solidFill>
              </a:rPr>
              <a:t>Question?</a:t>
            </a:r>
            <a:endParaRPr lang="en-IN" sz="2800" b="0" dirty="0">
              <a:solidFill>
                <a:srgbClr val="C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3668FA-6225-6D51-D8EF-E022C2F4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985EC-2FB2-1CCF-1532-2A708405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93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1CD43-4638-5A7A-F4B7-6097CF6DA2AC}"/>
              </a:ext>
            </a:extLst>
          </p:cNvPr>
          <p:cNvSpPr txBox="1"/>
          <p:nvPr/>
        </p:nvSpPr>
        <p:spPr>
          <a:xfrm>
            <a:off x="3063240" y="3197870"/>
            <a:ext cx="6065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4000" b="0" dirty="0"/>
              <a:t>Thank you</a:t>
            </a:r>
            <a:endParaRPr lang="en-IN" sz="40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997D6C-0ADD-64E5-48AD-B1FA485A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2CCED-48F5-51E9-DD52-64FFFDFF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3139A-6C93-433D-9CCE-D208EE57891D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3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7190</TotalTime>
  <Words>3323</Words>
  <Application>Microsoft Office PowerPoint</Application>
  <PresentationFormat>Widescreen</PresentationFormat>
  <Paragraphs>458</Paragraphs>
  <Slides>70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Batang</vt:lpstr>
      <vt:lpstr>Aptos</vt:lpstr>
      <vt:lpstr>Aptos Display</vt:lpstr>
      <vt:lpstr>Arial</vt:lpstr>
      <vt:lpstr>Avenir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 What Tkinter Is and Its Importance  in Python GUI Programming</vt:lpstr>
      <vt:lpstr>PowerPoint Presentation</vt:lpstr>
      <vt:lpstr>PowerPoint Presentation</vt:lpstr>
      <vt:lpstr>PowerPoint Presentation</vt:lpstr>
      <vt:lpstr>2. Hierarchy of Widgets and How They Are Organized</vt:lpstr>
      <vt:lpstr>PowerPoint Presentation</vt:lpstr>
      <vt:lpstr>PowerPoint Presentation</vt:lpstr>
      <vt:lpstr>PowerPoint Presentation</vt:lpstr>
      <vt:lpstr>3. Main Components of Tkinter Application:       root window, frames &amp; widgets</vt:lpstr>
      <vt:lpstr>PowerPoint Presentation</vt:lpstr>
      <vt:lpstr>PowerPoint Presentation</vt:lpstr>
      <vt:lpstr>PowerPoint Presentation</vt:lpstr>
      <vt:lpstr>4. Widgets Using GUI - Dropdown Menus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Toolbar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Scale Widget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SpinBox Widget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MessageBox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9. Graphics and Shapes - Line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 Graphics and Shapes - Box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11. Graphics and Shapes - Canvas</vt:lpstr>
      <vt:lpstr>PowerPoint Presentation</vt:lpstr>
      <vt:lpstr>PowerPoint Presentation</vt:lpstr>
      <vt:lpstr>PowerPoint Presentation</vt:lpstr>
      <vt:lpstr>PowerPoint Presentation</vt:lpstr>
      <vt:lpstr>12. Graphics and Shapes - Images in GUI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Mrinal Das</dc:creator>
  <cp:lastModifiedBy>o3</cp:lastModifiedBy>
  <cp:revision>426</cp:revision>
  <dcterms:created xsi:type="dcterms:W3CDTF">2024-06-05T15:10:18Z</dcterms:created>
  <dcterms:modified xsi:type="dcterms:W3CDTF">2024-07-11T10:06:27Z</dcterms:modified>
</cp:coreProperties>
</file>