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notesMasterIdLst>
    <p:notesMasterId r:id="rId26"/>
  </p:notesMasterIdLst>
  <p:sldIdLst>
    <p:sldId id="315" r:id="rId2"/>
    <p:sldId id="262" r:id="rId3"/>
    <p:sldId id="320" r:id="rId4"/>
    <p:sldId id="319" r:id="rId5"/>
    <p:sldId id="387" r:id="rId6"/>
    <p:sldId id="453" r:id="rId7"/>
    <p:sldId id="454" r:id="rId8"/>
    <p:sldId id="455" r:id="rId9"/>
    <p:sldId id="456" r:id="rId10"/>
    <p:sldId id="457" r:id="rId11"/>
    <p:sldId id="458" r:id="rId12"/>
    <p:sldId id="459" r:id="rId13"/>
    <p:sldId id="460" r:id="rId14"/>
    <p:sldId id="461" r:id="rId15"/>
    <p:sldId id="462" r:id="rId16"/>
    <p:sldId id="463" r:id="rId17"/>
    <p:sldId id="464" r:id="rId18"/>
    <p:sldId id="465" r:id="rId19"/>
    <p:sldId id="466" r:id="rId20"/>
    <p:sldId id="467" r:id="rId21"/>
    <p:sldId id="468" r:id="rId22"/>
    <p:sldId id="469" r:id="rId23"/>
    <p:sldId id="314" r:id="rId24"/>
    <p:sldId id="31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4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43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3E920-6CC0-41E3-9005-F6673C6B13EB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22966-F9BF-4741-9FCE-5A74186CB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69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0f6ef15d1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g10f6ef15d1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3114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845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73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4174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892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389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7356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335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308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959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BFC9-F2A6-36A7-12F4-95C6A35BC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41923-A563-08D4-661F-27647DD8E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50609-6735-DFA1-5E31-E9F0D30C2C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0BC250-BE28-4B74-A632-D4873BEDACFF}" type="datetime1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BCA9A-1F92-B203-6509-DB28E0AC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61B4F-8AAF-247E-178D-7B6045AC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96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53B6-6D16-FB2F-987A-FA5BFA0A8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49F5D-99EB-526F-9EBF-2B0FDFA1C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88B00-ADDF-6D38-3DDF-5DB92F786D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202AFD-A669-4F25-93E5-B01DE7B2572F}" type="datetime1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DE767-E1BA-9361-35DF-FB83AD5E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1F32C-D814-90B9-0A0D-7400ECF8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55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235DF-F4C9-E0CE-C5A1-280115D90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39A2D-78F3-6813-EDF2-2F672BE63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ABB96-2C47-5098-9362-14010CD1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B6AA92-92D9-4AD2-BB03-703B940EECCD}" type="datetime1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15A93-1029-A414-2744-E6286A14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BA88-DFF7-601D-A5A7-EBA057E2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07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139A-5249-6637-E7F9-9B0F85BB1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B50DC-82BF-2805-43AD-AA6395B3C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11538-46D2-54C1-13BA-A4B773A37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89043-7544-27CF-11D3-09B5EBD2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A19CCA-9A3B-4CDB-83B4-0164D1758795}" type="datetime1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EEEC1-26FF-191E-0C60-89DAECAB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2C259-F538-E1AC-7B3F-7239BEF0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6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4AD5-C5EB-6651-699F-902AE230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63B80-E4C8-3B7B-ACE6-DAAF09D99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6A75-1D24-4D59-A0DA-5356EC9BA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20EBC-473E-F6CA-67AE-049CA1D29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57311-19DD-3940-0DCB-0E7626E29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3A11D8-C3B4-2A2D-9222-FB044547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78316E-9010-4047-9690-C600BE91BF1B}" type="datetime1">
              <a:rPr lang="en-IN" smtClean="0"/>
              <a:t>11-07-2024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0165EF-4777-384E-B0E9-435C1305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1AE0B-BF97-46B5-7927-3B78B101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3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92F2-61C7-92E8-8294-09B76B07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B644B-EBDF-F873-0925-00D4076545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D12724-C607-4D29-8CAB-F072040991D6}" type="datetime1">
              <a:rPr lang="en-IN" smtClean="0"/>
              <a:t>11-07-2024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F7C5B-5E40-2191-3D5E-2FFD1C15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95EBB-8814-FD34-8B16-C5F9D622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62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55F00-0193-BB91-7CF3-B10292EC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22649-664E-44E3-A91C-3A7DB509E364}" type="datetime1">
              <a:rPr lang="en-IN" smtClean="0"/>
              <a:t>11-07-2024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2C6ED6-4096-7D22-A8D4-B3AD92D4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24C8D-E4ED-C145-8E89-AB8CE04F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6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A870-656C-89EC-C013-BED43E72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9E0D3-3711-7FA4-217E-D7A0CE61B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1733F-7DAC-84AE-E3A1-A669F4F6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6ED36-A81F-9891-EE3B-EA8C99E3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4A34ED-D6BF-408B-BCEC-6F43F07528D8}" type="datetime1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AB7BC-DBB7-77C9-3DFC-79239A36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B3633-6417-D001-4CCB-AE5966AF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295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2D99-5C01-79CA-000C-BBE88D13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320A0-7AED-2373-530B-563ABA7C9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E700A-58CE-8DDF-E427-A2EDB9023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CBF25-2F69-53DE-200C-36EB686F4F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E7B670-5C03-4C7C-8330-74BC53248F5F}" type="datetime1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7A5D7-70C8-7C23-CA85-818EEE1C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Developer-Python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6E48F-1C22-739E-4B80-486204E1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52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88E7-5C58-B6A6-EB75-DA09461F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712A0-31A7-67CC-CE60-801173B91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5AA02-72C6-17A0-132A-9318984C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8958F6-BCA9-4A30-9289-35C83F7D45BC}" type="datetime1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4036C-5DCE-32C5-699E-8AFC9B8F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B23E4-0EA7-48DF-C716-DCA0926F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822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A3681-9217-06B5-56D8-6B79B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D44B9-7F03-0687-17F2-E0E31B915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1ED6E-6A3F-3AF5-318A-07EC72BF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DC0262-0119-4D1C-8F65-0C4D32F41500}" type="datetime1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A93E9-953C-FAFB-A635-9FF269F9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F5095-5C7F-D21D-7629-5295A48A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98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2FC773-A6AC-8222-9259-50EBB27C1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EBAE6-38E3-C515-2033-21CF42FE0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987FD-0497-D168-74EA-AF83ED7FC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533399" y="64345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76526-AEBA-07A4-E5DA-3F660EC237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1</a:t>
            </a:r>
          </a:p>
        </p:txBody>
      </p:sp>
      <p:grpSp>
        <p:nvGrpSpPr>
          <p:cNvPr id="7" name="Google Shape;9;p1">
            <a:extLst>
              <a:ext uri="{FF2B5EF4-FFF2-40B4-BE49-F238E27FC236}">
                <a16:creationId xmlns:a16="http://schemas.microsoft.com/office/drawing/2014/main" id="{5312F0C1-4985-2D48-B252-3A7A0FA2207E}"/>
              </a:ext>
            </a:extLst>
          </p:cNvPr>
          <p:cNvGrpSpPr/>
          <p:nvPr userDrawn="1"/>
        </p:nvGrpSpPr>
        <p:grpSpPr>
          <a:xfrm>
            <a:off x="0" y="-42"/>
            <a:ext cx="69574" cy="6858042"/>
            <a:chOff x="0" y="-42"/>
            <a:chExt cx="67800" cy="5143466"/>
          </a:xfrm>
        </p:grpSpPr>
        <p:sp>
          <p:nvSpPr>
            <p:cNvPr id="8" name="Google Shape;10;p1">
              <a:extLst>
                <a:ext uri="{FF2B5EF4-FFF2-40B4-BE49-F238E27FC236}">
                  <a16:creationId xmlns:a16="http://schemas.microsoft.com/office/drawing/2014/main" id="{4B70AB85-C5CA-C94D-8710-64C0D8B63F9C}"/>
                </a:ext>
              </a:extLst>
            </p:cNvPr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;p1">
              <a:extLst>
                <a:ext uri="{FF2B5EF4-FFF2-40B4-BE49-F238E27FC236}">
                  <a16:creationId xmlns:a16="http://schemas.microsoft.com/office/drawing/2014/main" id="{EED52405-188E-9F43-8F21-1D14B2B469CC}"/>
                </a:ext>
              </a:extLst>
            </p:cNvPr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" name="Picture 10" descr="A logo with a butterfly&#10;&#10;Description automatically generated">
            <a:extLst>
              <a:ext uri="{FF2B5EF4-FFF2-40B4-BE49-F238E27FC236}">
                <a16:creationId xmlns:a16="http://schemas.microsoft.com/office/drawing/2014/main" id="{54D2CBC8-1494-B324-CA93-8839EE0A5E5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01" y="95683"/>
            <a:ext cx="115252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9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/>
        </p:nvSpPr>
        <p:spPr>
          <a:xfrm>
            <a:off x="1082833" y="2946800"/>
            <a:ext cx="103696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3500"/>
            </a:pPr>
            <a:r>
              <a:rPr lang="en-GB" sz="4000" dirty="0">
                <a:latin typeface="Avenir"/>
                <a:ea typeface="Avenir"/>
                <a:cs typeface="Avenir"/>
                <a:sym typeface="Avenir"/>
              </a:rPr>
              <a:t> Advanced Widgets</a:t>
            </a:r>
            <a:endParaRPr lang="en-GB" sz="4000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" name="Google Shape;43;p9"/>
          <p:cNvSpPr/>
          <p:nvPr/>
        </p:nvSpPr>
        <p:spPr>
          <a:xfrm>
            <a:off x="1216533" y="3836739"/>
            <a:ext cx="1898400" cy="1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9"/>
          <p:cNvSpPr/>
          <p:nvPr/>
        </p:nvSpPr>
        <p:spPr>
          <a:xfrm>
            <a:off x="3114933" y="3836733"/>
            <a:ext cx="7852400" cy="1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9"/>
          <p:cNvSpPr/>
          <p:nvPr/>
        </p:nvSpPr>
        <p:spPr>
          <a:xfrm>
            <a:off x="0" y="0"/>
            <a:ext cx="968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9"/>
          <p:cNvGrpSpPr/>
          <p:nvPr/>
        </p:nvGrpSpPr>
        <p:grpSpPr>
          <a:xfrm>
            <a:off x="0" y="-56"/>
            <a:ext cx="90400" cy="6857955"/>
            <a:chOff x="0" y="-42"/>
            <a:chExt cx="67800" cy="5143466"/>
          </a:xfrm>
        </p:grpSpPr>
        <p:sp>
          <p:nvSpPr>
            <p:cNvPr id="47" name="Google Shape;47;p9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9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A43BC6-9C81-9582-7F01-6003B105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3EC211-4A1D-A65D-25A7-5E00D3E74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BBDEA17-78BF-7310-1F5A-2BE28EA0A300}"/>
              </a:ext>
            </a:extLst>
          </p:cNvPr>
          <p:cNvGrpSpPr/>
          <p:nvPr/>
        </p:nvGrpSpPr>
        <p:grpSpPr>
          <a:xfrm>
            <a:off x="543877" y="6108987"/>
            <a:ext cx="11205845" cy="0"/>
            <a:chOff x="539115" y="3792507"/>
            <a:chExt cx="11205845" cy="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0F649CE-EA0F-37C1-EC9C-24223EB69FB8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25" y="3792507"/>
              <a:ext cx="10059035" cy="0"/>
            </a:xfrm>
            <a:prstGeom prst="line">
              <a:avLst/>
            </a:prstGeom>
            <a:ln w="1016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F0C3E38-2196-3104-9918-4D2962BC3E3E}"/>
                </a:ext>
              </a:extLst>
            </p:cNvPr>
            <p:cNvCxnSpPr>
              <a:cxnSpLocks/>
            </p:cNvCxnSpPr>
            <p:nvPr/>
          </p:nvCxnSpPr>
          <p:spPr>
            <a:xfrm>
              <a:off x="539115" y="3792507"/>
              <a:ext cx="1553845" cy="0"/>
            </a:xfrm>
            <a:prstGeom prst="line">
              <a:avLst/>
            </a:prstGeom>
            <a:ln w="1016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oogle Shape;127;p28">
            <a:extLst>
              <a:ext uri="{FF2B5EF4-FFF2-40B4-BE49-F238E27FC236}">
                <a16:creationId xmlns:a16="http://schemas.microsoft.com/office/drawing/2014/main" id="{E9679C81-2DEE-9E40-BCE3-26034AC38AD4}"/>
              </a:ext>
            </a:extLst>
          </p:cNvPr>
          <p:cNvGrpSpPr/>
          <p:nvPr/>
        </p:nvGrpSpPr>
        <p:grpSpPr>
          <a:xfrm>
            <a:off x="3320787" y="4776459"/>
            <a:ext cx="4736716" cy="776075"/>
            <a:chOff x="2076884" y="3202000"/>
            <a:chExt cx="4736716" cy="776075"/>
          </a:xfrm>
        </p:grpSpPr>
        <p:sp>
          <p:nvSpPr>
            <p:cNvPr id="26" name="Google Shape;130;p28">
              <a:extLst>
                <a:ext uri="{FF2B5EF4-FFF2-40B4-BE49-F238E27FC236}">
                  <a16:creationId xmlns:a16="http://schemas.microsoft.com/office/drawing/2014/main" id="{9C0573B6-9BC2-0F75-22C7-8993C0C4580E}"/>
                </a:ext>
              </a:extLst>
            </p:cNvPr>
            <p:cNvSpPr/>
            <p:nvPr/>
          </p:nvSpPr>
          <p:spPr>
            <a:xfrm>
              <a:off x="2463132" y="3247534"/>
              <a:ext cx="314092" cy="3140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" name="Google Shape;138;p28">
              <a:extLst>
                <a:ext uri="{FF2B5EF4-FFF2-40B4-BE49-F238E27FC236}">
                  <a16:creationId xmlns:a16="http://schemas.microsoft.com/office/drawing/2014/main" id="{30E29816-73BD-A666-C6F1-88923458CBC9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840597" y="3215575"/>
              <a:ext cx="898400" cy="477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9;p28">
              <a:extLst>
                <a:ext uri="{FF2B5EF4-FFF2-40B4-BE49-F238E27FC236}">
                  <a16:creationId xmlns:a16="http://schemas.microsoft.com/office/drawing/2014/main" id="{E5199EFC-4BE2-3574-9CB7-811B6355E240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94523" y="3202000"/>
              <a:ext cx="434169" cy="40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40;p28">
              <a:extLst>
                <a:ext uri="{FF2B5EF4-FFF2-40B4-BE49-F238E27FC236}">
                  <a16:creationId xmlns:a16="http://schemas.microsoft.com/office/drawing/2014/main" id="{B3C8C285-5ACE-265A-F85A-A5360650F12E}"/>
                </a:ext>
              </a:extLst>
            </p:cNvPr>
            <p:cNvSpPr txBox="1"/>
            <p:nvPr/>
          </p:nvSpPr>
          <p:spPr>
            <a:xfrm>
              <a:off x="2076884" y="3684675"/>
              <a:ext cx="10866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 dirty="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Error/ Warning</a:t>
              </a:r>
              <a:endParaRPr sz="1100" b="0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41;p28">
              <a:extLst>
                <a:ext uri="{FF2B5EF4-FFF2-40B4-BE49-F238E27FC236}">
                  <a16:creationId xmlns:a16="http://schemas.microsoft.com/office/drawing/2014/main" id="{0A70C051-02BF-85F2-7588-4F52835DCFCC}"/>
                </a:ext>
              </a:extLst>
            </p:cNvPr>
            <p:cNvSpPr txBox="1"/>
            <p:nvPr/>
          </p:nvSpPr>
          <p:spPr>
            <a:xfrm>
              <a:off x="3347450" y="3684675"/>
              <a:ext cx="8652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Information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42;p28">
              <a:extLst>
                <a:ext uri="{FF2B5EF4-FFF2-40B4-BE49-F238E27FC236}">
                  <a16:creationId xmlns:a16="http://schemas.microsoft.com/office/drawing/2014/main" id="{6FA4745F-3A7E-F726-EAEB-9CDADF401184}"/>
                </a:ext>
              </a:extLst>
            </p:cNvPr>
            <p:cNvSpPr txBox="1"/>
            <p:nvPr/>
          </p:nvSpPr>
          <p:spPr>
            <a:xfrm>
              <a:off x="4543561" y="3684675"/>
              <a:ext cx="7629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Flashback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43;p28">
              <a:extLst>
                <a:ext uri="{FF2B5EF4-FFF2-40B4-BE49-F238E27FC236}">
                  <a16:creationId xmlns:a16="http://schemas.microsoft.com/office/drawing/2014/main" id="{89D3CE3A-2EA3-139D-B4A6-E67DA26D4C22}"/>
                </a:ext>
              </a:extLst>
            </p:cNvPr>
            <p:cNvSpPr txBox="1"/>
            <p:nvPr/>
          </p:nvSpPr>
          <p:spPr>
            <a:xfrm>
              <a:off x="5766000" y="3684675"/>
              <a:ext cx="10476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Class Exercise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" name="Graphic 28" descr="Warning with solid fill">
            <a:extLst>
              <a:ext uri="{FF2B5EF4-FFF2-40B4-BE49-F238E27FC236}">
                <a16:creationId xmlns:a16="http://schemas.microsoft.com/office/drawing/2014/main" id="{56350378-92D3-A819-39B3-8549B7AA3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2276" y="4794102"/>
            <a:ext cx="423609" cy="423609"/>
          </a:xfrm>
          <a:prstGeom prst="rect">
            <a:avLst/>
          </a:prstGeom>
        </p:spPr>
      </p:pic>
      <p:pic>
        <p:nvPicPr>
          <p:cNvPr id="31" name="Graphic 30" descr="Information with solid fill">
            <a:extLst>
              <a:ext uri="{FF2B5EF4-FFF2-40B4-BE49-F238E27FC236}">
                <a16:creationId xmlns:a16="http://schemas.microsoft.com/office/drawing/2014/main" id="{60FFFCA9-0A0D-6D97-0F45-056DDF3EC8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0717" y="4752681"/>
            <a:ext cx="506453" cy="50645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279F-FBEF-722F-7972-CCB37AD1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A22BD-35AB-CB48-334C-45EAEC65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062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758975-0063-6FC8-8343-053EED4A463B}"/>
              </a:ext>
            </a:extLst>
          </p:cNvPr>
          <p:cNvSpPr txBox="1"/>
          <p:nvPr/>
        </p:nvSpPr>
        <p:spPr>
          <a:xfrm>
            <a:off x="0" y="3136613"/>
            <a:ext cx="486663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  <a:endParaRPr lang="en-IN" sz="32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AA9BA-D131-0393-1DE2-00401DD68232}"/>
              </a:ext>
            </a:extLst>
          </p:cNvPr>
          <p:cNvSpPr txBox="1"/>
          <p:nvPr/>
        </p:nvSpPr>
        <p:spPr>
          <a:xfrm>
            <a:off x="5648960" y="2370512"/>
            <a:ext cx="6258556" cy="18528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with advanced widgets -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with advanced widgets - Combobox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with advanced widgets -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Treeview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390ED6-4CC9-DD56-B300-71A05AE121D3}"/>
              </a:ext>
            </a:extLst>
          </p:cNvPr>
          <p:cNvCxnSpPr>
            <a:cxnSpLocks/>
          </p:cNvCxnSpPr>
          <p:nvPr/>
        </p:nvCxnSpPr>
        <p:spPr>
          <a:xfrm>
            <a:off x="4866640" y="619125"/>
            <a:ext cx="0" cy="5619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73340-28FB-B3D0-01AA-06AEDC77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72212-40C5-AF30-7A2F-D02279BF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652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342900" indent="-342900" algn="l">
              <a:lnSpc>
                <a:spcPct val="100000"/>
              </a:lnSpc>
              <a:buFont typeface="+mj-lt"/>
              <a:buAutoNum type="arabicPeriod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Working with Advanced Widgets -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6E76EC-6708-7C08-CC60-EEB25562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2D7EA8-BCE9-FE8C-E9C3-71CA74D8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59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listbox</a:t>
            </a:r>
            <a:endParaRPr lang="en-US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12625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B26A71-4BEC-CD31-38E6-908A9A5D5BA1}"/>
              </a:ext>
            </a:extLst>
          </p:cNvPr>
          <p:cNvSpPr txBox="1"/>
          <p:nvPr/>
        </p:nvSpPr>
        <p:spPr>
          <a:xfrm>
            <a:off x="715257" y="1872625"/>
            <a:ext cx="109118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widget in Tkinter is used to display a list of items from which a user can select one or more.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to Implement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initializing it with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tk.Listbox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it to the Tkinter window using the layout function.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44E8B9-D50C-6191-16F5-C51590C06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91F321-B9B9-65DD-83AF-85462870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GUI of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that uses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854B8-B79C-7E81-E961-B677FB299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453" y="2906259"/>
            <a:ext cx="6323094" cy="3275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993630-00D2-D00F-2619-EE696BA1F253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listbox</a:t>
            </a:r>
            <a:endParaRPr lang="en-US" sz="2800" b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2375D3-7A1A-541D-75D3-CB04DE5B2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FE7F7E-C124-005B-9A99-C9EBEEA02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46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FCFEC7-3C3F-0105-9694-834096AAB120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listbox</a:t>
            </a:r>
            <a:endParaRPr lang="en-US"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D55B35-8801-BBF7-EF72-9345E79E3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302" y="1989929"/>
            <a:ext cx="5283396" cy="434630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93D61-5FE1-FD42-4E70-F678C4AC5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FD608-66E3-1743-7612-DF4E4AAC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921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2105652"/>
            <a:ext cx="11283704" cy="167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tk.Listbox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(root):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widget in the root window.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listbox.pack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Adds 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window using the pack layout manager.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listbox.insert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(index, item):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Inserts an item into 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the specified index.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8FDAE-EDF4-2365-7193-3D19056E95CE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listbox</a:t>
            </a:r>
            <a:endParaRPr lang="en-US" sz="2800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B5F27-CCFB-8893-AB6B-CE396474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44E02-04E5-0B0B-C3DA-1616D75B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711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379976" y="2079653"/>
            <a:ext cx="11283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Extend the previous example by allowing the user to remove a selected item from the </a:t>
            </a:r>
            <a:r>
              <a:rPr lang="en-US" dirty="0" err="1"/>
              <a:t>Listbox</a:t>
            </a:r>
            <a:r>
              <a:rPr lang="en-US" dirty="0"/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8FDAE-EDF4-2365-7193-3D19056E95CE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listbox</a:t>
            </a:r>
            <a:endParaRPr lang="en-US" sz="2800" b="0" dirty="0"/>
          </a:p>
        </p:txBody>
      </p:sp>
      <p:pic>
        <p:nvPicPr>
          <p:cNvPr id="3" name="Google Shape;138;p28">
            <a:extLst>
              <a:ext uri="{FF2B5EF4-FFF2-40B4-BE49-F238E27FC236}">
                <a16:creationId xmlns:a16="http://schemas.microsoft.com/office/drawing/2014/main" id="{1FC090BD-D335-FA4F-B957-FCD15160B2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99" y="1335634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37F199-9254-20CA-7796-27DAEEE1B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859" y="3349123"/>
            <a:ext cx="4877481" cy="26387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008B6-8B63-B1D3-084F-514603968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4D9BD-8373-4FD8-E0F7-4400F3E9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47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Working with Advanced Widgets - Combobox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A3B467-465B-9759-B69B-F728FE5C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C94155-2265-EB7A-8BA9-0440CCA17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218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combobox</a:t>
            </a:r>
            <a:endParaRPr lang="en-US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12625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Combobox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B26A71-4BEC-CD31-38E6-908A9A5D5BA1}"/>
              </a:ext>
            </a:extLst>
          </p:cNvPr>
          <p:cNvSpPr txBox="1"/>
          <p:nvPr/>
        </p:nvSpPr>
        <p:spPr>
          <a:xfrm>
            <a:off x="715257" y="1872625"/>
            <a:ext cx="109118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Combobox widget in Tkinter, which is a part of the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ttk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module, is a drop-down list that allows the user to select one item from a list of choices.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to Implement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Combobox using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ttk.Combobox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it to the Tkinter window with layout function.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54D3BA-22B1-528C-88A8-37699A6C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23752-2CBC-F893-D07B-C6406FA2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608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GUI of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Combobox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that uses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combobox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93630-00D2-D00F-2619-EE696BA1F253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combobox</a:t>
            </a:r>
            <a:endParaRPr lang="en-US" sz="2800" b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C1A5FD-1D05-7BB8-74A9-E6E550569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287" y="2445032"/>
            <a:ext cx="3591426" cy="395342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AF0927-854F-61AA-2790-FF67163D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E301B1-FA97-3B87-B808-2E8E5B5B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574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Combobox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FCFEC7-3C3F-0105-9694-834096AAB120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combobox</a:t>
            </a:r>
            <a:endParaRPr lang="en-US" sz="28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3A43E8-ADFF-3719-1AED-B201BF0680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250" t="9921" r="28500" b="52275"/>
          <a:stretch/>
        </p:blipFill>
        <p:spPr>
          <a:xfrm>
            <a:off x="1960711" y="2316480"/>
            <a:ext cx="8270577" cy="351536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34747-4956-1D1B-3E2F-5A7ECDBF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E262D-E498-563E-A3CF-7266CAAC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725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Combobox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2105652"/>
            <a:ext cx="11283704" cy="1122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ttk.Combobox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(root, values=[]):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Creates a Combobox widget in the root window with specified options.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combobox.pack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Adds the Combobox to the window using the pack layout manager.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8FDAE-EDF4-2365-7193-3D19056E95CE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combobox</a:t>
            </a:r>
            <a:endParaRPr lang="en-US" sz="2800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C1D3D-2FED-BDE2-0EFF-696A5A73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953A3-1EBA-257A-BAD1-7F649EBD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12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379976" y="2079653"/>
            <a:ext cx="11283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Extend the previous example by displaying the selected item in a label when the selection changes.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8FDAE-EDF4-2365-7193-3D19056E95CE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combobox</a:t>
            </a:r>
            <a:endParaRPr lang="en-US" sz="2800" b="0" dirty="0"/>
          </a:p>
        </p:txBody>
      </p:sp>
      <p:pic>
        <p:nvPicPr>
          <p:cNvPr id="3" name="Google Shape;138;p28">
            <a:extLst>
              <a:ext uri="{FF2B5EF4-FFF2-40B4-BE49-F238E27FC236}">
                <a16:creationId xmlns:a16="http://schemas.microsoft.com/office/drawing/2014/main" id="{1FC090BD-D335-FA4F-B957-FCD15160B2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99" y="1335634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C836FA-4DEF-C7D7-5884-EDB2FDDE6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115" y="2610526"/>
            <a:ext cx="3591426" cy="39534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18E52-325B-6F92-ACBF-3A75722B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D4023-534B-079F-29BD-E9ED4691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057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Working with Advanced Widgets -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Treeview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CA02A2-2C5E-040C-D90D-B61BDE598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35DF33-7AD3-F5FB-0761-2E9071B3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370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treeview</a:t>
            </a:r>
            <a:endParaRPr lang="en-US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12625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err="1"/>
              <a:t>T</a:t>
            </a:r>
            <a:r>
              <a:rPr lang="en-US" sz="2400" b="0" dirty="0" err="1"/>
              <a:t>reeview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B26A71-4BEC-CD31-38E6-908A9A5D5BA1}"/>
              </a:ext>
            </a:extLst>
          </p:cNvPr>
          <p:cNvSpPr txBox="1"/>
          <p:nvPr/>
        </p:nvSpPr>
        <p:spPr>
          <a:xfrm>
            <a:off x="715257" y="1872625"/>
            <a:ext cx="109118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Treeview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widget in Tkinter, part of the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ttk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module, is used to display a hierarchical collection of items, such as a directory structure or an organizational chart.</a:t>
            </a:r>
          </a:p>
          <a:p>
            <a:pPr algn="just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to Implement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Treeview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ttk.Treeview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it to the Tkinter window with layout function.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10833D-7A83-261F-40EA-C75F8FD57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004035-F5C0-98A4-FF46-F4385015B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462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GUI of </a:t>
            </a:r>
            <a:r>
              <a:rPr lang="en-US" sz="2400" dirty="0" err="1"/>
              <a:t>T</a:t>
            </a:r>
            <a:r>
              <a:rPr lang="en-US" sz="2400" b="0" dirty="0" err="1"/>
              <a:t>reeview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that places item1, item2, and item3 under a top-level item called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master_item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And each item with will have two subitems (Subitem 1.1 … Subitem 3.2).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93630-00D2-D00F-2619-EE696BA1F253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treeview</a:t>
            </a:r>
            <a:endParaRPr lang="en-US" sz="28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F5076B-1817-9085-CA4B-6B87FA5BC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3079" y="2867955"/>
            <a:ext cx="5315692" cy="309605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993F5B-4EA1-8BE2-5653-7DEE78CC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F551C-D114-9EE4-11A2-148A4935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209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</a:t>
            </a:r>
            <a:r>
              <a:rPr lang="en-US" sz="2400" dirty="0" err="1"/>
              <a:t>T</a:t>
            </a:r>
            <a:r>
              <a:rPr lang="en-US" sz="2400" b="0" dirty="0" err="1"/>
              <a:t>reeview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FCFEC7-3C3F-0105-9694-834096AAB120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treeview</a:t>
            </a:r>
            <a:endParaRPr lang="en-US" sz="28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B7356-F70F-9F05-5F02-79B0426714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99" t="9921" r="42333" b="32138"/>
          <a:stretch/>
        </p:blipFill>
        <p:spPr>
          <a:xfrm>
            <a:off x="715256" y="2441744"/>
            <a:ext cx="7158744" cy="41276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1D6559-166E-6912-F15B-C1230528355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615" t="45636" r="25386" b="10216"/>
          <a:stretch/>
        </p:blipFill>
        <p:spPr>
          <a:xfrm>
            <a:off x="5185691" y="1463040"/>
            <a:ext cx="6620229" cy="3479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B14E6B-4091-8474-C002-8304067D3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816AF-D140-B9C3-F800-74389991B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265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</a:t>
            </a:r>
            <a:r>
              <a:rPr lang="en-US" sz="2400" dirty="0" err="1"/>
              <a:t>T</a:t>
            </a:r>
            <a:r>
              <a:rPr lang="en-US" sz="2400" b="0" dirty="0" err="1"/>
              <a:t>reeview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2105652"/>
            <a:ext cx="10968744" cy="2226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master_item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=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tree.insert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("", "end", "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master_item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", text="Master Item"):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Adds a top-level item called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master_item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tree.insert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master_item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, "end", "item1", text="Item 1"):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Adds item1 under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master_item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 lines add item2 and item3 under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master_item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8FDAE-EDF4-2365-7193-3D19056E95CE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treeview</a:t>
            </a:r>
            <a:endParaRPr lang="en-US" sz="2800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73FCB-8804-3F83-E0C7-3BAC83F51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15F90-75A7-433B-47C5-64C26520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387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379976" y="2079653"/>
            <a:ext cx="11568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the previous example by adding two buttons to remove the selected item ad expand the entire tree accordingly.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8FDAE-EDF4-2365-7193-3D19056E95CE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Working with advanced widgets - </a:t>
            </a:r>
            <a:r>
              <a:rPr lang="en-US" sz="2800" b="0" dirty="0" err="1"/>
              <a:t>treeview</a:t>
            </a:r>
            <a:endParaRPr lang="en-US" sz="2800" b="0" dirty="0"/>
          </a:p>
        </p:txBody>
      </p:sp>
      <p:pic>
        <p:nvPicPr>
          <p:cNvPr id="3" name="Google Shape;138;p28">
            <a:extLst>
              <a:ext uri="{FF2B5EF4-FFF2-40B4-BE49-F238E27FC236}">
                <a16:creationId xmlns:a16="http://schemas.microsoft.com/office/drawing/2014/main" id="{1FC090BD-D335-FA4F-B957-FCD15160B2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99" y="1335634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5BF735-D12B-1B70-4E55-24B121A17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034" y="2870784"/>
            <a:ext cx="4466326" cy="361788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E33F7-8ADD-95A6-106B-0293AAEB6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5961-9C8F-0045-7498-38520E943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477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379976" y="2079653"/>
            <a:ext cx="8083304" cy="443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Study: Building a Simple Tkinter Application with Spinbox</a:t>
            </a:r>
          </a:p>
          <a:p>
            <a:pPr algn="just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 application where users can input their name and age, select their favorite fruit from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combobox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add their favorite hobbies to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display a hierarchical view of their input in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treeview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the main window.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Label and Entry for the user to input their name.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Label and Spinbox for the user to select their age.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Label and Combobox for the user to select their favorite fruit.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Label, Entry, Button, and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the user to add and display their hobbies.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Button to display the collected information in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Treeview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8FDAE-EDF4-2365-7193-3D19056E95CE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Advanced widgets</a:t>
            </a:r>
          </a:p>
        </p:txBody>
      </p:sp>
      <p:pic>
        <p:nvPicPr>
          <p:cNvPr id="3" name="Google Shape;138;p28">
            <a:extLst>
              <a:ext uri="{FF2B5EF4-FFF2-40B4-BE49-F238E27FC236}">
                <a16:creationId xmlns:a16="http://schemas.microsoft.com/office/drawing/2014/main" id="{1FC090BD-D335-FA4F-B957-FCD15160B2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99" y="1335634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53A931-25A6-A614-6BFC-9A1BC4525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837" y="574926"/>
            <a:ext cx="3197644" cy="610656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D9446-FD65-DDAC-5D68-B9172F704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0D1A-8E80-8899-BAAE-B823525C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835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63240" y="3167390"/>
            <a:ext cx="60655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2800" b="0" dirty="0">
                <a:solidFill>
                  <a:srgbClr val="C00000"/>
                </a:solidFill>
              </a:rPr>
              <a:t>Question?</a:t>
            </a:r>
            <a:endParaRPr lang="en-IN" sz="2800" b="0" dirty="0">
              <a:solidFill>
                <a:srgbClr val="C0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DF874-E5A2-BE65-7957-03779468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A82559-1271-1C2B-B1A8-0353C42E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99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63240" y="3197870"/>
            <a:ext cx="60655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4000" b="0" dirty="0"/>
              <a:t>Thank you</a:t>
            </a:r>
            <a:endParaRPr lang="en-IN" sz="4000" b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5BE079-1C7D-8721-58AF-C794793C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38B307-3908-85BA-58D2-A76B883D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633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7245</TotalTime>
  <Words>822</Words>
  <Application>Microsoft Office PowerPoint</Application>
  <PresentationFormat>Widescreen</PresentationFormat>
  <Paragraphs>144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Batang</vt:lpstr>
      <vt:lpstr>Aptos</vt:lpstr>
      <vt:lpstr>Aptos Display</vt:lpstr>
      <vt:lpstr>Arial</vt:lpstr>
      <vt:lpstr>Avenir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 Working with Advanced Widgets - Listbox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Working with Advanced Widgets - Combobox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Working with Advanced Widgets - Treeview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Mrinal Das</dc:creator>
  <cp:lastModifiedBy>o3</cp:lastModifiedBy>
  <cp:revision>440</cp:revision>
  <dcterms:created xsi:type="dcterms:W3CDTF">2024-06-05T15:10:18Z</dcterms:created>
  <dcterms:modified xsi:type="dcterms:W3CDTF">2024-07-11T10:07:39Z</dcterms:modified>
</cp:coreProperties>
</file>