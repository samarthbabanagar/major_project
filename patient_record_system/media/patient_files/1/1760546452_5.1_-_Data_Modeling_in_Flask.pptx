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7" r:id="rId2"/>
    <p:sldId id="534" r:id="rId3"/>
    <p:sldId id="259" r:id="rId4"/>
    <p:sldId id="535" r:id="rId5"/>
    <p:sldId id="461" r:id="rId6"/>
    <p:sldId id="462" r:id="rId7"/>
    <p:sldId id="464" r:id="rId8"/>
    <p:sldId id="465" r:id="rId9"/>
    <p:sldId id="466" r:id="rId10"/>
    <p:sldId id="467" r:id="rId11"/>
    <p:sldId id="468" r:id="rId12"/>
    <p:sldId id="469" r:id="rId13"/>
    <p:sldId id="470" r:id="rId14"/>
    <p:sldId id="471" r:id="rId15"/>
    <p:sldId id="472" r:id="rId16"/>
    <p:sldId id="482" r:id="rId17"/>
    <p:sldId id="536" r:id="rId18"/>
    <p:sldId id="474" r:id="rId19"/>
    <p:sldId id="475" r:id="rId20"/>
    <p:sldId id="476" r:id="rId21"/>
    <p:sldId id="477" r:id="rId22"/>
    <p:sldId id="478" r:id="rId23"/>
    <p:sldId id="481" r:id="rId24"/>
    <p:sldId id="479" r:id="rId25"/>
    <p:sldId id="480" r:id="rId26"/>
    <p:sldId id="460" r:id="rId27"/>
    <p:sldId id="484" r:id="rId28"/>
    <p:sldId id="537" r:id="rId29"/>
    <p:sldId id="485" r:id="rId30"/>
    <p:sldId id="486" r:id="rId31"/>
    <p:sldId id="487" r:id="rId32"/>
    <p:sldId id="488" r:id="rId33"/>
    <p:sldId id="489" r:id="rId34"/>
    <p:sldId id="490" r:id="rId35"/>
    <p:sldId id="491" r:id="rId36"/>
    <p:sldId id="492" r:id="rId37"/>
    <p:sldId id="495" r:id="rId38"/>
    <p:sldId id="493" r:id="rId39"/>
    <p:sldId id="494" r:id="rId40"/>
    <p:sldId id="496" r:id="rId41"/>
    <p:sldId id="497" r:id="rId42"/>
    <p:sldId id="498" r:id="rId43"/>
    <p:sldId id="499" r:id="rId44"/>
    <p:sldId id="500" r:id="rId45"/>
    <p:sldId id="501" r:id="rId46"/>
    <p:sldId id="502" r:id="rId47"/>
    <p:sldId id="505" r:id="rId48"/>
    <p:sldId id="538" r:id="rId49"/>
    <p:sldId id="506" r:id="rId50"/>
    <p:sldId id="507" r:id="rId51"/>
    <p:sldId id="539" r:id="rId52"/>
    <p:sldId id="508" r:id="rId53"/>
    <p:sldId id="515" r:id="rId54"/>
    <p:sldId id="510" r:id="rId55"/>
    <p:sldId id="517" r:id="rId56"/>
    <p:sldId id="511" r:id="rId57"/>
    <p:sldId id="516" r:id="rId58"/>
    <p:sldId id="512" r:id="rId59"/>
    <p:sldId id="518" r:id="rId60"/>
    <p:sldId id="519" r:id="rId61"/>
    <p:sldId id="540" r:id="rId62"/>
    <p:sldId id="521" r:id="rId63"/>
    <p:sldId id="522" r:id="rId64"/>
    <p:sldId id="523" r:id="rId65"/>
    <p:sldId id="524" r:id="rId66"/>
    <p:sldId id="525" r:id="rId67"/>
    <p:sldId id="526" r:id="rId68"/>
    <p:sldId id="527" r:id="rId69"/>
    <p:sldId id="528" r:id="rId70"/>
    <p:sldId id="529" r:id="rId71"/>
    <p:sldId id="530" r:id="rId72"/>
    <p:sldId id="532" r:id="rId73"/>
    <p:sldId id="531" r:id="rId74"/>
    <p:sldId id="533" r:id="rId75"/>
    <p:sldId id="313" r:id="rId76"/>
    <p:sldId id="314"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A491F-1C86-4770-AE07-98F6BC69D236}" type="datetimeFigureOut">
              <a:rPr lang="en-IN" smtClean="0"/>
              <a:t>10-07-2024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C9ACC8-6A9E-48D5-89D9-D1FF29DC2299}" type="slidenum">
              <a:rPr lang="en-IN" smtClean="0"/>
              <a:t>‹#›</a:t>
            </a:fld>
            <a:endParaRPr lang="en-IN"/>
          </a:p>
        </p:txBody>
      </p:sp>
    </p:spTree>
    <p:extLst>
      <p:ext uri="{BB962C8B-B14F-4D97-AF65-F5344CB8AC3E}">
        <p14:creationId xmlns:p14="http://schemas.microsoft.com/office/powerpoint/2010/main" val="404499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480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155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2317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1736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4481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854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3581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276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9409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5112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965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7514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237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146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9278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727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69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8146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1918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599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4359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9175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52958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521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84888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9174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1939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069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9939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5376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18749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82740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84668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06126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32335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8008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33728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02218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3661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7334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639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53205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22383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14149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814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14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44654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0984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90554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1510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2585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28390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86725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60367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2216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6728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39890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145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4297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2525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4151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81024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12494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76013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58169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0EA4-B4DC-326E-6D5D-5E2D139A0452}"/>
              </a:ext>
            </a:extLst>
          </p:cNvPr>
          <p:cNvSpPr>
            <a:spLocks noGrp="1"/>
          </p:cNvSpPr>
          <p:nvPr>
            <p:ph type="ctrTitle"/>
          </p:nvPr>
        </p:nvSpPr>
        <p:spPr>
          <a:xfrm>
            <a:off x="1524000" y="159988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4939C0-40CA-89E4-C146-B212E439D280}"/>
              </a:ext>
            </a:extLst>
          </p:cNvPr>
          <p:cNvSpPr>
            <a:spLocks noGrp="1"/>
          </p:cNvSpPr>
          <p:nvPr>
            <p:ph type="subTitle" idx="1"/>
          </p:nvPr>
        </p:nvSpPr>
        <p:spPr>
          <a:xfrm>
            <a:off x="1524000" y="407955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0B16BB94-0024-A1B1-676D-3344605E1A33}"/>
              </a:ext>
            </a:extLst>
          </p:cNvPr>
          <p:cNvSpPr>
            <a:spLocks noGrp="1"/>
          </p:cNvSpPr>
          <p:nvPr>
            <p:ph type="ftr" sz="quarter" idx="11"/>
          </p:nvPr>
        </p:nvSpPr>
        <p:spPr>
          <a:xfrm>
            <a:off x="492760" y="6356350"/>
            <a:ext cx="2743200" cy="365125"/>
          </a:xfrm>
        </p:spPr>
        <p:style>
          <a:lnRef idx="2">
            <a:schemeClr val="dk1"/>
          </a:lnRef>
          <a:fillRef idx="1">
            <a:schemeClr val="lt1"/>
          </a:fillRef>
          <a:effectRef idx="0">
            <a:schemeClr val="dk1"/>
          </a:effectRef>
          <a:fontRef idx="minor">
            <a:schemeClr val="dk1"/>
          </a:fontRef>
        </p:style>
        <p:txBody>
          <a:bodyPr/>
          <a:lstStyle>
            <a:lvl1pPr>
              <a:defRPr sz="1400" b="1">
                <a:solidFill>
                  <a:srgbClr val="FF8B37"/>
                </a:solidFill>
              </a:defRPr>
            </a:lvl1pPr>
          </a:lstStyle>
          <a:p>
            <a:r>
              <a:rPr lang="en-IN"/>
              <a:t>Web Developer - Python</a:t>
            </a:r>
            <a:endParaRPr lang="en-IN" dirty="0"/>
          </a:p>
        </p:txBody>
      </p:sp>
      <p:sp>
        <p:nvSpPr>
          <p:cNvPr id="6" name="Slide Number Placeholder 5">
            <a:extLst>
              <a:ext uri="{FF2B5EF4-FFF2-40B4-BE49-F238E27FC236}">
                <a16:creationId xmlns:a16="http://schemas.microsoft.com/office/drawing/2014/main" id="{62F97940-2C58-1613-E123-6DDD0303A770}"/>
              </a:ext>
            </a:extLst>
          </p:cNvPr>
          <p:cNvSpPr>
            <a:spLocks noGrp="1"/>
          </p:cNvSpPr>
          <p:nvPr>
            <p:ph type="sldNum" sz="quarter" idx="12"/>
          </p:nvPr>
        </p:nvSpPr>
        <p:spPr/>
        <p:txBody>
          <a:bodyPr/>
          <a:lstStyle/>
          <a:p>
            <a:fld id="{FACB5482-D393-4E2D-8FB7-B68A06B80F1E}" type="slidenum">
              <a:rPr lang="en-IN" smtClean="0"/>
              <a:t>‹#›</a:t>
            </a:fld>
            <a:endParaRPr lang="en-IN" dirty="0"/>
          </a:p>
        </p:txBody>
      </p:sp>
      <p:pic>
        <p:nvPicPr>
          <p:cNvPr id="8" name="Picture 7" descr="A picture containing text, clipart&#10;&#10;Description automatically generated">
            <a:extLst>
              <a:ext uri="{FF2B5EF4-FFF2-40B4-BE49-F238E27FC236}">
                <a16:creationId xmlns:a16="http://schemas.microsoft.com/office/drawing/2014/main" id="{71AEE35B-EB9C-00F8-69E3-A61AB35E6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8720" y="114905"/>
            <a:ext cx="2194560" cy="906840"/>
          </a:xfrm>
          <a:prstGeom prst="rect">
            <a:avLst/>
          </a:prstGeom>
        </p:spPr>
      </p:pic>
      <p:sp>
        <p:nvSpPr>
          <p:cNvPr id="9" name="TextBox 8">
            <a:extLst>
              <a:ext uri="{FF2B5EF4-FFF2-40B4-BE49-F238E27FC236}">
                <a16:creationId xmlns:a16="http://schemas.microsoft.com/office/drawing/2014/main" id="{A1F7F60E-D9C1-03D4-79DD-717DE0406607}"/>
              </a:ext>
            </a:extLst>
          </p:cNvPr>
          <p:cNvSpPr txBox="1"/>
          <p:nvPr/>
        </p:nvSpPr>
        <p:spPr>
          <a:xfrm>
            <a:off x="5602275" y="1157754"/>
            <a:ext cx="987450" cy="369332"/>
          </a:xfrm>
          <a:prstGeom prst="rect">
            <a:avLst/>
          </a:prstGeom>
          <a:noFill/>
        </p:spPr>
        <p:txBody>
          <a:bodyPr wrap="none" rtlCol="0">
            <a:spAutoFit/>
          </a:bodyPr>
          <a:lstStyle/>
          <a:p>
            <a:r>
              <a:rPr lang="en-IN" dirty="0"/>
              <a:t>Presents</a:t>
            </a:r>
          </a:p>
        </p:txBody>
      </p:sp>
    </p:spTree>
    <p:extLst>
      <p:ext uri="{BB962C8B-B14F-4D97-AF65-F5344CB8AC3E}">
        <p14:creationId xmlns:p14="http://schemas.microsoft.com/office/powerpoint/2010/main" val="2765760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1408-42B5-048B-604E-DC3C6B5F7E5E}"/>
              </a:ext>
            </a:extLst>
          </p:cNvPr>
          <p:cNvSpPr>
            <a:spLocks noGrp="1"/>
          </p:cNvSpPr>
          <p:nvPr>
            <p:ph type="title"/>
          </p:nvPr>
        </p:nvSpPr>
        <p:spPr>
          <a:xfrm>
            <a:off x="558800" y="320675"/>
            <a:ext cx="9616440" cy="1325563"/>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920C93-6881-5562-8115-9DE448BA7000}"/>
              </a:ext>
            </a:extLst>
          </p:cNvPr>
          <p:cNvSpPr>
            <a:spLocks noGrp="1"/>
          </p:cNvSpPr>
          <p:nvPr>
            <p:ph idx="1"/>
          </p:nvPr>
        </p:nvSpPr>
        <p:spPr>
          <a:xfrm>
            <a:off x="548640" y="1825625"/>
            <a:ext cx="110947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4B05E45B-4B06-4607-CA1B-D8C33E810558}"/>
              </a:ext>
            </a:extLst>
          </p:cNvPr>
          <p:cNvSpPr>
            <a:spLocks noGrp="1"/>
          </p:cNvSpPr>
          <p:nvPr>
            <p:ph type="ftr" sz="quarter" idx="11"/>
          </p:nvPr>
        </p:nvSpPr>
        <p:spPr>
          <a:xfrm>
            <a:off x="523240" y="6356350"/>
            <a:ext cx="4114800" cy="365125"/>
          </a:xfrm>
        </p:spPr>
        <p:txBody>
          <a:bodyPr/>
          <a:lstStyle/>
          <a:p>
            <a:r>
              <a:rPr lang="en-IN"/>
              <a:t>Web Developer - Python</a:t>
            </a:r>
          </a:p>
        </p:txBody>
      </p:sp>
      <p:sp>
        <p:nvSpPr>
          <p:cNvPr id="6" name="Slide Number Placeholder 5">
            <a:extLst>
              <a:ext uri="{FF2B5EF4-FFF2-40B4-BE49-F238E27FC236}">
                <a16:creationId xmlns:a16="http://schemas.microsoft.com/office/drawing/2014/main" id="{F03C3F43-42D4-B0E8-A909-EC0F0B5B2331}"/>
              </a:ext>
            </a:extLst>
          </p:cNvPr>
          <p:cNvSpPr>
            <a:spLocks noGrp="1"/>
          </p:cNvSpPr>
          <p:nvPr>
            <p:ph type="sldNum" sz="quarter" idx="12"/>
          </p:nvPr>
        </p:nvSpPr>
        <p:spPr>
          <a:xfrm>
            <a:off x="8925560" y="6356350"/>
            <a:ext cx="2743200" cy="365125"/>
          </a:xfrm>
        </p:spPr>
        <p:txBody>
          <a:bodyPr/>
          <a:lstStyle/>
          <a:p>
            <a:fld id="{FACB5482-D393-4E2D-8FB7-B68A06B80F1E}" type="slidenum">
              <a:rPr lang="en-IN" smtClean="0"/>
              <a:t>‹#›</a:t>
            </a:fld>
            <a:endParaRPr lang="en-IN"/>
          </a:p>
        </p:txBody>
      </p:sp>
      <p:pic>
        <p:nvPicPr>
          <p:cNvPr id="7" name="Picture 6" descr="A picture containing text, clipart&#10;&#10;Description automatically generated">
            <a:extLst>
              <a:ext uri="{FF2B5EF4-FFF2-40B4-BE49-F238E27FC236}">
                <a16:creationId xmlns:a16="http://schemas.microsoft.com/office/drawing/2014/main" id="{5AE49820-F2D7-5F64-EE38-DAED2F98C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7360" y="136525"/>
            <a:ext cx="1432560" cy="591965"/>
          </a:xfrm>
          <a:prstGeom prst="rect">
            <a:avLst/>
          </a:prstGeom>
        </p:spPr>
      </p:pic>
    </p:spTree>
    <p:extLst>
      <p:ext uri="{BB962C8B-B14F-4D97-AF65-F5344CB8AC3E}">
        <p14:creationId xmlns:p14="http://schemas.microsoft.com/office/powerpoint/2010/main" val="4109170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1C01-395F-0777-13F4-257E0B9481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E7DE9F-7CBA-439C-6B80-6036E8D254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87F607-5560-B262-0980-239ED914E1A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924DA0A-3FC5-EC03-EB3D-6E41FF0745D1}"/>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D6A1EE97-89F1-FB29-A042-AF9AAEA7C3D4}"/>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8496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BADA-87CE-8C82-A87F-E40CB4E7FA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96624C-BA87-CDB7-A54D-F3635CF6F2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EB491A-1D4C-EDC8-35EA-36A836E667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264F77-6485-9B9C-9BB6-031600B7952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7510FCC-33DA-9C94-2C67-618F3BD03657}"/>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AE31E08E-556D-B996-60C8-4004DAA7266F}"/>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211959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5D2A-9AEC-B95C-116A-99221D76A7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5DDD43-B53A-07CB-E3C2-7A806D8DD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FE2DD3-82F2-97CE-4807-2951B90E26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3B666C-DB33-0BF1-8383-35658C760A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1B0222-CDCC-4628-176F-B52242F8EA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50D6F2-EFA7-E2F6-CB2E-56F0C496B54E}"/>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C713E863-FA2F-7C51-6233-113BBF33933A}"/>
              </a:ext>
            </a:extLst>
          </p:cNvPr>
          <p:cNvSpPr>
            <a:spLocks noGrp="1"/>
          </p:cNvSpPr>
          <p:nvPr>
            <p:ph type="ftr" sz="quarter" idx="11"/>
          </p:nvPr>
        </p:nvSpPr>
        <p:spPr/>
        <p:txBody>
          <a:bodyPr/>
          <a:lstStyle/>
          <a:p>
            <a:r>
              <a:rPr lang="en-IN"/>
              <a:t>Web Developer - Python</a:t>
            </a:r>
          </a:p>
        </p:txBody>
      </p:sp>
      <p:sp>
        <p:nvSpPr>
          <p:cNvPr id="9" name="Slide Number Placeholder 8">
            <a:extLst>
              <a:ext uri="{FF2B5EF4-FFF2-40B4-BE49-F238E27FC236}">
                <a16:creationId xmlns:a16="http://schemas.microsoft.com/office/drawing/2014/main" id="{CFF579E7-B028-BF1C-EEDB-48CC0DF4EC6F}"/>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767296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41336-CDC4-2B09-0BBE-738425B4F2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0DBFDC-32AD-FCFE-AFE0-B95ED378E07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4F93E42-47F8-70CA-3B8C-187F13E76D32}"/>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F0542204-51A6-1E03-1A7A-EED6ED83FF68}"/>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891280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EE1783-8682-6B7B-B009-6F3B4DD29A1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633FD71-F38D-ECAA-3A7F-1D6ED3265C0E}"/>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193E9B6-9ED3-33BD-3C54-48982C952C07}"/>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1082166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80EE-C9E7-60CA-3BC1-FED7806FD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C81F3A-97E7-7BD6-9FB6-E79EDEC7E0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AA2157-2739-28BD-8068-C2D99C853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D990E-7E5B-77EC-526B-BEAF7563116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ECC717D-5870-155A-BA04-A9CF7CF553EF}"/>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57BC93C4-4A4B-B56C-0E1A-8A69E28C2EFD}"/>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1802294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A9C30-A057-B64F-B977-A0576D772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E253BF-90DF-4AA4-DDCE-2599092725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7F2A5480-4AE3-D1FE-0E7D-F4D446FDA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201B69-F137-A5F2-F200-D7C195C910E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9A7EE1A-8167-8271-E341-3AB393354911}"/>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14415E91-D591-0EAF-EE9B-D9D7FF77B62A}"/>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05130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50074-28FB-BB92-1334-D3199538B1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A4B89C-E1B4-11C7-BD5F-12CEA1E62A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F9A6FC-871A-08A2-36CE-71B509CE4E6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86AC8DD-F950-5BE5-E4E7-121D5941CABA}"/>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D9B2A425-3FF3-3365-D49E-BBDD426BB6E6}"/>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208996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931A1-7258-F68D-94DD-E74D7DE1AD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476F33-C629-F305-B184-04006A27F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B77F6-1334-F1B2-C639-554A293C717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F3B7234-63D7-35A5-7F62-FDC4F3FDC76A}"/>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F5979070-1721-11B6-98C9-21898196A390}"/>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738026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0B398-F915-5505-94AD-921630506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308474-9A63-8164-7B1F-EBD2D248E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98716F-C3C6-E5B9-1F33-4B5C86ACB4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23734610-798B-63E0-7549-3F2DB92C5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Web Developer - Python</a:t>
            </a:r>
          </a:p>
        </p:txBody>
      </p:sp>
      <p:sp>
        <p:nvSpPr>
          <p:cNvPr id="6" name="Slide Number Placeholder 5">
            <a:extLst>
              <a:ext uri="{FF2B5EF4-FFF2-40B4-BE49-F238E27FC236}">
                <a16:creationId xmlns:a16="http://schemas.microsoft.com/office/drawing/2014/main" id="{E2EA51D3-7D0E-183B-C878-0D8222E9E1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CB5482-D393-4E2D-8FB7-B68A06B80F1E}" type="slidenum">
              <a:rPr lang="en-IN" smtClean="0"/>
              <a:t>‹#›</a:t>
            </a:fld>
            <a:endParaRPr lang="en-IN"/>
          </a:p>
        </p:txBody>
      </p:sp>
    </p:spTree>
    <p:extLst>
      <p:ext uri="{BB962C8B-B14F-4D97-AF65-F5344CB8AC3E}">
        <p14:creationId xmlns:p14="http://schemas.microsoft.com/office/powerpoint/2010/main" val="1477458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9.pn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E715C17-6F7B-E6C9-AA6A-28861DE33408}"/>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DF9BE006-1237-B462-5AAB-38DDB0CAA268}"/>
              </a:ext>
            </a:extLst>
          </p:cNvPr>
          <p:cNvSpPr>
            <a:spLocks noGrp="1"/>
          </p:cNvSpPr>
          <p:nvPr>
            <p:ph type="sldNum" sz="quarter" idx="12"/>
          </p:nvPr>
        </p:nvSpPr>
        <p:spPr/>
        <p:txBody>
          <a:bodyPr/>
          <a:lstStyle/>
          <a:p>
            <a:fld id="{FACB5482-D393-4E2D-8FB7-B68A06B80F1E}" type="slidenum">
              <a:rPr lang="en-IN" smtClean="0"/>
              <a:t>1</a:t>
            </a:fld>
            <a:endParaRPr lang="en-IN"/>
          </a:p>
        </p:txBody>
      </p:sp>
      <p:sp>
        <p:nvSpPr>
          <p:cNvPr id="6" name="Google Shape;91;p1">
            <a:extLst>
              <a:ext uri="{FF2B5EF4-FFF2-40B4-BE49-F238E27FC236}">
                <a16:creationId xmlns:a16="http://schemas.microsoft.com/office/drawing/2014/main" id="{9CFCC3CF-4EFC-C3FC-2D24-C2DF31B760F5}"/>
              </a:ext>
            </a:extLst>
          </p:cNvPr>
          <p:cNvSpPr txBox="1"/>
          <p:nvPr/>
        </p:nvSpPr>
        <p:spPr>
          <a:xfrm>
            <a:off x="1082833" y="2946800"/>
            <a:ext cx="10369600" cy="861734"/>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US" sz="4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venir"/>
              </a:rPr>
              <a:t>Data </a:t>
            </a:r>
            <a:r>
              <a:rPr lang="en-US" sz="4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venir"/>
              </a:rPr>
              <a:t>Modeling in Flask</a:t>
            </a:r>
            <a:endParaRPr lang="en-US" sz="4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venir"/>
            </a:endParaRPr>
          </a:p>
        </p:txBody>
      </p:sp>
      <p:sp>
        <p:nvSpPr>
          <p:cNvPr id="7" name="Google Shape;92;p1">
            <a:extLst>
              <a:ext uri="{FF2B5EF4-FFF2-40B4-BE49-F238E27FC236}">
                <a16:creationId xmlns:a16="http://schemas.microsoft.com/office/drawing/2014/main" id="{D612D6DC-2C05-DE8E-03A8-B115FB468DDB}"/>
              </a:ext>
            </a:extLst>
          </p:cNvPr>
          <p:cNvSpPr/>
          <p:nvPr/>
        </p:nvSpPr>
        <p:spPr>
          <a:xfrm>
            <a:off x="1216533" y="3836739"/>
            <a:ext cx="1898400" cy="114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8" name="Google Shape;93;p1">
            <a:extLst>
              <a:ext uri="{FF2B5EF4-FFF2-40B4-BE49-F238E27FC236}">
                <a16:creationId xmlns:a16="http://schemas.microsoft.com/office/drawing/2014/main" id="{A0F6F5C2-78E4-ABB8-3CC8-468F8B2B45A7}"/>
              </a:ext>
            </a:extLst>
          </p:cNvPr>
          <p:cNvSpPr/>
          <p:nvPr/>
        </p:nvSpPr>
        <p:spPr>
          <a:xfrm>
            <a:off x="3114933" y="3836733"/>
            <a:ext cx="7852400" cy="1144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9" name="Google Shape;94;p1">
            <a:extLst>
              <a:ext uri="{FF2B5EF4-FFF2-40B4-BE49-F238E27FC236}">
                <a16:creationId xmlns:a16="http://schemas.microsoft.com/office/drawing/2014/main" id="{6EDC34BE-0E5B-B6C4-CECE-0FE5B771AB67}"/>
              </a:ext>
            </a:extLst>
          </p:cNvPr>
          <p:cNvSpPr/>
          <p:nvPr/>
        </p:nvSpPr>
        <p:spPr>
          <a:xfrm>
            <a:off x="0" y="0"/>
            <a:ext cx="968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nvGrpSpPr>
          <p:cNvPr id="10" name="Google Shape;95;p1">
            <a:extLst>
              <a:ext uri="{FF2B5EF4-FFF2-40B4-BE49-F238E27FC236}">
                <a16:creationId xmlns:a16="http://schemas.microsoft.com/office/drawing/2014/main" id="{33D1B2EF-5016-99DA-C959-DBBFDEC1033C}"/>
              </a:ext>
            </a:extLst>
          </p:cNvPr>
          <p:cNvGrpSpPr/>
          <p:nvPr/>
        </p:nvGrpSpPr>
        <p:grpSpPr>
          <a:xfrm>
            <a:off x="0" y="-56"/>
            <a:ext cx="90400" cy="6857955"/>
            <a:chOff x="0" y="-42"/>
            <a:chExt cx="67800" cy="5143466"/>
          </a:xfrm>
        </p:grpSpPr>
        <p:sp>
          <p:nvSpPr>
            <p:cNvPr id="11" name="Google Shape;96;p1">
              <a:extLst>
                <a:ext uri="{FF2B5EF4-FFF2-40B4-BE49-F238E27FC236}">
                  <a16:creationId xmlns:a16="http://schemas.microsoft.com/office/drawing/2014/main" id="{4D686E0E-4C4C-7C1D-9252-AE28275F63DD}"/>
                </a:ext>
              </a:extLst>
            </p:cNvPr>
            <p:cNvSpPr/>
            <p:nvPr/>
          </p:nvSpPr>
          <p:spPr>
            <a:xfrm>
              <a:off x="0" y="-42"/>
              <a:ext cx="67800" cy="995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12" name="Google Shape;97;p1">
              <a:extLst>
                <a:ext uri="{FF2B5EF4-FFF2-40B4-BE49-F238E27FC236}">
                  <a16:creationId xmlns:a16="http://schemas.microsoft.com/office/drawing/2014/main" id="{4C3A5FCD-6E40-6C7E-4C4C-BA24DE50DCB9}"/>
                </a:ext>
              </a:extLst>
            </p:cNvPr>
            <p:cNvSpPr/>
            <p:nvPr/>
          </p:nvSpPr>
          <p:spPr>
            <a:xfrm>
              <a:off x="0" y="995324"/>
              <a:ext cx="67800" cy="41481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130885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123161-093D-86EC-25C2-5A7D975668FC}"/>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CD2758D6-EACE-8DC6-A473-C5AD2DA419AA}"/>
              </a:ext>
            </a:extLst>
          </p:cNvPr>
          <p:cNvSpPr>
            <a:spLocks noGrp="1"/>
          </p:cNvSpPr>
          <p:nvPr>
            <p:ph type="sldNum" sz="quarter" idx="12"/>
          </p:nvPr>
        </p:nvSpPr>
        <p:spPr/>
        <p:txBody>
          <a:bodyPr/>
          <a:lstStyle/>
          <a:p>
            <a:fld id="{FACB5482-D393-4E2D-8FB7-B68A06B80F1E}" type="slidenum">
              <a:rPr lang="en-IN" smtClean="0"/>
              <a:t>2</a:t>
            </a:fld>
            <a:endParaRPr lang="en-IN"/>
          </a:p>
        </p:txBody>
      </p:sp>
      <p:grpSp>
        <p:nvGrpSpPr>
          <p:cNvPr id="6" name="Google Shape;102;p2">
            <a:extLst>
              <a:ext uri="{FF2B5EF4-FFF2-40B4-BE49-F238E27FC236}">
                <a16:creationId xmlns:a16="http://schemas.microsoft.com/office/drawing/2014/main" id="{EDAE4AB1-FE6D-06F7-F06D-84D96D8A1F0A}"/>
              </a:ext>
            </a:extLst>
          </p:cNvPr>
          <p:cNvGrpSpPr/>
          <p:nvPr/>
        </p:nvGrpSpPr>
        <p:grpSpPr>
          <a:xfrm>
            <a:off x="543877" y="6108987"/>
            <a:ext cx="11205845" cy="0"/>
            <a:chOff x="539115" y="3792507"/>
            <a:chExt cx="11205845" cy="0"/>
          </a:xfrm>
        </p:grpSpPr>
        <p:cxnSp>
          <p:nvCxnSpPr>
            <p:cNvPr id="7" name="Google Shape;103;p2">
              <a:extLst>
                <a:ext uri="{FF2B5EF4-FFF2-40B4-BE49-F238E27FC236}">
                  <a16:creationId xmlns:a16="http://schemas.microsoft.com/office/drawing/2014/main" id="{27DDB8CA-FA91-AB56-F0C4-B9EF81B0377D}"/>
                </a:ext>
              </a:extLst>
            </p:cNvPr>
            <p:cNvCxnSpPr/>
            <p:nvPr/>
          </p:nvCxnSpPr>
          <p:spPr>
            <a:xfrm>
              <a:off x="1685925" y="3792507"/>
              <a:ext cx="10059035" cy="0"/>
            </a:xfrm>
            <a:prstGeom prst="straightConnector1">
              <a:avLst/>
            </a:prstGeom>
            <a:noFill/>
            <a:ln w="101600" cap="flat" cmpd="sng">
              <a:solidFill>
                <a:srgbClr val="3A3A3A"/>
              </a:solidFill>
              <a:prstDash val="solid"/>
              <a:miter lim="800000"/>
              <a:headEnd type="none" w="sm" len="sm"/>
              <a:tailEnd type="none" w="sm" len="sm"/>
            </a:ln>
          </p:spPr>
        </p:cxnSp>
        <p:cxnSp>
          <p:nvCxnSpPr>
            <p:cNvPr id="8" name="Google Shape;104;p2">
              <a:extLst>
                <a:ext uri="{FF2B5EF4-FFF2-40B4-BE49-F238E27FC236}">
                  <a16:creationId xmlns:a16="http://schemas.microsoft.com/office/drawing/2014/main" id="{F8CDF4EA-8B2E-0A63-7A36-49296E4756EE}"/>
                </a:ext>
              </a:extLst>
            </p:cNvPr>
            <p:cNvCxnSpPr/>
            <p:nvPr/>
          </p:nvCxnSpPr>
          <p:spPr>
            <a:xfrm>
              <a:off x="539115" y="3792507"/>
              <a:ext cx="1553845" cy="0"/>
            </a:xfrm>
            <a:prstGeom prst="straightConnector1">
              <a:avLst/>
            </a:prstGeom>
            <a:noFill/>
            <a:ln w="101600" cap="flat" cmpd="sng">
              <a:solidFill>
                <a:srgbClr val="C00000"/>
              </a:solidFill>
              <a:prstDash val="solid"/>
              <a:miter lim="800000"/>
              <a:headEnd type="none" w="sm" len="sm"/>
              <a:tailEnd type="none" w="sm" len="sm"/>
            </a:ln>
          </p:spPr>
        </p:cxnSp>
      </p:grpSp>
      <p:grpSp>
        <p:nvGrpSpPr>
          <p:cNvPr id="9" name="Google Shape;105;p2">
            <a:extLst>
              <a:ext uri="{FF2B5EF4-FFF2-40B4-BE49-F238E27FC236}">
                <a16:creationId xmlns:a16="http://schemas.microsoft.com/office/drawing/2014/main" id="{D607BFE5-EFE5-3E30-A7A8-C4FD557EF6C3}"/>
              </a:ext>
            </a:extLst>
          </p:cNvPr>
          <p:cNvGrpSpPr/>
          <p:nvPr/>
        </p:nvGrpSpPr>
        <p:grpSpPr>
          <a:xfrm>
            <a:off x="3320787" y="4776459"/>
            <a:ext cx="4736716" cy="776075"/>
            <a:chOff x="2076884" y="3202000"/>
            <a:chExt cx="4736716" cy="776075"/>
          </a:xfrm>
        </p:grpSpPr>
        <p:sp>
          <p:nvSpPr>
            <p:cNvPr id="10" name="Google Shape;106;p2">
              <a:extLst>
                <a:ext uri="{FF2B5EF4-FFF2-40B4-BE49-F238E27FC236}">
                  <a16:creationId xmlns:a16="http://schemas.microsoft.com/office/drawing/2014/main" id="{1CC2F1C4-F700-4ED2-883E-8B3D6617A33C}"/>
                </a:ext>
              </a:extLst>
            </p:cNvPr>
            <p:cNvSpPr/>
            <p:nvPr/>
          </p:nvSpPr>
          <p:spPr>
            <a:xfrm>
              <a:off x="2463132" y="3247534"/>
              <a:ext cx="314092" cy="314092"/>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1" name="Google Shape;107;p2">
              <a:extLst>
                <a:ext uri="{FF2B5EF4-FFF2-40B4-BE49-F238E27FC236}">
                  <a16:creationId xmlns:a16="http://schemas.microsoft.com/office/drawing/2014/main" id="{287E188A-658A-7CA5-7F47-E8F91F271B22}"/>
                </a:ext>
              </a:extLst>
            </p:cNvPr>
            <p:cNvPicPr preferRelativeResize="0"/>
            <p:nvPr/>
          </p:nvPicPr>
          <p:blipFill rotWithShape="1">
            <a:blip r:embed="rId2">
              <a:alphaModFix/>
            </a:blip>
            <a:srcRect/>
            <a:stretch/>
          </p:blipFill>
          <p:spPr>
            <a:xfrm>
              <a:off x="5840597" y="3215575"/>
              <a:ext cx="898400" cy="477450"/>
            </a:xfrm>
            <a:prstGeom prst="rect">
              <a:avLst/>
            </a:prstGeom>
            <a:noFill/>
            <a:ln>
              <a:noFill/>
            </a:ln>
          </p:spPr>
        </p:pic>
        <p:pic>
          <p:nvPicPr>
            <p:cNvPr id="12" name="Google Shape;108;p2">
              <a:extLst>
                <a:ext uri="{FF2B5EF4-FFF2-40B4-BE49-F238E27FC236}">
                  <a16:creationId xmlns:a16="http://schemas.microsoft.com/office/drawing/2014/main" id="{1B00C416-880A-B1C9-E38F-F8F2C23CE9FB}"/>
                </a:ext>
              </a:extLst>
            </p:cNvPr>
            <p:cNvPicPr preferRelativeResize="0"/>
            <p:nvPr/>
          </p:nvPicPr>
          <p:blipFill rotWithShape="1">
            <a:blip r:embed="rId3">
              <a:alphaModFix/>
            </a:blip>
            <a:srcRect/>
            <a:stretch/>
          </p:blipFill>
          <p:spPr>
            <a:xfrm>
              <a:off x="4694523" y="3202000"/>
              <a:ext cx="434169" cy="405125"/>
            </a:xfrm>
            <a:prstGeom prst="rect">
              <a:avLst/>
            </a:prstGeom>
            <a:noFill/>
            <a:ln>
              <a:noFill/>
            </a:ln>
          </p:spPr>
        </p:pic>
        <p:sp>
          <p:nvSpPr>
            <p:cNvPr id="13" name="Google Shape;109;p2">
              <a:extLst>
                <a:ext uri="{FF2B5EF4-FFF2-40B4-BE49-F238E27FC236}">
                  <a16:creationId xmlns:a16="http://schemas.microsoft.com/office/drawing/2014/main" id="{552C72A0-C691-09C6-D25E-7E92A5B2ED0C}"/>
                </a:ext>
              </a:extLst>
            </p:cNvPr>
            <p:cNvSpPr txBox="1"/>
            <p:nvPr/>
          </p:nvSpPr>
          <p:spPr>
            <a:xfrm>
              <a:off x="2076884" y="3684675"/>
              <a:ext cx="1086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Error/ Warning</a:t>
              </a:r>
              <a:endParaRPr sz="1100" b="0" i="0" u="none" strike="noStrike" cap="none">
                <a:solidFill>
                  <a:srgbClr val="434343"/>
                </a:solidFill>
                <a:latin typeface="Calibri"/>
                <a:ea typeface="Calibri"/>
                <a:cs typeface="Calibri"/>
                <a:sym typeface="Calibri"/>
              </a:endParaRPr>
            </a:p>
          </p:txBody>
        </p:sp>
        <p:sp>
          <p:nvSpPr>
            <p:cNvPr id="14" name="Google Shape;110;p2">
              <a:extLst>
                <a:ext uri="{FF2B5EF4-FFF2-40B4-BE49-F238E27FC236}">
                  <a16:creationId xmlns:a16="http://schemas.microsoft.com/office/drawing/2014/main" id="{4752BD43-1EBE-54AB-1EDA-B5DA435A2FD8}"/>
                </a:ext>
              </a:extLst>
            </p:cNvPr>
            <p:cNvSpPr txBox="1"/>
            <p:nvPr/>
          </p:nvSpPr>
          <p:spPr>
            <a:xfrm>
              <a:off x="3347450" y="3684675"/>
              <a:ext cx="8652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Information</a:t>
              </a:r>
              <a:endParaRPr sz="1100" b="0" i="0" u="none" strike="noStrike" cap="none">
                <a:solidFill>
                  <a:srgbClr val="434343"/>
                </a:solidFill>
                <a:latin typeface="Calibri"/>
                <a:ea typeface="Calibri"/>
                <a:cs typeface="Calibri"/>
                <a:sym typeface="Calibri"/>
              </a:endParaRPr>
            </a:p>
          </p:txBody>
        </p:sp>
        <p:sp>
          <p:nvSpPr>
            <p:cNvPr id="15" name="Google Shape;111;p2">
              <a:extLst>
                <a:ext uri="{FF2B5EF4-FFF2-40B4-BE49-F238E27FC236}">
                  <a16:creationId xmlns:a16="http://schemas.microsoft.com/office/drawing/2014/main" id="{A0457E83-2370-ECC6-B636-7968A793A44E}"/>
                </a:ext>
              </a:extLst>
            </p:cNvPr>
            <p:cNvSpPr txBox="1"/>
            <p:nvPr/>
          </p:nvSpPr>
          <p:spPr>
            <a:xfrm>
              <a:off x="4543561" y="3684675"/>
              <a:ext cx="7629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Flashback</a:t>
              </a:r>
              <a:endParaRPr sz="1100" b="0" i="0" u="none" strike="noStrike" cap="none">
                <a:solidFill>
                  <a:srgbClr val="434343"/>
                </a:solidFill>
                <a:latin typeface="Calibri"/>
                <a:ea typeface="Calibri"/>
                <a:cs typeface="Calibri"/>
                <a:sym typeface="Calibri"/>
              </a:endParaRPr>
            </a:p>
          </p:txBody>
        </p:sp>
        <p:sp>
          <p:nvSpPr>
            <p:cNvPr id="16" name="Google Shape;112;p2">
              <a:extLst>
                <a:ext uri="{FF2B5EF4-FFF2-40B4-BE49-F238E27FC236}">
                  <a16:creationId xmlns:a16="http://schemas.microsoft.com/office/drawing/2014/main" id="{FC8CC33D-6BD4-4625-A456-BF16424B87B8}"/>
                </a:ext>
              </a:extLst>
            </p:cNvPr>
            <p:cNvSpPr txBox="1"/>
            <p:nvPr/>
          </p:nvSpPr>
          <p:spPr>
            <a:xfrm>
              <a:off x="5766000" y="3684675"/>
              <a:ext cx="1047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Class Exercise</a:t>
              </a:r>
              <a:endParaRPr sz="1100" b="0" i="0" u="none" strike="noStrike" cap="none">
                <a:solidFill>
                  <a:srgbClr val="434343"/>
                </a:solidFill>
                <a:latin typeface="Calibri"/>
                <a:ea typeface="Calibri"/>
                <a:cs typeface="Calibri"/>
                <a:sym typeface="Calibri"/>
              </a:endParaRPr>
            </a:p>
          </p:txBody>
        </p:sp>
      </p:grpSp>
      <p:pic>
        <p:nvPicPr>
          <p:cNvPr id="17" name="Google Shape;113;p2" descr="Warning with solid fill">
            <a:extLst>
              <a:ext uri="{FF2B5EF4-FFF2-40B4-BE49-F238E27FC236}">
                <a16:creationId xmlns:a16="http://schemas.microsoft.com/office/drawing/2014/main" id="{BA83AC10-5008-B4C0-7AA2-2DA724D59E03}"/>
              </a:ext>
            </a:extLst>
          </p:cNvPr>
          <p:cNvPicPr preferRelativeResize="0"/>
          <p:nvPr/>
        </p:nvPicPr>
        <p:blipFill rotWithShape="1">
          <a:blip r:embed="rId4">
            <a:alphaModFix/>
          </a:blip>
          <a:srcRect/>
          <a:stretch/>
        </p:blipFill>
        <p:spPr>
          <a:xfrm>
            <a:off x="3652276" y="4794102"/>
            <a:ext cx="423609" cy="423609"/>
          </a:xfrm>
          <a:prstGeom prst="rect">
            <a:avLst/>
          </a:prstGeom>
          <a:noFill/>
          <a:ln>
            <a:noFill/>
          </a:ln>
        </p:spPr>
      </p:pic>
      <p:pic>
        <p:nvPicPr>
          <p:cNvPr id="18" name="Google Shape;114;p2" descr="Information with solid fill">
            <a:extLst>
              <a:ext uri="{FF2B5EF4-FFF2-40B4-BE49-F238E27FC236}">
                <a16:creationId xmlns:a16="http://schemas.microsoft.com/office/drawing/2014/main" id="{69C3A4EA-0871-EC2D-DDE5-65C90046EE69}"/>
              </a:ext>
            </a:extLst>
          </p:cNvPr>
          <p:cNvPicPr preferRelativeResize="0"/>
          <p:nvPr/>
        </p:nvPicPr>
        <p:blipFill rotWithShape="1">
          <a:blip r:embed="rId5">
            <a:alphaModFix/>
          </a:blip>
          <a:srcRect/>
          <a:stretch/>
        </p:blipFill>
        <p:spPr>
          <a:xfrm>
            <a:off x="4760717" y="4752681"/>
            <a:ext cx="506453" cy="506453"/>
          </a:xfrm>
          <a:prstGeom prst="rect">
            <a:avLst/>
          </a:prstGeom>
          <a:noFill/>
          <a:ln>
            <a:noFill/>
          </a:ln>
        </p:spPr>
      </p:pic>
    </p:spTree>
    <p:extLst>
      <p:ext uri="{BB962C8B-B14F-4D97-AF65-F5344CB8AC3E}">
        <p14:creationId xmlns:p14="http://schemas.microsoft.com/office/powerpoint/2010/main" val="103060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p:nvPr/>
        </p:nvSpPr>
        <p:spPr>
          <a:xfrm>
            <a:off x="0" y="3136613"/>
            <a:ext cx="4714239" cy="58477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200" b="0" i="0" u="none" strike="noStrike" cap="none" dirty="0">
                <a:solidFill>
                  <a:srgbClr val="262626"/>
                </a:solidFill>
                <a:latin typeface="Calibri"/>
                <a:ea typeface="Calibri"/>
                <a:cs typeface="Calibri"/>
                <a:sym typeface="Calibri"/>
              </a:rPr>
              <a:t>AGENDA</a:t>
            </a:r>
            <a:endParaRPr sz="3200" b="0" i="0" u="none" strike="noStrike" cap="none" dirty="0">
              <a:solidFill>
                <a:srgbClr val="262626"/>
              </a:solidFill>
              <a:latin typeface="Calibri"/>
              <a:ea typeface="Calibri"/>
              <a:cs typeface="Calibri"/>
              <a:sym typeface="Calibri"/>
            </a:endParaRPr>
          </a:p>
        </p:txBody>
      </p:sp>
      <p:sp>
        <p:nvSpPr>
          <p:cNvPr id="120" name="Google Shape;120;p3"/>
          <p:cNvSpPr txBox="1"/>
          <p:nvPr/>
        </p:nvSpPr>
        <p:spPr>
          <a:xfrm>
            <a:off x="5364481" y="1536195"/>
            <a:ext cx="6278879" cy="3785611"/>
          </a:xfrm>
          <a:prstGeom prst="rect">
            <a:avLst/>
          </a:prstGeom>
          <a:noFill/>
          <a:ln>
            <a:noFill/>
          </a:ln>
        </p:spPr>
        <p:txBody>
          <a:bodyPr spcFirstLastPara="1" wrap="square" lIns="91425" tIns="45700" rIns="91425" bIns="45700" anchor="ctr" anchorCtr="0">
            <a:spAutoFit/>
          </a:bodyPr>
          <a:lstStyle/>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Creating an SQLAlchemy DB instance</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Creating a relational category model</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Migrating databases using Alembic and Flask-Migrate</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Installing required packages with mongo and </a:t>
            </a:r>
            <a:r>
              <a:rPr lang="en-US" sz="2000" b="0" i="0" u="none" strike="noStrike" cap="none" dirty="0" err="1">
                <a:solidFill>
                  <a:schemeClr val="dk1"/>
                </a:solidFill>
                <a:latin typeface="Calibri"/>
                <a:ea typeface="Calibri"/>
                <a:cs typeface="Calibri"/>
                <a:sym typeface="Calibri"/>
              </a:rPr>
              <a:t>redis</a:t>
            </a:r>
            <a:endParaRPr lang="en-US" sz="2000" b="0" i="0" u="none" strike="noStrike" cap="none" dirty="0">
              <a:solidFill>
                <a:schemeClr val="dk1"/>
              </a:solidFill>
              <a:latin typeface="Calibri"/>
              <a:ea typeface="Calibri"/>
              <a:cs typeface="Calibri"/>
              <a:sym typeface="Calibri"/>
            </a:endParaRP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Indexing model data with Redis</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Opting for the NoSQL way with MongoDB</a:t>
            </a:r>
          </a:p>
        </p:txBody>
      </p:sp>
      <p:cxnSp>
        <p:nvCxnSpPr>
          <p:cNvPr id="121" name="Google Shape;121;p3"/>
          <p:cNvCxnSpPr>
            <a:cxnSpLocks/>
          </p:cNvCxnSpPr>
          <p:nvPr/>
        </p:nvCxnSpPr>
        <p:spPr>
          <a:xfrm>
            <a:off x="4714240" y="984250"/>
            <a:ext cx="0" cy="4889500"/>
          </a:xfrm>
          <a:prstGeom prst="straightConnector1">
            <a:avLst/>
          </a:prstGeom>
          <a:noFill/>
          <a:ln w="19050" cap="flat" cmpd="sng">
            <a:solidFill>
              <a:schemeClr val="accent1"/>
            </a:solidFill>
            <a:prstDash val="solid"/>
            <a:miter lim="800000"/>
            <a:headEnd type="none" w="sm" len="sm"/>
            <a:tailEnd type="none" w="sm" len="sm"/>
          </a:ln>
        </p:spPr>
      </p:cxnSp>
      <p:sp>
        <p:nvSpPr>
          <p:cNvPr id="2" name="Footer Placeholder 1">
            <a:extLst>
              <a:ext uri="{FF2B5EF4-FFF2-40B4-BE49-F238E27FC236}">
                <a16:creationId xmlns:a16="http://schemas.microsoft.com/office/drawing/2014/main" id="{255230C2-A2A2-9E73-8D7F-22635FF45368}"/>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7FEB2807-770C-CE8E-D49A-020CF819C972}"/>
              </a:ext>
            </a:extLst>
          </p:cNvPr>
          <p:cNvSpPr>
            <a:spLocks noGrp="1"/>
          </p:cNvSpPr>
          <p:nvPr>
            <p:ph type="sldNum" sz="quarter" idx="12"/>
          </p:nvPr>
        </p:nvSpPr>
        <p:spPr/>
        <p:txBody>
          <a:bodyPr/>
          <a:lstStyle/>
          <a:p>
            <a:fld id="{FACB5482-D393-4E2D-8FB7-B68A06B80F1E}"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B5D0140-A40C-74C7-D3F9-61653C51E45F}"/>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453FBD69-9791-1019-5DF2-EBFA9D1A0422}"/>
              </a:ext>
            </a:extLst>
          </p:cNvPr>
          <p:cNvSpPr>
            <a:spLocks noGrp="1"/>
          </p:cNvSpPr>
          <p:nvPr>
            <p:ph type="sldNum" sz="quarter" idx="12"/>
          </p:nvPr>
        </p:nvSpPr>
        <p:spPr/>
        <p:txBody>
          <a:bodyPr/>
          <a:lstStyle/>
          <a:p>
            <a:fld id="{FACB5482-D393-4E2D-8FB7-B68A06B80F1E}" type="slidenum">
              <a:rPr lang="en-IN" smtClean="0"/>
              <a:t>4</a:t>
            </a:fld>
            <a:endParaRPr lang="en-IN"/>
          </a:p>
        </p:txBody>
      </p:sp>
      <p:sp>
        <p:nvSpPr>
          <p:cNvPr id="6" name="Google Shape;126;p4">
            <a:extLst>
              <a:ext uri="{FF2B5EF4-FFF2-40B4-BE49-F238E27FC236}">
                <a16:creationId xmlns:a16="http://schemas.microsoft.com/office/drawing/2014/main" id="{6176D64A-1B27-5676-FE0E-63E3F6AA6EDE}"/>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a:pPr>
            <a:r>
              <a:rPr lang="en-US" sz="4000">
                <a:solidFill>
                  <a:srgbClr val="000000"/>
                </a:solidFill>
                <a:latin typeface="Calibri"/>
                <a:ea typeface="Calibri"/>
                <a:cs typeface="Calibri"/>
                <a:sym typeface="Calibri"/>
              </a:rPr>
              <a:t>Creating an SQLAlchemy DB instance</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77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230828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SQLAlchemy is a SQL toolkit and Object-Relational Mapping (ORM) library for Python.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provides a full suite of well-known enterprise-level persistence patterns, designed for efficient and high-performing database access.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Flask-SQLAlchemy is an extension for Flask that adds support for SQLAlchemy to your Flask application.</a:t>
            </a:r>
          </a:p>
        </p:txBody>
      </p:sp>
      <p:sp>
        <p:nvSpPr>
          <p:cNvPr id="3" name="Footer Placeholder 2">
            <a:extLst>
              <a:ext uri="{FF2B5EF4-FFF2-40B4-BE49-F238E27FC236}">
                <a16:creationId xmlns:a16="http://schemas.microsoft.com/office/drawing/2014/main" id="{635C3DC6-209D-B2A5-987B-2AC2EA4FB56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30ECA173-C1F9-161D-F25F-69424954AAA2}"/>
              </a:ext>
            </a:extLst>
          </p:cNvPr>
          <p:cNvSpPr>
            <a:spLocks noGrp="1"/>
          </p:cNvSpPr>
          <p:nvPr>
            <p:ph type="sldNum" sz="quarter" idx="12"/>
          </p:nvPr>
        </p:nvSpPr>
        <p:spPr/>
        <p:txBody>
          <a:bodyPr/>
          <a:lstStyle/>
          <a:p>
            <a:fld id="{FACB5482-D393-4E2D-8FB7-B68A06B80F1E}" type="slidenum">
              <a:rPr lang="en-IN" smtClean="0"/>
              <a:t>5</a:t>
            </a:fld>
            <a:endParaRPr lang="en-IN"/>
          </a:p>
        </p:txBody>
      </p:sp>
    </p:spTree>
    <p:extLst>
      <p:ext uri="{BB962C8B-B14F-4D97-AF65-F5344CB8AC3E}">
        <p14:creationId xmlns:p14="http://schemas.microsoft.com/office/powerpoint/2010/main" val="2305369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6339"/>
            <a:ext cx="11019544" cy="3970277"/>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Begin by setting up a basic Flask application.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Flask-SQLAlchemy: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Flask-SQLAlchemy.</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Configure the Flask application: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Set the SQLAlchemy Database URI in the configuration.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SQLAlchemy DB instance: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Initialize the SQLAlchemy object with the Flask app.</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Define models: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Define the database models (tables).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database: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Create the database and tables.</a:t>
            </a:r>
          </a:p>
        </p:txBody>
      </p:sp>
      <p:pic>
        <p:nvPicPr>
          <p:cNvPr id="3" name="Google Shape;114;p2" descr="Information with solid fill">
            <a:extLst>
              <a:ext uri="{FF2B5EF4-FFF2-40B4-BE49-F238E27FC236}">
                <a16:creationId xmlns:a16="http://schemas.microsoft.com/office/drawing/2014/main" id="{88E824FA-EA89-3C51-E812-1AA3BA21BEAB}"/>
              </a:ext>
            </a:extLst>
          </p:cNvPr>
          <p:cNvPicPr preferRelativeResize="0"/>
          <p:nvPr/>
        </p:nvPicPr>
        <p:blipFill rotWithShape="1">
          <a:blip r:embed="rId4">
            <a:alphaModFix/>
          </a:blip>
          <a:srcRect/>
          <a:stretch/>
        </p:blipFill>
        <p:spPr>
          <a:xfrm>
            <a:off x="392578" y="5957536"/>
            <a:ext cx="506453" cy="506453"/>
          </a:xfrm>
          <a:prstGeom prst="rect">
            <a:avLst/>
          </a:prstGeom>
          <a:noFill/>
          <a:ln>
            <a:noFill/>
          </a:ln>
        </p:spPr>
      </p:pic>
      <p:sp>
        <p:nvSpPr>
          <p:cNvPr id="6" name="TextBox 5">
            <a:extLst>
              <a:ext uri="{FF2B5EF4-FFF2-40B4-BE49-F238E27FC236}">
                <a16:creationId xmlns:a16="http://schemas.microsoft.com/office/drawing/2014/main" id="{61834D0D-C63C-BDB8-52F5-8CB1BA241E42}"/>
              </a:ext>
            </a:extLst>
          </p:cNvPr>
          <p:cNvSpPr txBox="1"/>
          <p:nvPr/>
        </p:nvSpPr>
        <p:spPr>
          <a:xfrm>
            <a:off x="899031" y="6026096"/>
            <a:ext cx="9946447" cy="369332"/>
          </a:xfrm>
          <a:prstGeom prst="rect">
            <a:avLst/>
          </a:prstGeom>
          <a:noFill/>
        </p:spPr>
        <p:txBody>
          <a:bodyPr wrap="square">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SQLite is included with the Python, no separate installation is required.</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5B6888D7-B3F9-6B2B-B895-90BEED944353}"/>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B17B3E09-7751-B038-2C00-836582C42FA2}"/>
              </a:ext>
            </a:extLst>
          </p:cNvPr>
          <p:cNvSpPr>
            <a:spLocks noGrp="1"/>
          </p:cNvSpPr>
          <p:nvPr>
            <p:ph type="sldNum" sz="quarter" idx="12"/>
          </p:nvPr>
        </p:nvSpPr>
        <p:spPr/>
        <p:txBody>
          <a:bodyPr/>
          <a:lstStyle/>
          <a:p>
            <a:fld id="{FACB5482-D393-4E2D-8FB7-B68A06B80F1E}" type="slidenum">
              <a:rPr lang="en-IN" smtClean="0"/>
              <a:t>6</a:t>
            </a:fld>
            <a:endParaRPr lang="en-IN"/>
          </a:p>
        </p:txBody>
      </p:sp>
    </p:spTree>
    <p:extLst>
      <p:ext uri="{BB962C8B-B14F-4D97-AF65-F5344CB8AC3E}">
        <p14:creationId xmlns:p14="http://schemas.microsoft.com/office/powerpoint/2010/main" val="346082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4" cy="466277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Open PyCharm: Launch PyCharm and create a new project.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Virtual Environment: Create a virtual environment for your project to manage dependencies.</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Go to File &gt; New Project.</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Choose “Location” for your project.</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Select New environment using: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Virtualenv</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and make sure the base interpreter is set to Python 3.10.</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Click “Create”.</a:t>
            </a:r>
          </a:p>
          <a:p>
            <a:pPr marL="263525" marR="0" lvl="0" indent="-263525"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a New Python File: </a:t>
            </a:r>
          </a:p>
          <a:p>
            <a:pPr marL="630238" marR="0" lvl="0" indent="-274638"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Right-click on the project directory in the Project panel.</a:t>
            </a:r>
          </a:p>
          <a:p>
            <a:pPr marL="630238" marR="0" lvl="0" indent="-274638"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Select New &gt; Python File.</a:t>
            </a:r>
          </a:p>
          <a:p>
            <a:pPr marL="630238" marR="0" lvl="0" indent="-274638"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Name the file “app.py”</a:t>
            </a:r>
          </a:p>
        </p:txBody>
      </p:sp>
      <p:sp>
        <p:nvSpPr>
          <p:cNvPr id="5" name="Google Shape;132;p5">
            <a:extLst>
              <a:ext uri="{FF2B5EF4-FFF2-40B4-BE49-F238E27FC236}">
                <a16:creationId xmlns:a16="http://schemas.microsoft.com/office/drawing/2014/main" id="{4027017F-7D67-F204-A629-7E4DEF03B69F}"/>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DB75814-C5B4-3EC1-66F9-66B5B7666CF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615E4FC-261C-4AE7-99E0-AF8A24D36EF9}"/>
              </a:ext>
            </a:extLst>
          </p:cNvPr>
          <p:cNvSpPr>
            <a:spLocks noGrp="1"/>
          </p:cNvSpPr>
          <p:nvPr>
            <p:ph type="sldNum" sz="quarter" idx="12"/>
          </p:nvPr>
        </p:nvSpPr>
        <p:spPr/>
        <p:txBody>
          <a:bodyPr/>
          <a:lstStyle/>
          <a:p>
            <a:fld id="{FACB5482-D393-4E2D-8FB7-B68A06B80F1E}" type="slidenum">
              <a:rPr lang="en-IN" smtClean="0"/>
              <a:t>7</a:t>
            </a:fld>
            <a:endParaRPr lang="en-IN"/>
          </a:p>
        </p:txBody>
      </p:sp>
    </p:spTree>
    <p:extLst>
      <p:ext uri="{BB962C8B-B14F-4D97-AF65-F5344CB8AC3E}">
        <p14:creationId xmlns:p14="http://schemas.microsoft.com/office/powerpoint/2010/main" val="106333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4" cy="92328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Add basic Flask application code -</a:t>
            </a:r>
          </a:p>
        </p:txBody>
      </p:sp>
      <p:pic>
        <p:nvPicPr>
          <p:cNvPr id="4" name="Picture 3">
            <a:extLst>
              <a:ext uri="{FF2B5EF4-FFF2-40B4-BE49-F238E27FC236}">
                <a16:creationId xmlns:a16="http://schemas.microsoft.com/office/drawing/2014/main" id="{197F9F0A-D644-FC6C-7F2C-29848FC138BA}"/>
              </a:ext>
            </a:extLst>
          </p:cNvPr>
          <p:cNvPicPr>
            <a:picLocks noChangeAspect="1"/>
          </p:cNvPicPr>
          <p:nvPr/>
        </p:nvPicPr>
        <p:blipFill>
          <a:blip r:embed="rId4"/>
          <a:stretch>
            <a:fillRect/>
          </a:stretch>
        </p:blipFill>
        <p:spPr>
          <a:xfrm>
            <a:off x="822959" y="2853132"/>
            <a:ext cx="3753374" cy="3305636"/>
          </a:xfrm>
          <a:prstGeom prst="rect">
            <a:avLst/>
          </a:prstGeom>
        </p:spPr>
      </p:pic>
      <p:sp>
        <p:nvSpPr>
          <p:cNvPr id="5" name="Google Shape;132;p5">
            <a:extLst>
              <a:ext uri="{FF2B5EF4-FFF2-40B4-BE49-F238E27FC236}">
                <a16:creationId xmlns:a16="http://schemas.microsoft.com/office/drawing/2014/main" id="{4F372174-951D-A917-0584-E432478E27FC}"/>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EBDD1F46-4296-7F99-BAA8-37C8A5AACCF8}"/>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B6EF7837-FB03-8E78-96DA-5D4890A79966}"/>
              </a:ext>
            </a:extLst>
          </p:cNvPr>
          <p:cNvSpPr>
            <a:spLocks noGrp="1"/>
          </p:cNvSpPr>
          <p:nvPr>
            <p:ph type="sldNum" sz="quarter" idx="12"/>
          </p:nvPr>
        </p:nvSpPr>
        <p:spPr/>
        <p:txBody>
          <a:bodyPr/>
          <a:lstStyle/>
          <a:p>
            <a:fld id="{FACB5482-D393-4E2D-8FB7-B68A06B80F1E}" type="slidenum">
              <a:rPr lang="en-IN" smtClean="0"/>
              <a:t>8</a:t>
            </a:fld>
            <a:endParaRPr lang="en-IN"/>
          </a:p>
        </p:txBody>
      </p:sp>
    </p:spTree>
    <p:extLst>
      <p:ext uri="{BB962C8B-B14F-4D97-AF65-F5344CB8AC3E}">
        <p14:creationId xmlns:p14="http://schemas.microsoft.com/office/powerpoint/2010/main" val="2145955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4" cy="341627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startAt="2"/>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Flask-SQLAlchemy</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Flask-SQLAlchemy.</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Open the Terminal:</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Open the terminal in PyCharm.</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Flask-SQLAlchemy:</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Run the following command to install Flask-SQLAlchemy in virtual environment:</a:t>
            </a:r>
          </a:p>
          <a:p>
            <a:pPr marL="344488" marR="0" lvl="0" algn="just" rtl="0">
              <a:lnSpc>
                <a:spcPct val="15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pip install Flask Flask-SQLAlchemy</a:t>
            </a:r>
          </a:p>
        </p:txBody>
      </p:sp>
      <p:sp>
        <p:nvSpPr>
          <p:cNvPr id="3" name="Google Shape;132;p5">
            <a:extLst>
              <a:ext uri="{FF2B5EF4-FFF2-40B4-BE49-F238E27FC236}">
                <a16:creationId xmlns:a16="http://schemas.microsoft.com/office/drawing/2014/main" id="{A7B96255-C2E8-7A4B-34B0-A07310F37B8A}"/>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4" name="Footer Placeholder 3">
            <a:extLst>
              <a:ext uri="{FF2B5EF4-FFF2-40B4-BE49-F238E27FC236}">
                <a16:creationId xmlns:a16="http://schemas.microsoft.com/office/drawing/2014/main" id="{64FA0A03-7AAE-034B-1621-DE2B9B5B3622}"/>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1CB85072-2CBF-6BD4-DA97-762926D4E2AA}"/>
              </a:ext>
            </a:extLst>
          </p:cNvPr>
          <p:cNvSpPr>
            <a:spLocks noGrp="1"/>
          </p:cNvSpPr>
          <p:nvPr>
            <p:ph type="sldNum" sz="quarter" idx="12"/>
          </p:nvPr>
        </p:nvSpPr>
        <p:spPr/>
        <p:txBody>
          <a:bodyPr/>
          <a:lstStyle/>
          <a:p>
            <a:fld id="{FACB5482-D393-4E2D-8FB7-B68A06B80F1E}" type="slidenum">
              <a:rPr lang="en-IN" smtClean="0"/>
              <a:t>9</a:t>
            </a:fld>
            <a:endParaRPr lang="en-IN"/>
          </a:p>
        </p:txBody>
      </p:sp>
    </p:spTree>
    <p:extLst>
      <p:ext uri="{BB962C8B-B14F-4D97-AF65-F5344CB8AC3E}">
        <p14:creationId xmlns:p14="http://schemas.microsoft.com/office/powerpoint/2010/main" val="2679531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4" cy="133878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startAt="3"/>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Configure the Flask Application</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the SQLAlchemy Database URI in the configuration.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Modify “app.py” to include the SQLAlchemy configuration.</a:t>
            </a:r>
          </a:p>
        </p:txBody>
      </p:sp>
      <p:pic>
        <p:nvPicPr>
          <p:cNvPr id="4" name="Picture 3">
            <a:extLst>
              <a:ext uri="{FF2B5EF4-FFF2-40B4-BE49-F238E27FC236}">
                <a16:creationId xmlns:a16="http://schemas.microsoft.com/office/drawing/2014/main" id="{BEC768E1-38B5-1B8F-A7DE-AC449D1AA36E}"/>
              </a:ext>
            </a:extLst>
          </p:cNvPr>
          <p:cNvPicPr>
            <a:picLocks noChangeAspect="1"/>
          </p:cNvPicPr>
          <p:nvPr/>
        </p:nvPicPr>
        <p:blipFill>
          <a:blip r:embed="rId4"/>
          <a:stretch>
            <a:fillRect/>
          </a:stretch>
        </p:blipFill>
        <p:spPr>
          <a:xfrm>
            <a:off x="822959" y="3268631"/>
            <a:ext cx="6408552" cy="3497929"/>
          </a:xfrm>
          <a:prstGeom prst="rect">
            <a:avLst/>
          </a:prstGeom>
        </p:spPr>
      </p:pic>
      <p:sp>
        <p:nvSpPr>
          <p:cNvPr id="5" name="Rectangle 4">
            <a:extLst>
              <a:ext uri="{FF2B5EF4-FFF2-40B4-BE49-F238E27FC236}">
                <a16:creationId xmlns:a16="http://schemas.microsoft.com/office/drawing/2014/main" id="{A95770DF-B8F0-106F-333B-B1B38828CCFD}"/>
              </a:ext>
            </a:extLst>
          </p:cNvPr>
          <p:cNvSpPr/>
          <p:nvPr/>
        </p:nvSpPr>
        <p:spPr>
          <a:xfrm>
            <a:off x="1375476" y="4378960"/>
            <a:ext cx="5963738" cy="558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Google Shape;132;p5">
            <a:extLst>
              <a:ext uri="{FF2B5EF4-FFF2-40B4-BE49-F238E27FC236}">
                <a16:creationId xmlns:a16="http://schemas.microsoft.com/office/drawing/2014/main" id="{5A747C11-0F44-E598-9A48-942490BDFC6F}"/>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756CDB7C-FE11-F45F-1D09-3AAA742DC61C}"/>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BFCA5A2E-E541-3E27-EB7B-E071DA655122}"/>
              </a:ext>
            </a:extLst>
          </p:cNvPr>
          <p:cNvSpPr>
            <a:spLocks noGrp="1"/>
          </p:cNvSpPr>
          <p:nvPr>
            <p:ph type="sldNum" sz="quarter" idx="12"/>
          </p:nvPr>
        </p:nvSpPr>
        <p:spPr/>
        <p:txBody>
          <a:bodyPr/>
          <a:lstStyle/>
          <a:p>
            <a:fld id="{FACB5482-D393-4E2D-8FB7-B68A06B80F1E}" type="slidenum">
              <a:rPr lang="en-IN" smtClean="0"/>
              <a:t>10</a:t>
            </a:fld>
            <a:endParaRPr lang="en-IN"/>
          </a:p>
        </p:txBody>
      </p:sp>
    </p:spTree>
    <p:extLst>
      <p:ext uri="{BB962C8B-B14F-4D97-AF65-F5344CB8AC3E}">
        <p14:creationId xmlns:p14="http://schemas.microsoft.com/office/powerpoint/2010/main" val="369822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4" cy="92328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startAt="4"/>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SQLAlchemy DB Instance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Initialize the SQLAlchemy object with the Flask app.</a:t>
            </a:r>
          </a:p>
        </p:txBody>
      </p:sp>
      <p:pic>
        <p:nvPicPr>
          <p:cNvPr id="3" name="Google Shape;114;p2" descr="Information with solid fill">
            <a:extLst>
              <a:ext uri="{FF2B5EF4-FFF2-40B4-BE49-F238E27FC236}">
                <a16:creationId xmlns:a16="http://schemas.microsoft.com/office/drawing/2014/main" id="{491ECFAF-C498-B70B-8C57-30B432BB0535}"/>
              </a:ext>
            </a:extLst>
          </p:cNvPr>
          <p:cNvPicPr preferRelativeResize="0"/>
          <p:nvPr/>
        </p:nvPicPr>
        <p:blipFill rotWithShape="1">
          <a:blip r:embed="rId4">
            <a:alphaModFix/>
          </a:blip>
          <a:srcRect/>
          <a:stretch/>
        </p:blipFill>
        <p:spPr>
          <a:xfrm>
            <a:off x="310652" y="5321220"/>
            <a:ext cx="506453" cy="506453"/>
          </a:xfrm>
          <a:prstGeom prst="rect">
            <a:avLst/>
          </a:prstGeom>
          <a:noFill/>
          <a:ln>
            <a:noFill/>
          </a:ln>
        </p:spPr>
      </p:pic>
      <p:sp>
        <p:nvSpPr>
          <p:cNvPr id="8" name="TextBox 7">
            <a:extLst>
              <a:ext uri="{FF2B5EF4-FFF2-40B4-BE49-F238E27FC236}">
                <a16:creationId xmlns:a16="http://schemas.microsoft.com/office/drawing/2014/main" id="{BA64A68D-DADA-E104-4FF4-9FA03A51A4F2}"/>
              </a:ext>
            </a:extLst>
          </p:cNvPr>
          <p:cNvSpPr txBox="1"/>
          <p:nvPr/>
        </p:nvSpPr>
        <p:spPr>
          <a:xfrm>
            <a:off x="817105" y="5294884"/>
            <a:ext cx="10917694" cy="646331"/>
          </a:xfrm>
          <a:prstGeom prst="rect">
            <a:avLst/>
          </a:prstGeom>
          <a:noFill/>
        </p:spPr>
        <p:txBody>
          <a:bodyPr wrap="square">
            <a:spAutoFit/>
          </a:bodyPr>
          <a:lstStyle/>
          <a:p>
            <a:pPr algn="just"/>
            <a:r>
              <a:rPr lang="en-US" sz="1800" dirty="0">
                <a:latin typeface="Calibri" panose="020F0502020204030204" pitchFamily="34" charset="0"/>
                <a:ea typeface="Calibri" panose="020F0502020204030204" pitchFamily="34" charset="0"/>
                <a:cs typeface="Calibri" panose="020F0502020204030204" pitchFamily="34" charset="0"/>
              </a:rPr>
              <a:t>No additional code is needed. The SQLAlchemy instance </a:t>
            </a:r>
            <a:r>
              <a:rPr lang="en-US" sz="1800" dirty="0" err="1">
                <a:latin typeface="Batang" panose="02030600000101010101" pitchFamily="18" charset="-127"/>
                <a:ea typeface="Batang" panose="02030600000101010101" pitchFamily="18" charset="-127"/>
                <a:cs typeface="Calibri" panose="020F0502020204030204" pitchFamily="34" charset="0"/>
              </a:rPr>
              <a:t>db</a:t>
            </a:r>
            <a:r>
              <a:rPr lang="en-US" sz="1800" dirty="0">
                <a:latin typeface="Calibri" panose="020F0502020204030204" pitchFamily="34" charset="0"/>
                <a:ea typeface="Calibri" panose="020F0502020204030204" pitchFamily="34" charset="0"/>
                <a:cs typeface="Calibri" panose="020F0502020204030204" pitchFamily="34" charset="0"/>
              </a:rPr>
              <a:t> already created and initialized with the Flask app in the previous step.</a:t>
            </a:r>
          </a:p>
        </p:txBody>
      </p:sp>
      <p:sp>
        <p:nvSpPr>
          <p:cNvPr id="9" name="Google Shape;132;p5">
            <a:extLst>
              <a:ext uri="{FF2B5EF4-FFF2-40B4-BE49-F238E27FC236}">
                <a16:creationId xmlns:a16="http://schemas.microsoft.com/office/drawing/2014/main" id="{9047576F-A323-2C9D-8756-BCA7A15AAF67}"/>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4" name="Footer Placeholder 3">
            <a:extLst>
              <a:ext uri="{FF2B5EF4-FFF2-40B4-BE49-F238E27FC236}">
                <a16:creationId xmlns:a16="http://schemas.microsoft.com/office/drawing/2014/main" id="{B3065DBC-04B2-0B93-5F56-45544025C5EF}"/>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F9A10772-5DF7-0401-836D-088293854568}"/>
              </a:ext>
            </a:extLst>
          </p:cNvPr>
          <p:cNvSpPr>
            <a:spLocks noGrp="1"/>
          </p:cNvSpPr>
          <p:nvPr>
            <p:ph type="sldNum" sz="quarter" idx="12"/>
          </p:nvPr>
        </p:nvSpPr>
        <p:spPr/>
        <p:txBody>
          <a:bodyPr/>
          <a:lstStyle/>
          <a:p>
            <a:fld id="{FACB5482-D393-4E2D-8FB7-B68A06B80F1E}" type="slidenum">
              <a:rPr lang="en-IN" smtClean="0"/>
              <a:t>11</a:t>
            </a:fld>
            <a:endParaRPr lang="en-IN"/>
          </a:p>
        </p:txBody>
      </p:sp>
    </p:spTree>
    <p:extLst>
      <p:ext uri="{BB962C8B-B14F-4D97-AF65-F5344CB8AC3E}">
        <p14:creationId xmlns:p14="http://schemas.microsoft.com/office/powerpoint/2010/main" val="23864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5" name="Picture 4">
            <a:extLst>
              <a:ext uri="{FF2B5EF4-FFF2-40B4-BE49-F238E27FC236}">
                <a16:creationId xmlns:a16="http://schemas.microsoft.com/office/drawing/2014/main" id="{B6D6F976-18AA-413E-3F31-61FE6EE886AA}"/>
              </a:ext>
            </a:extLst>
          </p:cNvPr>
          <p:cNvPicPr>
            <a:picLocks noChangeAspect="1"/>
          </p:cNvPicPr>
          <p:nvPr/>
        </p:nvPicPr>
        <p:blipFill>
          <a:blip r:embed="rId3"/>
          <a:stretch>
            <a:fillRect/>
          </a:stretch>
        </p:blipFill>
        <p:spPr>
          <a:xfrm>
            <a:off x="5908607" y="2011679"/>
            <a:ext cx="5978594" cy="4734213"/>
          </a:xfrm>
          <a:prstGeom prst="rect">
            <a:avLst/>
          </a:prstGeom>
        </p:spPr>
      </p:pic>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4">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4628904" cy="133878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startAt="5"/>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Define Models</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To define the database models (tables) update “app.py” and create a user model.</a:t>
            </a:r>
          </a:p>
        </p:txBody>
      </p:sp>
      <p:sp>
        <p:nvSpPr>
          <p:cNvPr id="6" name="Rectangle 5">
            <a:extLst>
              <a:ext uri="{FF2B5EF4-FFF2-40B4-BE49-F238E27FC236}">
                <a16:creationId xmlns:a16="http://schemas.microsoft.com/office/drawing/2014/main" id="{3B2400AC-6A4D-C52F-88F6-21CAF110EF2D}"/>
              </a:ext>
            </a:extLst>
          </p:cNvPr>
          <p:cNvSpPr/>
          <p:nvPr/>
        </p:nvSpPr>
        <p:spPr>
          <a:xfrm>
            <a:off x="6410960" y="3759200"/>
            <a:ext cx="5405120" cy="1564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Google Shape;132;p5">
            <a:extLst>
              <a:ext uri="{FF2B5EF4-FFF2-40B4-BE49-F238E27FC236}">
                <a16:creationId xmlns:a16="http://schemas.microsoft.com/office/drawing/2014/main" id="{C9F8C6C7-2AEB-373A-CD3C-CA1EC03EDFF6}"/>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908A7F92-8D46-3F2A-9269-279C4DC5D4C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F0A0697-1CF6-DBAC-A745-696F8CBAA642}"/>
              </a:ext>
            </a:extLst>
          </p:cNvPr>
          <p:cNvSpPr>
            <a:spLocks noGrp="1"/>
          </p:cNvSpPr>
          <p:nvPr>
            <p:ph type="sldNum" sz="quarter" idx="12"/>
          </p:nvPr>
        </p:nvSpPr>
        <p:spPr/>
        <p:txBody>
          <a:bodyPr/>
          <a:lstStyle/>
          <a:p>
            <a:fld id="{FACB5482-D393-4E2D-8FB7-B68A06B80F1E}" type="slidenum">
              <a:rPr lang="en-IN" smtClean="0"/>
              <a:t>12</a:t>
            </a:fld>
            <a:endParaRPr lang="en-IN"/>
          </a:p>
        </p:txBody>
      </p:sp>
    </p:spTree>
    <p:extLst>
      <p:ext uri="{BB962C8B-B14F-4D97-AF65-F5344CB8AC3E}">
        <p14:creationId xmlns:p14="http://schemas.microsoft.com/office/powerpoint/2010/main" val="1651618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4" name="Picture 3">
            <a:extLst>
              <a:ext uri="{FF2B5EF4-FFF2-40B4-BE49-F238E27FC236}">
                <a16:creationId xmlns:a16="http://schemas.microsoft.com/office/drawing/2014/main" id="{7C96F477-DC00-2E67-ED87-A6430048D174}"/>
              </a:ext>
            </a:extLst>
          </p:cNvPr>
          <p:cNvPicPr>
            <a:picLocks noChangeAspect="1"/>
          </p:cNvPicPr>
          <p:nvPr/>
        </p:nvPicPr>
        <p:blipFill>
          <a:blip r:embed="rId3"/>
          <a:stretch>
            <a:fillRect/>
          </a:stretch>
        </p:blipFill>
        <p:spPr>
          <a:xfrm>
            <a:off x="6449362" y="1929844"/>
            <a:ext cx="5533887" cy="4751644"/>
          </a:xfrm>
          <a:prstGeom prst="rect">
            <a:avLst/>
          </a:prstGeom>
        </p:spPr>
      </p:pic>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4">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5004824" cy="175428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startAt="6"/>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Database</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Update “app.py” to create the database and tables by calling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db.create_all</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within the application context.</a:t>
            </a:r>
          </a:p>
        </p:txBody>
      </p:sp>
      <p:sp>
        <p:nvSpPr>
          <p:cNvPr id="6" name="Rectangle 5">
            <a:extLst>
              <a:ext uri="{FF2B5EF4-FFF2-40B4-BE49-F238E27FC236}">
                <a16:creationId xmlns:a16="http://schemas.microsoft.com/office/drawing/2014/main" id="{3B2400AC-6A4D-C52F-88F6-21CAF110EF2D}"/>
              </a:ext>
            </a:extLst>
          </p:cNvPr>
          <p:cNvSpPr/>
          <p:nvPr/>
        </p:nvSpPr>
        <p:spPr>
          <a:xfrm>
            <a:off x="7280910" y="6301740"/>
            <a:ext cx="1710690" cy="1727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Google Shape;132;p5">
            <a:extLst>
              <a:ext uri="{FF2B5EF4-FFF2-40B4-BE49-F238E27FC236}">
                <a16:creationId xmlns:a16="http://schemas.microsoft.com/office/drawing/2014/main" id="{AF2A995E-A3B7-1E98-DBFF-126D2C94BE09}"/>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702DB9D7-E241-87F5-69A2-121CABC02243}"/>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9774F9B4-84CD-54A1-40BB-A62B2B7A89E8}"/>
              </a:ext>
            </a:extLst>
          </p:cNvPr>
          <p:cNvSpPr>
            <a:spLocks noGrp="1"/>
          </p:cNvSpPr>
          <p:nvPr>
            <p:ph type="sldNum" sz="quarter" idx="12"/>
          </p:nvPr>
        </p:nvSpPr>
        <p:spPr/>
        <p:txBody>
          <a:bodyPr/>
          <a:lstStyle/>
          <a:p>
            <a:fld id="{FACB5482-D393-4E2D-8FB7-B68A06B80F1E}" type="slidenum">
              <a:rPr lang="en-IN" smtClean="0"/>
              <a:t>13</a:t>
            </a:fld>
            <a:endParaRPr lang="en-IN"/>
          </a:p>
        </p:txBody>
      </p:sp>
    </p:spTree>
    <p:extLst>
      <p:ext uri="{BB962C8B-B14F-4D97-AF65-F5344CB8AC3E}">
        <p14:creationId xmlns:p14="http://schemas.microsoft.com/office/powerpoint/2010/main" val="2897709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341627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Run</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Click the green play button in the upper right corner of PyCharm to run the script.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Alternatively, you can right-click app.py and select Run 'app’.</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Or execute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python app.py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 terminal.</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Verify DB</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Navigate to </a:t>
            </a:r>
            <a:r>
              <a:rPr lang="en-US" sz="1800" u="sng"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http://127.0.0.1:5000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to see the Flask application is running.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SQLite database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test.db</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will be created in project directory under the “instance” folder.</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9C683DAC-E52A-1AB8-1E0B-EB44C4D3478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B8E61B14-277A-6704-075F-87CA0A71BA9B}"/>
              </a:ext>
            </a:extLst>
          </p:cNvPr>
          <p:cNvSpPr>
            <a:spLocks noGrp="1"/>
          </p:cNvSpPr>
          <p:nvPr>
            <p:ph type="sldNum" sz="quarter" idx="12"/>
          </p:nvPr>
        </p:nvSpPr>
        <p:spPr/>
        <p:txBody>
          <a:bodyPr/>
          <a:lstStyle/>
          <a:p>
            <a:fld id="{FACB5482-D393-4E2D-8FB7-B68A06B80F1E}" type="slidenum">
              <a:rPr lang="en-IN" smtClean="0"/>
              <a:t>14</a:t>
            </a:fld>
            <a:endParaRPr lang="en-IN"/>
          </a:p>
        </p:txBody>
      </p:sp>
    </p:spTree>
    <p:extLst>
      <p:ext uri="{BB962C8B-B14F-4D97-AF65-F5344CB8AC3E}">
        <p14:creationId xmlns:p14="http://schemas.microsoft.com/office/powerpoint/2010/main" val="3752258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DB Metadata</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8" name="Picture 7">
            <a:extLst>
              <a:ext uri="{FF2B5EF4-FFF2-40B4-BE49-F238E27FC236}">
                <a16:creationId xmlns:a16="http://schemas.microsoft.com/office/drawing/2014/main" id="{494F2574-6FAA-A67A-81C3-FD3F603AEEB5}"/>
              </a:ext>
            </a:extLst>
          </p:cNvPr>
          <p:cNvPicPr>
            <a:picLocks noChangeAspect="1"/>
          </p:cNvPicPr>
          <p:nvPr/>
        </p:nvPicPr>
        <p:blipFill>
          <a:blip r:embed="rId4"/>
          <a:stretch>
            <a:fillRect/>
          </a:stretch>
        </p:blipFill>
        <p:spPr>
          <a:xfrm>
            <a:off x="822959" y="2556563"/>
            <a:ext cx="8992855" cy="2800741"/>
          </a:xfrm>
          <a:prstGeom prst="rect">
            <a:avLst/>
          </a:prstGeom>
        </p:spPr>
      </p:pic>
      <p:sp>
        <p:nvSpPr>
          <p:cNvPr id="11" name="Google Shape;132;p5">
            <a:extLst>
              <a:ext uri="{FF2B5EF4-FFF2-40B4-BE49-F238E27FC236}">
                <a16:creationId xmlns:a16="http://schemas.microsoft.com/office/drawing/2014/main" id="{4CB842B6-F854-1A87-AB01-7D735835F821}"/>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BF52B989-EFC3-C787-0162-ACA1FEDD1C7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33861DAA-ABF1-F658-4FFD-FFBDF2496847}"/>
              </a:ext>
            </a:extLst>
          </p:cNvPr>
          <p:cNvSpPr>
            <a:spLocks noGrp="1"/>
          </p:cNvSpPr>
          <p:nvPr>
            <p:ph type="sldNum" sz="quarter" idx="12"/>
          </p:nvPr>
        </p:nvSpPr>
        <p:spPr/>
        <p:txBody>
          <a:bodyPr/>
          <a:lstStyle/>
          <a:p>
            <a:fld id="{FACB5482-D393-4E2D-8FB7-B68A06B80F1E}" type="slidenum">
              <a:rPr lang="en-IN" smtClean="0"/>
              <a:t>15</a:t>
            </a:fld>
            <a:endParaRPr lang="en-IN"/>
          </a:p>
        </p:txBody>
      </p:sp>
    </p:spTree>
    <p:extLst>
      <p:ext uri="{BB962C8B-B14F-4D97-AF65-F5344CB8AC3E}">
        <p14:creationId xmlns:p14="http://schemas.microsoft.com/office/powerpoint/2010/main" val="2811869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an SQLAlchemy DB instance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4662775"/>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p>
          <a:p>
            <a:pPr marR="0" lvl="0" algn="just" rtl="0">
              <a:lnSpc>
                <a:spcPct val="150000"/>
              </a:lnSpc>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Database URI: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SQLALCHEMY_DATABASE_URI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configuration key is used to specify the database URL. Here, we used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sqlite:///test.db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to create an SQLite database file named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test.db</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Model Definition: Models in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are defined as Python classes, making the codebase more organized and easier to manage.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Application Context: Certain operations like creating the database need to be executed within the Flask application context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app.app_context</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 name="Google Shape;132;p5">
            <a:extLst>
              <a:ext uri="{FF2B5EF4-FFF2-40B4-BE49-F238E27FC236}">
                <a16:creationId xmlns:a16="http://schemas.microsoft.com/office/drawing/2014/main" id="{4CB842B6-F854-1A87-AB01-7D735835F821}"/>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SQLAlchemy DB instance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AF851F5F-8DFC-C68D-3EA6-74F606E711C5}"/>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900B305-DAFC-8042-7E19-C56CFC01BA8E}"/>
              </a:ext>
            </a:extLst>
          </p:cNvPr>
          <p:cNvSpPr>
            <a:spLocks noGrp="1"/>
          </p:cNvSpPr>
          <p:nvPr>
            <p:ph type="sldNum" sz="quarter" idx="12"/>
          </p:nvPr>
        </p:nvSpPr>
        <p:spPr/>
        <p:txBody>
          <a:bodyPr/>
          <a:lstStyle/>
          <a:p>
            <a:fld id="{FACB5482-D393-4E2D-8FB7-B68A06B80F1E}" type="slidenum">
              <a:rPr lang="en-IN" smtClean="0"/>
              <a:t>16</a:t>
            </a:fld>
            <a:endParaRPr lang="en-IN"/>
          </a:p>
        </p:txBody>
      </p:sp>
    </p:spTree>
    <p:extLst>
      <p:ext uri="{BB962C8B-B14F-4D97-AF65-F5344CB8AC3E}">
        <p14:creationId xmlns:p14="http://schemas.microsoft.com/office/powerpoint/2010/main" val="2338078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9D35216-8AEC-BFF6-B755-BBC85A45C246}"/>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215C5AE8-936F-5271-C636-8F78431CEE98}"/>
              </a:ext>
            </a:extLst>
          </p:cNvPr>
          <p:cNvSpPr>
            <a:spLocks noGrp="1"/>
          </p:cNvSpPr>
          <p:nvPr>
            <p:ph type="sldNum" sz="quarter" idx="12"/>
          </p:nvPr>
        </p:nvSpPr>
        <p:spPr/>
        <p:txBody>
          <a:bodyPr/>
          <a:lstStyle/>
          <a:p>
            <a:fld id="{FACB5482-D393-4E2D-8FB7-B68A06B80F1E}" type="slidenum">
              <a:rPr lang="en-IN" smtClean="0"/>
              <a:t>17</a:t>
            </a:fld>
            <a:endParaRPr lang="en-IN"/>
          </a:p>
        </p:txBody>
      </p:sp>
      <p:sp>
        <p:nvSpPr>
          <p:cNvPr id="6" name="Google Shape;126;p4">
            <a:extLst>
              <a:ext uri="{FF2B5EF4-FFF2-40B4-BE49-F238E27FC236}">
                <a16:creationId xmlns:a16="http://schemas.microsoft.com/office/drawing/2014/main" id="{87454767-90D5-3B36-D17F-FDB632F211BB}"/>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2"/>
            </a:pPr>
            <a:r>
              <a:rPr lang="en-US" sz="4000">
                <a:solidFill>
                  <a:srgbClr val="000000"/>
                </a:solidFill>
                <a:latin typeface="Calibri"/>
                <a:ea typeface="Calibri"/>
                <a:cs typeface="Calibri"/>
                <a:sym typeface="Calibri"/>
              </a:rPr>
              <a:t>Creating a Relational Category Model</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58367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Definition</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383177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 a relational database, a category model can represent a hierarchical structure where each category can have multiple items.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 relational category model typically consists of two main components:</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Category Model: Represents a category which can contain multiple items.</a:t>
            </a:r>
          </a:p>
          <a:p>
            <a:pPr marL="630238" marR="0" lvl="0" indent="-285750" algn="just" rtl="0">
              <a:lnSpc>
                <a:spcPct val="150000"/>
              </a:lnSpc>
              <a:spcBef>
                <a:spcPts val="0"/>
              </a:spcBef>
              <a:spcAft>
                <a:spcPts val="0"/>
              </a:spcAf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Item Model: Represents an item that belongs to a category.</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relationship between these models is usually one-to-many, where one category can have multiple items, but each item belongs to one category.</a:t>
            </a:r>
          </a:p>
        </p:txBody>
      </p:sp>
      <p:sp>
        <p:nvSpPr>
          <p:cNvPr id="3" name="Footer Placeholder 2">
            <a:extLst>
              <a:ext uri="{FF2B5EF4-FFF2-40B4-BE49-F238E27FC236}">
                <a16:creationId xmlns:a16="http://schemas.microsoft.com/office/drawing/2014/main" id="{DAAABAE1-E7FB-10BF-AD4A-B88BD9FA034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5E3BCBFD-C975-04E7-CB6F-E36BB201D43E}"/>
              </a:ext>
            </a:extLst>
          </p:cNvPr>
          <p:cNvSpPr>
            <a:spLocks noGrp="1"/>
          </p:cNvSpPr>
          <p:nvPr>
            <p:ph type="sldNum" sz="quarter" idx="12"/>
          </p:nvPr>
        </p:nvSpPr>
        <p:spPr/>
        <p:txBody>
          <a:bodyPr/>
          <a:lstStyle/>
          <a:p>
            <a:fld id="{FACB5482-D393-4E2D-8FB7-B68A06B80F1E}" type="slidenum">
              <a:rPr lang="en-IN" smtClean="0"/>
              <a:t>18</a:t>
            </a:fld>
            <a:endParaRPr lang="en-IN"/>
          </a:p>
        </p:txBody>
      </p:sp>
    </p:spTree>
    <p:extLst>
      <p:ext uri="{BB962C8B-B14F-4D97-AF65-F5344CB8AC3E}">
        <p14:creationId xmlns:p14="http://schemas.microsoft.com/office/powerpoint/2010/main" val="58015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4801274"/>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Let’s define a “Category model” and relate it to an “Item model”, establishing a one-to-many relationship where a category can have multiple items.</a:t>
            </a:r>
          </a:p>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Begin by setting up a basic Flask application.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Flask-SQLAlchemy: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Flask-SQLAlchemy.</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Configure the Flask Application: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Set the SQLAlchemy Database URI in the configuration.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SQLAlchemy DB Instance: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Initialize the SQLAlchemy object with the Flask app.</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Define Models: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Define the Category and Item models.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Database: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database and tables.</a:t>
            </a:r>
          </a:p>
        </p:txBody>
      </p:sp>
      <p:sp>
        <p:nvSpPr>
          <p:cNvPr id="3" name="Footer Placeholder 2">
            <a:extLst>
              <a:ext uri="{FF2B5EF4-FFF2-40B4-BE49-F238E27FC236}">
                <a16:creationId xmlns:a16="http://schemas.microsoft.com/office/drawing/2014/main" id="{5BA3B427-5F91-D975-4776-B54EF6BCF8F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6DB42EE-9B54-5D03-CABD-FAB513681108}"/>
              </a:ext>
            </a:extLst>
          </p:cNvPr>
          <p:cNvSpPr>
            <a:spLocks noGrp="1"/>
          </p:cNvSpPr>
          <p:nvPr>
            <p:ph type="sldNum" sz="quarter" idx="12"/>
          </p:nvPr>
        </p:nvSpPr>
        <p:spPr/>
        <p:txBody>
          <a:bodyPr/>
          <a:lstStyle/>
          <a:p>
            <a:fld id="{FACB5482-D393-4E2D-8FB7-B68A06B80F1E}" type="slidenum">
              <a:rPr lang="en-IN" smtClean="0"/>
              <a:t>19</a:t>
            </a:fld>
            <a:endParaRPr lang="en-IN"/>
          </a:p>
        </p:txBody>
      </p:sp>
    </p:spTree>
    <p:extLst>
      <p:ext uri="{BB962C8B-B14F-4D97-AF65-F5344CB8AC3E}">
        <p14:creationId xmlns:p14="http://schemas.microsoft.com/office/powerpoint/2010/main" val="2126401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383177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Begin by setting up a basic Flask application.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Flask-SQLAlchemy: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Flask-SQLAlchemy.</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Configure the Flask Application: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Set the SQLAlchemy Database URI in the configuration.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the SQLAlchemy DB Instance: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Initialize the SQLAlchemy object with the Flask app.</a:t>
            </a:r>
          </a:p>
          <a:p>
            <a:pPr marR="0" lvl="0" algn="just" rtl="0">
              <a:lnSpc>
                <a:spcPct val="20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Complete the above four steps, these are like the first four steps of previous example of </a:t>
            </a:r>
            <a:r>
              <a:rPr lang="en-US" sz="1800" dirty="0">
                <a:solidFill>
                  <a:schemeClr val="dk1"/>
                </a:solidFill>
                <a:latin typeface="Calibri"/>
                <a:ea typeface="Calibri"/>
                <a:cs typeface="Calibri"/>
                <a:sym typeface="Calibri"/>
              </a:rPr>
              <a:t>SQLAlchemy DB instance.</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3" name="Google Shape;108;p2">
            <a:extLst>
              <a:ext uri="{FF2B5EF4-FFF2-40B4-BE49-F238E27FC236}">
                <a16:creationId xmlns:a16="http://schemas.microsoft.com/office/drawing/2014/main" id="{DACFCDEC-5DE1-2F1C-D398-11630F074844}"/>
              </a:ext>
            </a:extLst>
          </p:cNvPr>
          <p:cNvPicPr preferRelativeResize="0"/>
          <p:nvPr/>
        </p:nvPicPr>
        <p:blipFill rotWithShape="1">
          <a:blip r:embed="rId4">
            <a:alphaModFix/>
          </a:blip>
          <a:srcRect/>
          <a:stretch/>
        </p:blipFill>
        <p:spPr>
          <a:xfrm>
            <a:off x="346794" y="5267931"/>
            <a:ext cx="434169" cy="405125"/>
          </a:xfrm>
          <a:prstGeom prst="rect">
            <a:avLst/>
          </a:prstGeom>
          <a:noFill/>
          <a:ln>
            <a:noFill/>
          </a:ln>
        </p:spPr>
      </p:pic>
      <p:sp>
        <p:nvSpPr>
          <p:cNvPr id="4" name="Footer Placeholder 3">
            <a:extLst>
              <a:ext uri="{FF2B5EF4-FFF2-40B4-BE49-F238E27FC236}">
                <a16:creationId xmlns:a16="http://schemas.microsoft.com/office/drawing/2014/main" id="{463A9B03-00A5-17CF-FB9F-BE9637F688D2}"/>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45C39E2E-13E8-E481-8025-CBFF21338F66}"/>
              </a:ext>
            </a:extLst>
          </p:cNvPr>
          <p:cNvSpPr>
            <a:spLocks noGrp="1"/>
          </p:cNvSpPr>
          <p:nvPr>
            <p:ph type="sldNum" sz="quarter" idx="12"/>
          </p:nvPr>
        </p:nvSpPr>
        <p:spPr/>
        <p:txBody>
          <a:bodyPr/>
          <a:lstStyle/>
          <a:p>
            <a:fld id="{FACB5482-D393-4E2D-8FB7-B68A06B80F1E}" type="slidenum">
              <a:rPr lang="en-IN" smtClean="0"/>
              <a:t>20</a:t>
            </a:fld>
            <a:endParaRPr lang="en-IN"/>
          </a:p>
        </p:txBody>
      </p:sp>
    </p:spTree>
    <p:extLst>
      <p:ext uri="{BB962C8B-B14F-4D97-AF65-F5344CB8AC3E}">
        <p14:creationId xmlns:p14="http://schemas.microsoft.com/office/powerpoint/2010/main" val="3698936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5685545"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5. Define Models</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Update “app.py” to define “Category” and “Item Models”.</a:t>
            </a:r>
          </a:p>
        </p:txBody>
      </p:sp>
      <p:pic>
        <p:nvPicPr>
          <p:cNvPr id="8" name="Picture 7">
            <a:extLst>
              <a:ext uri="{FF2B5EF4-FFF2-40B4-BE49-F238E27FC236}">
                <a16:creationId xmlns:a16="http://schemas.microsoft.com/office/drawing/2014/main" id="{88A77FD0-1B3F-685E-B67E-1B381C9BC519}"/>
              </a:ext>
            </a:extLst>
          </p:cNvPr>
          <p:cNvPicPr>
            <a:picLocks noChangeAspect="1"/>
          </p:cNvPicPr>
          <p:nvPr/>
        </p:nvPicPr>
        <p:blipFill>
          <a:blip r:embed="rId4"/>
          <a:stretch>
            <a:fillRect/>
          </a:stretch>
        </p:blipFill>
        <p:spPr>
          <a:xfrm>
            <a:off x="715255" y="2856869"/>
            <a:ext cx="8938016" cy="3844938"/>
          </a:xfrm>
          <a:prstGeom prst="rect">
            <a:avLst/>
          </a:prstGeom>
        </p:spPr>
      </p:pic>
      <p:sp>
        <p:nvSpPr>
          <p:cNvPr id="3" name="Footer Placeholder 2">
            <a:extLst>
              <a:ext uri="{FF2B5EF4-FFF2-40B4-BE49-F238E27FC236}">
                <a16:creationId xmlns:a16="http://schemas.microsoft.com/office/drawing/2014/main" id="{03F9FE48-1CFD-7E77-1A32-60BC2F87C053}"/>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E0AE3DD-BC87-85C7-BA8C-844086EEDE45}"/>
              </a:ext>
            </a:extLst>
          </p:cNvPr>
          <p:cNvSpPr>
            <a:spLocks noGrp="1"/>
          </p:cNvSpPr>
          <p:nvPr>
            <p:ph type="sldNum" sz="quarter" idx="12"/>
          </p:nvPr>
        </p:nvSpPr>
        <p:spPr/>
        <p:txBody>
          <a:bodyPr/>
          <a:lstStyle/>
          <a:p>
            <a:fld id="{FACB5482-D393-4E2D-8FB7-B68A06B80F1E}" type="slidenum">
              <a:rPr lang="en-IN" smtClean="0"/>
              <a:t>21</a:t>
            </a:fld>
            <a:endParaRPr lang="en-IN"/>
          </a:p>
        </p:txBody>
      </p:sp>
    </p:spTree>
    <p:extLst>
      <p:ext uri="{BB962C8B-B14F-4D97-AF65-F5344CB8AC3E}">
        <p14:creationId xmlns:p14="http://schemas.microsoft.com/office/powerpoint/2010/main" val="3587147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0765545"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6. Create database</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Ensure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db.create_all</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is called within the application context to create the database and tables.</a:t>
            </a:r>
          </a:p>
        </p:txBody>
      </p:sp>
      <p:pic>
        <p:nvPicPr>
          <p:cNvPr id="4" name="Picture 3">
            <a:extLst>
              <a:ext uri="{FF2B5EF4-FFF2-40B4-BE49-F238E27FC236}">
                <a16:creationId xmlns:a16="http://schemas.microsoft.com/office/drawing/2014/main" id="{9C76EC70-5F7C-866A-B00E-FB65B1B7BB2C}"/>
              </a:ext>
            </a:extLst>
          </p:cNvPr>
          <p:cNvPicPr>
            <a:picLocks noChangeAspect="1"/>
          </p:cNvPicPr>
          <p:nvPr/>
        </p:nvPicPr>
        <p:blipFill>
          <a:blip r:embed="rId4"/>
          <a:stretch>
            <a:fillRect/>
          </a:stretch>
        </p:blipFill>
        <p:spPr>
          <a:xfrm>
            <a:off x="715255" y="2980260"/>
            <a:ext cx="4811785" cy="2524477"/>
          </a:xfrm>
          <a:prstGeom prst="rect">
            <a:avLst/>
          </a:prstGeom>
        </p:spPr>
      </p:pic>
      <p:sp>
        <p:nvSpPr>
          <p:cNvPr id="3" name="Footer Placeholder 2">
            <a:extLst>
              <a:ext uri="{FF2B5EF4-FFF2-40B4-BE49-F238E27FC236}">
                <a16:creationId xmlns:a16="http://schemas.microsoft.com/office/drawing/2014/main" id="{D814ED25-C8BE-88AF-E338-48B827383909}"/>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94563D36-664D-2886-E04D-C5C54DF284DE}"/>
              </a:ext>
            </a:extLst>
          </p:cNvPr>
          <p:cNvSpPr>
            <a:spLocks noGrp="1"/>
          </p:cNvSpPr>
          <p:nvPr>
            <p:ph type="sldNum" sz="quarter" idx="12"/>
          </p:nvPr>
        </p:nvSpPr>
        <p:spPr/>
        <p:txBody>
          <a:bodyPr/>
          <a:lstStyle/>
          <a:p>
            <a:fld id="{FACB5482-D393-4E2D-8FB7-B68A06B80F1E}" type="slidenum">
              <a:rPr lang="en-IN" smtClean="0"/>
              <a:t>22</a:t>
            </a:fld>
            <a:endParaRPr lang="en-IN"/>
          </a:p>
        </p:txBody>
      </p:sp>
    </p:spTree>
    <p:extLst>
      <p:ext uri="{BB962C8B-B14F-4D97-AF65-F5344CB8AC3E}">
        <p14:creationId xmlns:p14="http://schemas.microsoft.com/office/powerpoint/2010/main" val="1290470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0765545"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Relationship: </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db.relationship</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Used to define a relationship in the Category model.</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db.ForeignKey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Used to define a foreign key in the Item model.</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backref</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='category':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Automatically adds a category to model, allowing easy access to the parent category.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lazy=True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Configures how the related items are loaded. In this case, they are loaded lazily (when accessed).</a:t>
            </a:r>
          </a:p>
        </p:txBody>
      </p:sp>
      <p:sp>
        <p:nvSpPr>
          <p:cNvPr id="3" name="Footer Placeholder 2">
            <a:extLst>
              <a:ext uri="{FF2B5EF4-FFF2-40B4-BE49-F238E27FC236}">
                <a16:creationId xmlns:a16="http://schemas.microsoft.com/office/drawing/2014/main" id="{C4F93607-5897-28EC-2720-1E3A7A2CD28C}"/>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B5313D7-044B-AC61-9948-267EA28A8B41}"/>
              </a:ext>
            </a:extLst>
          </p:cNvPr>
          <p:cNvSpPr>
            <a:spLocks noGrp="1"/>
          </p:cNvSpPr>
          <p:nvPr>
            <p:ph type="sldNum" sz="quarter" idx="12"/>
          </p:nvPr>
        </p:nvSpPr>
        <p:spPr/>
        <p:txBody>
          <a:bodyPr/>
          <a:lstStyle/>
          <a:p>
            <a:fld id="{FACB5482-D393-4E2D-8FB7-B68A06B80F1E}" type="slidenum">
              <a:rPr lang="en-IN" smtClean="0"/>
              <a:t>23</a:t>
            </a:fld>
            <a:endParaRPr lang="en-IN"/>
          </a:p>
        </p:txBody>
      </p:sp>
    </p:spTree>
    <p:extLst>
      <p:ext uri="{BB962C8B-B14F-4D97-AF65-F5344CB8AC3E}">
        <p14:creationId xmlns:p14="http://schemas.microsoft.com/office/powerpoint/2010/main" val="3370424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341627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Run</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Click the green play button in the upper right corner of PyCharm to run the script.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Alternatively, you can right-click app.py and select Run 'app’.</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Or execute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python app.py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 terminal.</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Verify DB</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Navigate to </a:t>
            </a:r>
            <a:r>
              <a:rPr lang="en-US" sz="1800" u="sng"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http://127.0.0.1:5000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to see the Flask application is running.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SQLite database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test.db</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will be created in project directory under the “instance” folder.</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4B1D1F99-E252-B30C-1AA2-F4B8493EED9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8CA32A5-5820-3232-B74B-597CD2BE5635}"/>
              </a:ext>
            </a:extLst>
          </p:cNvPr>
          <p:cNvSpPr>
            <a:spLocks noGrp="1"/>
          </p:cNvSpPr>
          <p:nvPr>
            <p:ph type="sldNum" sz="quarter" idx="12"/>
          </p:nvPr>
        </p:nvSpPr>
        <p:spPr/>
        <p:txBody>
          <a:bodyPr/>
          <a:lstStyle/>
          <a:p>
            <a:fld id="{FACB5482-D393-4E2D-8FB7-B68A06B80F1E}" type="slidenum">
              <a:rPr lang="en-IN" smtClean="0"/>
              <a:t>24</a:t>
            </a:fld>
            <a:endParaRPr lang="en-IN"/>
          </a:p>
        </p:txBody>
      </p:sp>
    </p:spTree>
    <p:extLst>
      <p:ext uri="{BB962C8B-B14F-4D97-AF65-F5344CB8AC3E}">
        <p14:creationId xmlns:p14="http://schemas.microsoft.com/office/powerpoint/2010/main" val="1560655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Relational category model</a:t>
            </a:r>
            <a:endParaRPr lang="en-US" sz="2400" dirty="0">
              <a:solidFill>
                <a:srgbClr val="262626"/>
              </a:solidFill>
              <a:latin typeface="Calibri"/>
              <a:ea typeface="Calibri"/>
              <a:cs typeface="Calibri"/>
              <a:sym typeface="Calibri"/>
            </a:endParaRPr>
          </a:p>
        </p:txBody>
      </p:sp>
      <p:sp>
        <p:nvSpPr>
          <p:cNvPr id="3" name="Google Shape;134;p5">
            <a:extLst>
              <a:ext uri="{FF2B5EF4-FFF2-40B4-BE49-F238E27FC236}">
                <a16:creationId xmlns:a16="http://schemas.microsoft.com/office/drawing/2014/main" id="{0ABF3FC4-3B56-50BB-E15E-E68E11995130}"/>
              </a:ext>
            </a:extLst>
          </p:cNvPr>
          <p:cNvSpPr txBox="1"/>
          <p:nvPr/>
        </p:nvSpPr>
        <p:spPr>
          <a:xfrm>
            <a:off x="715255" y="1929843"/>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DB Metadata</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4" name="Picture 3">
            <a:extLst>
              <a:ext uri="{FF2B5EF4-FFF2-40B4-BE49-F238E27FC236}">
                <a16:creationId xmlns:a16="http://schemas.microsoft.com/office/drawing/2014/main" id="{C40D2F7D-0D9E-02D4-9451-813D3E8BD773}"/>
              </a:ext>
            </a:extLst>
          </p:cNvPr>
          <p:cNvPicPr>
            <a:picLocks noChangeAspect="1"/>
          </p:cNvPicPr>
          <p:nvPr/>
        </p:nvPicPr>
        <p:blipFill>
          <a:blip r:embed="rId4"/>
          <a:srcRect/>
          <a:stretch/>
        </p:blipFill>
        <p:spPr>
          <a:xfrm>
            <a:off x="822959" y="2556563"/>
            <a:ext cx="8189112" cy="3017884"/>
          </a:xfrm>
          <a:prstGeom prst="rect">
            <a:avLst/>
          </a:prstGeom>
        </p:spPr>
      </p:pic>
      <p:sp>
        <p:nvSpPr>
          <p:cNvPr id="2" name="Footer Placeholder 1">
            <a:extLst>
              <a:ext uri="{FF2B5EF4-FFF2-40B4-BE49-F238E27FC236}">
                <a16:creationId xmlns:a16="http://schemas.microsoft.com/office/drawing/2014/main" id="{C5627A6E-617D-8AFA-F00F-C94B98AD7A76}"/>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94017623-5F10-D92A-3EF6-166FB84798BC}"/>
              </a:ext>
            </a:extLst>
          </p:cNvPr>
          <p:cNvSpPr>
            <a:spLocks noGrp="1"/>
          </p:cNvSpPr>
          <p:nvPr>
            <p:ph type="sldNum" sz="quarter" idx="12"/>
          </p:nvPr>
        </p:nvSpPr>
        <p:spPr/>
        <p:txBody>
          <a:bodyPr/>
          <a:lstStyle/>
          <a:p>
            <a:fld id="{FACB5482-D393-4E2D-8FB7-B68A06B80F1E}" type="slidenum">
              <a:rPr lang="en-IN" smtClean="0"/>
              <a:t>25</a:t>
            </a:fld>
            <a:endParaRPr lang="en-IN"/>
          </a:p>
        </p:txBody>
      </p:sp>
    </p:spTree>
    <p:extLst>
      <p:ext uri="{BB962C8B-B14F-4D97-AF65-F5344CB8AC3E}">
        <p14:creationId xmlns:p14="http://schemas.microsoft.com/office/powerpoint/2010/main" val="3973760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2492950"/>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Online Bookstore Category Management</a:t>
            </a: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Background</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developing a web application for an online bookstore that needs to manage categories and books efficiently. Each book can belong to only one category, but each category can contain multiple books. Implement a relational model to handle this scenario using Python, Flask, and SQLAlchemy.</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C59973ED-9C52-FEDB-E5FC-3C72A843001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9A5678D-1074-E1E3-DDE7-38D1A6C5BDE9}"/>
              </a:ext>
            </a:extLst>
          </p:cNvPr>
          <p:cNvSpPr>
            <a:spLocks noGrp="1"/>
          </p:cNvSpPr>
          <p:nvPr>
            <p:ph type="sldNum" sz="quarter" idx="12"/>
          </p:nvPr>
        </p:nvSpPr>
        <p:spPr/>
        <p:txBody>
          <a:bodyPr/>
          <a:lstStyle/>
          <a:p>
            <a:fld id="{FACB5482-D393-4E2D-8FB7-B68A06B80F1E}" type="slidenum">
              <a:rPr lang="en-IN" smtClean="0"/>
              <a:t>26</a:t>
            </a:fld>
            <a:endParaRPr lang="en-IN"/>
          </a:p>
        </p:txBody>
      </p:sp>
    </p:spTree>
    <p:extLst>
      <p:ext uri="{BB962C8B-B14F-4D97-AF65-F5344CB8AC3E}">
        <p14:creationId xmlns:p14="http://schemas.microsoft.com/office/powerpoint/2010/main" val="281175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5078273"/>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Online Bookstore Category Management</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Requirements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Category Model:</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Each category should have a unique identifier (id) and a name (name).</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Implement a relationship where each category can have multiple books associated with it.</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Book Model:</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Each book should have a unique identifier (id), a title (title), and an author (author).</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Implement a foreign key relationship linking each book to its corresponding category.</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Functionality:</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Create routes to add new categories and books.</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Implement endpoints to list all categories and their associated books.</a:t>
            </a:r>
          </a:p>
          <a:p>
            <a:pPr marL="538163" indent="-285750" algn="just">
              <a:lnSpc>
                <a:spcPct val="150000"/>
              </a:lnSpc>
              <a:buClr>
                <a:srgbClr val="262626"/>
              </a:buClr>
              <a:buSzPts val="18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Allow for updating and deleting categories and books.</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Creating a relational category model</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3DB7DE7C-EBC6-AC8B-34AF-5CBC782EB71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5DF9F377-CDF1-F61B-4AC8-0B8F11FA429E}"/>
              </a:ext>
            </a:extLst>
          </p:cNvPr>
          <p:cNvSpPr>
            <a:spLocks noGrp="1"/>
          </p:cNvSpPr>
          <p:nvPr>
            <p:ph type="sldNum" sz="quarter" idx="12"/>
          </p:nvPr>
        </p:nvSpPr>
        <p:spPr/>
        <p:txBody>
          <a:bodyPr/>
          <a:lstStyle/>
          <a:p>
            <a:fld id="{FACB5482-D393-4E2D-8FB7-B68A06B80F1E}" type="slidenum">
              <a:rPr lang="en-IN" smtClean="0"/>
              <a:t>27</a:t>
            </a:fld>
            <a:endParaRPr lang="en-IN"/>
          </a:p>
        </p:txBody>
      </p:sp>
    </p:spTree>
    <p:extLst>
      <p:ext uri="{BB962C8B-B14F-4D97-AF65-F5344CB8AC3E}">
        <p14:creationId xmlns:p14="http://schemas.microsoft.com/office/powerpoint/2010/main" val="1155053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4628142-08F8-30EA-186F-AE772642ADD3}"/>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C812344D-5663-1B03-FD80-3ACE4D3D15D2}"/>
              </a:ext>
            </a:extLst>
          </p:cNvPr>
          <p:cNvSpPr>
            <a:spLocks noGrp="1"/>
          </p:cNvSpPr>
          <p:nvPr>
            <p:ph type="sldNum" sz="quarter" idx="12"/>
          </p:nvPr>
        </p:nvSpPr>
        <p:spPr/>
        <p:txBody>
          <a:bodyPr/>
          <a:lstStyle/>
          <a:p>
            <a:fld id="{FACB5482-D393-4E2D-8FB7-B68A06B80F1E}" type="slidenum">
              <a:rPr lang="en-IN" smtClean="0"/>
              <a:t>28</a:t>
            </a:fld>
            <a:endParaRPr lang="en-IN"/>
          </a:p>
        </p:txBody>
      </p:sp>
      <p:sp>
        <p:nvSpPr>
          <p:cNvPr id="6" name="Google Shape;126;p4">
            <a:extLst>
              <a:ext uri="{FF2B5EF4-FFF2-40B4-BE49-F238E27FC236}">
                <a16:creationId xmlns:a16="http://schemas.microsoft.com/office/drawing/2014/main" id="{D29A5063-8E1F-BFDF-F8BC-E46AEDB3F20C}"/>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3"/>
            </a:pPr>
            <a:r>
              <a:rPr lang="en-US" sz="4000">
                <a:solidFill>
                  <a:srgbClr val="000000"/>
                </a:solidFill>
                <a:latin typeface="Calibri"/>
                <a:ea typeface="Calibri"/>
                <a:cs typeface="Calibri"/>
                <a:sym typeface="Calibri"/>
              </a:rPr>
              <a:t>Migrating Databases using Alembic and Flask-Migrate</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43293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286228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Alembic is a lightweight database migration tool for SQLAlchemy.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provides a way to automatically generate changes to your database schema over time, such as creating new tables, modifying existing ones, or dropping tables.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Alembic tracks these changes in migration scripts, allowing you to apply them to your database in a controlled manner.</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Alembic</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46F6D5A2-FADC-7FB2-9235-F5B1A02C559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58B924A7-8287-FFF2-27D2-E0DB4496F4D7}"/>
              </a:ext>
            </a:extLst>
          </p:cNvPr>
          <p:cNvSpPr>
            <a:spLocks noGrp="1"/>
          </p:cNvSpPr>
          <p:nvPr>
            <p:ph type="sldNum" sz="quarter" idx="12"/>
          </p:nvPr>
        </p:nvSpPr>
        <p:spPr/>
        <p:txBody>
          <a:bodyPr/>
          <a:lstStyle/>
          <a:p>
            <a:fld id="{FACB5482-D393-4E2D-8FB7-B68A06B80F1E}" type="slidenum">
              <a:rPr lang="en-IN" smtClean="0"/>
              <a:t>29</a:t>
            </a:fld>
            <a:endParaRPr lang="en-IN"/>
          </a:p>
        </p:txBody>
      </p:sp>
    </p:spTree>
    <p:extLst>
      <p:ext uri="{BB962C8B-B14F-4D97-AF65-F5344CB8AC3E}">
        <p14:creationId xmlns:p14="http://schemas.microsoft.com/office/powerpoint/2010/main" val="1846887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230828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Flask-Migrate is an extension for Flask that integrates Alembic into Flask applications, making it easier to manage database migrations within Flask projects.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provides a command-line interface (CLI) through Flask's flask command to automate the generation and application of Alembic migration scripts.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Flask-migrate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F813306C-BE4C-CF1C-84F8-68E095DF6E6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0690538-7C7B-3383-46DD-DB563CAE1677}"/>
              </a:ext>
            </a:extLst>
          </p:cNvPr>
          <p:cNvSpPr>
            <a:spLocks noGrp="1"/>
          </p:cNvSpPr>
          <p:nvPr>
            <p:ph type="sldNum" sz="quarter" idx="12"/>
          </p:nvPr>
        </p:nvSpPr>
        <p:spPr/>
        <p:txBody>
          <a:bodyPr/>
          <a:lstStyle/>
          <a:p>
            <a:fld id="{FACB5482-D393-4E2D-8FB7-B68A06B80F1E}" type="slidenum">
              <a:rPr lang="en-IN" smtClean="0"/>
              <a:t>30</a:t>
            </a:fld>
            <a:endParaRPr lang="en-IN"/>
          </a:p>
        </p:txBody>
      </p:sp>
    </p:spTree>
    <p:extLst>
      <p:ext uri="{BB962C8B-B14F-4D97-AF65-F5344CB8AC3E}">
        <p14:creationId xmlns:p14="http://schemas.microsoft.com/office/powerpoint/2010/main" val="2713199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3416279"/>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Alembic and Flask-Migrate together provide a powerful mechanism for managing database schema changes in SQLAlchemy-based Flask applications.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They automate the process of generating migration scripts based on changes to your SQLAlchemy models and applying these scripts to your database.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These tools are essential for maintaining data integrity and managing database changes efficiently in production environments.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Alembic and Flask-migrate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B68984C5-6F3F-3BC5-CD9D-A2D5C5D89B3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434BC89-3A51-2FF4-1B91-7C29C9438981}"/>
              </a:ext>
            </a:extLst>
          </p:cNvPr>
          <p:cNvSpPr>
            <a:spLocks noGrp="1"/>
          </p:cNvSpPr>
          <p:nvPr>
            <p:ph type="sldNum" sz="quarter" idx="12"/>
          </p:nvPr>
        </p:nvSpPr>
        <p:spPr/>
        <p:txBody>
          <a:bodyPr/>
          <a:lstStyle/>
          <a:p>
            <a:fld id="{FACB5482-D393-4E2D-8FB7-B68A06B80F1E}" type="slidenum">
              <a:rPr lang="en-IN" smtClean="0"/>
              <a:t>31</a:t>
            </a:fld>
            <a:endParaRPr lang="en-IN"/>
          </a:p>
        </p:txBody>
      </p:sp>
    </p:spTree>
    <p:extLst>
      <p:ext uri="{BB962C8B-B14F-4D97-AF65-F5344CB8AC3E}">
        <p14:creationId xmlns:p14="http://schemas.microsoft.com/office/powerpoint/2010/main" val="3050198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4524275"/>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Begin by setting up a basic Flask application.</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Flask-Migrate: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Flask-Migrate.</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Configure the Flask Application: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the necessary configurations for Flask-Migrate and SQLAlchemy.</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Initialize Alembic: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Initialize Alembic for managing database migrations.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a Database Model: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Define a sample database model to demonstrate migrations.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Generate an Initial Migration: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an initial migration script to set up the initial database schema.</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Apply Migrations: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Apply the initial migration and perform database upgrades and downgrades.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05862D6F-8156-0B83-1989-46E08B55657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1E2C905E-C914-EBD6-A0C7-C48D2530BF0A}"/>
              </a:ext>
            </a:extLst>
          </p:cNvPr>
          <p:cNvSpPr>
            <a:spLocks noGrp="1"/>
          </p:cNvSpPr>
          <p:nvPr>
            <p:ph type="sldNum" sz="quarter" idx="12"/>
          </p:nvPr>
        </p:nvSpPr>
        <p:spPr/>
        <p:txBody>
          <a:bodyPr/>
          <a:lstStyle/>
          <a:p>
            <a:fld id="{FACB5482-D393-4E2D-8FB7-B68A06B80F1E}" type="slidenum">
              <a:rPr lang="en-IN" smtClean="0"/>
              <a:t>32</a:t>
            </a:fld>
            <a:endParaRPr lang="en-IN"/>
          </a:p>
        </p:txBody>
      </p:sp>
    </p:spTree>
    <p:extLst>
      <p:ext uri="{BB962C8B-B14F-4D97-AF65-F5344CB8AC3E}">
        <p14:creationId xmlns:p14="http://schemas.microsoft.com/office/powerpoint/2010/main" val="1082302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133878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Font typeface="+mj-lt"/>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Set up a Flask Application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First, create a basic Flask application. This will serve as the foundation for the database migrations.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0B3CB501-2C62-9C25-A3D2-57CC2291A888}"/>
              </a:ext>
            </a:extLst>
          </p:cNvPr>
          <p:cNvPicPr>
            <a:picLocks noChangeAspect="1"/>
          </p:cNvPicPr>
          <p:nvPr/>
        </p:nvPicPr>
        <p:blipFill>
          <a:blip r:embed="rId4"/>
          <a:stretch>
            <a:fillRect/>
          </a:stretch>
        </p:blipFill>
        <p:spPr>
          <a:xfrm>
            <a:off x="942880" y="2922135"/>
            <a:ext cx="3651935" cy="3193852"/>
          </a:xfrm>
          <a:prstGeom prst="rect">
            <a:avLst/>
          </a:prstGeom>
        </p:spPr>
      </p:pic>
      <p:sp>
        <p:nvSpPr>
          <p:cNvPr id="3" name="Footer Placeholder 2">
            <a:extLst>
              <a:ext uri="{FF2B5EF4-FFF2-40B4-BE49-F238E27FC236}">
                <a16:creationId xmlns:a16="http://schemas.microsoft.com/office/drawing/2014/main" id="{BA06E06F-BF82-5AA3-DFDA-0C713144E81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C5E97F5-D877-F4C2-0DBD-EB2AAA9072D6}"/>
              </a:ext>
            </a:extLst>
          </p:cNvPr>
          <p:cNvSpPr>
            <a:spLocks noGrp="1"/>
          </p:cNvSpPr>
          <p:nvPr>
            <p:ph type="sldNum" sz="quarter" idx="12"/>
          </p:nvPr>
        </p:nvSpPr>
        <p:spPr/>
        <p:txBody>
          <a:bodyPr/>
          <a:lstStyle/>
          <a:p>
            <a:fld id="{FACB5482-D393-4E2D-8FB7-B68A06B80F1E}" type="slidenum">
              <a:rPr lang="en-IN" smtClean="0"/>
              <a:t>33</a:t>
            </a:fld>
            <a:endParaRPr lang="en-IN"/>
          </a:p>
        </p:txBody>
      </p:sp>
    </p:spTree>
    <p:extLst>
      <p:ext uri="{BB962C8B-B14F-4D97-AF65-F5344CB8AC3E}">
        <p14:creationId xmlns:p14="http://schemas.microsoft.com/office/powerpoint/2010/main" val="2314736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p:cNvPicPr preferRelativeResize="0"/>
          <p:nvPr/>
        </p:nvPicPr>
        <p:blipFill rotWithShape="1">
          <a:blip r:embed="rId3"/>
          <a:srcRect/>
          <a:stretch/>
        </p:blipFill>
        <p:spPr>
          <a:xfrm>
            <a:off x="304798" y="1351227"/>
            <a:ext cx="845821" cy="507791"/>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1150619" y="1859018"/>
            <a:ext cx="2927355"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What is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@app.route(‘/’)</a:t>
            </a:r>
          </a:p>
        </p:txBody>
      </p:sp>
      <p:pic>
        <p:nvPicPr>
          <p:cNvPr id="5" name="Picture 4">
            <a:extLst>
              <a:ext uri="{FF2B5EF4-FFF2-40B4-BE49-F238E27FC236}">
                <a16:creationId xmlns:a16="http://schemas.microsoft.com/office/drawing/2014/main" id="{0B3CB501-2C62-9C25-A3D2-57CC2291A888}"/>
              </a:ext>
            </a:extLst>
          </p:cNvPr>
          <p:cNvPicPr>
            <a:picLocks noChangeAspect="1"/>
          </p:cNvPicPr>
          <p:nvPr/>
        </p:nvPicPr>
        <p:blipFill>
          <a:blip r:embed="rId4"/>
          <a:stretch>
            <a:fillRect/>
          </a:stretch>
        </p:blipFill>
        <p:spPr>
          <a:xfrm>
            <a:off x="6902836" y="1929843"/>
            <a:ext cx="4100941" cy="3586537"/>
          </a:xfrm>
          <a:prstGeom prst="rect">
            <a:avLst/>
          </a:prstGeom>
        </p:spPr>
      </p:pic>
      <p:cxnSp>
        <p:nvCxnSpPr>
          <p:cNvPr id="4" name="Connector: Elbow 3">
            <a:extLst>
              <a:ext uri="{FF2B5EF4-FFF2-40B4-BE49-F238E27FC236}">
                <a16:creationId xmlns:a16="http://schemas.microsoft.com/office/drawing/2014/main" id="{EC066300-E7A8-59F0-A039-738C6D34B731}"/>
              </a:ext>
            </a:extLst>
          </p:cNvPr>
          <p:cNvCxnSpPr>
            <a:cxnSpLocks/>
            <a:stCxn id="2" idx="2"/>
          </p:cNvCxnSpPr>
          <p:nvPr/>
        </p:nvCxnSpPr>
        <p:spPr>
          <a:xfrm rot="16200000" flipH="1">
            <a:off x="4333867" y="647238"/>
            <a:ext cx="1566562" cy="50057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DD351D56-9B89-E572-1FEB-C2228A4DC920}"/>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D2FA7EB0-187B-8383-1CEE-373881DDF0F5}"/>
              </a:ext>
            </a:extLst>
          </p:cNvPr>
          <p:cNvSpPr>
            <a:spLocks noGrp="1"/>
          </p:cNvSpPr>
          <p:nvPr>
            <p:ph type="sldNum" sz="quarter" idx="12"/>
          </p:nvPr>
        </p:nvSpPr>
        <p:spPr/>
        <p:txBody>
          <a:bodyPr/>
          <a:lstStyle/>
          <a:p>
            <a:fld id="{FACB5482-D393-4E2D-8FB7-B68A06B80F1E}" type="slidenum">
              <a:rPr lang="en-IN" smtClean="0"/>
              <a:t>34</a:t>
            </a:fld>
            <a:endParaRPr lang="en-IN"/>
          </a:p>
        </p:txBody>
      </p:sp>
    </p:spTree>
    <p:extLst>
      <p:ext uri="{BB962C8B-B14F-4D97-AF65-F5344CB8AC3E}">
        <p14:creationId xmlns:p14="http://schemas.microsoft.com/office/powerpoint/2010/main" val="2532907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2169784"/>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2. Install Flask-Migrate</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‘Flask-Migrate’ is an extension that handles SQLAlchemy database migrations for Flask applications using Alembic.</a:t>
            </a:r>
          </a:p>
          <a:p>
            <a:pPr algn="just">
              <a:lnSpc>
                <a:spcPct val="150000"/>
              </a:lnSpc>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algn="just">
              <a:lnSpc>
                <a:spcPct val="150000"/>
              </a:lnSpc>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‘pip’ to install ‘Flask-Migrate’ and its dependencies. </a:t>
            </a: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pip install Flask-Migrate Flask-SQLAlchemy</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3296D63-DDFB-FB02-0997-8F67882562F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E1612685-4E44-D8FF-3615-884A5BBC4767}"/>
              </a:ext>
            </a:extLst>
          </p:cNvPr>
          <p:cNvSpPr>
            <a:spLocks noGrp="1"/>
          </p:cNvSpPr>
          <p:nvPr>
            <p:ph type="sldNum" sz="quarter" idx="12"/>
          </p:nvPr>
        </p:nvSpPr>
        <p:spPr/>
        <p:txBody>
          <a:bodyPr/>
          <a:lstStyle/>
          <a:p>
            <a:fld id="{FACB5482-D393-4E2D-8FB7-B68A06B80F1E}" type="slidenum">
              <a:rPr lang="en-IN" smtClean="0"/>
              <a:t>35</a:t>
            </a:fld>
            <a:endParaRPr lang="en-IN"/>
          </a:p>
        </p:txBody>
      </p:sp>
    </p:spTree>
    <p:extLst>
      <p:ext uri="{BB962C8B-B14F-4D97-AF65-F5344CB8AC3E}">
        <p14:creationId xmlns:p14="http://schemas.microsoft.com/office/powerpoint/2010/main" val="2192537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Configure the Flask application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Modify app.py to include SQLAlchemy and Flask-Migrate configuration.</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4F24C69C-B113-37BC-349B-C9F2AD2C0BDA}"/>
              </a:ext>
            </a:extLst>
          </p:cNvPr>
          <p:cNvPicPr>
            <a:picLocks noChangeAspect="1"/>
          </p:cNvPicPr>
          <p:nvPr/>
        </p:nvPicPr>
        <p:blipFill>
          <a:blip r:embed="rId4"/>
          <a:stretch>
            <a:fillRect/>
          </a:stretch>
        </p:blipFill>
        <p:spPr>
          <a:xfrm>
            <a:off x="715255" y="3090990"/>
            <a:ext cx="5687476" cy="2328496"/>
          </a:xfrm>
          <a:prstGeom prst="rect">
            <a:avLst/>
          </a:prstGeom>
        </p:spPr>
      </p:pic>
      <p:sp>
        <p:nvSpPr>
          <p:cNvPr id="3" name="Footer Placeholder 2">
            <a:extLst>
              <a:ext uri="{FF2B5EF4-FFF2-40B4-BE49-F238E27FC236}">
                <a16:creationId xmlns:a16="http://schemas.microsoft.com/office/drawing/2014/main" id="{F1AA4D61-CCFB-6BAB-D035-278BFC9AD90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3A06222-FB62-41F3-6609-6F658FF92871}"/>
              </a:ext>
            </a:extLst>
          </p:cNvPr>
          <p:cNvSpPr>
            <a:spLocks noGrp="1"/>
          </p:cNvSpPr>
          <p:nvPr>
            <p:ph type="sldNum" sz="quarter" idx="12"/>
          </p:nvPr>
        </p:nvSpPr>
        <p:spPr/>
        <p:txBody>
          <a:bodyPr/>
          <a:lstStyle/>
          <a:p>
            <a:fld id="{FACB5482-D393-4E2D-8FB7-B68A06B80F1E}" type="slidenum">
              <a:rPr lang="en-IN" smtClean="0"/>
              <a:t>36</a:t>
            </a:fld>
            <a:endParaRPr lang="en-IN"/>
          </a:p>
        </p:txBody>
      </p:sp>
    </p:spTree>
    <p:extLst>
      <p:ext uri="{BB962C8B-B14F-4D97-AF65-F5344CB8AC3E}">
        <p14:creationId xmlns:p14="http://schemas.microsoft.com/office/powerpoint/2010/main" val="975132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133878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line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app.config.from_object</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config.Config</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 “app.py” file is used to load configuration settings from a configuration class defined in a separate file – “config.py”</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F63D381C-67DA-E087-622C-1D56F057E47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2588EA0-75AB-A74A-AE81-D07608C4D9C3}"/>
              </a:ext>
            </a:extLst>
          </p:cNvPr>
          <p:cNvSpPr>
            <a:spLocks noGrp="1"/>
          </p:cNvSpPr>
          <p:nvPr>
            <p:ph type="sldNum" sz="quarter" idx="12"/>
          </p:nvPr>
        </p:nvSpPr>
        <p:spPr/>
        <p:txBody>
          <a:bodyPr/>
          <a:lstStyle/>
          <a:p>
            <a:fld id="{FACB5482-D393-4E2D-8FB7-B68A06B80F1E}" type="slidenum">
              <a:rPr lang="en-IN" smtClean="0"/>
              <a:t>37</a:t>
            </a:fld>
            <a:endParaRPr lang="en-IN"/>
          </a:p>
        </p:txBody>
      </p:sp>
    </p:spTree>
    <p:extLst>
      <p:ext uri="{BB962C8B-B14F-4D97-AF65-F5344CB8AC3E}">
        <p14:creationId xmlns:p14="http://schemas.microsoft.com/office/powerpoint/2010/main" val="2417010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929843"/>
            <a:ext cx="11019543"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Configure the Flask application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a new file “config.py” to setup app configuration.</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EFE0662E-BAD5-53CD-DE87-B67AAF14BE4B}"/>
              </a:ext>
            </a:extLst>
          </p:cNvPr>
          <p:cNvPicPr>
            <a:picLocks noChangeAspect="1"/>
          </p:cNvPicPr>
          <p:nvPr/>
        </p:nvPicPr>
        <p:blipFill>
          <a:blip r:embed="rId4"/>
          <a:stretch>
            <a:fillRect/>
          </a:stretch>
        </p:blipFill>
        <p:spPr>
          <a:xfrm>
            <a:off x="822959" y="3028420"/>
            <a:ext cx="6239746" cy="1952898"/>
          </a:xfrm>
          <a:prstGeom prst="rect">
            <a:avLst/>
          </a:prstGeom>
        </p:spPr>
      </p:pic>
      <p:sp>
        <p:nvSpPr>
          <p:cNvPr id="3" name="Footer Placeholder 2">
            <a:extLst>
              <a:ext uri="{FF2B5EF4-FFF2-40B4-BE49-F238E27FC236}">
                <a16:creationId xmlns:a16="http://schemas.microsoft.com/office/drawing/2014/main" id="{79BD9709-4746-D9D8-D114-92E17A002CCA}"/>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3B1F5367-76AF-B3D5-5F27-1A1C361B9E47}"/>
              </a:ext>
            </a:extLst>
          </p:cNvPr>
          <p:cNvSpPr>
            <a:spLocks noGrp="1"/>
          </p:cNvSpPr>
          <p:nvPr>
            <p:ph type="sldNum" sz="quarter" idx="12"/>
          </p:nvPr>
        </p:nvSpPr>
        <p:spPr/>
        <p:txBody>
          <a:bodyPr/>
          <a:lstStyle/>
          <a:p>
            <a:fld id="{FACB5482-D393-4E2D-8FB7-B68A06B80F1E}" type="slidenum">
              <a:rPr lang="en-IN" smtClean="0"/>
              <a:t>38</a:t>
            </a:fld>
            <a:endParaRPr lang="en-IN"/>
          </a:p>
        </p:txBody>
      </p:sp>
    </p:spTree>
    <p:extLst>
      <p:ext uri="{BB962C8B-B14F-4D97-AF65-F5344CB8AC3E}">
        <p14:creationId xmlns:p14="http://schemas.microsoft.com/office/powerpoint/2010/main" val="3895297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2308284"/>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SQLALCHEMY_DATABASE_URI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specifies the database URL.</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SQLALCHEMY_TRACK_MODIFICATIONS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is set to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False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to disable a feature that signals the application every time a change is about to be made in the database.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FBCAD774-2A83-EA49-261E-1F17AC40EC8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A1F997D-B3A7-62F7-E383-407AA97209D8}"/>
              </a:ext>
            </a:extLst>
          </p:cNvPr>
          <p:cNvSpPr>
            <a:spLocks noGrp="1"/>
          </p:cNvSpPr>
          <p:nvPr>
            <p:ph type="sldNum" sz="quarter" idx="12"/>
          </p:nvPr>
        </p:nvSpPr>
        <p:spPr/>
        <p:txBody>
          <a:bodyPr/>
          <a:lstStyle/>
          <a:p>
            <a:fld id="{FACB5482-D393-4E2D-8FB7-B68A06B80F1E}" type="slidenum">
              <a:rPr lang="en-IN" smtClean="0"/>
              <a:t>39</a:t>
            </a:fld>
            <a:endParaRPr lang="en-IN"/>
          </a:p>
        </p:txBody>
      </p:sp>
    </p:spTree>
    <p:extLst>
      <p:ext uri="{BB962C8B-B14F-4D97-AF65-F5344CB8AC3E}">
        <p14:creationId xmlns:p14="http://schemas.microsoft.com/office/powerpoint/2010/main" val="41602241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2308284"/>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4. Initialize Alembic</a:t>
            </a:r>
          </a:p>
          <a:p>
            <a:pPr marR="0" lvl="0" algn="just" rtl="0">
              <a:lnSpc>
                <a:spcPct val="20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init</a:t>
            </a: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This will create a new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migrations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directory.</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grpSp>
        <p:nvGrpSpPr>
          <p:cNvPr id="9" name="Group 8">
            <a:extLst>
              <a:ext uri="{FF2B5EF4-FFF2-40B4-BE49-F238E27FC236}">
                <a16:creationId xmlns:a16="http://schemas.microsoft.com/office/drawing/2014/main" id="{879076D1-E83C-694A-02B8-776B5F53D1D7}"/>
              </a:ext>
            </a:extLst>
          </p:cNvPr>
          <p:cNvGrpSpPr/>
          <p:nvPr/>
        </p:nvGrpSpPr>
        <p:grpSpPr>
          <a:xfrm>
            <a:off x="7924799" y="2231364"/>
            <a:ext cx="2956561" cy="3462012"/>
            <a:chOff x="822959" y="3684129"/>
            <a:chExt cx="2448267" cy="2905530"/>
          </a:xfrm>
        </p:grpSpPr>
        <p:pic>
          <p:nvPicPr>
            <p:cNvPr id="6" name="Picture 5">
              <a:extLst>
                <a:ext uri="{FF2B5EF4-FFF2-40B4-BE49-F238E27FC236}">
                  <a16:creationId xmlns:a16="http://schemas.microsoft.com/office/drawing/2014/main" id="{8F33588F-1688-40FC-4FAF-4E34F17B31F4}"/>
                </a:ext>
              </a:extLst>
            </p:cNvPr>
            <p:cNvPicPr>
              <a:picLocks noChangeAspect="1"/>
            </p:cNvPicPr>
            <p:nvPr/>
          </p:nvPicPr>
          <p:blipFill>
            <a:blip r:embed="rId4"/>
            <a:stretch>
              <a:fillRect/>
            </a:stretch>
          </p:blipFill>
          <p:spPr>
            <a:xfrm>
              <a:off x="822959" y="3684129"/>
              <a:ext cx="2448267" cy="2905530"/>
            </a:xfrm>
            <a:prstGeom prst="rect">
              <a:avLst/>
            </a:prstGeom>
          </p:spPr>
        </p:pic>
        <p:sp>
          <p:nvSpPr>
            <p:cNvPr id="7" name="Rectangle 6">
              <a:extLst>
                <a:ext uri="{FF2B5EF4-FFF2-40B4-BE49-F238E27FC236}">
                  <a16:creationId xmlns:a16="http://schemas.microsoft.com/office/drawing/2014/main" id="{BEDA53B9-256E-FFC8-9688-11C9D6E11736}"/>
                </a:ext>
              </a:extLst>
            </p:cNvPr>
            <p:cNvSpPr/>
            <p:nvPr/>
          </p:nvSpPr>
          <p:spPr>
            <a:xfrm>
              <a:off x="1097280" y="4315968"/>
              <a:ext cx="2054352" cy="17190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ooter Placeholder 2">
            <a:extLst>
              <a:ext uri="{FF2B5EF4-FFF2-40B4-BE49-F238E27FC236}">
                <a16:creationId xmlns:a16="http://schemas.microsoft.com/office/drawing/2014/main" id="{5FF2EDF3-DAA9-0C99-FDE1-9A4E676D4D08}"/>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4281B2C-C974-F575-E9A0-4BA9CE832B92}"/>
              </a:ext>
            </a:extLst>
          </p:cNvPr>
          <p:cNvSpPr>
            <a:spLocks noGrp="1"/>
          </p:cNvSpPr>
          <p:nvPr>
            <p:ph type="sldNum" sz="quarter" idx="12"/>
          </p:nvPr>
        </p:nvSpPr>
        <p:spPr/>
        <p:txBody>
          <a:bodyPr/>
          <a:lstStyle/>
          <a:p>
            <a:fld id="{FACB5482-D393-4E2D-8FB7-B68A06B80F1E}" type="slidenum">
              <a:rPr lang="en-IN" smtClean="0"/>
              <a:t>40</a:t>
            </a:fld>
            <a:endParaRPr lang="en-IN"/>
          </a:p>
        </p:txBody>
      </p:sp>
    </p:spTree>
    <p:extLst>
      <p:ext uri="{BB962C8B-B14F-4D97-AF65-F5344CB8AC3E}">
        <p14:creationId xmlns:p14="http://schemas.microsoft.com/office/powerpoint/2010/main" val="313466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1200288"/>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5. Create a database model</a:t>
            </a:r>
          </a:p>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Update the “app.py” to create a model “User” with the fields – ‘id’, ‘username’ and ‘email’.</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D082CED4-0969-A91A-E423-739FF489F38C}"/>
              </a:ext>
            </a:extLst>
          </p:cNvPr>
          <p:cNvPicPr>
            <a:picLocks noChangeAspect="1"/>
          </p:cNvPicPr>
          <p:nvPr/>
        </p:nvPicPr>
        <p:blipFill>
          <a:blip r:embed="rId4"/>
          <a:stretch>
            <a:fillRect/>
          </a:stretch>
        </p:blipFill>
        <p:spPr>
          <a:xfrm>
            <a:off x="822959" y="3141544"/>
            <a:ext cx="8049748" cy="1247949"/>
          </a:xfrm>
          <a:prstGeom prst="rect">
            <a:avLst/>
          </a:prstGeom>
        </p:spPr>
      </p:pic>
      <p:sp>
        <p:nvSpPr>
          <p:cNvPr id="13" name="TextBox 12">
            <a:extLst>
              <a:ext uri="{FF2B5EF4-FFF2-40B4-BE49-F238E27FC236}">
                <a16:creationId xmlns:a16="http://schemas.microsoft.com/office/drawing/2014/main" id="{255703F0-8887-B2FE-09E0-9C142FAD7EBF}"/>
              </a:ext>
            </a:extLst>
          </p:cNvPr>
          <p:cNvSpPr txBox="1"/>
          <p:nvPr/>
        </p:nvSpPr>
        <p:spPr>
          <a:xfrm>
            <a:off x="822958" y="4799605"/>
            <a:ext cx="10617201" cy="568745"/>
          </a:xfrm>
          <a:prstGeom prst="rect">
            <a:avLst/>
          </a:prstGeom>
          <a:noFill/>
        </p:spPr>
        <p:txBody>
          <a:bodyPr wrap="square">
            <a:spAutoFit/>
          </a:bodyPr>
          <a:lstStyle/>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Write these statements below the migrate configuration code. </a:t>
            </a:r>
          </a:p>
        </p:txBody>
      </p:sp>
      <p:sp>
        <p:nvSpPr>
          <p:cNvPr id="3" name="Footer Placeholder 2">
            <a:extLst>
              <a:ext uri="{FF2B5EF4-FFF2-40B4-BE49-F238E27FC236}">
                <a16:creationId xmlns:a16="http://schemas.microsoft.com/office/drawing/2014/main" id="{4D6AD99C-59DB-C357-28D8-19299A34DF2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148B59B6-19E1-96AD-2000-81EE3C3007D8}"/>
              </a:ext>
            </a:extLst>
          </p:cNvPr>
          <p:cNvSpPr>
            <a:spLocks noGrp="1"/>
          </p:cNvSpPr>
          <p:nvPr>
            <p:ph type="sldNum" sz="quarter" idx="12"/>
          </p:nvPr>
        </p:nvSpPr>
        <p:spPr/>
        <p:txBody>
          <a:bodyPr/>
          <a:lstStyle/>
          <a:p>
            <a:fld id="{FACB5482-D393-4E2D-8FB7-B68A06B80F1E}" type="slidenum">
              <a:rPr lang="en-IN" smtClean="0"/>
              <a:t>41</a:t>
            </a:fld>
            <a:endParaRPr lang="en-IN"/>
          </a:p>
        </p:txBody>
      </p:sp>
    </p:spTree>
    <p:extLst>
      <p:ext uri="{BB962C8B-B14F-4D97-AF65-F5344CB8AC3E}">
        <p14:creationId xmlns:p14="http://schemas.microsoft.com/office/powerpoint/2010/main" val="2415666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6488184"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6. Generate an initial migration</a:t>
            </a:r>
          </a:p>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Run the command below to create an initial migration script to set up the initial database migration.</a:t>
            </a:r>
          </a:p>
          <a:p>
            <a:pPr marR="0" lvl="0" algn="just" rtl="0">
              <a:lnSpc>
                <a:spcPct val="20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migrate -m "Initial migration"</a:t>
            </a:r>
          </a:p>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This will create a migration script under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migrations/versions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directory based on the current state of the models.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4AD0BE4A-73A8-A5B7-F5F1-369D3F92BB3D}"/>
              </a:ext>
            </a:extLst>
          </p:cNvPr>
          <p:cNvPicPr>
            <a:picLocks noChangeAspect="1"/>
          </p:cNvPicPr>
          <p:nvPr/>
        </p:nvPicPr>
        <p:blipFill>
          <a:blip r:embed="rId4"/>
          <a:stretch>
            <a:fillRect/>
          </a:stretch>
        </p:blipFill>
        <p:spPr>
          <a:xfrm>
            <a:off x="7618580" y="2275845"/>
            <a:ext cx="3858163" cy="3410426"/>
          </a:xfrm>
          <a:prstGeom prst="rect">
            <a:avLst/>
          </a:prstGeom>
        </p:spPr>
      </p:pic>
      <p:sp>
        <p:nvSpPr>
          <p:cNvPr id="10" name="Rectangle 9">
            <a:extLst>
              <a:ext uri="{FF2B5EF4-FFF2-40B4-BE49-F238E27FC236}">
                <a16:creationId xmlns:a16="http://schemas.microsoft.com/office/drawing/2014/main" id="{500B8A69-E983-2625-B8A5-CA13B8FEE477}"/>
              </a:ext>
            </a:extLst>
          </p:cNvPr>
          <p:cNvSpPr/>
          <p:nvPr/>
        </p:nvSpPr>
        <p:spPr>
          <a:xfrm>
            <a:off x="8382000" y="3688080"/>
            <a:ext cx="3017520" cy="294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ooter Placeholder 2">
            <a:extLst>
              <a:ext uri="{FF2B5EF4-FFF2-40B4-BE49-F238E27FC236}">
                <a16:creationId xmlns:a16="http://schemas.microsoft.com/office/drawing/2014/main" id="{2C91401C-D2FC-982C-BBC0-5D0E93CD49B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E9E8AFF-7CFA-0687-DD18-D375EB4F6EA5}"/>
              </a:ext>
            </a:extLst>
          </p:cNvPr>
          <p:cNvSpPr>
            <a:spLocks noGrp="1"/>
          </p:cNvSpPr>
          <p:nvPr>
            <p:ph type="sldNum" sz="quarter" idx="12"/>
          </p:nvPr>
        </p:nvSpPr>
        <p:spPr/>
        <p:txBody>
          <a:bodyPr/>
          <a:lstStyle/>
          <a:p>
            <a:fld id="{FACB5482-D393-4E2D-8FB7-B68A06B80F1E}" type="slidenum">
              <a:rPr lang="en-IN" smtClean="0"/>
              <a:t>42</a:t>
            </a:fld>
            <a:endParaRPr lang="en-IN"/>
          </a:p>
        </p:txBody>
      </p:sp>
    </p:spTree>
    <p:extLst>
      <p:ext uri="{BB962C8B-B14F-4D97-AF65-F5344CB8AC3E}">
        <p14:creationId xmlns:p14="http://schemas.microsoft.com/office/powerpoint/2010/main" val="36812440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2308284"/>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7. Apply migration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upgrade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 Apply the migration to the database.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downgrade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Rollback the migrations if needed.</a:t>
            </a:r>
          </a:p>
          <a:p>
            <a:pPr marR="0" lvl="0" algn="just" rtl="0">
              <a:lnSpc>
                <a:spcPct val="20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6DE1D35A-FAA4-58A5-22D6-B9241E8EEF2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2A73501-6235-B9C5-3D5A-29CDCF184BE2}"/>
              </a:ext>
            </a:extLst>
          </p:cNvPr>
          <p:cNvSpPr>
            <a:spLocks noGrp="1"/>
          </p:cNvSpPr>
          <p:nvPr>
            <p:ph type="sldNum" sz="quarter" idx="12"/>
          </p:nvPr>
        </p:nvSpPr>
        <p:spPr/>
        <p:txBody>
          <a:bodyPr/>
          <a:lstStyle/>
          <a:p>
            <a:fld id="{FACB5482-D393-4E2D-8FB7-B68A06B80F1E}" type="slidenum">
              <a:rPr lang="en-IN" smtClean="0"/>
              <a:t>43</a:t>
            </a:fld>
            <a:endParaRPr lang="en-IN"/>
          </a:p>
        </p:txBody>
      </p:sp>
    </p:spTree>
    <p:extLst>
      <p:ext uri="{BB962C8B-B14F-4D97-AF65-F5344CB8AC3E}">
        <p14:creationId xmlns:p14="http://schemas.microsoft.com/office/powerpoint/2010/main" val="903120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1754286"/>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Initialize the database and apply migration</a:t>
            </a:r>
          </a:p>
          <a:p>
            <a:pPr marR="0" lvl="0" algn="just" rtl="0">
              <a:lnSpc>
                <a:spcPct val="15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init</a:t>
            </a: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migrate -m "Initial migration."</a:t>
            </a:r>
          </a:p>
          <a:p>
            <a:pPr marR="0" lvl="0" algn="just" rtl="0">
              <a:lnSpc>
                <a:spcPct val="15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Flask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upgreade</a:t>
            </a:r>
            <a:endPar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1136F140-FB8C-D6FA-B7E1-F5E3BBE4E0F4}"/>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995DFB0-554F-EF8F-1E57-27093F6598FC}"/>
              </a:ext>
            </a:extLst>
          </p:cNvPr>
          <p:cNvSpPr>
            <a:spLocks noGrp="1"/>
          </p:cNvSpPr>
          <p:nvPr>
            <p:ph type="sldNum" sz="quarter" idx="12"/>
          </p:nvPr>
        </p:nvSpPr>
        <p:spPr/>
        <p:txBody>
          <a:bodyPr/>
          <a:lstStyle/>
          <a:p>
            <a:fld id="{FACB5482-D393-4E2D-8FB7-B68A06B80F1E}" type="slidenum">
              <a:rPr lang="en-IN" smtClean="0"/>
              <a:t>44</a:t>
            </a:fld>
            <a:endParaRPr lang="en-IN"/>
          </a:p>
        </p:txBody>
      </p:sp>
    </p:spTree>
    <p:extLst>
      <p:ext uri="{BB962C8B-B14F-4D97-AF65-F5344CB8AC3E}">
        <p14:creationId xmlns:p14="http://schemas.microsoft.com/office/powerpoint/2010/main" val="99808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After applying the migration “instance/</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app.db</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file will be updated.</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E9B1094-3C7C-0C42-0866-583C73D62E85}"/>
              </a:ext>
            </a:extLst>
          </p:cNvPr>
          <p:cNvPicPr>
            <a:picLocks noChangeAspect="1"/>
          </p:cNvPicPr>
          <p:nvPr/>
        </p:nvPicPr>
        <p:blipFill>
          <a:blip r:embed="rId4"/>
          <a:stretch>
            <a:fillRect/>
          </a:stretch>
        </p:blipFill>
        <p:spPr>
          <a:xfrm>
            <a:off x="822959" y="2436400"/>
            <a:ext cx="9002381" cy="3029373"/>
          </a:xfrm>
          <a:prstGeom prst="rect">
            <a:avLst/>
          </a:prstGeom>
        </p:spPr>
      </p:pic>
      <p:sp>
        <p:nvSpPr>
          <p:cNvPr id="3" name="Footer Placeholder 2">
            <a:extLst>
              <a:ext uri="{FF2B5EF4-FFF2-40B4-BE49-F238E27FC236}">
                <a16:creationId xmlns:a16="http://schemas.microsoft.com/office/drawing/2014/main" id="{39AF535B-F694-EDA7-A5C6-45CF8ACBD1E0}"/>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D6806ECD-2634-8BAC-B255-F0B3D39EB116}"/>
              </a:ext>
            </a:extLst>
          </p:cNvPr>
          <p:cNvSpPr>
            <a:spLocks noGrp="1"/>
          </p:cNvSpPr>
          <p:nvPr>
            <p:ph type="sldNum" sz="quarter" idx="12"/>
          </p:nvPr>
        </p:nvSpPr>
        <p:spPr/>
        <p:txBody>
          <a:bodyPr/>
          <a:lstStyle/>
          <a:p>
            <a:fld id="{FACB5482-D393-4E2D-8FB7-B68A06B80F1E}" type="slidenum">
              <a:rPr lang="en-IN" smtClean="0"/>
              <a:t>45</a:t>
            </a:fld>
            <a:endParaRPr lang="en-IN"/>
          </a:p>
        </p:txBody>
      </p:sp>
    </p:spTree>
    <p:extLst>
      <p:ext uri="{BB962C8B-B14F-4D97-AF65-F5344CB8AC3E}">
        <p14:creationId xmlns:p14="http://schemas.microsoft.com/office/powerpoint/2010/main" val="2437341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5" name="Picture 4">
            <a:extLst>
              <a:ext uri="{FF2B5EF4-FFF2-40B4-BE49-F238E27FC236}">
                <a16:creationId xmlns:a16="http://schemas.microsoft.com/office/drawing/2014/main" id="{EDD0EECC-6FF5-A403-244F-A86196F4791B}"/>
              </a:ext>
            </a:extLst>
          </p:cNvPr>
          <p:cNvPicPr>
            <a:picLocks noChangeAspect="1"/>
          </p:cNvPicPr>
          <p:nvPr/>
        </p:nvPicPr>
        <p:blipFill>
          <a:blip r:embed="rId3"/>
          <a:srcRect/>
          <a:stretch/>
        </p:blipFill>
        <p:spPr>
          <a:xfrm>
            <a:off x="822959" y="1810914"/>
            <a:ext cx="6118774" cy="4921305"/>
          </a:xfrm>
          <a:prstGeom prst="rect">
            <a:avLst/>
          </a:prstGeom>
        </p:spPr>
      </p:pic>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133" name="Google Shape;133;p5" descr="Closed book with solid fill"/>
          <p:cNvPicPr preferRelativeResize="0"/>
          <p:nvPr/>
        </p:nvPicPr>
        <p:blipFill rotWithShape="1">
          <a:blip r:embed="rId4">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9448800" y="6078114"/>
            <a:ext cx="2479040"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app.py – complete code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Migrate database</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9BAB0767-F6D7-A905-E1C3-849142A7392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1D1882E-2A55-72F5-99B7-972D996802D2}"/>
              </a:ext>
            </a:extLst>
          </p:cNvPr>
          <p:cNvSpPr>
            <a:spLocks noGrp="1"/>
          </p:cNvSpPr>
          <p:nvPr>
            <p:ph type="sldNum" sz="quarter" idx="12"/>
          </p:nvPr>
        </p:nvSpPr>
        <p:spPr/>
        <p:txBody>
          <a:bodyPr/>
          <a:lstStyle/>
          <a:p>
            <a:fld id="{FACB5482-D393-4E2D-8FB7-B68A06B80F1E}" type="slidenum">
              <a:rPr lang="en-IN" smtClean="0"/>
              <a:t>46</a:t>
            </a:fld>
            <a:endParaRPr lang="en-IN"/>
          </a:p>
        </p:txBody>
      </p:sp>
    </p:spTree>
    <p:extLst>
      <p:ext uri="{BB962C8B-B14F-4D97-AF65-F5344CB8AC3E}">
        <p14:creationId xmlns:p14="http://schemas.microsoft.com/office/powerpoint/2010/main" val="670081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5078273"/>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Employee Management System</a:t>
            </a: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Scenario</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tasked with creating a simple Employee Management System using Flask. This system will store information about employees, including their names and positions within the company. </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Requirements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Set up a Flask Application</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Install Flask-Migrate</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Configure the Flask Application</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Initialize Alembic</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Create a Database Model for Employees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Generate an Initial Migration</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Apply Migrations</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M</a:t>
            </a:r>
            <a:r>
              <a:rPr lang="en-US" sz="2800" dirty="0">
                <a:solidFill>
                  <a:srgbClr val="000000"/>
                </a:solidFill>
                <a:latin typeface="Calibri"/>
                <a:ea typeface="Calibri"/>
                <a:cs typeface="Calibri"/>
                <a:sym typeface="Calibri"/>
              </a:rPr>
              <a:t>igrating databases using Alembic and Flask-migrate</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EAE0F5D9-0B4B-A1F8-F227-8B26975842E5}"/>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22E339D-0D80-086F-877A-5EF71D41E141}"/>
              </a:ext>
            </a:extLst>
          </p:cNvPr>
          <p:cNvSpPr>
            <a:spLocks noGrp="1"/>
          </p:cNvSpPr>
          <p:nvPr>
            <p:ph type="sldNum" sz="quarter" idx="12"/>
          </p:nvPr>
        </p:nvSpPr>
        <p:spPr/>
        <p:txBody>
          <a:bodyPr/>
          <a:lstStyle/>
          <a:p>
            <a:fld id="{FACB5482-D393-4E2D-8FB7-B68A06B80F1E}" type="slidenum">
              <a:rPr lang="en-IN" smtClean="0"/>
              <a:t>47</a:t>
            </a:fld>
            <a:endParaRPr lang="en-IN"/>
          </a:p>
        </p:txBody>
      </p:sp>
    </p:spTree>
    <p:extLst>
      <p:ext uri="{BB962C8B-B14F-4D97-AF65-F5344CB8AC3E}">
        <p14:creationId xmlns:p14="http://schemas.microsoft.com/office/powerpoint/2010/main" val="90484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25C4C0-C313-41AF-A83B-CC4C802C481D}"/>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DBA52DE4-5745-D681-6088-3F6D4C1542DE}"/>
              </a:ext>
            </a:extLst>
          </p:cNvPr>
          <p:cNvSpPr>
            <a:spLocks noGrp="1"/>
          </p:cNvSpPr>
          <p:nvPr>
            <p:ph type="sldNum" sz="quarter" idx="12"/>
          </p:nvPr>
        </p:nvSpPr>
        <p:spPr/>
        <p:txBody>
          <a:bodyPr/>
          <a:lstStyle/>
          <a:p>
            <a:fld id="{FACB5482-D393-4E2D-8FB7-B68A06B80F1E}" type="slidenum">
              <a:rPr lang="en-IN" smtClean="0"/>
              <a:t>48</a:t>
            </a:fld>
            <a:endParaRPr lang="en-IN"/>
          </a:p>
        </p:txBody>
      </p:sp>
      <p:sp>
        <p:nvSpPr>
          <p:cNvPr id="6" name="Google Shape;126;p4">
            <a:extLst>
              <a:ext uri="{FF2B5EF4-FFF2-40B4-BE49-F238E27FC236}">
                <a16:creationId xmlns:a16="http://schemas.microsoft.com/office/drawing/2014/main" id="{B04D6FDA-6B52-5D52-4F10-65A27A820D78}"/>
              </a:ext>
            </a:extLst>
          </p:cNvPr>
          <p:cNvSpPr txBox="1">
            <a:spLocks/>
          </p:cNvSpPr>
          <p:nvPr/>
        </p:nvSpPr>
        <p:spPr>
          <a:xfrm>
            <a:off x="480000" y="2494400"/>
            <a:ext cx="1160024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4"/>
            </a:pPr>
            <a:r>
              <a:rPr lang="en-US" sz="4000">
                <a:solidFill>
                  <a:srgbClr val="000000"/>
                </a:solidFill>
                <a:latin typeface="Calibri"/>
                <a:ea typeface="Calibri"/>
                <a:cs typeface="Calibri"/>
                <a:sym typeface="Calibri"/>
              </a:rPr>
              <a:t>Installing Required Packages with Mongo and Redis</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36001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Installing required packages with mongo and </a:t>
            </a:r>
            <a:r>
              <a:rPr lang="en-US" sz="2800" dirty="0" err="1">
                <a:latin typeface="Calibri"/>
                <a:ea typeface="Calibri"/>
                <a:cs typeface="Calibri"/>
                <a:sym typeface="Calibri"/>
              </a:rPr>
              <a:t>redis</a:t>
            </a:r>
            <a:endParaRPr lang="en-US" sz="2800" dirty="0">
              <a:solidFill>
                <a:srgbClr val="000000"/>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341627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MongoDB</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MongoDB is a NoSQL database that uses a document-oriented data model.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stores data in JSON-like documents with dynamic schemas.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Redis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Redis is an in-memory key-value store known for its high performance and versatility.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supports various data structures such as strings, hashes, lists, sets, and more.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Its a popular choice for caching and real-time analytics.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Definition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EDB84E8-A4AD-4840-3EC3-78AC0DDB528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D6F29EE-1191-A95D-AA36-ECABEC279052}"/>
              </a:ext>
            </a:extLst>
          </p:cNvPr>
          <p:cNvSpPr>
            <a:spLocks noGrp="1"/>
          </p:cNvSpPr>
          <p:nvPr>
            <p:ph type="sldNum" sz="quarter" idx="12"/>
          </p:nvPr>
        </p:nvSpPr>
        <p:spPr/>
        <p:txBody>
          <a:bodyPr/>
          <a:lstStyle/>
          <a:p>
            <a:fld id="{FACB5482-D393-4E2D-8FB7-B68A06B80F1E}" type="slidenum">
              <a:rPr lang="en-IN" smtClean="0"/>
              <a:t>49</a:t>
            </a:fld>
            <a:endParaRPr lang="en-IN"/>
          </a:p>
        </p:txBody>
      </p:sp>
    </p:spTree>
    <p:extLst>
      <p:ext uri="{BB962C8B-B14F-4D97-AF65-F5344CB8AC3E}">
        <p14:creationId xmlns:p14="http://schemas.microsoft.com/office/powerpoint/2010/main" val="2092379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Installing required packages with mongo and </a:t>
            </a:r>
            <a:r>
              <a:rPr lang="en-US" sz="2800" dirty="0" err="1">
                <a:latin typeface="Calibri"/>
                <a:ea typeface="Calibri"/>
                <a:cs typeface="Calibri"/>
                <a:sym typeface="Calibri"/>
              </a:rPr>
              <a:t>redis</a:t>
            </a:r>
            <a:endParaRPr lang="en-US" sz="2800" dirty="0">
              <a:solidFill>
                <a:srgbClr val="000000"/>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4662775"/>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1: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pip install Flask</a:t>
            </a: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2: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the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pymongo</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package for MongoDB.</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pip install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pymongo</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3:</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Install the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redis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package for Redis.</a:t>
            </a: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pip install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redis</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4 (optional):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PyMongo</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for easier integration with MongoDB.</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pip install Flask-</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PyMongo</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5 (optional):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Install ‘Flask-Redis’ for easier integration with Redis.</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pip install Flask-Redis</a:t>
            </a:r>
          </a:p>
          <a:p>
            <a:pPr marR="0" lvl="0" algn="just" rtl="0">
              <a:lnSpc>
                <a:spcPct val="150000"/>
              </a:lnSpc>
              <a:spcBef>
                <a:spcPts val="0"/>
              </a:spcBef>
              <a:spcAft>
                <a:spcPts val="0"/>
              </a:spcAft>
              <a:buClr>
                <a:srgbClr val="262626"/>
              </a:buClr>
              <a:buSzPts val="1800"/>
            </a:pPr>
            <a:r>
              <a:rPr lang="en-US" sz="1800" b="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Step 6: </a:t>
            </a:r>
            <a:r>
              <a:rPr lang="en-US" sz="180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Generate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 ‘requirements.txt’ file to keep track of your dependencies.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Steps to install mongo and </a:t>
            </a:r>
            <a:r>
              <a:rPr lang="en-US" sz="2400" dirty="0" err="1">
                <a:solidFill>
                  <a:schemeClr val="dk1"/>
                </a:solidFill>
                <a:latin typeface="Calibri"/>
                <a:ea typeface="Calibri"/>
                <a:cs typeface="Calibri"/>
                <a:sym typeface="Calibri"/>
              </a:rPr>
              <a:t>redis</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38C8B9F8-1FDA-AC62-315B-A3697B48CC4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0373674-A55B-922B-BF12-38D104E076F6}"/>
              </a:ext>
            </a:extLst>
          </p:cNvPr>
          <p:cNvSpPr>
            <a:spLocks noGrp="1"/>
          </p:cNvSpPr>
          <p:nvPr>
            <p:ph type="sldNum" sz="quarter" idx="12"/>
          </p:nvPr>
        </p:nvSpPr>
        <p:spPr/>
        <p:txBody>
          <a:bodyPr/>
          <a:lstStyle/>
          <a:p>
            <a:fld id="{FACB5482-D393-4E2D-8FB7-B68A06B80F1E}" type="slidenum">
              <a:rPr lang="en-IN" smtClean="0"/>
              <a:t>50</a:t>
            </a:fld>
            <a:endParaRPr lang="en-IN"/>
          </a:p>
        </p:txBody>
      </p:sp>
    </p:spTree>
    <p:extLst>
      <p:ext uri="{BB962C8B-B14F-4D97-AF65-F5344CB8AC3E}">
        <p14:creationId xmlns:p14="http://schemas.microsoft.com/office/powerpoint/2010/main" val="27465527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AE089E4-22C5-1093-A952-24BACA8B558B}"/>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B628E8A4-10A9-9F90-4F1B-525D756ACEFD}"/>
              </a:ext>
            </a:extLst>
          </p:cNvPr>
          <p:cNvSpPr>
            <a:spLocks noGrp="1"/>
          </p:cNvSpPr>
          <p:nvPr>
            <p:ph type="sldNum" sz="quarter" idx="12"/>
          </p:nvPr>
        </p:nvSpPr>
        <p:spPr/>
        <p:txBody>
          <a:bodyPr/>
          <a:lstStyle/>
          <a:p>
            <a:fld id="{FACB5482-D393-4E2D-8FB7-B68A06B80F1E}" type="slidenum">
              <a:rPr lang="en-IN" smtClean="0"/>
              <a:t>51</a:t>
            </a:fld>
            <a:endParaRPr lang="en-IN"/>
          </a:p>
        </p:txBody>
      </p:sp>
      <p:sp>
        <p:nvSpPr>
          <p:cNvPr id="6" name="Google Shape;126;p4">
            <a:extLst>
              <a:ext uri="{FF2B5EF4-FFF2-40B4-BE49-F238E27FC236}">
                <a16:creationId xmlns:a16="http://schemas.microsoft.com/office/drawing/2014/main" id="{C2B1FD41-F4D7-BDE9-0224-E72AC69A7364}"/>
              </a:ext>
            </a:extLst>
          </p:cNvPr>
          <p:cNvSpPr txBox="1">
            <a:spLocks/>
          </p:cNvSpPr>
          <p:nvPr/>
        </p:nvSpPr>
        <p:spPr>
          <a:xfrm>
            <a:off x="480000" y="2494400"/>
            <a:ext cx="1160024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5"/>
            </a:pPr>
            <a:r>
              <a:rPr lang="en-US" sz="4000">
                <a:solidFill>
                  <a:srgbClr val="000000"/>
                </a:solidFill>
                <a:latin typeface="Calibri"/>
                <a:ea typeface="Calibri"/>
                <a:cs typeface="Calibri"/>
                <a:sym typeface="Calibri"/>
              </a:rPr>
              <a:t>Indexing Model Data with Redis</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826098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1. Initialize Flask app and Redis client</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Steps</a:t>
            </a:r>
            <a:endParaRPr lang="en-US" sz="2400" dirty="0">
              <a:solidFill>
                <a:srgbClr val="262626"/>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23420C48-1137-06CA-7E6A-4BF4DC662DFE}"/>
              </a:ext>
            </a:extLst>
          </p:cNvPr>
          <p:cNvPicPr>
            <a:picLocks noChangeAspect="1"/>
          </p:cNvPicPr>
          <p:nvPr/>
        </p:nvPicPr>
        <p:blipFill>
          <a:blip r:embed="rId4"/>
          <a:stretch>
            <a:fillRect/>
          </a:stretch>
        </p:blipFill>
        <p:spPr>
          <a:xfrm>
            <a:off x="715257" y="2554096"/>
            <a:ext cx="7605784" cy="788274"/>
          </a:xfrm>
          <a:prstGeom prst="rect">
            <a:avLst/>
          </a:prstGeom>
        </p:spPr>
      </p:pic>
      <p:sp>
        <p:nvSpPr>
          <p:cNvPr id="3" name="Footer Placeholder 2">
            <a:extLst>
              <a:ext uri="{FF2B5EF4-FFF2-40B4-BE49-F238E27FC236}">
                <a16:creationId xmlns:a16="http://schemas.microsoft.com/office/drawing/2014/main" id="{776D19EF-B6EB-679C-AAE0-740D23B19A1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D8DA64D-EC4D-DF3D-E8B8-30E023FAE313}"/>
              </a:ext>
            </a:extLst>
          </p:cNvPr>
          <p:cNvSpPr>
            <a:spLocks noGrp="1"/>
          </p:cNvSpPr>
          <p:nvPr>
            <p:ph type="sldNum" sz="quarter" idx="12"/>
          </p:nvPr>
        </p:nvSpPr>
        <p:spPr/>
        <p:txBody>
          <a:bodyPr/>
          <a:lstStyle/>
          <a:p>
            <a:fld id="{FACB5482-D393-4E2D-8FB7-B68A06B80F1E}" type="slidenum">
              <a:rPr lang="en-IN" smtClean="0"/>
              <a:t>52</a:t>
            </a:fld>
            <a:endParaRPr lang="en-IN"/>
          </a:p>
        </p:txBody>
      </p:sp>
    </p:spTree>
    <p:extLst>
      <p:ext uri="{BB962C8B-B14F-4D97-AF65-F5344CB8AC3E}">
        <p14:creationId xmlns:p14="http://schemas.microsoft.com/office/powerpoint/2010/main" val="8357225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12002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 App: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is the Flask application instance.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Client: Redis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client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instance connected to a Redis server running on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localhost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port 6379 using database 0.</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Explanation</a:t>
            </a:r>
            <a:endParaRPr lang="en-US" sz="2400" dirty="0">
              <a:solidFill>
                <a:srgbClr val="262626"/>
              </a:solidFill>
              <a:latin typeface="Calibri"/>
              <a:ea typeface="Calibri"/>
              <a:cs typeface="Calibri"/>
              <a:sym typeface="Calibri"/>
            </a:endParaRPr>
          </a:p>
        </p:txBody>
      </p:sp>
      <p:pic>
        <p:nvPicPr>
          <p:cNvPr id="3" name="Google Shape;114;p2" descr="Information with solid fill">
            <a:extLst>
              <a:ext uri="{FF2B5EF4-FFF2-40B4-BE49-F238E27FC236}">
                <a16:creationId xmlns:a16="http://schemas.microsoft.com/office/drawing/2014/main" id="{69A6AB52-388B-F9D3-5340-9BCA5E4951B2}"/>
              </a:ext>
            </a:extLst>
          </p:cNvPr>
          <p:cNvPicPr preferRelativeResize="0"/>
          <p:nvPr/>
        </p:nvPicPr>
        <p:blipFill rotWithShape="1">
          <a:blip r:embed="rId4">
            <a:alphaModFix/>
          </a:blip>
          <a:srcRect/>
          <a:stretch/>
        </p:blipFill>
        <p:spPr>
          <a:xfrm>
            <a:off x="304799" y="3851360"/>
            <a:ext cx="506453" cy="506453"/>
          </a:xfrm>
          <a:prstGeom prst="rect">
            <a:avLst/>
          </a:prstGeom>
          <a:noFill/>
          <a:ln>
            <a:noFill/>
          </a:ln>
        </p:spPr>
      </p:pic>
      <p:sp>
        <p:nvSpPr>
          <p:cNvPr id="5" name="TextBox 4">
            <a:extLst>
              <a:ext uri="{FF2B5EF4-FFF2-40B4-BE49-F238E27FC236}">
                <a16:creationId xmlns:a16="http://schemas.microsoft.com/office/drawing/2014/main" id="{26C3637B-6C79-D2E1-3108-410D2634793D}"/>
              </a:ext>
            </a:extLst>
          </p:cNvPr>
          <p:cNvSpPr txBox="1"/>
          <p:nvPr/>
        </p:nvSpPr>
        <p:spPr>
          <a:xfrm>
            <a:off x="822959" y="3851360"/>
            <a:ext cx="10917694" cy="2126864"/>
          </a:xfrm>
          <a:prstGeom prst="rect">
            <a:avLst/>
          </a:prstGeom>
          <a:noFill/>
        </p:spPr>
        <p:txBody>
          <a:bodyPr wrap="square">
            <a:spAutoFit/>
          </a:bodyPr>
          <a:lstStyle/>
          <a:p>
            <a:pPr algn="just">
              <a:lnSpc>
                <a:spcPct val="150000"/>
              </a:lnSpc>
            </a:pPr>
            <a:r>
              <a:rPr lang="en-US" sz="1800" b="1" dirty="0" err="1">
                <a:latin typeface="Batang" panose="02030600000101010101" pitchFamily="18" charset="-127"/>
                <a:ea typeface="Batang" panose="02030600000101010101" pitchFamily="18" charset="-127"/>
                <a:cs typeface="Calibri" panose="020F0502020204030204" pitchFamily="34" charset="0"/>
              </a:rPr>
              <a:t>db</a:t>
            </a:r>
            <a:r>
              <a:rPr lang="en-US" sz="1800" b="1" dirty="0">
                <a:latin typeface="Batang" panose="02030600000101010101" pitchFamily="18" charset="-127"/>
                <a:ea typeface="Batang" panose="02030600000101010101" pitchFamily="18" charset="-127"/>
                <a:cs typeface="Calibri" panose="020F0502020204030204" pitchFamily="34" charset="0"/>
              </a:rPr>
              <a:t>=0</a:t>
            </a:r>
          </a:p>
          <a:p>
            <a:pPr marL="285750" indent="-285750" algn="just">
              <a:lnSpc>
                <a:spcPct val="150000"/>
              </a:lnSpc>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In Redis, the term "database 0" refers to the default database that Redis uses when a client connects.</a:t>
            </a:r>
          </a:p>
          <a:p>
            <a:pPr marL="285750" indent="-285750" algn="just">
              <a:lnSpc>
                <a:spcPct val="150000"/>
              </a:lnSpc>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Redis supports multiple databases, which are essentially namespaces for storing keys. </a:t>
            </a:r>
          </a:p>
          <a:p>
            <a:pPr marL="285750" indent="-285750" algn="just">
              <a:lnSpc>
                <a:spcPct val="150000"/>
              </a:lnSpc>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These databases are numbered starting from 0. </a:t>
            </a:r>
          </a:p>
          <a:p>
            <a:pPr marL="285750" indent="-285750" algn="just">
              <a:lnSpc>
                <a:spcPct val="150000"/>
              </a:lnSpc>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By default, Redis is configured to support 16 databases, numbered from 0 to 15.</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ABBA1C1D-54D0-B9A9-E56B-11BD1B25CDDD}"/>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8D4027E4-80F9-FE70-F3C1-DFEE5B59B83D}"/>
              </a:ext>
            </a:extLst>
          </p:cNvPr>
          <p:cNvSpPr>
            <a:spLocks noGrp="1"/>
          </p:cNvSpPr>
          <p:nvPr>
            <p:ph type="sldNum" sz="quarter" idx="12"/>
          </p:nvPr>
        </p:nvSpPr>
        <p:spPr/>
        <p:txBody>
          <a:bodyPr/>
          <a:lstStyle/>
          <a:p>
            <a:fld id="{FACB5482-D393-4E2D-8FB7-B68A06B80F1E}" type="slidenum">
              <a:rPr lang="en-IN" smtClean="0"/>
              <a:t>53</a:t>
            </a:fld>
            <a:endParaRPr lang="en-IN"/>
          </a:p>
        </p:txBody>
      </p:sp>
    </p:spTree>
    <p:extLst>
      <p:ext uri="{BB962C8B-B14F-4D97-AF65-F5344CB8AC3E}">
        <p14:creationId xmlns:p14="http://schemas.microsoft.com/office/powerpoint/2010/main" val="11933811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2. Construct Redis key</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Steps</a:t>
            </a:r>
            <a:endParaRPr lang="en-US" sz="2400" dirty="0">
              <a:solidFill>
                <a:srgbClr val="262626"/>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954C6053-3DBA-2D9E-1E6C-9F5D23F5BF22}"/>
              </a:ext>
            </a:extLst>
          </p:cNvPr>
          <p:cNvPicPr>
            <a:picLocks noChangeAspect="1"/>
          </p:cNvPicPr>
          <p:nvPr/>
        </p:nvPicPr>
        <p:blipFill>
          <a:blip r:embed="rId4"/>
          <a:stretch>
            <a:fillRect/>
          </a:stretch>
        </p:blipFill>
        <p:spPr>
          <a:xfrm>
            <a:off x="715255" y="2554095"/>
            <a:ext cx="6447545" cy="2492992"/>
          </a:xfrm>
          <a:prstGeom prst="rect">
            <a:avLst/>
          </a:prstGeom>
        </p:spPr>
      </p:pic>
      <p:sp>
        <p:nvSpPr>
          <p:cNvPr id="3" name="Footer Placeholder 2">
            <a:extLst>
              <a:ext uri="{FF2B5EF4-FFF2-40B4-BE49-F238E27FC236}">
                <a16:creationId xmlns:a16="http://schemas.microsoft.com/office/drawing/2014/main" id="{B7903F99-F0FF-7752-DB8E-15F5BE357C23}"/>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907973A-67FE-FBD1-FD78-A35228402897}"/>
              </a:ext>
            </a:extLst>
          </p:cNvPr>
          <p:cNvSpPr>
            <a:spLocks noGrp="1"/>
          </p:cNvSpPr>
          <p:nvPr>
            <p:ph type="sldNum" sz="quarter" idx="12"/>
          </p:nvPr>
        </p:nvSpPr>
        <p:spPr/>
        <p:txBody>
          <a:bodyPr/>
          <a:lstStyle/>
          <a:p>
            <a:fld id="{FACB5482-D393-4E2D-8FB7-B68A06B80F1E}" type="slidenum">
              <a:rPr lang="en-IN" smtClean="0"/>
              <a:t>54</a:t>
            </a:fld>
            <a:endParaRPr lang="en-IN"/>
          </a:p>
        </p:txBody>
      </p:sp>
    </p:spTree>
    <p:extLst>
      <p:ext uri="{BB962C8B-B14F-4D97-AF65-F5344CB8AC3E}">
        <p14:creationId xmlns:p14="http://schemas.microsoft.com/office/powerpoint/2010/main" val="4080523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175428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construct_redis_key</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function is designed to create a standardized and unique key format for storing and retrieving data in Redis.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This function helps organize and namespace the keys in Redis, making it easier to manage and avoid key collisions.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Explanation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ECAD319-C6EA-CEBB-1C79-EECAACF22CC4}"/>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75474DB-3289-53ED-13FD-2366B20049A7}"/>
              </a:ext>
            </a:extLst>
          </p:cNvPr>
          <p:cNvSpPr>
            <a:spLocks noGrp="1"/>
          </p:cNvSpPr>
          <p:nvPr>
            <p:ph type="sldNum" sz="quarter" idx="12"/>
          </p:nvPr>
        </p:nvSpPr>
        <p:spPr/>
        <p:txBody>
          <a:bodyPr/>
          <a:lstStyle/>
          <a:p>
            <a:fld id="{FACB5482-D393-4E2D-8FB7-B68A06B80F1E}" type="slidenum">
              <a:rPr lang="en-IN" smtClean="0"/>
              <a:t>55</a:t>
            </a:fld>
            <a:endParaRPr lang="en-IN"/>
          </a:p>
        </p:txBody>
      </p:sp>
    </p:spTree>
    <p:extLst>
      <p:ext uri="{BB962C8B-B14F-4D97-AF65-F5344CB8AC3E}">
        <p14:creationId xmlns:p14="http://schemas.microsoft.com/office/powerpoint/2010/main" val="1098006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Index user data</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Steps</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32BC0C3-3B53-6FC7-04B9-0C0BA5019BF8}"/>
              </a:ext>
            </a:extLst>
          </p:cNvPr>
          <p:cNvPicPr>
            <a:picLocks noChangeAspect="1"/>
          </p:cNvPicPr>
          <p:nvPr/>
        </p:nvPicPr>
        <p:blipFill>
          <a:blip r:embed="rId4"/>
          <a:stretch>
            <a:fillRect/>
          </a:stretch>
        </p:blipFill>
        <p:spPr>
          <a:xfrm>
            <a:off x="715255" y="2394774"/>
            <a:ext cx="7768475" cy="2410906"/>
          </a:xfrm>
          <a:prstGeom prst="rect">
            <a:avLst/>
          </a:prstGeom>
        </p:spPr>
      </p:pic>
      <p:sp>
        <p:nvSpPr>
          <p:cNvPr id="3" name="Footer Placeholder 2">
            <a:extLst>
              <a:ext uri="{FF2B5EF4-FFF2-40B4-BE49-F238E27FC236}">
                <a16:creationId xmlns:a16="http://schemas.microsoft.com/office/drawing/2014/main" id="{2E435896-0D1F-595E-14CB-46694EBC8087}"/>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82915942-DE80-16DF-AB4E-90AC40690699}"/>
              </a:ext>
            </a:extLst>
          </p:cNvPr>
          <p:cNvSpPr>
            <a:spLocks noGrp="1"/>
          </p:cNvSpPr>
          <p:nvPr>
            <p:ph type="sldNum" sz="quarter" idx="12"/>
          </p:nvPr>
        </p:nvSpPr>
        <p:spPr/>
        <p:txBody>
          <a:bodyPr/>
          <a:lstStyle/>
          <a:p>
            <a:fld id="{FACB5482-D393-4E2D-8FB7-B68A06B80F1E}" type="slidenum">
              <a:rPr lang="en-IN" smtClean="0"/>
              <a:t>56</a:t>
            </a:fld>
            <a:endParaRPr lang="en-IN"/>
          </a:p>
        </p:txBody>
      </p:sp>
    </p:spTree>
    <p:extLst>
      <p:ext uri="{BB962C8B-B14F-4D97-AF65-F5344CB8AC3E}">
        <p14:creationId xmlns:p14="http://schemas.microsoft.com/office/powerpoint/2010/main" val="1839003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452427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@app.route('/index', methods=['POST'])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This decorator defines a route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/index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that accepts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POST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requests.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index</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_</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user</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This function handles the request to index user data.</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request</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Access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 sent in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POST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request.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user_data</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['id']: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Extract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id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from the user data.</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construct_redis_key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Generate the Redis key using the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construct_redis_key</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function.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client.set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Store the user data in Redis with the generated key.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jsonify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Return a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response indicating success with a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201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status code.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Explanation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B097972F-AEA8-0510-F014-1FCCBAB0AB2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BE831ED-8C36-A1E3-2570-7A786FA7C27F}"/>
              </a:ext>
            </a:extLst>
          </p:cNvPr>
          <p:cNvSpPr>
            <a:spLocks noGrp="1"/>
          </p:cNvSpPr>
          <p:nvPr>
            <p:ph type="sldNum" sz="quarter" idx="12"/>
          </p:nvPr>
        </p:nvSpPr>
        <p:spPr/>
        <p:txBody>
          <a:bodyPr/>
          <a:lstStyle/>
          <a:p>
            <a:fld id="{FACB5482-D393-4E2D-8FB7-B68A06B80F1E}" type="slidenum">
              <a:rPr lang="en-IN" smtClean="0"/>
              <a:t>57</a:t>
            </a:fld>
            <a:endParaRPr lang="en-IN"/>
          </a:p>
        </p:txBody>
      </p:sp>
    </p:spTree>
    <p:extLst>
      <p:ext uri="{BB962C8B-B14F-4D97-AF65-F5344CB8AC3E}">
        <p14:creationId xmlns:p14="http://schemas.microsoft.com/office/powerpoint/2010/main" val="1809231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8609"/>
            <a:ext cx="11019543"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4. Retrieve user data</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Steps</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32BC0C3-3B53-6FC7-04B9-0C0BA5019BF8}"/>
              </a:ext>
            </a:extLst>
          </p:cNvPr>
          <p:cNvPicPr>
            <a:picLocks noChangeAspect="1"/>
          </p:cNvPicPr>
          <p:nvPr/>
        </p:nvPicPr>
        <p:blipFill>
          <a:blip r:embed="rId4"/>
          <a:srcRect/>
          <a:stretch/>
        </p:blipFill>
        <p:spPr>
          <a:xfrm>
            <a:off x="715256" y="2394774"/>
            <a:ext cx="7687064" cy="2756346"/>
          </a:xfrm>
          <a:prstGeom prst="rect">
            <a:avLst/>
          </a:prstGeom>
        </p:spPr>
      </p:pic>
      <p:sp>
        <p:nvSpPr>
          <p:cNvPr id="3" name="Footer Placeholder 2">
            <a:extLst>
              <a:ext uri="{FF2B5EF4-FFF2-40B4-BE49-F238E27FC236}">
                <a16:creationId xmlns:a16="http://schemas.microsoft.com/office/drawing/2014/main" id="{998DA7B9-54B7-E934-328D-951C940FB4FD}"/>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D977FB7A-02B6-0C71-C5E7-743DC29E489D}"/>
              </a:ext>
            </a:extLst>
          </p:cNvPr>
          <p:cNvSpPr>
            <a:spLocks noGrp="1"/>
          </p:cNvSpPr>
          <p:nvPr>
            <p:ph type="sldNum" sz="quarter" idx="12"/>
          </p:nvPr>
        </p:nvSpPr>
        <p:spPr/>
        <p:txBody>
          <a:bodyPr/>
          <a:lstStyle/>
          <a:p>
            <a:fld id="{FACB5482-D393-4E2D-8FB7-B68A06B80F1E}" type="slidenum">
              <a:rPr lang="en-IN" smtClean="0"/>
              <a:t>58</a:t>
            </a:fld>
            <a:endParaRPr lang="en-IN"/>
          </a:p>
        </p:txBody>
      </p:sp>
    </p:spTree>
    <p:extLst>
      <p:ext uri="{BB962C8B-B14F-4D97-AF65-F5344CB8AC3E}">
        <p14:creationId xmlns:p14="http://schemas.microsoft.com/office/powerpoint/2010/main" val="36598104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452427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@app.route('/user/&lt;user_id&gt;', methods=['GET'])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This decorator defines a route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/user/&lt;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user_id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&gt;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that accepts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GET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requests</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&lt;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user_id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&gt;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is a variable part of the URL that will be passed to the function.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get_user</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This function handles the request to retrieve user data.</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construct_redis_key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Generate the Redis key using the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construct_redis_key</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function.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client.get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Retrieve the user data from Redis using the generated key.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json.loads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Parse the retrieved JSON data back into a Python dictionary.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jsonify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Return the user data as a JSON response if found, otherwise return an error message with a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404</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status code.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Explanation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9BE58526-7FDF-822D-2FCA-CA637EEE0ED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B78D3D2-A7EC-6F52-086B-8D36F34C5DDE}"/>
              </a:ext>
            </a:extLst>
          </p:cNvPr>
          <p:cNvSpPr>
            <a:spLocks noGrp="1"/>
          </p:cNvSpPr>
          <p:nvPr>
            <p:ph type="sldNum" sz="quarter" idx="12"/>
          </p:nvPr>
        </p:nvSpPr>
        <p:spPr/>
        <p:txBody>
          <a:bodyPr/>
          <a:lstStyle/>
          <a:p>
            <a:fld id="{FACB5482-D393-4E2D-8FB7-B68A06B80F1E}" type="slidenum">
              <a:rPr lang="en-IN" smtClean="0"/>
              <a:t>59</a:t>
            </a:fld>
            <a:endParaRPr lang="en-IN"/>
          </a:p>
        </p:txBody>
      </p:sp>
    </p:spTree>
    <p:extLst>
      <p:ext uri="{BB962C8B-B14F-4D97-AF65-F5344CB8AC3E}">
        <p14:creationId xmlns:p14="http://schemas.microsoft.com/office/powerpoint/2010/main" val="628504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5078273"/>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Note Repo</a:t>
            </a: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Scenario</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a developer tasked with creating a simple web application using Flask and Redis. The application will allow users to store and retrieve notes. Each note will have a unique identifier (ID), a title and a content field. Your task is to implement the necessary routes to index (store) and retrieve notes using Redis as the backend data store.</a:t>
            </a: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Requirements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Set up a basic Flask application.</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Integrate Redis to store and retrieve note data.</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POST - /note: Endpoint to store a new note.</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GET - /note/&lt;</a:t>
            </a:r>
            <a:r>
              <a:rPr lang="en-US" sz="1600" dirty="0" err="1">
                <a:latin typeface="Calibri" panose="020F0502020204030204" pitchFamily="34" charset="0"/>
                <a:ea typeface="Calibri" panose="020F0502020204030204" pitchFamily="34" charset="0"/>
                <a:cs typeface="Calibri" panose="020F0502020204030204" pitchFamily="34" charset="0"/>
              </a:rPr>
              <a:t>note_id</a:t>
            </a:r>
            <a:r>
              <a:rPr lang="en-US" sz="1600" dirty="0">
                <a:latin typeface="Calibri" panose="020F0502020204030204" pitchFamily="34" charset="0"/>
                <a:ea typeface="Calibri" panose="020F0502020204030204" pitchFamily="34" charset="0"/>
                <a:cs typeface="Calibri" panose="020F0502020204030204" pitchFamily="34" charset="0"/>
              </a:rPr>
              <a:t>&gt;: Endpoint to retrieve a note by its ID.</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Use Postman at the endpoints to test Flask-</a:t>
            </a:r>
            <a:r>
              <a:rPr lang="en-US" sz="1600" dirty="0" err="1">
                <a:latin typeface="Calibri" panose="020F0502020204030204" pitchFamily="34" charset="0"/>
                <a:ea typeface="Calibri" panose="020F0502020204030204" pitchFamily="34" charset="0"/>
                <a:cs typeface="Calibri" panose="020F0502020204030204" pitchFamily="34" charset="0"/>
              </a:rPr>
              <a:t>redis</a:t>
            </a:r>
            <a:r>
              <a:rPr lang="en-US" sz="1600" dirty="0">
                <a:latin typeface="Calibri" panose="020F0502020204030204" pitchFamily="34" charset="0"/>
                <a:ea typeface="Calibri" panose="020F0502020204030204" pitchFamily="34" charset="0"/>
                <a:cs typeface="Calibri" panose="020F0502020204030204" pitchFamily="34" charset="0"/>
              </a:rPr>
              <a:t> application.</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217A5FB4-3E83-7F18-E258-6A7490DD197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8BC7E97-751B-55AB-970C-D6F8F89D760D}"/>
              </a:ext>
            </a:extLst>
          </p:cNvPr>
          <p:cNvSpPr>
            <a:spLocks noGrp="1"/>
          </p:cNvSpPr>
          <p:nvPr>
            <p:ph type="sldNum" sz="quarter" idx="12"/>
          </p:nvPr>
        </p:nvSpPr>
        <p:spPr/>
        <p:txBody>
          <a:bodyPr/>
          <a:lstStyle/>
          <a:p>
            <a:fld id="{FACB5482-D393-4E2D-8FB7-B68A06B80F1E}" type="slidenum">
              <a:rPr lang="en-IN" smtClean="0"/>
              <a:t>60</a:t>
            </a:fld>
            <a:endParaRPr lang="en-IN"/>
          </a:p>
        </p:txBody>
      </p:sp>
    </p:spTree>
    <p:extLst>
      <p:ext uri="{BB962C8B-B14F-4D97-AF65-F5344CB8AC3E}">
        <p14:creationId xmlns:p14="http://schemas.microsoft.com/office/powerpoint/2010/main" val="2837741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C60A64-357C-8F06-AF15-58F082B27896}"/>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19309226-501F-2E83-9FD7-51C97B8681B6}"/>
              </a:ext>
            </a:extLst>
          </p:cNvPr>
          <p:cNvSpPr>
            <a:spLocks noGrp="1"/>
          </p:cNvSpPr>
          <p:nvPr>
            <p:ph type="sldNum" sz="quarter" idx="12"/>
          </p:nvPr>
        </p:nvSpPr>
        <p:spPr/>
        <p:txBody>
          <a:bodyPr/>
          <a:lstStyle/>
          <a:p>
            <a:fld id="{FACB5482-D393-4E2D-8FB7-B68A06B80F1E}" type="slidenum">
              <a:rPr lang="en-IN" smtClean="0"/>
              <a:t>61</a:t>
            </a:fld>
            <a:endParaRPr lang="en-IN"/>
          </a:p>
        </p:txBody>
      </p:sp>
      <p:sp>
        <p:nvSpPr>
          <p:cNvPr id="6" name="Google Shape;126;p4">
            <a:extLst>
              <a:ext uri="{FF2B5EF4-FFF2-40B4-BE49-F238E27FC236}">
                <a16:creationId xmlns:a16="http://schemas.microsoft.com/office/drawing/2014/main" id="{220166F3-4528-0FD4-20F5-DC3689DE832E}"/>
              </a:ext>
            </a:extLst>
          </p:cNvPr>
          <p:cNvSpPr txBox="1">
            <a:spLocks/>
          </p:cNvSpPr>
          <p:nvPr/>
        </p:nvSpPr>
        <p:spPr>
          <a:xfrm>
            <a:off x="480000" y="2494400"/>
            <a:ext cx="1160024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6"/>
            </a:pPr>
            <a:r>
              <a:rPr lang="en-US" sz="4000">
                <a:solidFill>
                  <a:srgbClr val="000000"/>
                </a:solidFill>
                <a:latin typeface="Calibri"/>
                <a:ea typeface="Calibri"/>
                <a:cs typeface="Calibri"/>
                <a:sym typeface="Calibri"/>
              </a:rPr>
              <a:t>Opting for the NoSQL Way with MongoDB</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899916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341627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NoSQL databases provide a way to store and retrieve data that is modeled in means other than the tabular relations used in relational databases. MongoDB is a popular NoSQL database that stores data in flexible, JSON-like documents, allowing for dynamic schemas.</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Benefits of MongoDB</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Scalability: Horizontally scalable using sharding.</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Flexibility: Schema-less design allows for easy evolution of data models.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Performance: Efficiently handles large volumes of data.</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NoSQL</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8FA8805-8742-B932-4E1A-E24F2F4B28AC}"/>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8027E4B-EC05-4F62-C9B5-1131534F2E82}"/>
              </a:ext>
            </a:extLst>
          </p:cNvPr>
          <p:cNvSpPr>
            <a:spLocks noGrp="1"/>
          </p:cNvSpPr>
          <p:nvPr>
            <p:ph type="sldNum" sz="quarter" idx="12"/>
          </p:nvPr>
        </p:nvSpPr>
        <p:spPr/>
        <p:txBody>
          <a:bodyPr/>
          <a:lstStyle/>
          <a:p>
            <a:fld id="{FACB5482-D393-4E2D-8FB7-B68A06B80F1E}" type="slidenum">
              <a:rPr lang="en-IN" smtClean="0"/>
              <a:t>62</a:t>
            </a:fld>
            <a:endParaRPr lang="en-IN"/>
          </a:p>
        </p:txBody>
      </p:sp>
    </p:spTree>
    <p:extLst>
      <p:ext uri="{BB962C8B-B14F-4D97-AF65-F5344CB8AC3E}">
        <p14:creationId xmlns:p14="http://schemas.microsoft.com/office/powerpoint/2010/main" val="1968153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4662775"/>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NoSQL databases provide a way to store and retrieve data that is modeled in means other than the tabular relations used in relational databases. MongoDB is a popular NoSQL database that stores data in flexible, JSON-like documents, allowing for dynamic schemas.</a:t>
            </a:r>
          </a:p>
          <a:p>
            <a:pPr marR="0" lvl="0" algn="just" rtl="0">
              <a:lnSpc>
                <a:spcPct val="15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Benefits of MongoDB</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Scalability: Horizontally scalable using sharding.</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Flexibility: Schema-less design allows for easy evolution of data models.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Performance: Efficiently handles large volumes of data.</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Download MongoDB Community Server - </a:t>
            </a:r>
            <a:r>
              <a:rPr lang="en-US" sz="1800" u="sng" dirty="0">
                <a:solidFill>
                  <a:srgbClr val="0070C0"/>
                </a:solidFill>
                <a:latin typeface="Calibri" panose="020F0502020204030204" pitchFamily="34" charset="0"/>
                <a:ea typeface="Calibri" panose="020F0502020204030204" pitchFamily="34" charset="0"/>
                <a:cs typeface="Calibri" panose="020F0502020204030204" pitchFamily="34" charset="0"/>
                <a:sym typeface="Calibri"/>
              </a:rPr>
              <a:t>https://www.mongodb.com/try/download/community</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NoSQL</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0D57F9B5-C46B-E1CF-7E4C-968F081B7C4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99D1152-DBAB-8D55-BFB5-749298F85D18}"/>
              </a:ext>
            </a:extLst>
          </p:cNvPr>
          <p:cNvSpPr>
            <a:spLocks noGrp="1"/>
          </p:cNvSpPr>
          <p:nvPr>
            <p:ph type="sldNum" sz="quarter" idx="12"/>
          </p:nvPr>
        </p:nvSpPr>
        <p:spPr/>
        <p:txBody>
          <a:bodyPr/>
          <a:lstStyle/>
          <a:p>
            <a:fld id="{FACB5482-D393-4E2D-8FB7-B68A06B80F1E}" type="slidenum">
              <a:rPr lang="en-IN" smtClean="0"/>
              <a:t>63</a:t>
            </a:fld>
            <a:endParaRPr lang="en-IN"/>
          </a:p>
        </p:txBody>
      </p:sp>
    </p:spTree>
    <p:extLst>
      <p:ext uri="{BB962C8B-B14F-4D97-AF65-F5344CB8AC3E}">
        <p14:creationId xmlns:p14="http://schemas.microsoft.com/office/powerpoint/2010/main" val="26720267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300078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CRUD stands for Create, Read, Update, and Delete. </a:t>
            </a:r>
          </a:p>
          <a:p>
            <a:pPr marR="0" lvl="0" algn="just" rtl="0">
              <a:lnSpc>
                <a:spcPct val="150000"/>
              </a:lnSpc>
              <a:spcBef>
                <a:spcPts val="0"/>
              </a:spcBef>
              <a:spcAft>
                <a:spcPts val="0"/>
              </a:spcAft>
              <a:buClr>
                <a:srgbClr val="262626"/>
              </a:buClr>
              <a:buSzPts val="1800"/>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It's a set of basic operations used in databases and data management: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Create: Adding new data records.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Read: Retrieving data from the database.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Update: Modifying existing data records.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Delete: Removing data records from the database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Flask application with MongoDB – CRUD operations</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555B2F6-C0BA-9DA0-07F5-76354FA5226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64515F5-5328-ACAB-0068-CA81BE3F35ED}"/>
              </a:ext>
            </a:extLst>
          </p:cNvPr>
          <p:cNvSpPr>
            <a:spLocks noGrp="1"/>
          </p:cNvSpPr>
          <p:nvPr>
            <p:ph type="sldNum" sz="quarter" idx="12"/>
          </p:nvPr>
        </p:nvSpPr>
        <p:spPr/>
        <p:txBody>
          <a:bodyPr/>
          <a:lstStyle/>
          <a:p>
            <a:fld id="{FACB5482-D393-4E2D-8FB7-B68A06B80F1E}" type="slidenum">
              <a:rPr lang="en-IN" smtClean="0"/>
              <a:t>64</a:t>
            </a:fld>
            <a:endParaRPr lang="en-IN"/>
          </a:p>
        </p:txBody>
      </p:sp>
    </p:spTree>
    <p:extLst>
      <p:ext uri="{BB962C8B-B14F-4D97-AF65-F5344CB8AC3E}">
        <p14:creationId xmlns:p14="http://schemas.microsoft.com/office/powerpoint/2010/main" val="3404597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2169784"/>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Steps</a:t>
            </a:r>
          </a:p>
          <a:p>
            <a:pPr marL="342900" marR="0" lvl="0" indent="-342900" algn="just" rtl="0">
              <a:lnSpc>
                <a:spcPct val="150000"/>
              </a:lnSpc>
              <a:spcBef>
                <a:spcPts val="0"/>
              </a:spcBef>
              <a:spcAft>
                <a:spcPts val="0"/>
              </a:spcAft>
              <a:buClr>
                <a:srgbClr val="262626"/>
              </a:buClr>
              <a:buSzPts val="1800"/>
              <a:buFont typeface="+mj-lt"/>
              <a:buAutoNum type="arabicPeriod"/>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Creating a Flask Application</a:t>
            </a:r>
          </a:p>
          <a:p>
            <a:pPr marL="342900" marR="0" lvl="0" indent="-342900" algn="just" rtl="0">
              <a:lnSpc>
                <a:spcPct val="150000"/>
              </a:lnSpc>
              <a:spcBef>
                <a:spcPts val="0"/>
              </a:spcBef>
              <a:spcAft>
                <a:spcPts val="0"/>
              </a:spcAft>
              <a:buClr>
                <a:srgbClr val="262626"/>
              </a:buClr>
              <a:buSzPts val="1800"/>
              <a:buFont typeface="+mj-lt"/>
              <a:buAutoNum type="arabicPeriod"/>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Connecting Flask with MongoDB</a:t>
            </a:r>
          </a:p>
          <a:p>
            <a:pPr marL="342900" marR="0" lvl="0" indent="-342900" algn="just" rtl="0">
              <a:lnSpc>
                <a:spcPct val="150000"/>
              </a:lnSpc>
              <a:spcBef>
                <a:spcPts val="0"/>
              </a:spcBef>
              <a:spcAft>
                <a:spcPts val="0"/>
              </a:spcAft>
              <a:buClr>
                <a:srgbClr val="262626"/>
              </a:buClr>
              <a:buSzPts val="1800"/>
              <a:buFont typeface="+mj-lt"/>
              <a:buAutoNum type="arabicPeriod"/>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CRUD Operations with Flask and MongoDB</a:t>
            </a:r>
          </a:p>
          <a:p>
            <a:pPr marL="342900" marR="0" lvl="0" indent="-342900" algn="just" rtl="0">
              <a:lnSpc>
                <a:spcPct val="150000"/>
              </a:lnSpc>
              <a:spcBef>
                <a:spcPts val="0"/>
              </a:spcBef>
              <a:spcAft>
                <a:spcPts val="0"/>
              </a:spcAft>
              <a:buClr>
                <a:srgbClr val="262626"/>
              </a:buClr>
              <a:buSzPts val="1800"/>
              <a:buFont typeface="+mj-lt"/>
              <a:buAutoNum type="arabicPeriod"/>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Handling Data with Flask and MongoDB</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CB11ABFD-D882-0C09-C474-5BB92C80098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0780E28-61FD-7C3D-1FDB-C82D947A69B5}"/>
              </a:ext>
            </a:extLst>
          </p:cNvPr>
          <p:cNvSpPr>
            <a:spLocks noGrp="1"/>
          </p:cNvSpPr>
          <p:nvPr>
            <p:ph type="sldNum" sz="quarter" idx="12"/>
          </p:nvPr>
        </p:nvSpPr>
        <p:spPr/>
        <p:txBody>
          <a:bodyPr/>
          <a:lstStyle/>
          <a:p>
            <a:fld id="{FACB5482-D393-4E2D-8FB7-B68A06B80F1E}" type="slidenum">
              <a:rPr lang="en-IN" smtClean="0"/>
              <a:t>65</a:t>
            </a:fld>
            <a:endParaRPr lang="en-IN"/>
          </a:p>
        </p:txBody>
      </p:sp>
    </p:spTree>
    <p:extLst>
      <p:ext uri="{BB962C8B-B14F-4D97-AF65-F5344CB8AC3E}">
        <p14:creationId xmlns:p14="http://schemas.microsoft.com/office/powerpoint/2010/main" val="27287887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50779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262626"/>
              </a:buClr>
              <a:buSzPts val="1800"/>
              <a:buAutoNum type="arabicPeriod"/>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Creating a Flask Application</a:t>
            </a: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BD582ED8-9FE0-5B81-B5D4-378E08604EA1}"/>
              </a:ext>
            </a:extLst>
          </p:cNvPr>
          <p:cNvPicPr>
            <a:picLocks noChangeAspect="1"/>
          </p:cNvPicPr>
          <p:nvPr/>
        </p:nvPicPr>
        <p:blipFill>
          <a:blip r:embed="rId4"/>
          <a:stretch>
            <a:fillRect/>
          </a:stretch>
        </p:blipFill>
        <p:spPr>
          <a:xfrm>
            <a:off x="822959" y="2349634"/>
            <a:ext cx="6496957" cy="3343742"/>
          </a:xfrm>
          <a:prstGeom prst="rect">
            <a:avLst/>
          </a:prstGeom>
        </p:spPr>
      </p:pic>
      <p:sp>
        <p:nvSpPr>
          <p:cNvPr id="3" name="Footer Placeholder 2">
            <a:extLst>
              <a:ext uri="{FF2B5EF4-FFF2-40B4-BE49-F238E27FC236}">
                <a16:creationId xmlns:a16="http://schemas.microsoft.com/office/drawing/2014/main" id="{743D8C03-C105-46AB-BCE1-83D3417CA15E}"/>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9F1F917-9231-EF2E-E84B-BCF6FB855089}"/>
              </a:ext>
            </a:extLst>
          </p:cNvPr>
          <p:cNvSpPr>
            <a:spLocks noGrp="1"/>
          </p:cNvSpPr>
          <p:nvPr>
            <p:ph type="sldNum" sz="quarter" idx="12"/>
          </p:nvPr>
        </p:nvSpPr>
        <p:spPr/>
        <p:txBody>
          <a:bodyPr/>
          <a:lstStyle/>
          <a:p>
            <a:fld id="{FACB5482-D393-4E2D-8FB7-B68A06B80F1E}" type="slidenum">
              <a:rPr lang="en-IN" smtClean="0"/>
              <a:t>66</a:t>
            </a:fld>
            <a:endParaRPr lang="en-IN"/>
          </a:p>
        </p:txBody>
      </p:sp>
    </p:spTree>
    <p:extLst>
      <p:ext uri="{BB962C8B-B14F-4D97-AF65-F5344CB8AC3E}">
        <p14:creationId xmlns:p14="http://schemas.microsoft.com/office/powerpoint/2010/main" val="29363005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4524275"/>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2. Connecting Flask with MongoDB</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Update app.py to define a collection:</a:t>
            </a:r>
          </a:p>
          <a:p>
            <a:pPr marR="0" lvl="0" algn="just" rtl="0">
              <a:lnSpc>
                <a:spcPct val="200000"/>
              </a:lnSpc>
              <a:spcBef>
                <a:spcPts val="0"/>
              </a:spcBef>
              <a:spcAft>
                <a:spcPts val="0"/>
              </a:spcAft>
              <a:buClr>
                <a:srgbClr val="262626"/>
              </a:buClr>
              <a:buSzPts val="1800"/>
            </a:pPr>
            <a:r>
              <a:rPr lang="en-US" sz="1800" dirty="0">
                <a:solidFill>
                  <a:schemeClr val="tx1"/>
                </a:solidFill>
                <a:latin typeface="Batang" panose="02030600000101010101" pitchFamily="18" charset="-127"/>
                <a:ea typeface="Batang" panose="02030600000101010101" pitchFamily="18" charset="-127"/>
                <a:cs typeface="Calibri" panose="020F0502020204030204" pitchFamily="34" charset="0"/>
                <a:sym typeface="Calibri"/>
              </a:rPr>
              <a:t>	collection = </a:t>
            </a:r>
            <a:r>
              <a:rPr lang="en-US" sz="1800" dirty="0" err="1">
                <a:solidFill>
                  <a:schemeClr val="tx1"/>
                </a:solidFill>
                <a:latin typeface="Batang" panose="02030600000101010101" pitchFamily="18" charset="-127"/>
                <a:ea typeface="Batang" panose="02030600000101010101" pitchFamily="18" charset="-127"/>
                <a:cs typeface="Calibri" panose="020F0502020204030204" pitchFamily="34" charset="0"/>
                <a:sym typeface="Calibri"/>
              </a:rPr>
              <a:t>db</a:t>
            </a:r>
            <a:r>
              <a:rPr lang="en-US" sz="1800" dirty="0">
                <a:solidFill>
                  <a:schemeClr val="tx1"/>
                </a:solidFill>
                <a:latin typeface="Batang" panose="02030600000101010101" pitchFamily="18" charset="-127"/>
                <a:ea typeface="Batang" panose="02030600000101010101" pitchFamily="18" charset="-127"/>
                <a:cs typeface="Calibri" panose="020F0502020204030204" pitchFamily="34" charset="0"/>
                <a:sym typeface="Calibri"/>
              </a:rPr>
              <a:t>['users’]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MongoDB configuration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OFC  - MongoDB database name.</a:t>
            </a:r>
          </a:p>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EMP – MongoDB collection name.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3E7039AC-C792-07BC-D478-C0BB8BB595D0}"/>
              </a:ext>
            </a:extLst>
          </p:cNvPr>
          <p:cNvPicPr>
            <a:picLocks noChangeAspect="1"/>
          </p:cNvPicPr>
          <p:nvPr/>
        </p:nvPicPr>
        <p:blipFill>
          <a:blip r:embed="rId4"/>
          <a:stretch>
            <a:fillRect/>
          </a:stretch>
        </p:blipFill>
        <p:spPr>
          <a:xfrm>
            <a:off x="969256" y="4073051"/>
            <a:ext cx="5725324" cy="914528"/>
          </a:xfrm>
          <a:prstGeom prst="rect">
            <a:avLst/>
          </a:prstGeom>
        </p:spPr>
      </p:pic>
      <p:pic>
        <p:nvPicPr>
          <p:cNvPr id="7" name="Google Shape;114;p2" descr="Information with solid fill">
            <a:extLst>
              <a:ext uri="{FF2B5EF4-FFF2-40B4-BE49-F238E27FC236}">
                <a16:creationId xmlns:a16="http://schemas.microsoft.com/office/drawing/2014/main" id="{F8BC1DB4-8D4D-4014-90A0-2B63E2F66A65}"/>
              </a:ext>
            </a:extLst>
          </p:cNvPr>
          <p:cNvPicPr preferRelativeResize="0"/>
          <p:nvPr/>
        </p:nvPicPr>
        <p:blipFill rotWithShape="1">
          <a:blip r:embed="rId5">
            <a:alphaModFix/>
          </a:blip>
          <a:srcRect/>
          <a:stretch/>
        </p:blipFill>
        <p:spPr>
          <a:xfrm>
            <a:off x="304799" y="5228261"/>
            <a:ext cx="506453" cy="506453"/>
          </a:xfrm>
          <a:prstGeom prst="rect">
            <a:avLst/>
          </a:prstGeom>
          <a:noFill/>
          <a:ln>
            <a:noFill/>
          </a:ln>
        </p:spPr>
      </p:pic>
      <p:sp>
        <p:nvSpPr>
          <p:cNvPr id="3" name="Footer Placeholder 2">
            <a:extLst>
              <a:ext uri="{FF2B5EF4-FFF2-40B4-BE49-F238E27FC236}">
                <a16:creationId xmlns:a16="http://schemas.microsoft.com/office/drawing/2014/main" id="{E30BAE4B-B72F-D1CA-3472-5FC25248FCA7}"/>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177FABA3-B8D6-DBF0-5091-EE945FDD3762}"/>
              </a:ext>
            </a:extLst>
          </p:cNvPr>
          <p:cNvSpPr>
            <a:spLocks noGrp="1"/>
          </p:cNvSpPr>
          <p:nvPr>
            <p:ph type="sldNum" sz="quarter" idx="12"/>
          </p:nvPr>
        </p:nvSpPr>
        <p:spPr/>
        <p:txBody>
          <a:bodyPr/>
          <a:lstStyle/>
          <a:p>
            <a:fld id="{FACB5482-D393-4E2D-8FB7-B68A06B80F1E}" type="slidenum">
              <a:rPr lang="en-IN" smtClean="0"/>
              <a:t>67</a:t>
            </a:fld>
            <a:endParaRPr lang="en-IN"/>
          </a:p>
        </p:txBody>
      </p:sp>
    </p:spTree>
    <p:extLst>
      <p:ext uri="{BB962C8B-B14F-4D97-AF65-F5344CB8AC3E}">
        <p14:creationId xmlns:p14="http://schemas.microsoft.com/office/powerpoint/2010/main" val="2337257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1754286"/>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2. CRUD Operations with Flask and MongoDB</a:t>
            </a:r>
          </a:p>
          <a:p>
            <a:pPr marR="0" lvl="0" algn="just" rtl="0">
              <a:lnSpc>
                <a:spcPct val="20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Create: Already covered in the previous section</a:t>
            </a:r>
          </a:p>
          <a:p>
            <a:pPr marR="0" lvl="0" algn="just" rtl="0">
              <a:lnSpc>
                <a:spcPct val="20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3" name="Google Shape;108;p2">
            <a:extLst>
              <a:ext uri="{FF2B5EF4-FFF2-40B4-BE49-F238E27FC236}">
                <a16:creationId xmlns:a16="http://schemas.microsoft.com/office/drawing/2014/main" id="{7924C309-EFCF-1D46-366E-BC74C3AFD20B}"/>
              </a:ext>
            </a:extLst>
          </p:cNvPr>
          <p:cNvPicPr preferRelativeResize="0"/>
          <p:nvPr/>
        </p:nvPicPr>
        <p:blipFill rotWithShape="1">
          <a:blip r:embed="rId4">
            <a:alphaModFix/>
          </a:blip>
          <a:srcRect/>
          <a:stretch/>
        </p:blipFill>
        <p:spPr>
          <a:xfrm>
            <a:off x="346794" y="2517010"/>
            <a:ext cx="434169" cy="405125"/>
          </a:xfrm>
          <a:prstGeom prst="rect">
            <a:avLst/>
          </a:prstGeom>
          <a:noFill/>
          <a:ln>
            <a:noFill/>
          </a:ln>
        </p:spPr>
      </p:pic>
      <p:sp>
        <p:nvSpPr>
          <p:cNvPr id="4" name="Footer Placeholder 3">
            <a:extLst>
              <a:ext uri="{FF2B5EF4-FFF2-40B4-BE49-F238E27FC236}">
                <a16:creationId xmlns:a16="http://schemas.microsoft.com/office/drawing/2014/main" id="{71D1950F-BED0-818A-7FD2-C5992A4D4CA8}"/>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4724EBB2-DEA3-DF51-E380-BE18C3EDE940}"/>
              </a:ext>
            </a:extLst>
          </p:cNvPr>
          <p:cNvSpPr>
            <a:spLocks noGrp="1"/>
          </p:cNvSpPr>
          <p:nvPr>
            <p:ph type="sldNum" sz="quarter" idx="12"/>
          </p:nvPr>
        </p:nvSpPr>
        <p:spPr/>
        <p:txBody>
          <a:bodyPr/>
          <a:lstStyle/>
          <a:p>
            <a:fld id="{FACB5482-D393-4E2D-8FB7-B68A06B80F1E}" type="slidenum">
              <a:rPr lang="en-IN" smtClean="0"/>
              <a:t>68</a:t>
            </a:fld>
            <a:endParaRPr lang="en-IN"/>
          </a:p>
        </p:txBody>
      </p:sp>
    </p:spTree>
    <p:extLst>
      <p:ext uri="{BB962C8B-B14F-4D97-AF65-F5344CB8AC3E}">
        <p14:creationId xmlns:p14="http://schemas.microsoft.com/office/powerpoint/2010/main" val="13491439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2. CRUD Operations with Flask and MongoDB</a:t>
            </a:r>
          </a:p>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Add a route to retrieve all users.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311C7B9C-3617-D28B-DAB0-85A54A12CEE1}"/>
              </a:ext>
            </a:extLst>
          </p:cNvPr>
          <p:cNvPicPr>
            <a:picLocks noChangeAspect="1"/>
          </p:cNvPicPr>
          <p:nvPr/>
        </p:nvPicPr>
        <p:blipFill>
          <a:blip r:embed="rId4"/>
          <a:stretch>
            <a:fillRect/>
          </a:stretch>
        </p:blipFill>
        <p:spPr>
          <a:xfrm>
            <a:off x="715256" y="2723176"/>
            <a:ext cx="6277851" cy="1314633"/>
          </a:xfrm>
          <a:prstGeom prst="rect">
            <a:avLst/>
          </a:prstGeom>
        </p:spPr>
      </p:pic>
      <p:sp>
        <p:nvSpPr>
          <p:cNvPr id="3" name="Footer Placeholder 2">
            <a:extLst>
              <a:ext uri="{FF2B5EF4-FFF2-40B4-BE49-F238E27FC236}">
                <a16:creationId xmlns:a16="http://schemas.microsoft.com/office/drawing/2014/main" id="{F4F2070C-DE2B-B7C5-30AE-5B3B06F9895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95207AD-F0FC-CC32-467F-DCB23558163C}"/>
              </a:ext>
            </a:extLst>
          </p:cNvPr>
          <p:cNvSpPr>
            <a:spLocks noGrp="1"/>
          </p:cNvSpPr>
          <p:nvPr>
            <p:ph type="sldNum" sz="quarter" idx="12"/>
          </p:nvPr>
        </p:nvSpPr>
        <p:spPr/>
        <p:txBody>
          <a:bodyPr/>
          <a:lstStyle/>
          <a:p>
            <a:fld id="{FACB5482-D393-4E2D-8FB7-B68A06B80F1E}" type="slidenum">
              <a:rPr lang="en-IN" smtClean="0"/>
              <a:t>69</a:t>
            </a:fld>
            <a:endParaRPr lang="en-IN"/>
          </a:p>
        </p:txBody>
      </p:sp>
    </p:spTree>
    <p:extLst>
      <p:ext uri="{BB962C8B-B14F-4D97-AF65-F5344CB8AC3E}">
        <p14:creationId xmlns:p14="http://schemas.microsoft.com/office/powerpoint/2010/main" val="805308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2. CRUD Operations with Flask and MongoDB</a:t>
            </a:r>
          </a:p>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Add a route to retrieve all users.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FF63FCC-119B-116D-2436-EA6E3FA2E988}"/>
              </a:ext>
            </a:extLst>
          </p:cNvPr>
          <p:cNvPicPr>
            <a:picLocks noChangeAspect="1"/>
          </p:cNvPicPr>
          <p:nvPr/>
        </p:nvPicPr>
        <p:blipFill>
          <a:blip r:embed="rId4"/>
          <a:stretch>
            <a:fillRect/>
          </a:stretch>
        </p:blipFill>
        <p:spPr>
          <a:xfrm>
            <a:off x="715256" y="2803206"/>
            <a:ext cx="10745700" cy="1629002"/>
          </a:xfrm>
          <a:prstGeom prst="rect">
            <a:avLst/>
          </a:prstGeom>
        </p:spPr>
      </p:pic>
      <p:sp>
        <p:nvSpPr>
          <p:cNvPr id="3" name="Footer Placeholder 2">
            <a:extLst>
              <a:ext uri="{FF2B5EF4-FFF2-40B4-BE49-F238E27FC236}">
                <a16:creationId xmlns:a16="http://schemas.microsoft.com/office/drawing/2014/main" id="{D794A676-F5AE-CADB-8B8F-D399AF7331EF}"/>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1E747DB0-23B3-A0EA-E9E1-DA30D3CB76F8}"/>
              </a:ext>
            </a:extLst>
          </p:cNvPr>
          <p:cNvSpPr>
            <a:spLocks noGrp="1"/>
          </p:cNvSpPr>
          <p:nvPr>
            <p:ph type="sldNum" sz="quarter" idx="12"/>
          </p:nvPr>
        </p:nvSpPr>
        <p:spPr/>
        <p:txBody>
          <a:bodyPr/>
          <a:lstStyle/>
          <a:p>
            <a:fld id="{FACB5482-D393-4E2D-8FB7-B68A06B80F1E}" type="slidenum">
              <a:rPr lang="en-IN" smtClean="0"/>
              <a:t>70</a:t>
            </a:fld>
            <a:endParaRPr lang="en-IN"/>
          </a:p>
        </p:txBody>
      </p:sp>
    </p:spTree>
    <p:extLst>
      <p:ext uri="{BB962C8B-B14F-4D97-AF65-F5344CB8AC3E}">
        <p14:creationId xmlns:p14="http://schemas.microsoft.com/office/powerpoint/2010/main" val="37649851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923289"/>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2. CRUD Operations with Flask and MongoDB</a:t>
            </a:r>
          </a:p>
          <a:p>
            <a:pPr marR="0" lvl="0" algn="just" rtl="0">
              <a:lnSpc>
                <a:spcPct val="150000"/>
              </a:lnSpc>
              <a:spcBef>
                <a:spcPts val="0"/>
              </a:spcBef>
              <a:spcAft>
                <a:spcPts val="0"/>
              </a:spcAft>
              <a:buClr>
                <a:srgbClr val="262626"/>
              </a:buClr>
              <a:buSzPts val="1800"/>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Add a route to delete a users.</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F6FC7B08-49A4-D0ED-690F-F7B6A9D89B92}"/>
              </a:ext>
            </a:extLst>
          </p:cNvPr>
          <p:cNvPicPr>
            <a:picLocks noChangeAspect="1"/>
          </p:cNvPicPr>
          <p:nvPr/>
        </p:nvPicPr>
        <p:blipFill>
          <a:blip r:embed="rId4"/>
          <a:stretch>
            <a:fillRect/>
          </a:stretch>
        </p:blipFill>
        <p:spPr>
          <a:xfrm>
            <a:off x="715256" y="2734203"/>
            <a:ext cx="6610104" cy="1480899"/>
          </a:xfrm>
          <a:prstGeom prst="rect">
            <a:avLst/>
          </a:prstGeom>
        </p:spPr>
      </p:pic>
      <p:sp>
        <p:nvSpPr>
          <p:cNvPr id="3" name="Footer Placeholder 2">
            <a:extLst>
              <a:ext uri="{FF2B5EF4-FFF2-40B4-BE49-F238E27FC236}">
                <a16:creationId xmlns:a16="http://schemas.microsoft.com/office/drawing/2014/main" id="{27132131-3AD7-3DD1-4EE7-0FB3799C903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550BEA2-7169-32A5-2AD3-C26CCC3FE5A1}"/>
              </a:ext>
            </a:extLst>
          </p:cNvPr>
          <p:cNvSpPr>
            <a:spLocks noGrp="1"/>
          </p:cNvSpPr>
          <p:nvPr>
            <p:ph type="sldNum" sz="quarter" idx="12"/>
          </p:nvPr>
        </p:nvSpPr>
        <p:spPr/>
        <p:txBody>
          <a:bodyPr/>
          <a:lstStyle/>
          <a:p>
            <a:fld id="{FACB5482-D393-4E2D-8FB7-B68A06B80F1E}" type="slidenum">
              <a:rPr lang="en-IN" smtClean="0"/>
              <a:t>71</a:t>
            </a:fld>
            <a:endParaRPr lang="en-IN"/>
          </a:p>
        </p:txBody>
      </p:sp>
    </p:spTree>
    <p:extLst>
      <p:ext uri="{BB962C8B-B14F-4D97-AF65-F5344CB8AC3E}">
        <p14:creationId xmlns:p14="http://schemas.microsoft.com/office/powerpoint/2010/main" val="38210312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383177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Testing using CURL</a:t>
            </a:r>
          </a:p>
          <a:p>
            <a:pPr marR="0" lvl="0" algn="just" rtl="0">
              <a:lnSpc>
                <a:spcPct val="150000"/>
              </a:lnSpc>
              <a:spcBef>
                <a:spcPts val="0"/>
              </a:spcBef>
              <a:spcAft>
                <a:spcPts val="0"/>
              </a:spcAft>
              <a:buClr>
                <a:srgbClr val="262626"/>
              </a:buClr>
              <a:buSzPts val="1800"/>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curl -X POST -H "Content-Type: application/</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json</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 -d '{"name": "John Doe", "email": "john@example.com"}' http://127.0.0.1:5000/add_user</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curl http://127.0.0.1:5000/users</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curl -X PUT -H "Content-Type: application/json" -d '{"email": "new_email@example.com"}' http://127.0.0.1:5000/update_user/John Doe</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nl-NL"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curl -X DELETE http://127.0.0.1:5000/delete_user/John Doe</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7C5AD55D-A17C-3DA0-2C22-451DE34640DE}"/>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DE22FEB-A371-199D-A360-EAED8E51A7DE}"/>
              </a:ext>
            </a:extLst>
          </p:cNvPr>
          <p:cNvSpPr>
            <a:spLocks noGrp="1"/>
          </p:cNvSpPr>
          <p:nvPr>
            <p:ph type="sldNum" sz="quarter" idx="12"/>
          </p:nvPr>
        </p:nvSpPr>
        <p:spPr/>
        <p:txBody>
          <a:bodyPr/>
          <a:lstStyle/>
          <a:p>
            <a:fld id="{FACB5482-D393-4E2D-8FB7-B68A06B80F1E}" type="slidenum">
              <a:rPr lang="en-IN" smtClean="0"/>
              <a:t>72</a:t>
            </a:fld>
            <a:endParaRPr lang="en-IN"/>
          </a:p>
        </p:txBody>
      </p:sp>
    </p:spTree>
    <p:extLst>
      <p:ext uri="{BB962C8B-B14F-4D97-AF65-F5344CB8AC3E}">
        <p14:creationId xmlns:p14="http://schemas.microsoft.com/office/powerpoint/2010/main" val="2201321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Opting for the NoSQL way with MongoDB</a:t>
            </a:r>
            <a:endParaRPr lang="en-US" sz="2800" dirty="0">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3" cy="300078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6. Handling Data with Flask and MongoDB</a:t>
            </a:r>
          </a:p>
          <a:p>
            <a:pPr marR="0" lvl="0" algn="just" rtl="0">
              <a:lnSpc>
                <a:spcPct val="150000"/>
              </a:lnSpc>
              <a:spcBef>
                <a:spcPts val="0"/>
              </a:spcBef>
              <a:spcAft>
                <a:spcPts val="0"/>
              </a:spcAft>
              <a:buClr>
                <a:srgbClr val="262626"/>
              </a:buClr>
              <a:buSzPts val="1800"/>
            </a:pPr>
            <a:endPar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JSON Handling: MongoDB stores data in BSON format, which is similar to JSON. Flask's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request.json</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jsonify</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 methods make it easy to handle JSON data.</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ObjectIDs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 MongoDB generates unique _id fields for documents. Convert these to strings when returning JSON responses to avoid issues with BSON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ObjectID</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a:t>
            </a:r>
          </a:p>
        </p:txBody>
      </p:sp>
      <p:sp>
        <p:nvSpPr>
          <p:cNvPr id="8" name="Google Shape;132;p5">
            <a:extLst>
              <a:ext uri="{FF2B5EF4-FFF2-40B4-BE49-F238E27FC236}">
                <a16:creationId xmlns:a16="http://schemas.microsoft.com/office/drawing/2014/main" id="{B83F457A-A9A6-30E1-06F2-C2BE96CB3335}"/>
              </a:ext>
            </a:extLst>
          </p:cNvPr>
          <p:cNvSpPr txBox="1"/>
          <p:nvPr/>
        </p:nvSpPr>
        <p:spPr>
          <a:xfrm>
            <a:off x="715256" y="1164624"/>
            <a:ext cx="10084824" cy="646290"/>
          </a:xfrm>
          <a:prstGeom prst="rect">
            <a:avLst/>
          </a:prstGeom>
          <a:noFill/>
          <a:ln>
            <a:noFill/>
          </a:ln>
        </p:spPr>
        <p:txBody>
          <a:bodyPr spcFirstLastPara="1" wrap="square" lIns="91425" tIns="45700" rIns="91425" bIns="45700" anchor="t" anchorCtr="0">
            <a:spAutoFit/>
          </a:bodyPr>
          <a:lstStyle/>
          <a:p>
            <a:pPr algn="just">
              <a:lnSpc>
                <a:spcPct val="150000"/>
              </a:lnSpc>
            </a:pPr>
            <a:r>
              <a:rPr lang="en-US" sz="2400" dirty="0">
                <a:solidFill>
                  <a:schemeClr val="dk1"/>
                </a:solidFill>
                <a:latin typeface="Calibri"/>
                <a:ea typeface="Calibri"/>
                <a:cs typeface="Calibri"/>
                <a:sym typeface="Calibri"/>
              </a:rPr>
              <a:t>Example - CRUD operations</a:t>
            </a:r>
            <a:r>
              <a:rPr lang="en-US" sz="2400" dirty="0">
                <a:solidFill>
                  <a:srgbClr val="262626"/>
                </a:solidFill>
                <a:latin typeface="Calibri"/>
                <a:ea typeface="Calibri"/>
                <a:cs typeface="Calibri"/>
                <a:sym typeface="Calibri"/>
              </a:rPr>
              <a:t> with </a:t>
            </a:r>
            <a:r>
              <a:rPr lang="en-US" sz="2400" dirty="0">
                <a:solidFill>
                  <a:schemeClr val="dk1"/>
                </a:solidFill>
                <a:latin typeface="Calibri"/>
                <a:ea typeface="Calibri"/>
                <a:cs typeface="Calibri"/>
                <a:sym typeface="Calibri"/>
              </a:rPr>
              <a:t>Flask – MongoDB application</a:t>
            </a:r>
            <a:endParaRPr lang="en-US" sz="2400" dirty="0">
              <a:solidFill>
                <a:srgbClr val="262626"/>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02809CCE-92D4-B56D-E610-FE1FCC88DEBD}"/>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F650C5D-9C4C-87A6-9E6D-426DFE56EAE2}"/>
              </a:ext>
            </a:extLst>
          </p:cNvPr>
          <p:cNvSpPr>
            <a:spLocks noGrp="1"/>
          </p:cNvSpPr>
          <p:nvPr>
            <p:ph type="sldNum" sz="quarter" idx="12"/>
          </p:nvPr>
        </p:nvSpPr>
        <p:spPr/>
        <p:txBody>
          <a:bodyPr/>
          <a:lstStyle/>
          <a:p>
            <a:fld id="{FACB5482-D393-4E2D-8FB7-B68A06B80F1E}" type="slidenum">
              <a:rPr lang="en-IN" smtClean="0"/>
              <a:t>73</a:t>
            </a:fld>
            <a:endParaRPr lang="en-IN"/>
          </a:p>
        </p:txBody>
      </p:sp>
    </p:spTree>
    <p:extLst>
      <p:ext uri="{BB962C8B-B14F-4D97-AF65-F5344CB8AC3E}">
        <p14:creationId xmlns:p14="http://schemas.microsoft.com/office/powerpoint/2010/main" val="18992779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3970277"/>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Book Inventory Management System</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Background</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a software developer tasked with creating a simple Book Inventory Management System for a local library. The library needs a web application to manage its collection of books, allowing librarians to add, view, update, and delete book records. You decide to use Flask as the web framework and MongoDB as the database to store the book data.</a:t>
            </a:r>
          </a:p>
          <a:p>
            <a:pPr algn="just">
              <a:lnSpc>
                <a:spcPct val="150000"/>
              </a:lnSpc>
              <a:buClr>
                <a:srgbClr val="262626"/>
              </a:buClr>
              <a:buSzPts val="1800"/>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Task</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Your task is to develop a web application using Flask and MongoDB that performs basic CRUD operations for managing the book inventory.</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latin typeface="Calibri"/>
                <a:ea typeface="Calibri"/>
                <a:cs typeface="Calibri"/>
                <a:sym typeface="Calibri"/>
              </a:rPr>
              <a:t>Indexing model data with </a:t>
            </a:r>
            <a:r>
              <a:rPr lang="en-US" sz="2800" dirty="0" err="1">
                <a:latin typeface="Calibri"/>
                <a:ea typeface="Calibri"/>
                <a:cs typeface="Calibri"/>
                <a:sym typeface="Calibri"/>
              </a:rPr>
              <a:t>redis</a:t>
            </a:r>
            <a:endParaRPr lang="en-US" sz="2800" dirty="0">
              <a:latin typeface="Calibri"/>
              <a:ea typeface="Calibri"/>
              <a:cs typeface="Calibri"/>
              <a:sym typeface="Calibri"/>
            </a:endParaRP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F821854E-516A-1E3A-3CEB-8083FC02EC0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1CC09597-23EF-525F-A0C0-2EC365529222}"/>
              </a:ext>
            </a:extLst>
          </p:cNvPr>
          <p:cNvSpPr>
            <a:spLocks noGrp="1"/>
          </p:cNvSpPr>
          <p:nvPr>
            <p:ph type="sldNum" sz="quarter" idx="12"/>
          </p:nvPr>
        </p:nvSpPr>
        <p:spPr/>
        <p:txBody>
          <a:bodyPr/>
          <a:lstStyle/>
          <a:p>
            <a:fld id="{FACB5482-D393-4E2D-8FB7-B68A06B80F1E}" type="slidenum">
              <a:rPr lang="en-IN" smtClean="0"/>
              <a:t>74</a:t>
            </a:fld>
            <a:endParaRPr lang="en-IN"/>
          </a:p>
        </p:txBody>
      </p:sp>
    </p:spTree>
    <p:extLst>
      <p:ext uri="{BB962C8B-B14F-4D97-AF65-F5344CB8AC3E}">
        <p14:creationId xmlns:p14="http://schemas.microsoft.com/office/powerpoint/2010/main" val="5096011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8"/>
          <p:cNvSpPr txBox="1"/>
          <p:nvPr/>
        </p:nvSpPr>
        <p:spPr>
          <a:xfrm>
            <a:off x="3063240" y="3167390"/>
            <a:ext cx="606552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0" dirty="0">
                <a:solidFill>
                  <a:srgbClr val="C00000"/>
                </a:solidFill>
                <a:latin typeface="Calibri" panose="020F0502020204030204" pitchFamily="34" charset="0"/>
                <a:ea typeface="Calibri" panose="020F0502020204030204" pitchFamily="34" charset="0"/>
                <a:cs typeface="Calibri" panose="020F0502020204030204" pitchFamily="34" charset="0"/>
                <a:sym typeface="Quattrocento Sans"/>
              </a:rPr>
              <a:t>Question?</a:t>
            </a:r>
            <a:endParaRPr sz="2800" b="0" dirty="0">
              <a:solidFill>
                <a:srgbClr val="C00000"/>
              </a:solidFill>
              <a:latin typeface="Calibri" panose="020F0502020204030204" pitchFamily="34" charset="0"/>
              <a:ea typeface="Calibri" panose="020F0502020204030204" pitchFamily="34" charset="0"/>
              <a:cs typeface="Calibri" panose="020F0502020204030204" pitchFamily="34" charset="0"/>
              <a:sym typeface="Quattrocento Sans"/>
            </a:endParaRPr>
          </a:p>
        </p:txBody>
      </p:sp>
      <p:sp>
        <p:nvSpPr>
          <p:cNvPr id="2" name="Footer Placeholder 1">
            <a:extLst>
              <a:ext uri="{FF2B5EF4-FFF2-40B4-BE49-F238E27FC236}">
                <a16:creationId xmlns:a16="http://schemas.microsoft.com/office/drawing/2014/main" id="{EA608871-6BC2-582D-6E40-6EBEB2ED4640}"/>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E7B3DC20-B14F-ADFF-999D-641EF5CBE811}"/>
              </a:ext>
            </a:extLst>
          </p:cNvPr>
          <p:cNvSpPr>
            <a:spLocks noGrp="1"/>
          </p:cNvSpPr>
          <p:nvPr>
            <p:ph type="sldNum" sz="quarter" idx="12"/>
          </p:nvPr>
        </p:nvSpPr>
        <p:spPr/>
        <p:txBody>
          <a:bodyPr/>
          <a:lstStyle/>
          <a:p>
            <a:fld id="{FACB5482-D393-4E2D-8FB7-B68A06B80F1E}" type="slidenum">
              <a:rPr lang="en-IN" smtClean="0"/>
              <a:t>75</a:t>
            </a:fld>
            <a:endParaRPr lang="en-I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59"/>
          <p:cNvSpPr txBox="1"/>
          <p:nvPr/>
        </p:nvSpPr>
        <p:spPr>
          <a:xfrm>
            <a:off x="3063240" y="3197870"/>
            <a:ext cx="606552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4000" b="0" dirty="0">
                <a:solidFill>
                  <a:srgbClr val="3F3F3F"/>
                </a:solidFill>
                <a:latin typeface="Calibri" panose="020F0502020204030204" pitchFamily="34" charset="0"/>
                <a:ea typeface="Calibri" panose="020F0502020204030204" pitchFamily="34" charset="0"/>
                <a:cs typeface="Calibri" panose="020F0502020204030204" pitchFamily="34" charset="0"/>
                <a:sym typeface="Quattrocento Sans"/>
              </a:rPr>
              <a:t>Thank you</a:t>
            </a:r>
            <a:endParaRPr sz="4000" b="0" dirty="0">
              <a:solidFill>
                <a:srgbClr val="3F3F3F"/>
              </a:solidFill>
              <a:latin typeface="Calibri" panose="020F0502020204030204" pitchFamily="34" charset="0"/>
              <a:ea typeface="Calibri" panose="020F0502020204030204" pitchFamily="34" charset="0"/>
              <a:cs typeface="Calibri" panose="020F0502020204030204" pitchFamily="34" charset="0"/>
              <a:sym typeface="Quattrocento Sans"/>
            </a:endParaRPr>
          </a:p>
        </p:txBody>
      </p:sp>
      <p:sp>
        <p:nvSpPr>
          <p:cNvPr id="2" name="Footer Placeholder 1">
            <a:extLst>
              <a:ext uri="{FF2B5EF4-FFF2-40B4-BE49-F238E27FC236}">
                <a16:creationId xmlns:a16="http://schemas.microsoft.com/office/drawing/2014/main" id="{49F02F7D-EA22-4C4C-6E67-EC565A03533C}"/>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AA965C7C-1BE0-A73C-D794-AE38B7363106}"/>
              </a:ext>
            </a:extLst>
          </p:cNvPr>
          <p:cNvSpPr>
            <a:spLocks noGrp="1"/>
          </p:cNvSpPr>
          <p:nvPr>
            <p:ph type="sldNum" sz="quarter" idx="12"/>
          </p:nvPr>
        </p:nvSpPr>
        <p:spPr/>
        <p:txBody>
          <a:bodyPr/>
          <a:lstStyle/>
          <a:p>
            <a:fld id="{FACB5482-D393-4E2D-8FB7-B68A06B80F1E}" type="slidenum">
              <a:rPr lang="en-IN" smtClean="0"/>
              <a:t>76</a:t>
            </a:fld>
            <a:endParaRPr lang="en-IN"/>
          </a:p>
        </p:txBody>
      </p:sp>
    </p:spTree>
  </p:cSld>
  <p:clrMapOvr>
    <a:masterClrMapping/>
  </p:clrMapOvr>
</p:sld>
</file>

<file path=ppt/theme/theme1.xml><?xml version="1.0" encoding="utf-8"?>
<a:theme xmlns:a="http://schemas.openxmlformats.org/drawingml/2006/main" name="ICT Basic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T Basic Theme" id="{98E71BC8-CEE5-4A46-949E-391C0C874B8F}" vid="{96F7FA2A-5830-4612-98C6-3C5F1D18D7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ICT Basic Theme</Template>
  <TotalTime>37</TotalTime>
  <Words>4305</Words>
  <Application>Microsoft Office PowerPoint</Application>
  <PresentationFormat>Widescreen</PresentationFormat>
  <Paragraphs>599</Paragraphs>
  <Slides>76</Slides>
  <Notes>68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Batang</vt:lpstr>
      <vt:lpstr>Arial</vt:lpstr>
      <vt:lpstr>Calibri</vt:lpstr>
      <vt:lpstr>Calibri Light</vt:lpstr>
      <vt:lpstr>Play</vt:lpstr>
      <vt:lpstr>Wingdings</vt:lpstr>
      <vt:lpstr>ICT Basic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Tamil Selvan</dc:creator>
  <cp:lastModifiedBy>Tamil Selvan</cp:lastModifiedBy>
  <cp:revision>4</cp:revision>
  <dcterms:created xsi:type="dcterms:W3CDTF">2024-07-10T11:19:14Z</dcterms:created>
  <dcterms:modified xsi:type="dcterms:W3CDTF">2024-07-10T12:28:11Z</dcterms:modified>
</cp:coreProperties>
</file>