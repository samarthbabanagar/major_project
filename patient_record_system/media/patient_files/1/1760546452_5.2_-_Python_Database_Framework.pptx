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610" r:id="rId2"/>
    <p:sldId id="611" r:id="rId3"/>
    <p:sldId id="259" r:id="rId4"/>
    <p:sldId id="612" r:id="rId5"/>
    <p:sldId id="461" r:id="rId6"/>
    <p:sldId id="534" r:id="rId7"/>
    <p:sldId id="535" r:id="rId8"/>
    <p:sldId id="536" r:id="rId9"/>
    <p:sldId id="537" r:id="rId10"/>
    <p:sldId id="538" r:id="rId11"/>
    <p:sldId id="539" r:id="rId12"/>
    <p:sldId id="541" r:id="rId13"/>
    <p:sldId id="544" r:id="rId14"/>
    <p:sldId id="543" r:id="rId15"/>
    <p:sldId id="542" r:id="rId16"/>
    <p:sldId id="545" r:id="rId17"/>
    <p:sldId id="546" r:id="rId18"/>
    <p:sldId id="547" r:id="rId19"/>
    <p:sldId id="548" r:id="rId20"/>
    <p:sldId id="549" r:id="rId21"/>
    <p:sldId id="550" r:id="rId22"/>
    <p:sldId id="551" r:id="rId23"/>
    <p:sldId id="552" r:id="rId24"/>
    <p:sldId id="553" r:id="rId25"/>
    <p:sldId id="554" r:id="rId26"/>
    <p:sldId id="558" r:id="rId27"/>
    <p:sldId id="559" r:id="rId28"/>
    <p:sldId id="555" r:id="rId29"/>
    <p:sldId id="556" r:id="rId30"/>
    <p:sldId id="557" r:id="rId31"/>
    <p:sldId id="533" r:id="rId32"/>
    <p:sldId id="613" r:id="rId33"/>
    <p:sldId id="561" r:id="rId34"/>
    <p:sldId id="562" r:id="rId35"/>
    <p:sldId id="564" r:id="rId36"/>
    <p:sldId id="565" r:id="rId37"/>
    <p:sldId id="566" r:id="rId38"/>
    <p:sldId id="567" r:id="rId39"/>
    <p:sldId id="568" r:id="rId40"/>
    <p:sldId id="569" r:id="rId41"/>
    <p:sldId id="570" r:id="rId42"/>
    <p:sldId id="571" r:id="rId43"/>
    <p:sldId id="572" r:id="rId44"/>
    <p:sldId id="573" r:id="rId45"/>
    <p:sldId id="574" r:id="rId46"/>
    <p:sldId id="575" r:id="rId47"/>
    <p:sldId id="576" r:id="rId48"/>
    <p:sldId id="580" r:id="rId49"/>
    <p:sldId id="581" r:id="rId50"/>
    <p:sldId id="578" r:id="rId51"/>
    <p:sldId id="579" r:id="rId52"/>
    <p:sldId id="583" r:id="rId53"/>
    <p:sldId id="577" r:id="rId54"/>
    <p:sldId id="582" r:id="rId55"/>
    <p:sldId id="614" r:id="rId56"/>
    <p:sldId id="585" r:id="rId57"/>
    <p:sldId id="586" r:id="rId58"/>
    <p:sldId id="587" r:id="rId59"/>
    <p:sldId id="588" r:id="rId60"/>
    <p:sldId id="589" r:id="rId61"/>
    <p:sldId id="615" r:id="rId62"/>
    <p:sldId id="591" r:id="rId63"/>
    <p:sldId id="592" r:id="rId64"/>
    <p:sldId id="594" r:id="rId65"/>
    <p:sldId id="595" r:id="rId66"/>
    <p:sldId id="596" r:id="rId67"/>
    <p:sldId id="597" r:id="rId68"/>
    <p:sldId id="598" r:id="rId69"/>
    <p:sldId id="599" r:id="rId70"/>
    <p:sldId id="600" r:id="rId71"/>
    <p:sldId id="601" r:id="rId72"/>
    <p:sldId id="605" r:id="rId73"/>
    <p:sldId id="602" r:id="rId74"/>
    <p:sldId id="603" r:id="rId75"/>
    <p:sldId id="604" r:id="rId76"/>
    <p:sldId id="606" r:id="rId77"/>
    <p:sldId id="607" r:id="rId78"/>
    <p:sldId id="609" r:id="rId79"/>
    <p:sldId id="313" r:id="rId80"/>
    <p:sldId id="314"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60816-5E5F-47ED-8149-2960EE004AC4}" type="datetimeFigureOut">
              <a:rPr lang="en-IN" smtClean="0"/>
              <a:t>10-07-2024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AF6F8B-65B7-485B-8142-1D7D9D4B52B3}" type="slidenum">
              <a:rPr lang="en-IN" smtClean="0"/>
              <a:t>‹#›</a:t>
            </a:fld>
            <a:endParaRPr lang="en-IN"/>
          </a:p>
        </p:txBody>
      </p:sp>
    </p:spTree>
    <p:extLst>
      <p:ext uri="{BB962C8B-B14F-4D97-AF65-F5344CB8AC3E}">
        <p14:creationId xmlns:p14="http://schemas.microsoft.com/office/powerpoint/2010/main" val="2359894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7480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9586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079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3030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852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525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8161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4141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3605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609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3027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3157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344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0019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5568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643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26595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063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729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9884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3824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92999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07197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4241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5410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01993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5816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2669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2106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89487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313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4657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9349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95008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4043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83626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34938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51429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6864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4575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09218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4416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34260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35991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9251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48489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63158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03186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55808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83883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00859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368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84119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83548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61970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30781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80709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9857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86490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633076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17320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41516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245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13551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48614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04369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86434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60675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73913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22476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905117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0EA4-B4DC-326E-6D5D-5E2D139A0452}"/>
              </a:ext>
            </a:extLst>
          </p:cNvPr>
          <p:cNvSpPr>
            <a:spLocks noGrp="1"/>
          </p:cNvSpPr>
          <p:nvPr>
            <p:ph type="ctrTitle"/>
          </p:nvPr>
        </p:nvSpPr>
        <p:spPr>
          <a:xfrm>
            <a:off x="1524000" y="159988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4939C0-40CA-89E4-C146-B212E439D280}"/>
              </a:ext>
            </a:extLst>
          </p:cNvPr>
          <p:cNvSpPr>
            <a:spLocks noGrp="1"/>
          </p:cNvSpPr>
          <p:nvPr>
            <p:ph type="subTitle" idx="1"/>
          </p:nvPr>
        </p:nvSpPr>
        <p:spPr>
          <a:xfrm>
            <a:off x="1524000" y="407955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0B16BB94-0024-A1B1-676D-3344605E1A33}"/>
              </a:ext>
            </a:extLst>
          </p:cNvPr>
          <p:cNvSpPr>
            <a:spLocks noGrp="1"/>
          </p:cNvSpPr>
          <p:nvPr>
            <p:ph type="ftr" sz="quarter" idx="11"/>
          </p:nvPr>
        </p:nvSpPr>
        <p:spPr>
          <a:xfrm>
            <a:off x="492760" y="6356350"/>
            <a:ext cx="2743200" cy="365125"/>
          </a:xfrm>
        </p:spPr>
        <p:style>
          <a:lnRef idx="2">
            <a:schemeClr val="dk1"/>
          </a:lnRef>
          <a:fillRef idx="1">
            <a:schemeClr val="lt1"/>
          </a:fillRef>
          <a:effectRef idx="0">
            <a:schemeClr val="dk1"/>
          </a:effectRef>
          <a:fontRef idx="minor">
            <a:schemeClr val="dk1"/>
          </a:fontRef>
        </p:style>
        <p:txBody>
          <a:bodyPr/>
          <a:lstStyle>
            <a:lvl1pPr>
              <a:defRPr sz="1400" b="1">
                <a:solidFill>
                  <a:srgbClr val="FF8B37"/>
                </a:solidFill>
              </a:defRPr>
            </a:lvl1pPr>
          </a:lstStyle>
          <a:p>
            <a:r>
              <a:rPr lang="en-IN"/>
              <a:t>Web Developer - Python</a:t>
            </a:r>
            <a:endParaRPr lang="en-IN" dirty="0"/>
          </a:p>
        </p:txBody>
      </p:sp>
      <p:sp>
        <p:nvSpPr>
          <p:cNvPr id="6" name="Slide Number Placeholder 5">
            <a:extLst>
              <a:ext uri="{FF2B5EF4-FFF2-40B4-BE49-F238E27FC236}">
                <a16:creationId xmlns:a16="http://schemas.microsoft.com/office/drawing/2014/main" id="{62F97940-2C58-1613-E123-6DDD0303A770}"/>
              </a:ext>
            </a:extLst>
          </p:cNvPr>
          <p:cNvSpPr>
            <a:spLocks noGrp="1"/>
          </p:cNvSpPr>
          <p:nvPr>
            <p:ph type="sldNum" sz="quarter" idx="12"/>
          </p:nvPr>
        </p:nvSpPr>
        <p:spPr/>
        <p:txBody>
          <a:bodyPr/>
          <a:lstStyle/>
          <a:p>
            <a:fld id="{FACB5482-D393-4E2D-8FB7-B68A06B80F1E}" type="slidenum">
              <a:rPr lang="en-IN" smtClean="0"/>
              <a:t>‹#›</a:t>
            </a:fld>
            <a:endParaRPr lang="en-IN" dirty="0"/>
          </a:p>
        </p:txBody>
      </p:sp>
      <p:pic>
        <p:nvPicPr>
          <p:cNvPr id="8" name="Picture 7" descr="A picture containing text, clipart&#10;&#10;Description automatically generated">
            <a:extLst>
              <a:ext uri="{FF2B5EF4-FFF2-40B4-BE49-F238E27FC236}">
                <a16:creationId xmlns:a16="http://schemas.microsoft.com/office/drawing/2014/main" id="{71AEE35B-EB9C-00F8-69E3-A61AB35E61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8720" y="114905"/>
            <a:ext cx="2194560" cy="906840"/>
          </a:xfrm>
          <a:prstGeom prst="rect">
            <a:avLst/>
          </a:prstGeom>
        </p:spPr>
      </p:pic>
      <p:sp>
        <p:nvSpPr>
          <p:cNvPr id="9" name="TextBox 8">
            <a:extLst>
              <a:ext uri="{FF2B5EF4-FFF2-40B4-BE49-F238E27FC236}">
                <a16:creationId xmlns:a16="http://schemas.microsoft.com/office/drawing/2014/main" id="{A1F7F60E-D9C1-03D4-79DD-717DE0406607}"/>
              </a:ext>
            </a:extLst>
          </p:cNvPr>
          <p:cNvSpPr txBox="1"/>
          <p:nvPr/>
        </p:nvSpPr>
        <p:spPr>
          <a:xfrm>
            <a:off x="5602275" y="1157754"/>
            <a:ext cx="987450" cy="369332"/>
          </a:xfrm>
          <a:prstGeom prst="rect">
            <a:avLst/>
          </a:prstGeom>
          <a:noFill/>
        </p:spPr>
        <p:txBody>
          <a:bodyPr wrap="none" rtlCol="0">
            <a:spAutoFit/>
          </a:bodyPr>
          <a:lstStyle/>
          <a:p>
            <a:r>
              <a:rPr lang="en-IN" dirty="0"/>
              <a:t>Presents</a:t>
            </a:r>
          </a:p>
        </p:txBody>
      </p:sp>
    </p:spTree>
    <p:extLst>
      <p:ext uri="{BB962C8B-B14F-4D97-AF65-F5344CB8AC3E}">
        <p14:creationId xmlns:p14="http://schemas.microsoft.com/office/powerpoint/2010/main" val="2765760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1408-42B5-048B-604E-DC3C6B5F7E5E}"/>
              </a:ext>
            </a:extLst>
          </p:cNvPr>
          <p:cNvSpPr>
            <a:spLocks noGrp="1"/>
          </p:cNvSpPr>
          <p:nvPr>
            <p:ph type="title"/>
          </p:nvPr>
        </p:nvSpPr>
        <p:spPr>
          <a:xfrm>
            <a:off x="558800" y="320675"/>
            <a:ext cx="9616440" cy="1325563"/>
          </a:xfr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920C93-6881-5562-8115-9DE448BA7000}"/>
              </a:ext>
            </a:extLst>
          </p:cNvPr>
          <p:cNvSpPr>
            <a:spLocks noGrp="1"/>
          </p:cNvSpPr>
          <p:nvPr>
            <p:ph idx="1"/>
          </p:nvPr>
        </p:nvSpPr>
        <p:spPr>
          <a:xfrm>
            <a:off x="548640" y="1825625"/>
            <a:ext cx="110947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4B05E45B-4B06-4607-CA1B-D8C33E810558}"/>
              </a:ext>
            </a:extLst>
          </p:cNvPr>
          <p:cNvSpPr>
            <a:spLocks noGrp="1"/>
          </p:cNvSpPr>
          <p:nvPr>
            <p:ph type="ftr" sz="quarter" idx="11"/>
          </p:nvPr>
        </p:nvSpPr>
        <p:spPr>
          <a:xfrm>
            <a:off x="523240" y="6356350"/>
            <a:ext cx="4114800" cy="365125"/>
          </a:xfrm>
        </p:spPr>
        <p:txBody>
          <a:bodyPr/>
          <a:lstStyle/>
          <a:p>
            <a:r>
              <a:rPr lang="en-IN"/>
              <a:t>Web Developer - Python</a:t>
            </a:r>
          </a:p>
        </p:txBody>
      </p:sp>
      <p:sp>
        <p:nvSpPr>
          <p:cNvPr id="6" name="Slide Number Placeholder 5">
            <a:extLst>
              <a:ext uri="{FF2B5EF4-FFF2-40B4-BE49-F238E27FC236}">
                <a16:creationId xmlns:a16="http://schemas.microsoft.com/office/drawing/2014/main" id="{F03C3F43-42D4-B0E8-A909-EC0F0B5B2331}"/>
              </a:ext>
            </a:extLst>
          </p:cNvPr>
          <p:cNvSpPr>
            <a:spLocks noGrp="1"/>
          </p:cNvSpPr>
          <p:nvPr>
            <p:ph type="sldNum" sz="quarter" idx="12"/>
          </p:nvPr>
        </p:nvSpPr>
        <p:spPr>
          <a:xfrm>
            <a:off x="8925560" y="6356350"/>
            <a:ext cx="2743200" cy="365125"/>
          </a:xfrm>
        </p:spPr>
        <p:txBody>
          <a:bodyPr/>
          <a:lstStyle/>
          <a:p>
            <a:fld id="{FACB5482-D393-4E2D-8FB7-B68A06B80F1E}" type="slidenum">
              <a:rPr lang="en-IN" smtClean="0"/>
              <a:t>‹#›</a:t>
            </a:fld>
            <a:endParaRPr lang="en-IN"/>
          </a:p>
        </p:txBody>
      </p:sp>
      <p:pic>
        <p:nvPicPr>
          <p:cNvPr id="7" name="Picture 6" descr="A picture containing text, clipart&#10;&#10;Description automatically generated">
            <a:extLst>
              <a:ext uri="{FF2B5EF4-FFF2-40B4-BE49-F238E27FC236}">
                <a16:creationId xmlns:a16="http://schemas.microsoft.com/office/drawing/2014/main" id="{5AE49820-F2D7-5F64-EE38-DAED2F98C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7360" y="136525"/>
            <a:ext cx="1432560" cy="591965"/>
          </a:xfrm>
          <a:prstGeom prst="rect">
            <a:avLst/>
          </a:prstGeom>
        </p:spPr>
      </p:pic>
    </p:spTree>
    <p:extLst>
      <p:ext uri="{BB962C8B-B14F-4D97-AF65-F5344CB8AC3E}">
        <p14:creationId xmlns:p14="http://schemas.microsoft.com/office/powerpoint/2010/main" val="4109170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1C01-395F-0777-13F4-257E0B9481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E7DE9F-7CBA-439C-6B80-6036E8D254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87F607-5560-B262-0980-239ED914E1A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924DA0A-3FC5-EC03-EB3D-6E41FF0745D1}"/>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D6A1EE97-89F1-FB29-A042-AF9AAEA7C3D4}"/>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38496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7BADA-87CE-8C82-A87F-E40CB4E7FA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96624C-BA87-CDB7-A54D-F3635CF6F2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EB491A-1D4C-EDC8-35EA-36A836E667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264F77-6485-9B9C-9BB6-031600B7952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7510FCC-33DA-9C94-2C67-618F3BD03657}"/>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AE31E08E-556D-B996-60C8-4004DAA7266F}"/>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211959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5D2A-9AEC-B95C-116A-99221D76A7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5DDD43-B53A-07CB-E3C2-7A806D8DD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FE2DD3-82F2-97CE-4807-2951B90E26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3B666C-DB33-0BF1-8383-35658C760A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1B0222-CDCC-4628-176F-B52242F8EA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50D6F2-EFA7-E2F6-CB2E-56F0C496B54E}"/>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C713E863-FA2F-7C51-6233-113BBF33933A}"/>
              </a:ext>
            </a:extLst>
          </p:cNvPr>
          <p:cNvSpPr>
            <a:spLocks noGrp="1"/>
          </p:cNvSpPr>
          <p:nvPr>
            <p:ph type="ftr" sz="quarter" idx="11"/>
          </p:nvPr>
        </p:nvSpPr>
        <p:spPr/>
        <p:txBody>
          <a:bodyPr/>
          <a:lstStyle/>
          <a:p>
            <a:r>
              <a:rPr lang="en-IN"/>
              <a:t>Web Developer - Python</a:t>
            </a:r>
          </a:p>
        </p:txBody>
      </p:sp>
      <p:sp>
        <p:nvSpPr>
          <p:cNvPr id="9" name="Slide Number Placeholder 8">
            <a:extLst>
              <a:ext uri="{FF2B5EF4-FFF2-40B4-BE49-F238E27FC236}">
                <a16:creationId xmlns:a16="http://schemas.microsoft.com/office/drawing/2014/main" id="{CFF579E7-B028-BF1C-EEDB-48CC0DF4EC6F}"/>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767296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41336-CDC4-2B09-0BBE-738425B4F2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0DBFDC-32AD-FCFE-AFE0-B95ED378E07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4F93E42-47F8-70CA-3B8C-187F13E76D32}"/>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F0542204-51A6-1E03-1A7A-EED6ED83FF68}"/>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891280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EE1783-8682-6B7B-B009-6F3B4DD29A14}"/>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633FD71-F38D-ECAA-3A7F-1D6ED3265C0E}"/>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193E9B6-9ED3-33BD-3C54-48982C952C07}"/>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1082166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F80EE-C9E7-60CA-3BC1-FED7806FD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C81F3A-97E7-7BD6-9FB6-E79EDEC7E0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AA2157-2739-28BD-8068-C2D99C853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8D990E-7E5B-77EC-526B-BEAF7563116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ECC717D-5870-155A-BA04-A9CF7CF553EF}"/>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57BC93C4-4A4B-B56C-0E1A-8A69E28C2EFD}"/>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1802294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A9C30-A057-B64F-B977-A0576D7728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E253BF-90DF-4AA4-DDCE-2599092725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7F2A5480-4AE3-D1FE-0E7D-F4D446FDA9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201B69-F137-A5F2-F200-D7C195C910E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9A7EE1A-8167-8271-E341-3AB393354911}"/>
              </a:ext>
            </a:extLst>
          </p:cNvPr>
          <p:cNvSpPr>
            <a:spLocks noGrp="1"/>
          </p:cNvSpPr>
          <p:nvPr>
            <p:ph type="ftr" sz="quarter" idx="11"/>
          </p:nvPr>
        </p:nvSpPr>
        <p:spPr/>
        <p:txBody>
          <a:bodyPr/>
          <a:lstStyle/>
          <a:p>
            <a:r>
              <a:rPr lang="en-IN"/>
              <a:t>Web Developer - Python</a:t>
            </a:r>
          </a:p>
        </p:txBody>
      </p:sp>
      <p:sp>
        <p:nvSpPr>
          <p:cNvPr id="7" name="Slide Number Placeholder 6">
            <a:extLst>
              <a:ext uri="{FF2B5EF4-FFF2-40B4-BE49-F238E27FC236}">
                <a16:creationId xmlns:a16="http://schemas.microsoft.com/office/drawing/2014/main" id="{14415E91-D591-0EAF-EE9B-D9D7FF77B62A}"/>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3051309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50074-28FB-BB92-1334-D3199538B1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A4B89C-E1B4-11C7-BD5F-12CEA1E62A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F9A6FC-871A-08A2-36CE-71B509CE4E6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86AC8DD-F950-5BE5-E4E7-121D5941CABA}"/>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D9B2A425-3FF3-3365-D49E-BBDD426BB6E6}"/>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208996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931A1-7258-F68D-94DD-E74D7DE1AD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476F33-C629-F305-B184-04006A27F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8B77F6-1334-F1B2-C639-554A293C717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F3B7234-63D7-35A5-7F62-FDC4F3FDC76A}"/>
              </a:ext>
            </a:extLst>
          </p:cNvPr>
          <p:cNvSpPr>
            <a:spLocks noGrp="1"/>
          </p:cNvSpPr>
          <p:nvPr>
            <p:ph type="ftr" sz="quarter" idx="11"/>
          </p:nvPr>
        </p:nvSpPr>
        <p:spPr/>
        <p:txBody>
          <a:bodyPr/>
          <a:lstStyle/>
          <a:p>
            <a:r>
              <a:rPr lang="en-IN"/>
              <a:t>Web Developer - Python</a:t>
            </a:r>
          </a:p>
        </p:txBody>
      </p:sp>
      <p:sp>
        <p:nvSpPr>
          <p:cNvPr id="6" name="Slide Number Placeholder 5">
            <a:extLst>
              <a:ext uri="{FF2B5EF4-FFF2-40B4-BE49-F238E27FC236}">
                <a16:creationId xmlns:a16="http://schemas.microsoft.com/office/drawing/2014/main" id="{F5979070-1721-11B6-98C9-21898196A390}"/>
              </a:ext>
            </a:extLst>
          </p:cNvPr>
          <p:cNvSpPr>
            <a:spLocks noGrp="1"/>
          </p:cNvSpPr>
          <p:nvPr>
            <p:ph type="sldNum" sz="quarter" idx="12"/>
          </p:nvPr>
        </p:nvSpPr>
        <p:spPr/>
        <p:txBody>
          <a:bodyPr/>
          <a:lstStyle/>
          <a:p>
            <a:fld id="{FACB5482-D393-4E2D-8FB7-B68A06B80F1E}" type="slidenum">
              <a:rPr lang="en-IN" smtClean="0"/>
              <a:t>‹#›</a:t>
            </a:fld>
            <a:endParaRPr lang="en-IN"/>
          </a:p>
        </p:txBody>
      </p:sp>
    </p:spTree>
    <p:extLst>
      <p:ext uri="{BB962C8B-B14F-4D97-AF65-F5344CB8AC3E}">
        <p14:creationId xmlns:p14="http://schemas.microsoft.com/office/powerpoint/2010/main" val="3738026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0B398-F915-5505-94AD-921630506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308474-9A63-8164-7B1F-EBD2D248E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98716F-C3C6-E5B9-1F33-4B5C86ACB4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23734610-798B-63E0-7549-3F2DB92C5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Web Developer - Python</a:t>
            </a:r>
          </a:p>
        </p:txBody>
      </p:sp>
      <p:sp>
        <p:nvSpPr>
          <p:cNvPr id="6" name="Slide Number Placeholder 5">
            <a:extLst>
              <a:ext uri="{FF2B5EF4-FFF2-40B4-BE49-F238E27FC236}">
                <a16:creationId xmlns:a16="http://schemas.microsoft.com/office/drawing/2014/main" id="{E2EA51D3-7D0E-183B-C878-0D8222E9E1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CB5482-D393-4E2D-8FB7-B68A06B80F1E}" type="slidenum">
              <a:rPr lang="en-IN" smtClean="0"/>
              <a:t>‹#›</a:t>
            </a:fld>
            <a:endParaRPr lang="en-IN"/>
          </a:p>
        </p:txBody>
      </p:sp>
    </p:spTree>
    <p:extLst>
      <p:ext uri="{BB962C8B-B14F-4D97-AF65-F5344CB8AC3E}">
        <p14:creationId xmlns:p14="http://schemas.microsoft.com/office/powerpoint/2010/main" val="1477458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A0266B8-1196-A854-BA47-52D19EC15BE3}"/>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4E80B260-C263-CE62-99A4-8AFB4938F6B2}"/>
              </a:ext>
            </a:extLst>
          </p:cNvPr>
          <p:cNvSpPr>
            <a:spLocks noGrp="1"/>
          </p:cNvSpPr>
          <p:nvPr>
            <p:ph type="sldNum" sz="quarter" idx="12"/>
          </p:nvPr>
        </p:nvSpPr>
        <p:spPr/>
        <p:txBody>
          <a:bodyPr/>
          <a:lstStyle/>
          <a:p>
            <a:fld id="{FACB5482-D393-4E2D-8FB7-B68A06B80F1E}" type="slidenum">
              <a:rPr lang="en-IN" smtClean="0"/>
              <a:t>1</a:t>
            </a:fld>
            <a:endParaRPr lang="en-IN"/>
          </a:p>
        </p:txBody>
      </p:sp>
      <p:sp>
        <p:nvSpPr>
          <p:cNvPr id="6" name="Google Shape;91;p1">
            <a:extLst>
              <a:ext uri="{FF2B5EF4-FFF2-40B4-BE49-F238E27FC236}">
                <a16:creationId xmlns:a16="http://schemas.microsoft.com/office/drawing/2014/main" id="{B21318A0-AFC1-B280-5494-CDFF9FF0A2F8}"/>
              </a:ext>
            </a:extLst>
          </p:cNvPr>
          <p:cNvSpPr txBox="1"/>
          <p:nvPr/>
        </p:nvSpPr>
        <p:spPr>
          <a:xfrm>
            <a:off x="1082833" y="2946800"/>
            <a:ext cx="10369600" cy="861734"/>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US" sz="40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venir"/>
              </a:rPr>
              <a:t>Python </a:t>
            </a:r>
            <a:r>
              <a:rPr lang="en-US" sz="4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venir"/>
              </a:rPr>
              <a:t>Database Framework</a:t>
            </a:r>
            <a:endParaRPr lang="en-US" sz="4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venir"/>
            </a:endParaRPr>
          </a:p>
        </p:txBody>
      </p:sp>
      <p:sp>
        <p:nvSpPr>
          <p:cNvPr id="7" name="Google Shape;92;p1">
            <a:extLst>
              <a:ext uri="{FF2B5EF4-FFF2-40B4-BE49-F238E27FC236}">
                <a16:creationId xmlns:a16="http://schemas.microsoft.com/office/drawing/2014/main" id="{A14DEB42-E704-66C2-3DD6-413AEA2F05D2}"/>
              </a:ext>
            </a:extLst>
          </p:cNvPr>
          <p:cNvSpPr/>
          <p:nvPr/>
        </p:nvSpPr>
        <p:spPr>
          <a:xfrm>
            <a:off x="1216533" y="3836739"/>
            <a:ext cx="1898400" cy="114400"/>
          </a:xfrm>
          <a:prstGeom prst="rect">
            <a:avLst/>
          </a:prstGeom>
          <a:solidFill>
            <a:srgbClr val="CCCCC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8" name="Google Shape;93;p1">
            <a:extLst>
              <a:ext uri="{FF2B5EF4-FFF2-40B4-BE49-F238E27FC236}">
                <a16:creationId xmlns:a16="http://schemas.microsoft.com/office/drawing/2014/main" id="{251E3EA6-A64B-D870-6B4A-E7611E913475}"/>
              </a:ext>
            </a:extLst>
          </p:cNvPr>
          <p:cNvSpPr/>
          <p:nvPr/>
        </p:nvSpPr>
        <p:spPr>
          <a:xfrm>
            <a:off x="3114933" y="3836733"/>
            <a:ext cx="7852400" cy="114400"/>
          </a:xfrm>
          <a:prstGeom prst="rect">
            <a:avLst/>
          </a:prstGeom>
          <a:solidFill>
            <a:srgbClr val="0000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9" name="Google Shape;94;p1">
            <a:extLst>
              <a:ext uri="{FF2B5EF4-FFF2-40B4-BE49-F238E27FC236}">
                <a16:creationId xmlns:a16="http://schemas.microsoft.com/office/drawing/2014/main" id="{45F7463F-8AD5-D32F-B5A9-41D95B428A0E}"/>
              </a:ext>
            </a:extLst>
          </p:cNvPr>
          <p:cNvSpPr/>
          <p:nvPr/>
        </p:nvSpPr>
        <p:spPr>
          <a:xfrm>
            <a:off x="0" y="0"/>
            <a:ext cx="96800" cy="6858000"/>
          </a:xfrm>
          <a:prstGeom prst="rect">
            <a:avLst/>
          </a:pr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grpSp>
        <p:nvGrpSpPr>
          <p:cNvPr id="10" name="Google Shape;95;p1">
            <a:extLst>
              <a:ext uri="{FF2B5EF4-FFF2-40B4-BE49-F238E27FC236}">
                <a16:creationId xmlns:a16="http://schemas.microsoft.com/office/drawing/2014/main" id="{F032DB05-8187-09D0-E00B-984EE8D97AF9}"/>
              </a:ext>
            </a:extLst>
          </p:cNvPr>
          <p:cNvGrpSpPr/>
          <p:nvPr/>
        </p:nvGrpSpPr>
        <p:grpSpPr>
          <a:xfrm>
            <a:off x="0" y="-56"/>
            <a:ext cx="90400" cy="6857955"/>
            <a:chOff x="0" y="-42"/>
            <a:chExt cx="67800" cy="5143466"/>
          </a:xfrm>
        </p:grpSpPr>
        <p:sp>
          <p:nvSpPr>
            <p:cNvPr id="11" name="Google Shape;96;p1">
              <a:extLst>
                <a:ext uri="{FF2B5EF4-FFF2-40B4-BE49-F238E27FC236}">
                  <a16:creationId xmlns:a16="http://schemas.microsoft.com/office/drawing/2014/main" id="{80597A7D-6C2D-B77D-36D8-605E46FB5C76}"/>
                </a:ext>
              </a:extLst>
            </p:cNvPr>
            <p:cNvSpPr/>
            <p:nvPr/>
          </p:nvSpPr>
          <p:spPr>
            <a:xfrm>
              <a:off x="0" y="-42"/>
              <a:ext cx="67800" cy="995400"/>
            </a:xfrm>
            <a:prstGeom prst="rect">
              <a:avLst/>
            </a:prstGeom>
            <a:solidFill>
              <a:srgbClr val="CCCCC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12" name="Google Shape;97;p1">
              <a:extLst>
                <a:ext uri="{FF2B5EF4-FFF2-40B4-BE49-F238E27FC236}">
                  <a16:creationId xmlns:a16="http://schemas.microsoft.com/office/drawing/2014/main" id="{701A8E19-CDEA-D87A-C091-F8F8E9217443}"/>
                </a:ext>
              </a:extLst>
            </p:cNvPr>
            <p:cNvSpPr/>
            <p:nvPr/>
          </p:nvSpPr>
          <p:spPr>
            <a:xfrm>
              <a:off x="0" y="995324"/>
              <a:ext cx="67800" cy="4148100"/>
            </a:xfrm>
            <a:prstGeom prst="rect">
              <a:avLst/>
            </a:prstGeom>
            <a:solidFill>
              <a:srgbClr val="0000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237918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3FE700-C624-0EC9-58D9-642EF2934C6E}"/>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33B0323D-C20D-12EE-89DA-643D06CCF1C4}"/>
              </a:ext>
            </a:extLst>
          </p:cNvPr>
          <p:cNvSpPr>
            <a:spLocks noGrp="1"/>
          </p:cNvSpPr>
          <p:nvPr>
            <p:ph type="sldNum" sz="quarter" idx="12"/>
          </p:nvPr>
        </p:nvSpPr>
        <p:spPr/>
        <p:txBody>
          <a:bodyPr/>
          <a:lstStyle/>
          <a:p>
            <a:fld id="{FACB5482-D393-4E2D-8FB7-B68A06B80F1E}" type="slidenum">
              <a:rPr lang="en-IN" smtClean="0"/>
              <a:t>2</a:t>
            </a:fld>
            <a:endParaRPr lang="en-IN"/>
          </a:p>
        </p:txBody>
      </p:sp>
      <p:grpSp>
        <p:nvGrpSpPr>
          <p:cNvPr id="6" name="Google Shape;102;p2">
            <a:extLst>
              <a:ext uri="{FF2B5EF4-FFF2-40B4-BE49-F238E27FC236}">
                <a16:creationId xmlns:a16="http://schemas.microsoft.com/office/drawing/2014/main" id="{DC08F374-9408-BBF4-CB56-11997C541B67}"/>
              </a:ext>
            </a:extLst>
          </p:cNvPr>
          <p:cNvGrpSpPr/>
          <p:nvPr/>
        </p:nvGrpSpPr>
        <p:grpSpPr>
          <a:xfrm>
            <a:off x="543877" y="6108987"/>
            <a:ext cx="11205845" cy="0"/>
            <a:chOff x="539115" y="3792507"/>
            <a:chExt cx="11205845" cy="0"/>
          </a:xfrm>
        </p:grpSpPr>
        <p:cxnSp>
          <p:nvCxnSpPr>
            <p:cNvPr id="7" name="Google Shape;103;p2">
              <a:extLst>
                <a:ext uri="{FF2B5EF4-FFF2-40B4-BE49-F238E27FC236}">
                  <a16:creationId xmlns:a16="http://schemas.microsoft.com/office/drawing/2014/main" id="{39BF46A2-9D28-FBC3-272C-2D49D2EA9DE9}"/>
                </a:ext>
              </a:extLst>
            </p:cNvPr>
            <p:cNvCxnSpPr/>
            <p:nvPr/>
          </p:nvCxnSpPr>
          <p:spPr>
            <a:xfrm>
              <a:off x="1685925" y="3792507"/>
              <a:ext cx="10059035" cy="0"/>
            </a:xfrm>
            <a:prstGeom prst="straightConnector1">
              <a:avLst/>
            </a:prstGeom>
            <a:noFill/>
            <a:ln w="101600" cap="flat" cmpd="sng">
              <a:solidFill>
                <a:srgbClr val="3A3A3A"/>
              </a:solidFill>
              <a:prstDash val="solid"/>
              <a:miter lim="800000"/>
              <a:headEnd type="none" w="sm" len="sm"/>
              <a:tailEnd type="none" w="sm" len="sm"/>
            </a:ln>
          </p:spPr>
        </p:cxnSp>
        <p:cxnSp>
          <p:nvCxnSpPr>
            <p:cNvPr id="8" name="Google Shape;104;p2">
              <a:extLst>
                <a:ext uri="{FF2B5EF4-FFF2-40B4-BE49-F238E27FC236}">
                  <a16:creationId xmlns:a16="http://schemas.microsoft.com/office/drawing/2014/main" id="{7EF008A3-0A58-74DC-A042-0087DCAB1F8A}"/>
                </a:ext>
              </a:extLst>
            </p:cNvPr>
            <p:cNvCxnSpPr/>
            <p:nvPr/>
          </p:nvCxnSpPr>
          <p:spPr>
            <a:xfrm>
              <a:off x="539115" y="3792507"/>
              <a:ext cx="1553845" cy="0"/>
            </a:xfrm>
            <a:prstGeom prst="straightConnector1">
              <a:avLst/>
            </a:prstGeom>
            <a:noFill/>
            <a:ln w="101600" cap="flat" cmpd="sng">
              <a:solidFill>
                <a:srgbClr val="C00000"/>
              </a:solidFill>
              <a:prstDash val="solid"/>
              <a:miter lim="800000"/>
              <a:headEnd type="none" w="sm" len="sm"/>
              <a:tailEnd type="none" w="sm" len="sm"/>
            </a:ln>
          </p:spPr>
        </p:cxnSp>
      </p:grpSp>
      <p:grpSp>
        <p:nvGrpSpPr>
          <p:cNvPr id="9" name="Google Shape;105;p2">
            <a:extLst>
              <a:ext uri="{FF2B5EF4-FFF2-40B4-BE49-F238E27FC236}">
                <a16:creationId xmlns:a16="http://schemas.microsoft.com/office/drawing/2014/main" id="{DEBC594D-831F-1E16-37F0-51539711731F}"/>
              </a:ext>
            </a:extLst>
          </p:cNvPr>
          <p:cNvGrpSpPr/>
          <p:nvPr/>
        </p:nvGrpSpPr>
        <p:grpSpPr>
          <a:xfrm>
            <a:off x="3320787" y="4776459"/>
            <a:ext cx="4736716" cy="776075"/>
            <a:chOff x="2076884" y="3202000"/>
            <a:chExt cx="4736716" cy="776075"/>
          </a:xfrm>
        </p:grpSpPr>
        <p:sp>
          <p:nvSpPr>
            <p:cNvPr id="10" name="Google Shape;106;p2">
              <a:extLst>
                <a:ext uri="{FF2B5EF4-FFF2-40B4-BE49-F238E27FC236}">
                  <a16:creationId xmlns:a16="http://schemas.microsoft.com/office/drawing/2014/main" id="{2856EA30-E161-180B-144A-DA4FAD1EE3A1}"/>
                </a:ext>
              </a:extLst>
            </p:cNvPr>
            <p:cNvSpPr/>
            <p:nvPr/>
          </p:nvSpPr>
          <p:spPr>
            <a:xfrm>
              <a:off x="2463132" y="3247534"/>
              <a:ext cx="314092" cy="314092"/>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1" name="Google Shape;107;p2">
              <a:extLst>
                <a:ext uri="{FF2B5EF4-FFF2-40B4-BE49-F238E27FC236}">
                  <a16:creationId xmlns:a16="http://schemas.microsoft.com/office/drawing/2014/main" id="{8BCD0CFA-3689-4D04-B0F4-576F3570E147}"/>
                </a:ext>
              </a:extLst>
            </p:cNvPr>
            <p:cNvPicPr preferRelativeResize="0"/>
            <p:nvPr/>
          </p:nvPicPr>
          <p:blipFill rotWithShape="1">
            <a:blip r:embed="rId2">
              <a:alphaModFix/>
            </a:blip>
            <a:srcRect/>
            <a:stretch/>
          </p:blipFill>
          <p:spPr>
            <a:xfrm>
              <a:off x="5840597" y="3215575"/>
              <a:ext cx="898400" cy="477450"/>
            </a:xfrm>
            <a:prstGeom prst="rect">
              <a:avLst/>
            </a:prstGeom>
            <a:noFill/>
            <a:ln>
              <a:noFill/>
            </a:ln>
          </p:spPr>
        </p:pic>
        <p:pic>
          <p:nvPicPr>
            <p:cNvPr id="12" name="Google Shape;108;p2">
              <a:extLst>
                <a:ext uri="{FF2B5EF4-FFF2-40B4-BE49-F238E27FC236}">
                  <a16:creationId xmlns:a16="http://schemas.microsoft.com/office/drawing/2014/main" id="{D8AD6062-9BE2-D5E3-9214-2EC394FE995A}"/>
                </a:ext>
              </a:extLst>
            </p:cNvPr>
            <p:cNvPicPr preferRelativeResize="0"/>
            <p:nvPr/>
          </p:nvPicPr>
          <p:blipFill rotWithShape="1">
            <a:blip r:embed="rId3">
              <a:alphaModFix/>
            </a:blip>
            <a:srcRect/>
            <a:stretch/>
          </p:blipFill>
          <p:spPr>
            <a:xfrm>
              <a:off x="4694523" y="3202000"/>
              <a:ext cx="434169" cy="405125"/>
            </a:xfrm>
            <a:prstGeom prst="rect">
              <a:avLst/>
            </a:prstGeom>
            <a:noFill/>
            <a:ln>
              <a:noFill/>
            </a:ln>
          </p:spPr>
        </p:pic>
        <p:sp>
          <p:nvSpPr>
            <p:cNvPr id="13" name="Google Shape;109;p2">
              <a:extLst>
                <a:ext uri="{FF2B5EF4-FFF2-40B4-BE49-F238E27FC236}">
                  <a16:creationId xmlns:a16="http://schemas.microsoft.com/office/drawing/2014/main" id="{6A183234-39BD-D76E-97C1-DF5420B9CCD7}"/>
                </a:ext>
              </a:extLst>
            </p:cNvPr>
            <p:cNvSpPr txBox="1"/>
            <p:nvPr/>
          </p:nvSpPr>
          <p:spPr>
            <a:xfrm>
              <a:off x="2076884" y="3684675"/>
              <a:ext cx="1086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Error/ Warning</a:t>
              </a:r>
              <a:endParaRPr sz="1100" b="0" i="0" u="none" strike="noStrike" cap="none">
                <a:solidFill>
                  <a:srgbClr val="434343"/>
                </a:solidFill>
                <a:latin typeface="Calibri"/>
                <a:ea typeface="Calibri"/>
                <a:cs typeface="Calibri"/>
                <a:sym typeface="Calibri"/>
              </a:endParaRPr>
            </a:p>
          </p:txBody>
        </p:sp>
        <p:sp>
          <p:nvSpPr>
            <p:cNvPr id="14" name="Google Shape;110;p2">
              <a:extLst>
                <a:ext uri="{FF2B5EF4-FFF2-40B4-BE49-F238E27FC236}">
                  <a16:creationId xmlns:a16="http://schemas.microsoft.com/office/drawing/2014/main" id="{72497C9D-96F1-6E6D-D776-33B83B912B7D}"/>
                </a:ext>
              </a:extLst>
            </p:cNvPr>
            <p:cNvSpPr txBox="1"/>
            <p:nvPr/>
          </p:nvSpPr>
          <p:spPr>
            <a:xfrm>
              <a:off x="3347450" y="3684675"/>
              <a:ext cx="8652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Information</a:t>
              </a:r>
              <a:endParaRPr sz="1100" b="0" i="0" u="none" strike="noStrike" cap="none">
                <a:solidFill>
                  <a:srgbClr val="434343"/>
                </a:solidFill>
                <a:latin typeface="Calibri"/>
                <a:ea typeface="Calibri"/>
                <a:cs typeface="Calibri"/>
                <a:sym typeface="Calibri"/>
              </a:endParaRPr>
            </a:p>
          </p:txBody>
        </p:sp>
        <p:sp>
          <p:nvSpPr>
            <p:cNvPr id="15" name="Google Shape;111;p2">
              <a:extLst>
                <a:ext uri="{FF2B5EF4-FFF2-40B4-BE49-F238E27FC236}">
                  <a16:creationId xmlns:a16="http://schemas.microsoft.com/office/drawing/2014/main" id="{C70478E7-FF14-5376-A32C-D8852FC614DE}"/>
                </a:ext>
              </a:extLst>
            </p:cNvPr>
            <p:cNvSpPr txBox="1"/>
            <p:nvPr/>
          </p:nvSpPr>
          <p:spPr>
            <a:xfrm>
              <a:off x="4543561" y="3684675"/>
              <a:ext cx="7629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Flashback</a:t>
              </a:r>
              <a:endParaRPr sz="1100" b="0" i="0" u="none" strike="noStrike" cap="none">
                <a:solidFill>
                  <a:srgbClr val="434343"/>
                </a:solidFill>
                <a:latin typeface="Calibri"/>
                <a:ea typeface="Calibri"/>
                <a:cs typeface="Calibri"/>
                <a:sym typeface="Calibri"/>
              </a:endParaRPr>
            </a:p>
          </p:txBody>
        </p:sp>
        <p:sp>
          <p:nvSpPr>
            <p:cNvPr id="16" name="Google Shape;112;p2">
              <a:extLst>
                <a:ext uri="{FF2B5EF4-FFF2-40B4-BE49-F238E27FC236}">
                  <a16:creationId xmlns:a16="http://schemas.microsoft.com/office/drawing/2014/main" id="{B01EE3F7-835B-5A40-4483-BBB831DB84F5}"/>
                </a:ext>
              </a:extLst>
            </p:cNvPr>
            <p:cNvSpPr txBox="1"/>
            <p:nvPr/>
          </p:nvSpPr>
          <p:spPr>
            <a:xfrm>
              <a:off x="5766000" y="3684675"/>
              <a:ext cx="1047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1100" b="0" i="0" u="none" strike="noStrike" cap="none">
                  <a:solidFill>
                    <a:srgbClr val="434343"/>
                  </a:solidFill>
                  <a:latin typeface="Calibri"/>
                  <a:ea typeface="Calibri"/>
                  <a:cs typeface="Calibri"/>
                  <a:sym typeface="Calibri"/>
                </a:rPr>
                <a:t>Class Exercise</a:t>
              </a:r>
              <a:endParaRPr sz="1100" b="0" i="0" u="none" strike="noStrike" cap="none">
                <a:solidFill>
                  <a:srgbClr val="434343"/>
                </a:solidFill>
                <a:latin typeface="Calibri"/>
                <a:ea typeface="Calibri"/>
                <a:cs typeface="Calibri"/>
                <a:sym typeface="Calibri"/>
              </a:endParaRPr>
            </a:p>
          </p:txBody>
        </p:sp>
      </p:grpSp>
      <p:pic>
        <p:nvPicPr>
          <p:cNvPr id="17" name="Google Shape;113;p2" descr="Warning with solid fill">
            <a:extLst>
              <a:ext uri="{FF2B5EF4-FFF2-40B4-BE49-F238E27FC236}">
                <a16:creationId xmlns:a16="http://schemas.microsoft.com/office/drawing/2014/main" id="{CCDDB506-C75F-6A89-2425-B94771889184}"/>
              </a:ext>
            </a:extLst>
          </p:cNvPr>
          <p:cNvPicPr preferRelativeResize="0"/>
          <p:nvPr/>
        </p:nvPicPr>
        <p:blipFill rotWithShape="1">
          <a:blip r:embed="rId4">
            <a:alphaModFix/>
          </a:blip>
          <a:srcRect/>
          <a:stretch/>
        </p:blipFill>
        <p:spPr>
          <a:xfrm>
            <a:off x="3652276" y="4794102"/>
            <a:ext cx="423609" cy="423609"/>
          </a:xfrm>
          <a:prstGeom prst="rect">
            <a:avLst/>
          </a:prstGeom>
          <a:noFill/>
          <a:ln>
            <a:noFill/>
          </a:ln>
        </p:spPr>
      </p:pic>
      <p:pic>
        <p:nvPicPr>
          <p:cNvPr id="18" name="Google Shape;114;p2" descr="Information with solid fill">
            <a:extLst>
              <a:ext uri="{FF2B5EF4-FFF2-40B4-BE49-F238E27FC236}">
                <a16:creationId xmlns:a16="http://schemas.microsoft.com/office/drawing/2014/main" id="{95F2BE76-8E91-E5AD-CD73-966A40596D28}"/>
              </a:ext>
            </a:extLst>
          </p:cNvPr>
          <p:cNvPicPr preferRelativeResize="0"/>
          <p:nvPr/>
        </p:nvPicPr>
        <p:blipFill rotWithShape="1">
          <a:blip r:embed="rId5">
            <a:alphaModFix/>
          </a:blip>
          <a:srcRect/>
          <a:stretch/>
        </p:blipFill>
        <p:spPr>
          <a:xfrm>
            <a:off x="4760717" y="4752681"/>
            <a:ext cx="506453" cy="506453"/>
          </a:xfrm>
          <a:prstGeom prst="rect">
            <a:avLst/>
          </a:prstGeom>
          <a:noFill/>
          <a:ln>
            <a:noFill/>
          </a:ln>
        </p:spPr>
      </p:pic>
    </p:spTree>
    <p:extLst>
      <p:ext uri="{BB962C8B-B14F-4D97-AF65-F5344CB8AC3E}">
        <p14:creationId xmlns:p14="http://schemas.microsoft.com/office/powerpoint/2010/main" val="118464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p:nvPr/>
        </p:nvSpPr>
        <p:spPr>
          <a:xfrm>
            <a:off x="1" y="3136613"/>
            <a:ext cx="4246880" cy="58477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3200" b="0" i="0" u="none" strike="noStrike" cap="none" dirty="0">
                <a:solidFill>
                  <a:srgbClr val="262626"/>
                </a:solidFill>
                <a:latin typeface="Calibri"/>
                <a:ea typeface="Calibri"/>
                <a:cs typeface="Calibri"/>
                <a:sym typeface="Calibri"/>
              </a:rPr>
              <a:t>AGENDA</a:t>
            </a:r>
            <a:endParaRPr sz="3200" b="0" i="0" u="none" strike="noStrike" cap="none" dirty="0">
              <a:solidFill>
                <a:srgbClr val="262626"/>
              </a:solidFill>
              <a:latin typeface="Calibri"/>
              <a:ea typeface="Calibri"/>
              <a:cs typeface="Calibri"/>
              <a:sym typeface="Calibri"/>
            </a:endParaRPr>
          </a:p>
        </p:txBody>
      </p:sp>
      <p:sp>
        <p:nvSpPr>
          <p:cNvPr id="120" name="Google Shape;120;p3"/>
          <p:cNvSpPr txBox="1"/>
          <p:nvPr/>
        </p:nvSpPr>
        <p:spPr>
          <a:xfrm>
            <a:off x="4907281" y="2151747"/>
            <a:ext cx="6736080" cy="2554505"/>
          </a:xfrm>
          <a:prstGeom prst="rect">
            <a:avLst/>
          </a:prstGeom>
          <a:noFill/>
          <a:ln>
            <a:noFill/>
          </a:ln>
        </p:spPr>
        <p:txBody>
          <a:bodyPr spcFirstLastPara="1" wrap="square" lIns="91425" tIns="45700" rIns="91425" bIns="45700" anchor="ctr" anchorCtr="0">
            <a:spAutoFit/>
          </a:bodyPr>
          <a:lstStyle/>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Database Management with Flask SQLAlchemy</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How to initialize and configure a simple SQLite database</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Most common SQLAlchemy column types</a:t>
            </a:r>
          </a:p>
          <a:p>
            <a:pPr marL="342900" marR="0" lvl="0" indent="-342900" algn="l" rtl="0">
              <a:lnSpc>
                <a:spcPct val="200000"/>
              </a:lnSpc>
              <a:spcBef>
                <a:spcPts val="0"/>
              </a:spcBef>
              <a:spcAft>
                <a:spcPts val="0"/>
              </a:spcAft>
              <a:buClr>
                <a:schemeClr val="dk1"/>
              </a:buClr>
              <a:buSzPts val="2000"/>
              <a:buFont typeface="Play"/>
              <a:buAutoNum type="arabicPeriod"/>
            </a:pPr>
            <a:r>
              <a:rPr lang="en-US" sz="2000" b="0" i="0" u="none" strike="noStrike" cap="none" dirty="0">
                <a:solidFill>
                  <a:schemeClr val="dk1"/>
                </a:solidFill>
                <a:latin typeface="Calibri"/>
                <a:ea typeface="Calibri"/>
                <a:cs typeface="Calibri"/>
                <a:sym typeface="Calibri"/>
              </a:rPr>
              <a:t>Database Use in View Functions</a:t>
            </a:r>
          </a:p>
        </p:txBody>
      </p:sp>
      <p:cxnSp>
        <p:nvCxnSpPr>
          <p:cNvPr id="121" name="Google Shape;121;p3"/>
          <p:cNvCxnSpPr>
            <a:cxnSpLocks/>
          </p:cNvCxnSpPr>
          <p:nvPr/>
        </p:nvCxnSpPr>
        <p:spPr>
          <a:xfrm>
            <a:off x="4246880" y="984250"/>
            <a:ext cx="0" cy="4889500"/>
          </a:xfrm>
          <a:prstGeom prst="straightConnector1">
            <a:avLst/>
          </a:prstGeom>
          <a:noFill/>
          <a:ln w="19050" cap="flat" cmpd="sng">
            <a:solidFill>
              <a:schemeClr val="accent1"/>
            </a:solidFill>
            <a:prstDash val="solid"/>
            <a:miter lim="800000"/>
            <a:headEnd type="none" w="sm" len="sm"/>
            <a:tailEnd type="none" w="sm" len="sm"/>
          </a:ln>
        </p:spPr>
      </p:cxnSp>
      <p:sp>
        <p:nvSpPr>
          <p:cNvPr id="2" name="Footer Placeholder 1">
            <a:extLst>
              <a:ext uri="{FF2B5EF4-FFF2-40B4-BE49-F238E27FC236}">
                <a16:creationId xmlns:a16="http://schemas.microsoft.com/office/drawing/2014/main" id="{33C219FA-8CCF-088C-B244-46D75674269B}"/>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B3089A66-F55B-383A-8201-36E069870C67}"/>
              </a:ext>
            </a:extLst>
          </p:cNvPr>
          <p:cNvSpPr>
            <a:spLocks noGrp="1"/>
          </p:cNvSpPr>
          <p:nvPr>
            <p:ph type="sldNum" sz="quarter" idx="12"/>
          </p:nvPr>
        </p:nvSpPr>
        <p:spPr/>
        <p:txBody>
          <a:bodyPr/>
          <a:lstStyle/>
          <a:p>
            <a:fld id="{FACB5482-D393-4E2D-8FB7-B68A06B80F1E}"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16E1966-2961-6E99-76AF-456C0305BF4D}"/>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3F46909A-D47A-DF00-3FF3-FB04A1828910}"/>
              </a:ext>
            </a:extLst>
          </p:cNvPr>
          <p:cNvSpPr>
            <a:spLocks noGrp="1"/>
          </p:cNvSpPr>
          <p:nvPr>
            <p:ph type="sldNum" sz="quarter" idx="12"/>
          </p:nvPr>
        </p:nvSpPr>
        <p:spPr/>
        <p:txBody>
          <a:bodyPr/>
          <a:lstStyle/>
          <a:p>
            <a:fld id="{FACB5482-D393-4E2D-8FB7-B68A06B80F1E}" type="slidenum">
              <a:rPr lang="en-IN" smtClean="0"/>
              <a:t>4</a:t>
            </a:fld>
            <a:endParaRPr lang="en-IN"/>
          </a:p>
        </p:txBody>
      </p:sp>
      <p:sp>
        <p:nvSpPr>
          <p:cNvPr id="6" name="Google Shape;126;p4">
            <a:extLst>
              <a:ext uri="{FF2B5EF4-FFF2-40B4-BE49-F238E27FC236}">
                <a16:creationId xmlns:a16="http://schemas.microsoft.com/office/drawing/2014/main" id="{A90DCE87-3B43-D19D-86B8-9856401911B5}"/>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a:pPr>
            <a:r>
              <a:rPr lang="en-US" sz="4000" dirty="0">
                <a:solidFill>
                  <a:srgbClr val="000000"/>
                </a:solidFill>
                <a:latin typeface="Calibri"/>
                <a:ea typeface="Calibri"/>
                <a:cs typeface="Calibri"/>
                <a:sym typeface="Calibri"/>
              </a:rPr>
              <a:t>Database management with Flask </a:t>
            </a:r>
            <a:r>
              <a:rPr lang="en-US" sz="4000" dirty="0" err="1">
                <a:solidFill>
                  <a:srgbClr val="000000"/>
                </a:solidFill>
                <a:latin typeface="Calibri"/>
                <a:ea typeface="Calibri"/>
                <a:cs typeface="Calibri"/>
                <a:sym typeface="Calibri"/>
              </a:rPr>
              <a:t>SQLAlchemy</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327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9485384"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Importance of database management in web development</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4247276"/>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1. Data Storage and Retrieval</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2. Data Organization and Structure</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Data Security and Integrity</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4. Scalability and Performance</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5. Data Sharing and Collaboration</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6. Data Analysis and Insights</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7. User Authentication and Authorization</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8. Content Management</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9. E-commerce and Transactions</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10. Compliance and Regulatory Requirements</a:t>
            </a:r>
          </a:p>
        </p:txBody>
      </p:sp>
      <p:sp>
        <p:nvSpPr>
          <p:cNvPr id="3" name="Footer Placeholder 2">
            <a:extLst>
              <a:ext uri="{FF2B5EF4-FFF2-40B4-BE49-F238E27FC236}">
                <a16:creationId xmlns:a16="http://schemas.microsoft.com/office/drawing/2014/main" id="{235D2E0B-B7AD-1654-9A99-822B3C02849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33F56505-94AD-9AF7-11BF-DEEDE4130323}"/>
              </a:ext>
            </a:extLst>
          </p:cNvPr>
          <p:cNvSpPr>
            <a:spLocks noGrp="1"/>
          </p:cNvSpPr>
          <p:nvPr>
            <p:ph type="sldNum" sz="quarter" idx="12"/>
          </p:nvPr>
        </p:nvSpPr>
        <p:spPr/>
        <p:txBody>
          <a:bodyPr/>
          <a:lstStyle/>
          <a:p>
            <a:fld id="{FACB5482-D393-4E2D-8FB7-B68A06B80F1E}" type="slidenum">
              <a:rPr lang="en-IN" smtClean="0"/>
              <a:t>5</a:t>
            </a:fld>
            <a:endParaRPr lang="en-IN"/>
          </a:p>
        </p:txBody>
      </p:sp>
    </p:spTree>
    <p:extLst>
      <p:ext uri="{BB962C8B-B14F-4D97-AF65-F5344CB8AC3E}">
        <p14:creationId xmlns:p14="http://schemas.microsoft.com/office/powerpoint/2010/main" val="2305369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175428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SQLAlchemy is a popular Python library used for working with databases in a Pythonic way.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provides a high-level, abstract interface for interacting with various databases, including MySQL, PostgreSQL, SQLite, Oracle, and Microsoft SQL Server.</a:t>
            </a:r>
          </a:p>
        </p:txBody>
      </p:sp>
      <p:sp>
        <p:nvSpPr>
          <p:cNvPr id="3" name="Footer Placeholder 2">
            <a:extLst>
              <a:ext uri="{FF2B5EF4-FFF2-40B4-BE49-F238E27FC236}">
                <a16:creationId xmlns:a16="http://schemas.microsoft.com/office/drawing/2014/main" id="{C0063940-2949-73A8-1160-7EBB596E537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76BB68C1-9983-BBC2-724B-F80AFA8D6A79}"/>
              </a:ext>
            </a:extLst>
          </p:cNvPr>
          <p:cNvSpPr>
            <a:spLocks noGrp="1"/>
          </p:cNvSpPr>
          <p:nvPr>
            <p:ph type="sldNum" sz="quarter" idx="12"/>
          </p:nvPr>
        </p:nvSpPr>
        <p:spPr/>
        <p:txBody>
          <a:bodyPr/>
          <a:lstStyle/>
          <a:p>
            <a:fld id="{FACB5482-D393-4E2D-8FB7-B68A06B80F1E}" type="slidenum">
              <a:rPr lang="en-IN" smtClean="0"/>
              <a:t>6</a:t>
            </a:fld>
            <a:endParaRPr lang="en-IN"/>
          </a:p>
        </p:txBody>
      </p:sp>
    </p:spTree>
    <p:extLst>
      <p:ext uri="{BB962C8B-B14F-4D97-AF65-F5344CB8AC3E}">
        <p14:creationId xmlns:p14="http://schemas.microsoft.com/office/powerpoint/2010/main" val="2590448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383177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SQLAlchemy consists of two main components</a:t>
            </a:r>
          </a:p>
          <a:p>
            <a:pPr marL="342900" marR="0" lvl="0" indent="-342900" algn="just" rtl="0">
              <a:lnSpc>
                <a:spcPct val="150000"/>
              </a:lnSpc>
              <a:spcBef>
                <a:spcPts val="0"/>
              </a:spcBef>
              <a:spcAft>
                <a:spcPts val="0"/>
              </a:spcAft>
              <a:buClr>
                <a:srgbClr val="262626"/>
              </a:buClr>
              <a:buSzPts val="1800"/>
              <a:buAutoNum type="arabicPeriod"/>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Core: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This component provides a database abstraction layer, allows to interact with databases using a Pythonic SQL expression language.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includes features like connection pooling, transaction management, and SQL query construction.</a:t>
            </a:r>
          </a:p>
          <a:p>
            <a:pPr marL="342900" marR="0" lvl="0" indent="-342900" algn="just" rtl="0">
              <a:lnSpc>
                <a:spcPct val="150000"/>
              </a:lnSpc>
              <a:spcBef>
                <a:spcPts val="0"/>
              </a:spcBef>
              <a:spcAft>
                <a:spcPts val="0"/>
              </a:spcAft>
              <a:buClr>
                <a:srgbClr val="262626"/>
              </a:buClr>
              <a:buSzPts val="1800"/>
              <a:buAutoNum type="arabicPeriod"/>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2. ORM (Object-Relational Mapper): </a:t>
            </a:r>
          </a:p>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This component provides a way to map Python classes to database tables, enables to work with databases using Python objects and relationships instead of writing raw SQL.</a:t>
            </a:r>
          </a:p>
        </p:txBody>
      </p:sp>
      <p:sp>
        <p:nvSpPr>
          <p:cNvPr id="3" name="Footer Placeholder 2">
            <a:extLst>
              <a:ext uri="{FF2B5EF4-FFF2-40B4-BE49-F238E27FC236}">
                <a16:creationId xmlns:a16="http://schemas.microsoft.com/office/drawing/2014/main" id="{014E5FB5-1B98-70DF-AA4C-1366DF899FF5}"/>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7F1CD74F-9C14-556B-2E3E-B69AE12CBA85}"/>
              </a:ext>
            </a:extLst>
          </p:cNvPr>
          <p:cNvSpPr>
            <a:spLocks noGrp="1"/>
          </p:cNvSpPr>
          <p:nvPr>
            <p:ph type="sldNum" sz="quarter" idx="12"/>
          </p:nvPr>
        </p:nvSpPr>
        <p:spPr/>
        <p:txBody>
          <a:bodyPr/>
          <a:lstStyle/>
          <a:p>
            <a:fld id="{FACB5482-D393-4E2D-8FB7-B68A06B80F1E}" type="slidenum">
              <a:rPr lang="en-IN" smtClean="0"/>
              <a:t>7</a:t>
            </a:fld>
            <a:endParaRPr lang="en-IN"/>
          </a:p>
        </p:txBody>
      </p:sp>
    </p:spTree>
    <p:extLst>
      <p:ext uri="{BB962C8B-B14F-4D97-AF65-F5344CB8AC3E}">
        <p14:creationId xmlns:p14="http://schemas.microsoft.com/office/powerpoint/2010/main" val="3903433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4524275"/>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Key features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Database abstraction and SQL expression language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Object-Relational Mapping (ORM)</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Support for various database engines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Connection pooling and transaction management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Query construction and execution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Database schema management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Migration support</a:t>
            </a:r>
          </a:p>
        </p:txBody>
      </p:sp>
      <p:sp>
        <p:nvSpPr>
          <p:cNvPr id="3" name="Footer Placeholder 2">
            <a:extLst>
              <a:ext uri="{FF2B5EF4-FFF2-40B4-BE49-F238E27FC236}">
                <a16:creationId xmlns:a16="http://schemas.microsoft.com/office/drawing/2014/main" id="{0E9DECA9-9DA6-DE94-3A9F-237198E2D6C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1AA2A7EA-2628-B7AE-03E0-0B29643858B0}"/>
              </a:ext>
            </a:extLst>
          </p:cNvPr>
          <p:cNvSpPr>
            <a:spLocks noGrp="1"/>
          </p:cNvSpPr>
          <p:nvPr>
            <p:ph type="sldNum" sz="quarter" idx="12"/>
          </p:nvPr>
        </p:nvSpPr>
        <p:spPr/>
        <p:txBody>
          <a:bodyPr/>
          <a:lstStyle/>
          <a:p>
            <a:fld id="{FACB5482-D393-4E2D-8FB7-B68A06B80F1E}" type="slidenum">
              <a:rPr lang="en-IN" smtClean="0"/>
              <a:t>8</a:t>
            </a:fld>
            <a:endParaRPr lang="en-IN"/>
          </a:p>
        </p:txBody>
      </p:sp>
    </p:spTree>
    <p:extLst>
      <p:ext uri="{BB962C8B-B14F-4D97-AF65-F5344CB8AC3E}">
        <p14:creationId xmlns:p14="http://schemas.microsoft.com/office/powerpoint/2010/main" val="407363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175428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Its a tool that combines Flask and SQLAlchemy to create a web application with access to a database.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allows Python classes to be connected to database tables and provides an interface to interact with the database.</a:t>
            </a:r>
          </a:p>
        </p:txBody>
      </p:sp>
      <p:sp>
        <p:nvSpPr>
          <p:cNvPr id="3" name="Footer Placeholder 2">
            <a:extLst>
              <a:ext uri="{FF2B5EF4-FFF2-40B4-BE49-F238E27FC236}">
                <a16:creationId xmlns:a16="http://schemas.microsoft.com/office/drawing/2014/main" id="{58B4B0F5-17FD-F729-FF55-25D4B8E780F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AD25D3F-8096-73BB-A26A-028243E67B46}"/>
              </a:ext>
            </a:extLst>
          </p:cNvPr>
          <p:cNvSpPr>
            <a:spLocks noGrp="1"/>
          </p:cNvSpPr>
          <p:nvPr>
            <p:ph type="sldNum" sz="quarter" idx="12"/>
          </p:nvPr>
        </p:nvSpPr>
        <p:spPr/>
        <p:txBody>
          <a:bodyPr/>
          <a:lstStyle/>
          <a:p>
            <a:fld id="{FACB5482-D393-4E2D-8FB7-B68A06B80F1E}" type="slidenum">
              <a:rPr lang="en-IN" smtClean="0"/>
              <a:t>9</a:t>
            </a:fld>
            <a:endParaRPr lang="en-IN"/>
          </a:p>
        </p:txBody>
      </p:sp>
    </p:spTree>
    <p:extLst>
      <p:ext uri="{BB962C8B-B14F-4D97-AF65-F5344CB8AC3E}">
        <p14:creationId xmlns:p14="http://schemas.microsoft.com/office/powerpoint/2010/main" val="520080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8273"/>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Flask-SQLAlchemy provides the following functionalities</a:t>
            </a:r>
          </a:p>
          <a:p>
            <a:pPr marL="342900" indent="-342900" algn="just">
              <a:lnSpc>
                <a:spcPct val="150000"/>
              </a:lnSpc>
              <a:buClr>
                <a:srgbClr val="262626"/>
              </a:buClr>
              <a:buSzPts val="1800"/>
              <a:buFont typeface="Arial"/>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Integration with Flask: Tight integration with Flask allows for easy use in web applications.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Database Connection: Manages connections to the database.</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Model Definition: Allows defining models as Python classes that map to database tables.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CRUD Operations: Supports Create, Read, Update, and Delete operations on database records.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Querying: Provides a query interface to retrieve data from the database.</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Relationships: Supports defining relationships between models (e.g., one-to-many, many-to-many).</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Database Migrations: Integrates with Alembic to manage database schema migrations.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Session Management: Manages database sessions and transactions.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 Expression Language: Allows using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SQLAlchemy's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SQL expression language to write raw SQL queries.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Pagination: Supports pagination for querying large datasets.</a:t>
            </a:r>
          </a:p>
          <a:p>
            <a:pPr marL="342900" marR="0" lvl="0" indent="-342900" algn="just" rtl="0">
              <a:lnSpc>
                <a:spcPct val="150000"/>
              </a:lnSpc>
              <a:spcBef>
                <a:spcPts val="0"/>
              </a:spcBef>
              <a:spcAft>
                <a:spcPts val="0"/>
              </a:spcAft>
              <a:buClr>
                <a:srgbClr val="262626"/>
              </a:buClr>
              <a:buSzPts val="1800"/>
              <a:buAutoNum type="arabicPeriod"/>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Serialization: Allows serializing database objects to JSON or other formats.</a:t>
            </a:r>
          </a:p>
        </p:txBody>
      </p:sp>
      <p:sp>
        <p:nvSpPr>
          <p:cNvPr id="3" name="Footer Placeholder 2">
            <a:extLst>
              <a:ext uri="{FF2B5EF4-FFF2-40B4-BE49-F238E27FC236}">
                <a16:creationId xmlns:a16="http://schemas.microsoft.com/office/drawing/2014/main" id="{004038D9-7034-8903-5414-C64A11951548}"/>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3F5D973-D846-2989-81EC-1043F5938B27}"/>
              </a:ext>
            </a:extLst>
          </p:cNvPr>
          <p:cNvSpPr>
            <a:spLocks noGrp="1"/>
          </p:cNvSpPr>
          <p:nvPr>
            <p:ph type="sldNum" sz="quarter" idx="12"/>
          </p:nvPr>
        </p:nvSpPr>
        <p:spPr/>
        <p:txBody>
          <a:bodyPr/>
          <a:lstStyle/>
          <a:p>
            <a:fld id="{FACB5482-D393-4E2D-8FB7-B68A06B80F1E}" type="slidenum">
              <a:rPr lang="en-IN" smtClean="0"/>
              <a:t>10</a:t>
            </a:fld>
            <a:endParaRPr lang="en-IN"/>
          </a:p>
        </p:txBody>
      </p:sp>
    </p:spTree>
    <p:extLst>
      <p:ext uri="{BB962C8B-B14F-4D97-AF65-F5344CB8AC3E}">
        <p14:creationId xmlns:p14="http://schemas.microsoft.com/office/powerpoint/2010/main" val="1902189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Setting up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1754286"/>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Open the terminal and run the following commands to install Flask and Flask-SQLAlchemy.</a:t>
            </a:r>
          </a:p>
          <a:p>
            <a:pPr marR="0" lvl="0" algn="just" rtl="0">
              <a:lnSpc>
                <a:spcPct val="200000"/>
              </a:lnSpc>
              <a:spcBef>
                <a:spcPts val="0"/>
              </a:spcBef>
              <a:spcAft>
                <a:spcPts val="0"/>
              </a:spcAft>
              <a:buClr>
                <a:srgbClr val="262626"/>
              </a:buClr>
              <a:buSzPts val="1800"/>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pip install Flask Flask-SQLAlchemy</a:t>
            </a:r>
          </a:p>
          <a:p>
            <a:pPr marR="0" lvl="0" algn="just" rtl="0">
              <a:lnSpc>
                <a:spcPct val="200000"/>
              </a:lnSpc>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3" name="Footer Placeholder 2">
            <a:extLst>
              <a:ext uri="{FF2B5EF4-FFF2-40B4-BE49-F238E27FC236}">
                <a16:creationId xmlns:a16="http://schemas.microsoft.com/office/drawing/2014/main" id="{E492690D-60B2-8931-52B0-7D4330D82FCF}"/>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6D3BF862-BCDA-CCB3-C4A4-8B7C2433F29E}"/>
              </a:ext>
            </a:extLst>
          </p:cNvPr>
          <p:cNvSpPr>
            <a:spLocks noGrp="1"/>
          </p:cNvSpPr>
          <p:nvPr>
            <p:ph type="sldNum" sz="quarter" idx="12"/>
          </p:nvPr>
        </p:nvSpPr>
        <p:spPr/>
        <p:txBody>
          <a:bodyPr/>
          <a:lstStyle/>
          <a:p>
            <a:fld id="{FACB5482-D393-4E2D-8FB7-B68A06B80F1E}" type="slidenum">
              <a:rPr lang="en-IN" smtClean="0"/>
              <a:t>11</a:t>
            </a:fld>
            <a:endParaRPr lang="en-IN"/>
          </a:p>
        </p:txBody>
      </p:sp>
    </p:spTree>
    <p:extLst>
      <p:ext uri="{BB962C8B-B14F-4D97-AF65-F5344CB8AC3E}">
        <p14:creationId xmlns:p14="http://schemas.microsoft.com/office/powerpoint/2010/main" val="1694932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3693278"/>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Directory structure</a:t>
            </a:r>
          </a:p>
          <a:p>
            <a:pPr marL="263525" marR="0" lvl="0" algn="just" rtl="0">
              <a:lnSpc>
                <a:spcPct val="150000"/>
              </a:lnSpc>
              <a:spcBef>
                <a:spcPts val="0"/>
              </a:spcBef>
              <a:spcAft>
                <a:spcPts val="0"/>
              </a:spcAft>
              <a:buClr>
                <a:srgbClr val="262626"/>
              </a:buClr>
              <a:buSzPts val="1800"/>
            </a:pP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flask_sqlalchemy_example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app.py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config.py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models.py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__init__.py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venv</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R="0" lvl="0" algn="just" rtl="0">
              <a:lnSpc>
                <a:spcPct val="200000"/>
              </a:lnSpc>
              <a:spcBef>
                <a:spcPts val="0"/>
              </a:spcBef>
              <a:spcAft>
                <a:spcPts val="0"/>
              </a:spcAft>
              <a:buClr>
                <a:srgbClr val="262626"/>
              </a:buClr>
              <a:buSzPts val="1800"/>
            </a:pP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3" name="Footer Placeholder 2">
            <a:extLst>
              <a:ext uri="{FF2B5EF4-FFF2-40B4-BE49-F238E27FC236}">
                <a16:creationId xmlns:a16="http://schemas.microsoft.com/office/drawing/2014/main" id="{5FA07F5A-B91F-0234-AC31-5F4257D9F3E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F279E57-7228-9A48-A891-2902149936A1}"/>
              </a:ext>
            </a:extLst>
          </p:cNvPr>
          <p:cNvSpPr>
            <a:spLocks noGrp="1"/>
          </p:cNvSpPr>
          <p:nvPr>
            <p:ph type="sldNum" sz="quarter" idx="12"/>
          </p:nvPr>
        </p:nvSpPr>
        <p:spPr/>
        <p:txBody>
          <a:bodyPr/>
          <a:lstStyle/>
          <a:p>
            <a:fld id="{FACB5482-D393-4E2D-8FB7-B68A06B80F1E}" type="slidenum">
              <a:rPr lang="en-IN" smtClean="0"/>
              <a:t>12</a:t>
            </a:fld>
            <a:endParaRPr lang="en-IN"/>
          </a:p>
        </p:txBody>
      </p:sp>
    </p:spTree>
    <p:extLst>
      <p:ext uri="{BB962C8B-B14F-4D97-AF65-F5344CB8AC3E}">
        <p14:creationId xmlns:p14="http://schemas.microsoft.com/office/powerpoint/2010/main" val="749742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pic>
        <p:nvPicPr>
          <p:cNvPr id="133" name="Google Shape;133;p5"/>
          <p:cNvPicPr preferRelativeResize="0"/>
          <p:nvPr/>
        </p:nvPicPr>
        <p:blipFill rotWithShape="1">
          <a:blip r:embed="rId3"/>
          <a:srcRect/>
          <a:stretch/>
        </p:blipFill>
        <p:spPr>
          <a:xfrm>
            <a:off x="304798" y="1351226"/>
            <a:ext cx="894082" cy="523179"/>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3139281"/>
          </a:xfrm>
          <a:prstGeom prst="rect">
            <a:avLst/>
          </a:prstGeom>
          <a:noFill/>
          <a:ln>
            <a:noFill/>
          </a:ln>
        </p:spPr>
        <p:txBody>
          <a:bodyPr spcFirstLastPara="1" wrap="square" lIns="91425" tIns="45700" rIns="91425" bIns="45700" anchor="t" anchorCtr="0">
            <a:spAutoFit/>
          </a:bodyPr>
          <a:lstStyle/>
          <a:p>
            <a:pPr marL="263525" marR="0" lvl="0" algn="just" rtl="0">
              <a:lnSpc>
                <a:spcPct val="150000"/>
              </a:lnSpc>
              <a:spcBef>
                <a:spcPts val="0"/>
              </a:spcBef>
              <a:spcAft>
                <a:spcPts val="0"/>
              </a:spcAft>
              <a:buClr>
                <a:srgbClr val="262626"/>
              </a:buClr>
              <a:buSzPts val="1800"/>
            </a:pP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flask_sqlalchemy_example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app.py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config.py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models.py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__init__.py</a:t>
            </a:r>
          </a:p>
          <a:p>
            <a:pPr marL="263525"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venv</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algn="just">
              <a:lnSpc>
                <a:spcPct val="200000"/>
              </a:lnSpc>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What is the use of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__init__.py</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p>
        </p:txBody>
      </p:sp>
      <p:sp>
        <p:nvSpPr>
          <p:cNvPr id="3" name="Footer Placeholder 2">
            <a:extLst>
              <a:ext uri="{FF2B5EF4-FFF2-40B4-BE49-F238E27FC236}">
                <a16:creationId xmlns:a16="http://schemas.microsoft.com/office/drawing/2014/main" id="{A7FB0D85-E78F-D7DB-5F97-31A684C62824}"/>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4A45C7EB-6699-E7A7-CDD9-D8717D56F3C7}"/>
              </a:ext>
            </a:extLst>
          </p:cNvPr>
          <p:cNvSpPr>
            <a:spLocks noGrp="1"/>
          </p:cNvSpPr>
          <p:nvPr>
            <p:ph type="sldNum" sz="quarter" idx="12"/>
          </p:nvPr>
        </p:nvSpPr>
        <p:spPr/>
        <p:txBody>
          <a:bodyPr/>
          <a:lstStyle/>
          <a:p>
            <a:fld id="{FACB5482-D393-4E2D-8FB7-B68A06B80F1E}" type="slidenum">
              <a:rPr lang="en-IN" smtClean="0"/>
              <a:t>13</a:t>
            </a:fld>
            <a:endParaRPr lang="en-IN"/>
          </a:p>
        </p:txBody>
      </p:sp>
    </p:spTree>
    <p:extLst>
      <p:ext uri="{BB962C8B-B14F-4D97-AF65-F5344CB8AC3E}">
        <p14:creationId xmlns:p14="http://schemas.microsoft.com/office/powerpoint/2010/main" val="181567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1. Create a Flask application – “app.py”</a:t>
            </a:r>
          </a:p>
        </p:txBody>
      </p:sp>
      <p:pic>
        <p:nvPicPr>
          <p:cNvPr id="4" name="Picture 3">
            <a:extLst>
              <a:ext uri="{FF2B5EF4-FFF2-40B4-BE49-F238E27FC236}">
                <a16:creationId xmlns:a16="http://schemas.microsoft.com/office/drawing/2014/main" id="{B2A0B304-E3A3-A414-059B-9EED470C8A09}"/>
              </a:ext>
            </a:extLst>
          </p:cNvPr>
          <p:cNvPicPr>
            <a:picLocks noChangeAspect="1"/>
          </p:cNvPicPr>
          <p:nvPr/>
        </p:nvPicPr>
        <p:blipFill>
          <a:blip r:embed="rId4"/>
          <a:stretch>
            <a:fillRect/>
          </a:stretch>
        </p:blipFill>
        <p:spPr>
          <a:xfrm>
            <a:off x="822959" y="2394774"/>
            <a:ext cx="5687219" cy="3620005"/>
          </a:xfrm>
          <a:prstGeom prst="rect">
            <a:avLst/>
          </a:prstGeom>
        </p:spPr>
      </p:pic>
      <p:sp>
        <p:nvSpPr>
          <p:cNvPr id="3" name="Footer Placeholder 2">
            <a:extLst>
              <a:ext uri="{FF2B5EF4-FFF2-40B4-BE49-F238E27FC236}">
                <a16:creationId xmlns:a16="http://schemas.microsoft.com/office/drawing/2014/main" id="{73BE9B0B-DFCC-4780-CDB0-4D10AF241B78}"/>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7163D5F8-AC93-7E3D-AA69-D003C313951C}"/>
              </a:ext>
            </a:extLst>
          </p:cNvPr>
          <p:cNvSpPr>
            <a:spLocks noGrp="1"/>
          </p:cNvSpPr>
          <p:nvPr>
            <p:ph type="sldNum" sz="quarter" idx="12"/>
          </p:nvPr>
        </p:nvSpPr>
        <p:spPr/>
        <p:txBody>
          <a:bodyPr/>
          <a:lstStyle/>
          <a:p>
            <a:fld id="{FACB5482-D393-4E2D-8FB7-B68A06B80F1E}" type="slidenum">
              <a:rPr lang="en-IN" smtClean="0"/>
              <a:t>14</a:t>
            </a:fld>
            <a:endParaRPr lang="en-IN"/>
          </a:p>
        </p:txBody>
      </p:sp>
    </p:spTree>
    <p:extLst>
      <p:ext uri="{BB962C8B-B14F-4D97-AF65-F5344CB8AC3E}">
        <p14:creationId xmlns:p14="http://schemas.microsoft.com/office/powerpoint/2010/main" val="55394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2. Setup configuration for SQLAlchemy –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Create a file “config.py”</a:t>
            </a: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5" name="Picture 4">
            <a:extLst>
              <a:ext uri="{FF2B5EF4-FFF2-40B4-BE49-F238E27FC236}">
                <a16:creationId xmlns:a16="http://schemas.microsoft.com/office/drawing/2014/main" id="{4A26E234-941E-481A-4B67-5EE734CCEAC9}"/>
              </a:ext>
            </a:extLst>
          </p:cNvPr>
          <p:cNvPicPr>
            <a:picLocks noChangeAspect="1"/>
          </p:cNvPicPr>
          <p:nvPr/>
        </p:nvPicPr>
        <p:blipFill>
          <a:blip r:embed="rId4"/>
          <a:stretch>
            <a:fillRect/>
          </a:stretch>
        </p:blipFill>
        <p:spPr>
          <a:xfrm>
            <a:off x="822959" y="2457204"/>
            <a:ext cx="5882641" cy="1324160"/>
          </a:xfrm>
          <a:prstGeom prst="rect">
            <a:avLst/>
          </a:prstGeom>
        </p:spPr>
      </p:pic>
      <p:sp>
        <p:nvSpPr>
          <p:cNvPr id="3" name="Footer Placeholder 2">
            <a:extLst>
              <a:ext uri="{FF2B5EF4-FFF2-40B4-BE49-F238E27FC236}">
                <a16:creationId xmlns:a16="http://schemas.microsoft.com/office/drawing/2014/main" id="{A3DA5E82-BD8F-482E-A404-8AFE260B586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08BC77D-60FA-780A-1110-AAC9BBCEC5AA}"/>
              </a:ext>
            </a:extLst>
          </p:cNvPr>
          <p:cNvSpPr>
            <a:spLocks noGrp="1"/>
          </p:cNvSpPr>
          <p:nvPr>
            <p:ph type="sldNum" sz="quarter" idx="12"/>
          </p:nvPr>
        </p:nvSpPr>
        <p:spPr/>
        <p:txBody>
          <a:bodyPr/>
          <a:lstStyle/>
          <a:p>
            <a:fld id="{FACB5482-D393-4E2D-8FB7-B68A06B80F1E}" type="slidenum">
              <a:rPr lang="en-IN" smtClean="0"/>
              <a:t>15</a:t>
            </a:fld>
            <a:endParaRPr lang="en-IN"/>
          </a:p>
        </p:txBody>
      </p:sp>
    </p:spTree>
    <p:extLst>
      <p:ext uri="{BB962C8B-B14F-4D97-AF65-F5344CB8AC3E}">
        <p14:creationId xmlns:p14="http://schemas.microsoft.com/office/powerpoint/2010/main" val="2917687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2862282"/>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Explanation</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SQLALCHEMY_TRACK_MODIFICATIONS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is a feature that tracks changes to objects in the session, allowing Flask-SQLAlchemy to emit signals when objects are modified, deleted, or added to the session.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By setting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SQLALCHEMY_TRACK_MODIFICATIONS = False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we disabling this and stopping from emitting signals when objects are modified, deleted, or added to the session.</a:t>
            </a:r>
          </a:p>
        </p:txBody>
      </p:sp>
      <p:sp>
        <p:nvSpPr>
          <p:cNvPr id="3" name="Footer Placeholder 2">
            <a:extLst>
              <a:ext uri="{FF2B5EF4-FFF2-40B4-BE49-F238E27FC236}">
                <a16:creationId xmlns:a16="http://schemas.microsoft.com/office/drawing/2014/main" id="{9DAFF432-41A9-8036-8FCF-BE3388B8003C}"/>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7E885A2-CF7F-9318-2EDE-C9E87E4B8651}"/>
              </a:ext>
            </a:extLst>
          </p:cNvPr>
          <p:cNvSpPr>
            <a:spLocks noGrp="1"/>
          </p:cNvSpPr>
          <p:nvPr>
            <p:ph type="sldNum" sz="quarter" idx="12"/>
          </p:nvPr>
        </p:nvSpPr>
        <p:spPr/>
        <p:txBody>
          <a:bodyPr/>
          <a:lstStyle/>
          <a:p>
            <a:fld id="{FACB5482-D393-4E2D-8FB7-B68A06B80F1E}" type="slidenum">
              <a:rPr lang="en-IN" smtClean="0"/>
              <a:t>16</a:t>
            </a:fld>
            <a:endParaRPr lang="en-IN"/>
          </a:p>
        </p:txBody>
      </p:sp>
    </p:spTree>
    <p:extLst>
      <p:ext uri="{BB962C8B-B14F-4D97-AF65-F5344CB8AC3E}">
        <p14:creationId xmlns:p14="http://schemas.microsoft.com/office/powerpoint/2010/main" val="2706323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pic>
        <p:nvPicPr>
          <p:cNvPr id="133" name="Google Shape;133;p5"/>
          <p:cNvPicPr preferRelativeResize="0"/>
          <p:nvPr/>
        </p:nvPicPr>
        <p:blipFill rotWithShape="1">
          <a:blip r:embed="rId3"/>
          <a:srcRect/>
          <a:stretch/>
        </p:blipFill>
        <p:spPr>
          <a:xfrm>
            <a:off x="304799" y="1253073"/>
            <a:ext cx="599441" cy="523180"/>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090513"/>
            <a:ext cx="11019544" cy="4093388"/>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endParaRPr lang="en-US" sz="20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Implications of </a:t>
            </a:r>
            <a:r>
              <a:rPr lang="en-US" sz="1800" b="1"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SQLALCHEMY_TRACK_MODIFICATIONS = False </a:t>
            </a:r>
          </a:p>
          <a:p>
            <a:pPr marR="0" lvl="0" algn="just" rtl="0">
              <a:lnSpc>
                <a:spcPct val="200000"/>
              </a:lnSpc>
              <a:spcBef>
                <a:spcPts val="0"/>
              </a:spcBef>
              <a:spcAft>
                <a:spcPts val="0"/>
              </a:spcAft>
              <a:buClr>
                <a:srgbClr val="262626"/>
              </a:buClr>
              <a:buSzPts val="1800"/>
            </a:pP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Reduced memory usage:</a:t>
            </a:r>
          </a:p>
          <a:p>
            <a:pPr marR="0" lvl="0" algn="just" rtl="0">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Tracking modifications requires additional memory to store the modification history.</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Improved performance:</a:t>
            </a:r>
          </a:p>
          <a:p>
            <a:pPr marR="0" lvl="0" algn="just" rtl="0">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Not tracking modifications can result in slightly better performance, as less overhead is required.</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No signals emitted:</a:t>
            </a:r>
          </a:p>
          <a:p>
            <a:pPr marR="0" lvl="0" algn="just" rtl="0">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Since modification tracking is disabled, no signals will be emitted when objects are modified, deleted, or added.</a:t>
            </a:r>
          </a:p>
        </p:txBody>
      </p:sp>
      <p:sp>
        <p:nvSpPr>
          <p:cNvPr id="3" name="Footer Placeholder 2">
            <a:extLst>
              <a:ext uri="{FF2B5EF4-FFF2-40B4-BE49-F238E27FC236}">
                <a16:creationId xmlns:a16="http://schemas.microsoft.com/office/drawing/2014/main" id="{36E8E8A5-A643-0CF2-C073-E526ADA1020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4F0F3546-6ECF-DAD2-3C9A-33D5F75A809C}"/>
              </a:ext>
            </a:extLst>
          </p:cNvPr>
          <p:cNvSpPr>
            <a:spLocks noGrp="1"/>
          </p:cNvSpPr>
          <p:nvPr>
            <p:ph type="sldNum" sz="quarter" idx="12"/>
          </p:nvPr>
        </p:nvSpPr>
        <p:spPr/>
        <p:txBody>
          <a:bodyPr/>
          <a:lstStyle/>
          <a:p>
            <a:fld id="{FACB5482-D393-4E2D-8FB7-B68A06B80F1E}" type="slidenum">
              <a:rPr lang="en-IN" smtClean="0"/>
              <a:t>17</a:t>
            </a:fld>
            <a:endParaRPr lang="en-IN"/>
          </a:p>
        </p:txBody>
      </p:sp>
    </p:spTree>
    <p:extLst>
      <p:ext uri="{BB962C8B-B14F-4D97-AF65-F5344CB8AC3E}">
        <p14:creationId xmlns:p14="http://schemas.microsoft.com/office/powerpoint/2010/main" val="1671085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4862829"/>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Defines three models for the ‘</a:t>
            </a:r>
            <a:r>
              <a:rPr lang="en-US" sz="1800" b="1"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hr</a:t>
            </a: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database using Flask-SQLAlchemy</a:t>
            </a:r>
          </a:p>
          <a:p>
            <a:pPr marR="0" lvl="0" algn="just" rtl="0">
              <a:spcBef>
                <a:spcPts val="0"/>
              </a:spcBef>
              <a:spcAft>
                <a:spcPts val="0"/>
              </a:spcAft>
              <a:buClr>
                <a:srgbClr val="262626"/>
              </a:buClr>
              <a:buSzPts val="1800"/>
            </a:pP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Department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id: Unique integer primary key</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name: String column with a maximum length of 50 characters, unique and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employees: Relationship with the Employee model, representing the department's employees</a:t>
            </a:r>
          </a:p>
          <a:p>
            <a:pPr marR="0" lvl="0" algn="just" rtl="0">
              <a:spcBef>
                <a:spcPts val="0"/>
              </a:spcBef>
              <a:spcAft>
                <a:spcPts val="0"/>
              </a:spcAft>
              <a:buClr>
                <a:srgbClr val="262626"/>
              </a:buClr>
              <a:buSzPts val="1800"/>
            </a:pPr>
            <a:endParaRPr lang="en-US" sz="10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Role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id: Unique integer primary key</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name: String column with a maximum length of 50 characters, unique and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employees: Relationship with the Employee model, representing the role's employees</a:t>
            </a:r>
          </a:p>
          <a:p>
            <a:pPr marR="0" lvl="0" algn="just" rtl="0">
              <a:spcBef>
                <a:spcPts val="0"/>
              </a:spcBef>
              <a:spcAft>
                <a:spcPts val="0"/>
              </a:spcAft>
              <a:buClr>
                <a:srgbClr val="262626"/>
              </a:buClr>
              <a:buSzPts val="1800"/>
            </a:pPr>
            <a:endParaRPr lang="en-US" sz="10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Employee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id: Unique integer primary key</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name: String column with a maximum length of 100 characters,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date_joined</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DateTime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column representing the date the employee joined, defaulting to the current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department_id</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Integer column referencing the Department model's id column,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role_id</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Integer column referencing the Role model's id column, not nullable</a:t>
            </a:r>
          </a:p>
        </p:txBody>
      </p:sp>
      <p:sp>
        <p:nvSpPr>
          <p:cNvPr id="3" name="Footer Placeholder 2">
            <a:extLst>
              <a:ext uri="{FF2B5EF4-FFF2-40B4-BE49-F238E27FC236}">
                <a16:creationId xmlns:a16="http://schemas.microsoft.com/office/drawing/2014/main" id="{9E4471AC-4F4D-DE17-0AA9-C35B402824E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0816354C-B794-4797-7DF7-A04C4B024523}"/>
              </a:ext>
            </a:extLst>
          </p:cNvPr>
          <p:cNvSpPr>
            <a:spLocks noGrp="1"/>
          </p:cNvSpPr>
          <p:nvPr>
            <p:ph type="sldNum" sz="quarter" idx="12"/>
          </p:nvPr>
        </p:nvSpPr>
        <p:spPr/>
        <p:txBody>
          <a:bodyPr/>
          <a:lstStyle/>
          <a:p>
            <a:fld id="{FACB5482-D393-4E2D-8FB7-B68A06B80F1E}" type="slidenum">
              <a:rPr lang="en-IN" smtClean="0"/>
              <a:t>18</a:t>
            </a:fld>
            <a:endParaRPr lang="en-IN"/>
          </a:p>
        </p:txBody>
      </p:sp>
    </p:spTree>
    <p:extLst>
      <p:ext uri="{BB962C8B-B14F-4D97-AF65-F5344CB8AC3E}">
        <p14:creationId xmlns:p14="http://schemas.microsoft.com/office/powerpoint/2010/main" val="4268538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4862829"/>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Defines three models for the ‘</a:t>
            </a:r>
            <a:r>
              <a:rPr lang="en-US" sz="1800" b="1"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hr</a:t>
            </a: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database using Flask-SQLAlchemy</a:t>
            </a:r>
          </a:p>
          <a:p>
            <a:pPr marR="0" lvl="0" algn="just" rtl="0">
              <a:spcBef>
                <a:spcPts val="0"/>
              </a:spcBef>
              <a:spcAft>
                <a:spcPts val="0"/>
              </a:spcAft>
              <a:buClr>
                <a:srgbClr val="262626"/>
              </a:buClr>
              <a:buSzPts val="1800"/>
            </a:pP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Department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id: Unique integer primary key</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name: String column with a maximum length of 50 characters, unique and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employees: Relationship with the Employee model, representing the department's employees</a:t>
            </a:r>
          </a:p>
          <a:p>
            <a:pPr marR="0" lvl="0" algn="just" rtl="0">
              <a:spcBef>
                <a:spcPts val="0"/>
              </a:spcBef>
              <a:spcAft>
                <a:spcPts val="0"/>
              </a:spcAft>
              <a:buClr>
                <a:srgbClr val="262626"/>
              </a:buClr>
              <a:buSzPts val="1800"/>
            </a:pPr>
            <a:endParaRPr lang="en-US" sz="10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Role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id: Unique integer primary key</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name: String column with a maximum length of 50 characters, unique and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employees: Relationship with the Employee model, representing the role's employees</a:t>
            </a:r>
          </a:p>
          <a:p>
            <a:pPr marR="0" lvl="0" algn="just" rtl="0">
              <a:spcBef>
                <a:spcPts val="0"/>
              </a:spcBef>
              <a:spcAft>
                <a:spcPts val="0"/>
              </a:spcAft>
              <a:buClr>
                <a:srgbClr val="262626"/>
              </a:buClr>
              <a:buSzPts val="1800"/>
            </a:pPr>
            <a:endParaRPr lang="en-US" sz="10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Employee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id: Unique integer primary key</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name: String column with a maximum length of 100 characters,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date_joined</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DateTime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column representing the date the employee joined, defaulting to the current</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department_id</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Integer column referencing the Department model's id column, not nullable</a:t>
            </a:r>
          </a:p>
          <a:p>
            <a:pPr marL="630238" lvl="1" indent="-285750" algn="just">
              <a:buClr>
                <a:srgbClr val="262626"/>
              </a:buClr>
              <a:buSzPts val="1800"/>
              <a:buFont typeface="Arial" panose="020B0604020202020204" pitchFamily="34" charset="0"/>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role_id</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Integer column referencing the Role model's id column, not nullable</a:t>
            </a:r>
          </a:p>
        </p:txBody>
      </p:sp>
      <p:sp>
        <p:nvSpPr>
          <p:cNvPr id="3" name="Footer Placeholder 2">
            <a:extLst>
              <a:ext uri="{FF2B5EF4-FFF2-40B4-BE49-F238E27FC236}">
                <a16:creationId xmlns:a16="http://schemas.microsoft.com/office/drawing/2014/main" id="{204EEB89-6CEB-A27D-D3F1-69D6BE5C46C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1EAE94B-DBAA-CDC1-6ACF-583F58667D9F}"/>
              </a:ext>
            </a:extLst>
          </p:cNvPr>
          <p:cNvSpPr>
            <a:spLocks noGrp="1"/>
          </p:cNvSpPr>
          <p:nvPr>
            <p:ph type="sldNum" sz="quarter" idx="12"/>
          </p:nvPr>
        </p:nvSpPr>
        <p:spPr/>
        <p:txBody>
          <a:bodyPr/>
          <a:lstStyle/>
          <a:p>
            <a:fld id="{FACB5482-D393-4E2D-8FB7-B68A06B80F1E}" type="slidenum">
              <a:rPr lang="en-IN" smtClean="0"/>
              <a:t>19</a:t>
            </a:fld>
            <a:endParaRPr lang="en-IN"/>
          </a:p>
        </p:txBody>
      </p:sp>
    </p:spTree>
    <p:extLst>
      <p:ext uri="{BB962C8B-B14F-4D97-AF65-F5344CB8AC3E}">
        <p14:creationId xmlns:p14="http://schemas.microsoft.com/office/powerpoint/2010/main" val="1122745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Defines three models for the ‘</a:t>
            </a:r>
            <a:r>
              <a:rPr lang="en-US" sz="1800" b="1"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hr</a:t>
            </a: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database using Flask-SQLAlchemy in “models.py”</a:t>
            </a:r>
          </a:p>
        </p:txBody>
      </p:sp>
      <p:pic>
        <p:nvPicPr>
          <p:cNvPr id="4" name="Picture 3">
            <a:extLst>
              <a:ext uri="{FF2B5EF4-FFF2-40B4-BE49-F238E27FC236}">
                <a16:creationId xmlns:a16="http://schemas.microsoft.com/office/drawing/2014/main" id="{0DD767BB-0065-6CA9-1128-E37D26C9EF88}"/>
              </a:ext>
            </a:extLst>
          </p:cNvPr>
          <p:cNvPicPr>
            <a:picLocks noChangeAspect="1"/>
          </p:cNvPicPr>
          <p:nvPr/>
        </p:nvPicPr>
        <p:blipFill>
          <a:blip r:embed="rId4"/>
          <a:stretch>
            <a:fillRect/>
          </a:stretch>
        </p:blipFill>
        <p:spPr>
          <a:xfrm>
            <a:off x="715255" y="2299134"/>
            <a:ext cx="9040487" cy="2143424"/>
          </a:xfrm>
          <a:prstGeom prst="rect">
            <a:avLst/>
          </a:prstGeom>
        </p:spPr>
      </p:pic>
      <p:sp>
        <p:nvSpPr>
          <p:cNvPr id="3" name="Footer Placeholder 2">
            <a:extLst>
              <a:ext uri="{FF2B5EF4-FFF2-40B4-BE49-F238E27FC236}">
                <a16:creationId xmlns:a16="http://schemas.microsoft.com/office/drawing/2014/main" id="{44BEECEE-E0D4-8D4C-6CA4-9C4E1E33EE6B}"/>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DAA18EAD-9A22-A775-3271-F37B36A0932B}"/>
              </a:ext>
            </a:extLst>
          </p:cNvPr>
          <p:cNvSpPr>
            <a:spLocks noGrp="1"/>
          </p:cNvSpPr>
          <p:nvPr>
            <p:ph type="sldNum" sz="quarter" idx="12"/>
          </p:nvPr>
        </p:nvSpPr>
        <p:spPr/>
        <p:txBody>
          <a:bodyPr/>
          <a:lstStyle/>
          <a:p>
            <a:fld id="{FACB5482-D393-4E2D-8FB7-B68A06B80F1E}" type="slidenum">
              <a:rPr lang="en-IN" smtClean="0"/>
              <a:t>20</a:t>
            </a:fld>
            <a:endParaRPr lang="en-IN"/>
          </a:p>
        </p:txBody>
      </p:sp>
    </p:spTree>
    <p:extLst>
      <p:ext uri="{BB962C8B-B14F-4D97-AF65-F5344CB8AC3E}">
        <p14:creationId xmlns:p14="http://schemas.microsoft.com/office/powerpoint/2010/main" val="541104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Defines three models for the ‘</a:t>
            </a:r>
            <a:r>
              <a:rPr lang="en-US" sz="1800" b="1"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hr</a:t>
            </a: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database using Flask-SQLAlchemy in “models.py”</a:t>
            </a:r>
          </a:p>
        </p:txBody>
      </p:sp>
      <p:pic>
        <p:nvPicPr>
          <p:cNvPr id="4" name="Picture 3">
            <a:extLst>
              <a:ext uri="{FF2B5EF4-FFF2-40B4-BE49-F238E27FC236}">
                <a16:creationId xmlns:a16="http://schemas.microsoft.com/office/drawing/2014/main" id="{0DD767BB-0065-6CA9-1128-E37D26C9EF88}"/>
              </a:ext>
            </a:extLst>
          </p:cNvPr>
          <p:cNvPicPr>
            <a:picLocks noChangeAspect="1"/>
          </p:cNvPicPr>
          <p:nvPr/>
        </p:nvPicPr>
        <p:blipFill>
          <a:blip r:embed="rId4"/>
          <a:srcRect/>
          <a:stretch/>
        </p:blipFill>
        <p:spPr>
          <a:xfrm>
            <a:off x="715255" y="2299134"/>
            <a:ext cx="8564252" cy="2143424"/>
          </a:xfrm>
          <a:prstGeom prst="rect">
            <a:avLst/>
          </a:prstGeom>
        </p:spPr>
      </p:pic>
      <p:sp>
        <p:nvSpPr>
          <p:cNvPr id="3" name="Footer Placeholder 2">
            <a:extLst>
              <a:ext uri="{FF2B5EF4-FFF2-40B4-BE49-F238E27FC236}">
                <a16:creationId xmlns:a16="http://schemas.microsoft.com/office/drawing/2014/main" id="{87C346C5-AD8D-6930-08A8-62CB13CA9081}"/>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9C364E75-04AD-FF7F-D862-7BA3A980B0E0}"/>
              </a:ext>
            </a:extLst>
          </p:cNvPr>
          <p:cNvSpPr>
            <a:spLocks noGrp="1"/>
          </p:cNvSpPr>
          <p:nvPr>
            <p:ph type="sldNum" sz="quarter" idx="12"/>
          </p:nvPr>
        </p:nvSpPr>
        <p:spPr/>
        <p:txBody>
          <a:bodyPr/>
          <a:lstStyle/>
          <a:p>
            <a:fld id="{FACB5482-D393-4E2D-8FB7-B68A06B80F1E}" type="slidenum">
              <a:rPr lang="en-IN" smtClean="0"/>
              <a:t>21</a:t>
            </a:fld>
            <a:endParaRPr lang="en-IN"/>
          </a:p>
        </p:txBody>
      </p:sp>
    </p:spTree>
    <p:extLst>
      <p:ext uri="{BB962C8B-B14F-4D97-AF65-F5344CB8AC3E}">
        <p14:creationId xmlns:p14="http://schemas.microsoft.com/office/powerpoint/2010/main" val="325638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3. Defines three models for the ‘</a:t>
            </a:r>
            <a:r>
              <a:rPr lang="en-US" sz="1800" b="1"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hr</a:t>
            </a: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database using Flask-SQLAlchemy in “models.py”</a:t>
            </a:r>
          </a:p>
        </p:txBody>
      </p:sp>
      <p:pic>
        <p:nvPicPr>
          <p:cNvPr id="5" name="Picture 4">
            <a:extLst>
              <a:ext uri="{FF2B5EF4-FFF2-40B4-BE49-F238E27FC236}">
                <a16:creationId xmlns:a16="http://schemas.microsoft.com/office/drawing/2014/main" id="{5ED3B541-BCDD-5789-5588-0587D776B9B7}"/>
              </a:ext>
            </a:extLst>
          </p:cNvPr>
          <p:cNvPicPr>
            <a:picLocks noChangeAspect="1"/>
          </p:cNvPicPr>
          <p:nvPr/>
        </p:nvPicPr>
        <p:blipFill>
          <a:blip r:embed="rId4"/>
          <a:stretch>
            <a:fillRect/>
          </a:stretch>
        </p:blipFill>
        <p:spPr>
          <a:xfrm>
            <a:off x="715255" y="2299134"/>
            <a:ext cx="9993120" cy="2695951"/>
          </a:xfrm>
          <a:prstGeom prst="rect">
            <a:avLst/>
          </a:prstGeom>
        </p:spPr>
      </p:pic>
      <p:sp>
        <p:nvSpPr>
          <p:cNvPr id="3" name="Footer Placeholder 2">
            <a:extLst>
              <a:ext uri="{FF2B5EF4-FFF2-40B4-BE49-F238E27FC236}">
                <a16:creationId xmlns:a16="http://schemas.microsoft.com/office/drawing/2014/main" id="{53B9A0BB-93FE-EC3F-2F4A-8B2EC45ABA63}"/>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2F427B7-B2F1-21BB-AC3B-F2BFAA4F61CA}"/>
              </a:ext>
            </a:extLst>
          </p:cNvPr>
          <p:cNvSpPr>
            <a:spLocks noGrp="1"/>
          </p:cNvSpPr>
          <p:nvPr>
            <p:ph type="sldNum" sz="quarter" idx="12"/>
          </p:nvPr>
        </p:nvSpPr>
        <p:spPr/>
        <p:txBody>
          <a:bodyPr/>
          <a:lstStyle/>
          <a:p>
            <a:fld id="{FACB5482-D393-4E2D-8FB7-B68A06B80F1E}" type="slidenum">
              <a:rPr lang="en-IN" smtClean="0"/>
              <a:t>22</a:t>
            </a:fld>
            <a:endParaRPr lang="en-IN"/>
          </a:p>
        </p:txBody>
      </p:sp>
    </p:spTree>
    <p:extLst>
      <p:ext uri="{BB962C8B-B14F-4D97-AF65-F5344CB8AC3E}">
        <p14:creationId xmlns:p14="http://schemas.microsoft.com/office/powerpoint/2010/main" val="2313639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4108777"/>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Explanation</a:t>
            </a:r>
          </a:p>
          <a:p>
            <a:pPr marR="0" lvl="0" algn="just" rtl="0">
              <a:lnSpc>
                <a:spcPct val="150000"/>
              </a:lnSpc>
              <a:spcBef>
                <a:spcPts val="0"/>
              </a:spcBef>
              <a:spcAft>
                <a:spcPts val="0"/>
              </a:spcAft>
              <a:buClr>
                <a:srgbClr val="262626"/>
              </a:buClr>
              <a:buSzPts val="1800"/>
            </a:pPr>
            <a:endPar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__</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repr</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__(self)</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method in each model defines a string representation of the object, used for debugging and logging purposes.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relationships between the models are established through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employees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attributes in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Department</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Role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models, and the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department_id</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and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role_id</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attributes in the </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Employee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model. </a:t>
            </a:r>
          </a:p>
          <a:p>
            <a:pPr marL="447675" marR="0" lvl="0" algn="just" rtl="0">
              <a:lnSpc>
                <a:spcPct val="200000"/>
              </a:lnSpc>
              <a:spcBef>
                <a:spcPts val="0"/>
              </a:spcBef>
              <a:spcAft>
                <a:spcPts val="0"/>
              </a:spcAft>
              <a:buClr>
                <a:srgbClr val="262626"/>
              </a:buClr>
              <a:buSzPts val="1800"/>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department_id</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db.Column</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db.Integer</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db.ForeignKey</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('department.id'), nullable=False)</a:t>
            </a:r>
          </a:p>
          <a:p>
            <a:pPr marL="447675" marR="0" lvl="0" algn="just" rtl="0">
              <a:lnSpc>
                <a:spcPct val="200000"/>
              </a:lnSpc>
              <a:spcBef>
                <a:spcPts val="0"/>
              </a:spcBef>
              <a:spcAft>
                <a:spcPts val="0"/>
              </a:spcAft>
              <a:buClr>
                <a:srgbClr val="262626"/>
              </a:buClr>
              <a:buSzPts val="1800"/>
            </a:pP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role_id</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db.Column</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db.Integer</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 </a:t>
            </a:r>
            <a:r>
              <a:rPr lang="en-US" sz="1800" dirty="0" err="1">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db.ForeignKey</a:t>
            </a:r>
            <a:r>
              <a:rPr lang="en-US" sz="1800" dirty="0">
                <a:solidFill>
                  <a:srgbClr val="262626"/>
                </a:solidFill>
                <a:latin typeface="Batang" panose="02030600000101010101" pitchFamily="18" charset="-127"/>
                <a:ea typeface="Batang" panose="02030600000101010101" pitchFamily="18" charset="-127"/>
                <a:cs typeface="Calibri" panose="020F0502020204030204" pitchFamily="34" charset="0"/>
                <a:sym typeface="Calibri"/>
              </a:rPr>
              <a:t>('role.id'), nullable=False)</a:t>
            </a:r>
          </a:p>
        </p:txBody>
      </p:sp>
      <p:sp>
        <p:nvSpPr>
          <p:cNvPr id="3" name="Footer Placeholder 2">
            <a:extLst>
              <a:ext uri="{FF2B5EF4-FFF2-40B4-BE49-F238E27FC236}">
                <a16:creationId xmlns:a16="http://schemas.microsoft.com/office/drawing/2014/main" id="{A82F85AC-114E-94BF-B1E7-47A15A21402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93257AF3-21FE-F797-53C6-6B7D3E60991B}"/>
              </a:ext>
            </a:extLst>
          </p:cNvPr>
          <p:cNvSpPr>
            <a:spLocks noGrp="1"/>
          </p:cNvSpPr>
          <p:nvPr>
            <p:ph type="sldNum" sz="quarter" idx="12"/>
          </p:nvPr>
        </p:nvSpPr>
        <p:spPr/>
        <p:txBody>
          <a:bodyPr/>
          <a:lstStyle/>
          <a:p>
            <a:fld id="{FACB5482-D393-4E2D-8FB7-B68A06B80F1E}" type="slidenum">
              <a:rPr lang="en-IN" smtClean="0"/>
              <a:t>23</a:t>
            </a:fld>
            <a:endParaRPr lang="en-IN"/>
          </a:p>
        </p:txBody>
      </p:sp>
    </p:spTree>
    <p:extLst>
      <p:ext uri="{BB962C8B-B14F-4D97-AF65-F5344CB8AC3E}">
        <p14:creationId xmlns:p14="http://schemas.microsoft.com/office/powerpoint/2010/main" val="2228402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4. Update “app.py” to import and use the configuration and models</a:t>
            </a:r>
          </a:p>
        </p:txBody>
      </p:sp>
      <p:pic>
        <p:nvPicPr>
          <p:cNvPr id="5" name="Picture 4">
            <a:extLst>
              <a:ext uri="{FF2B5EF4-FFF2-40B4-BE49-F238E27FC236}">
                <a16:creationId xmlns:a16="http://schemas.microsoft.com/office/drawing/2014/main" id="{8ABEEFB8-8D36-E500-BF27-FF7741B85764}"/>
              </a:ext>
            </a:extLst>
          </p:cNvPr>
          <p:cNvPicPr>
            <a:picLocks noChangeAspect="1"/>
          </p:cNvPicPr>
          <p:nvPr/>
        </p:nvPicPr>
        <p:blipFill>
          <a:blip r:embed="rId4"/>
          <a:stretch>
            <a:fillRect/>
          </a:stretch>
        </p:blipFill>
        <p:spPr>
          <a:xfrm>
            <a:off x="822959" y="2437634"/>
            <a:ext cx="6716062" cy="1409897"/>
          </a:xfrm>
          <a:prstGeom prst="rect">
            <a:avLst/>
          </a:prstGeom>
        </p:spPr>
      </p:pic>
      <p:sp>
        <p:nvSpPr>
          <p:cNvPr id="7" name="TextBox 6">
            <a:extLst>
              <a:ext uri="{FF2B5EF4-FFF2-40B4-BE49-F238E27FC236}">
                <a16:creationId xmlns:a16="http://schemas.microsoft.com/office/drawing/2014/main" id="{B1F487C1-3B26-FE99-694C-E141DB62020E}"/>
              </a:ext>
            </a:extLst>
          </p:cNvPr>
          <p:cNvSpPr txBox="1"/>
          <p:nvPr/>
        </p:nvSpPr>
        <p:spPr>
          <a:xfrm>
            <a:off x="822958" y="4077752"/>
            <a:ext cx="9611361" cy="369332"/>
          </a:xfrm>
          <a:prstGeom prst="rect">
            <a:avLst/>
          </a:prstGeom>
          <a:noFill/>
        </p:spPr>
        <p:txBody>
          <a:bodyPr wrap="square">
            <a:spAutoFit/>
          </a:bodyPr>
          <a:lstStyle/>
          <a:p>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These imports will connect the “models.py” and “config.py” with “app.py”.</a:t>
            </a:r>
            <a:endParaRPr lang="en-IN" dirty="0"/>
          </a:p>
        </p:txBody>
      </p:sp>
      <p:sp>
        <p:nvSpPr>
          <p:cNvPr id="3" name="Footer Placeholder 2">
            <a:extLst>
              <a:ext uri="{FF2B5EF4-FFF2-40B4-BE49-F238E27FC236}">
                <a16:creationId xmlns:a16="http://schemas.microsoft.com/office/drawing/2014/main" id="{ED62C670-6FDC-9C26-A593-1068387F8ED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B8BDD89-0610-5CDD-A868-09C5C0C0E60B}"/>
              </a:ext>
            </a:extLst>
          </p:cNvPr>
          <p:cNvSpPr>
            <a:spLocks noGrp="1"/>
          </p:cNvSpPr>
          <p:nvPr>
            <p:ph type="sldNum" sz="quarter" idx="12"/>
          </p:nvPr>
        </p:nvSpPr>
        <p:spPr/>
        <p:txBody>
          <a:bodyPr/>
          <a:lstStyle/>
          <a:p>
            <a:fld id="{FACB5482-D393-4E2D-8FB7-B68A06B80F1E}" type="slidenum">
              <a:rPr lang="en-IN" smtClean="0"/>
              <a:t>24</a:t>
            </a:fld>
            <a:endParaRPr lang="en-IN"/>
          </a:p>
        </p:txBody>
      </p:sp>
    </p:spTree>
    <p:extLst>
      <p:ext uri="{BB962C8B-B14F-4D97-AF65-F5344CB8AC3E}">
        <p14:creationId xmlns:p14="http://schemas.microsoft.com/office/powerpoint/2010/main" val="2932784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5. Create all tables with initial data</a:t>
            </a:r>
          </a:p>
        </p:txBody>
      </p:sp>
      <p:pic>
        <p:nvPicPr>
          <p:cNvPr id="4" name="Picture 3">
            <a:extLst>
              <a:ext uri="{FF2B5EF4-FFF2-40B4-BE49-F238E27FC236}">
                <a16:creationId xmlns:a16="http://schemas.microsoft.com/office/drawing/2014/main" id="{22C287A9-5CFF-079A-DD97-CD4518F967FD}"/>
              </a:ext>
            </a:extLst>
          </p:cNvPr>
          <p:cNvPicPr>
            <a:picLocks noChangeAspect="1"/>
          </p:cNvPicPr>
          <p:nvPr/>
        </p:nvPicPr>
        <p:blipFill rotWithShape="1">
          <a:blip r:embed="rId4"/>
          <a:srcRect t="17918"/>
          <a:stretch/>
        </p:blipFill>
        <p:spPr>
          <a:xfrm>
            <a:off x="715255" y="2357108"/>
            <a:ext cx="7943929" cy="4277355"/>
          </a:xfrm>
          <a:prstGeom prst="rect">
            <a:avLst/>
          </a:prstGeom>
        </p:spPr>
      </p:pic>
      <p:sp>
        <p:nvSpPr>
          <p:cNvPr id="3" name="Footer Placeholder 2">
            <a:extLst>
              <a:ext uri="{FF2B5EF4-FFF2-40B4-BE49-F238E27FC236}">
                <a16:creationId xmlns:a16="http://schemas.microsoft.com/office/drawing/2014/main" id="{D80F81C4-7CC9-EB83-716B-9DD87681A7F6}"/>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03A73E4D-D954-1D15-F2E2-786A021C8439}"/>
              </a:ext>
            </a:extLst>
          </p:cNvPr>
          <p:cNvSpPr>
            <a:spLocks noGrp="1"/>
          </p:cNvSpPr>
          <p:nvPr>
            <p:ph type="sldNum" sz="quarter" idx="12"/>
          </p:nvPr>
        </p:nvSpPr>
        <p:spPr/>
        <p:txBody>
          <a:bodyPr/>
          <a:lstStyle/>
          <a:p>
            <a:fld id="{FACB5482-D393-4E2D-8FB7-B68A06B80F1E}" type="slidenum">
              <a:rPr lang="en-IN" smtClean="0"/>
              <a:t>25</a:t>
            </a:fld>
            <a:endParaRPr lang="en-IN"/>
          </a:p>
        </p:txBody>
      </p:sp>
    </p:spTree>
    <p:extLst>
      <p:ext uri="{BB962C8B-B14F-4D97-AF65-F5344CB8AC3E}">
        <p14:creationId xmlns:p14="http://schemas.microsoft.com/office/powerpoint/2010/main" val="1544710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previous code will create the database along with the tables.</a:t>
            </a:r>
          </a:p>
        </p:txBody>
      </p:sp>
      <p:pic>
        <p:nvPicPr>
          <p:cNvPr id="5" name="Picture 4">
            <a:extLst>
              <a:ext uri="{FF2B5EF4-FFF2-40B4-BE49-F238E27FC236}">
                <a16:creationId xmlns:a16="http://schemas.microsoft.com/office/drawing/2014/main" id="{71B2115C-E4F2-A464-EAFF-DF40906A81BE}"/>
              </a:ext>
            </a:extLst>
          </p:cNvPr>
          <p:cNvPicPr>
            <a:picLocks noChangeAspect="1"/>
          </p:cNvPicPr>
          <p:nvPr/>
        </p:nvPicPr>
        <p:blipFill>
          <a:blip r:embed="rId4"/>
          <a:stretch>
            <a:fillRect/>
          </a:stretch>
        </p:blipFill>
        <p:spPr>
          <a:xfrm>
            <a:off x="822959" y="2437634"/>
            <a:ext cx="8859521" cy="4198525"/>
          </a:xfrm>
          <a:prstGeom prst="rect">
            <a:avLst/>
          </a:prstGeom>
        </p:spPr>
      </p:pic>
      <p:sp>
        <p:nvSpPr>
          <p:cNvPr id="3" name="Footer Placeholder 2">
            <a:extLst>
              <a:ext uri="{FF2B5EF4-FFF2-40B4-BE49-F238E27FC236}">
                <a16:creationId xmlns:a16="http://schemas.microsoft.com/office/drawing/2014/main" id="{3F47035B-EA05-09E7-7D66-807EFA90F10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E3CA49F-BBA0-F96B-F0F2-EEE0CDE4FD34}"/>
              </a:ext>
            </a:extLst>
          </p:cNvPr>
          <p:cNvSpPr>
            <a:spLocks noGrp="1"/>
          </p:cNvSpPr>
          <p:nvPr>
            <p:ph type="sldNum" sz="quarter" idx="12"/>
          </p:nvPr>
        </p:nvSpPr>
        <p:spPr/>
        <p:txBody>
          <a:bodyPr/>
          <a:lstStyle/>
          <a:p>
            <a:fld id="{FACB5482-D393-4E2D-8FB7-B68A06B80F1E}" type="slidenum">
              <a:rPr lang="en-IN" smtClean="0"/>
              <a:t>26</a:t>
            </a:fld>
            <a:endParaRPr lang="en-IN"/>
          </a:p>
        </p:txBody>
      </p:sp>
    </p:spTree>
    <p:extLst>
      <p:ext uri="{BB962C8B-B14F-4D97-AF65-F5344CB8AC3E}">
        <p14:creationId xmlns:p14="http://schemas.microsoft.com/office/powerpoint/2010/main" val="222338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previous code will create the database along with the tables.</a:t>
            </a:r>
          </a:p>
        </p:txBody>
      </p:sp>
      <p:pic>
        <p:nvPicPr>
          <p:cNvPr id="4" name="Picture 3">
            <a:extLst>
              <a:ext uri="{FF2B5EF4-FFF2-40B4-BE49-F238E27FC236}">
                <a16:creationId xmlns:a16="http://schemas.microsoft.com/office/drawing/2014/main" id="{959BA1A8-E838-DA8D-1A6F-D05C6967201A}"/>
              </a:ext>
            </a:extLst>
          </p:cNvPr>
          <p:cNvPicPr>
            <a:picLocks noChangeAspect="1"/>
          </p:cNvPicPr>
          <p:nvPr/>
        </p:nvPicPr>
        <p:blipFill>
          <a:blip r:embed="rId4"/>
          <a:stretch>
            <a:fillRect/>
          </a:stretch>
        </p:blipFill>
        <p:spPr>
          <a:xfrm>
            <a:off x="822959" y="2437634"/>
            <a:ext cx="8602275" cy="2886478"/>
          </a:xfrm>
          <a:prstGeom prst="rect">
            <a:avLst/>
          </a:prstGeom>
        </p:spPr>
      </p:pic>
      <p:sp>
        <p:nvSpPr>
          <p:cNvPr id="3" name="Footer Placeholder 2">
            <a:extLst>
              <a:ext uri="{FF2B5EF4-FFF2-40B4-BE49-F238E27FC236}">
                <a16:creationId xmlns:a16="http://schemas.microsoft.com/office/drawing/2014/main" id="{BF625A66-B964-3EB5-C276-C60122C554AF}"/>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78EFE458-8AE3-F6B4-C5BB-91D671317FD1}"/>
              </a:ext>
            </a:extLst>
          </p:cNvPr>
          <p:cNvSpPr>
            <a:spLocks noGrp="1"/>
          </p:cNvSpPr>
          <p:nvPr>
            <p:ph type="sldNum" sz="quarter" idx="12"/>
          </p:nvPr>
        </p:nvSpPr>
        <p:spPr/>
        <p:txBody>
          <a:bodyPr/>
          <a:lstStyle/>
          <a:p>
            <a:fld id="{FACB5482-D393-4E2D-8FB7-B68A06B80F1E}" type="slidenum">
              <a:rPr lang="en-IN" smtClean="0"/>
              <a:t>27</a:t>
            </a:fld>
            <a:endParaRPr lang="en-IN"/>
          </a:p>
        </p:txBody>
      </p:sp>
    </p:spTree>
    <p:extLst>
      <p:ext uri="{BB962C8B-B14F-4D97-AF65-F5344CB8AC3E}">
        <p14:creationId xmlns:p14="http://schemas.microsoft.com/office/powerpoint/2010/main" val="2221774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6. Read and display all the data from Employee table</a:t>
            </a:r>
          </a:p>
        </p:txBody>
      </p:sp>
      <p:pic>
        <p:nvPicPr>
          <p:cNvPr id="5" name="Picture 4">
            <a:extLst>
              <a:ext uri="{FF2B5EF4-FFF2-40B4-BE49-F238E27FC236}">
                <a16:creationId xmlns:a16="http://schemas.microsoft.com/office/drawing/2014/main" id="{DBD36FB2-C86D-CDD4-1668-C36F7A98AF37}"/>
              </a:ext>
            </a:extLst>
          </p:cNvPr>
          <p:cNvPicPr>
            <a:picLocks noChangeAspect="1"/>
          </p:cNvPicPr>
          <p:nvPr/>
        </p:nvPicPr>
        <p:blipFill>
          <a:blip r:embed="rId4"/>
          <a:stretch>
            <a:fillRect/>
          </a:stretch>
        </p:blipFill>
        <p:spPr>
          <a:xfrm>
            <a:off x="715254" y="2275845"/>
            <a:ext cx="4591691" cy="1762371"/>
          </a:xfrm>
          <a:prstGeom prst="rect">
            <a:avLst/>
          </a:prstGeom>
        </p:spPr>
      </p:pic>
      <p:sp>
        <p:nvSpPr>
          <p:cNvPr id="3" name="Footer Placeholder 2">
            <a:extLst>
              <a:ext uri="{FF2B5EF4-FFF2-40B4-BE49-F238E27FC236}">
                <a16:creationId xmlns:a16="http://schemas.microsoft.com/office/drawing/2014/main" id="{06AD81A4-FB55-1D8D-755F-278E19EE77B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38A1DD56-89C2-1B11-67CD-BD7FBA604D0E}"/>
              </a:ext>
            </a:extLst>
          </p:cNvPr>
          <p:cNvSpPr>
            <a:spLocks noGrp="1"/>
          </p:cNvSpPr>
          <p:nvPr>
            <p:ph type="sldNum" sz="quarter" idx="12"/>
          </p:nvPr>
        </p:nvSpPr>
        <p:spPr/>
        <p:txBody>
          <a:bodyPr/>
          <a:lstStyle/>
          <a:p>
            <a:fld id="{FACB5482-D393-4E2D-8FB7-B68A06B80F1E}" type="slidenum">
              <a:rPr lang="en-IN" smtClean="0"/>
              <a:t>28</a:t>
            </a:fld>
            <a:endParaRPr lang="en-IN"/>
          </a:p>
        </p:txBody>
      </p:sp>
    </p:spTree>
    <p:extLst>
      <p:ext uri="{BB962C8B-B14F-4D97-AF65-F5344CB8AC3E}">
        <p14:creationId xmlns:p14="http://schemas.microsoft.com/office/powerpoint/2010/main" val="3826290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7. Update data in Employee table</a:t>
            </a:r>
          </a:p>
        </p:txBody>
      </p:sp>
      <p:pic>
        <p:nvPicPr>
          <p:cNvPr id="7" name="Picture 6">
            <a:extLst>
              <a:ext uri="{FF2B5EF4-FFF2-40B4-BE49-F238E27FC236}">
                <a16:creationId xmlns:a16="http://schemas.microsoft.com/office/drawing/2014/main" id="{4E01BA15-168F-169B-9AD4-DD844DC4A929}"/>
              </a:ext>
            </a:extLst>
          </p:cNvPr>
          <p:cNvPicPr>
            <a:picLocks noChangeAspect="1"/>
          </p:cNvPicPr>
          <p:nvPr/>
        </p:nvPicPr>
        <p:blipFill>
          <a:blip r:embed="rId4"/>
          <a:stretch>
            <a:fillRect/>
          </a:stretch>
        </p:blipFill>
        <p:spPr>
          <a:xfrm>
            <a:off x="715254" y="2275845"/>
            <a:ext cx="5544324" cy="2086266"/>
          </a:xfrm>
          <a:prstGeom prst="rect">
            <a:avLst/>
          </a:prstGeom>
        </p:spPr>
      </p:pic>
      <p:sp>
        <p:nvSpPr>
          <p:cNvPr id="3" name="Footer Placeholder 2">
            <a:extLst>
              <a:ext uri="{FF2B5EF4-FFF2-40B4-BE49-F238E27FC236}">
                <a16:creationId xmlns:a16="http://schemas.microsoft.com/office/drawing/2014/main" id="{CE60EB13-C602-7477-C9C7-0C303A987E4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B73B2BF7-FAD9-D8A5-9C19-373C8C287C00}"/>
              </a:ext>
            </a:extLst>
          </p:cNvPr>
          <p:cNvSpPr>
            <a:spLocks noGrp="1"/>
          </p:cNvSpPr>
          <p:nvPr>
            <p:ph type="sldNum" sz="quarter" idx="12"/>
          </p:nvPr>
        </p:nvSpPr>
        <p:spPr/>
        <p:txBody>
          <a:bodyPr/>
          <a:lstStyle/>
          <a:p>
            <a:fld id="{FACB5482-D393-4E2D-8FB7-B68A06B80F1E}" type="slidenum">
              <a:rPr lang="en-IN" smtClean="0"/>
              <a:t>29</a:t>
            </a:fld>
            <a:endParaRPr lang="en-IN"/>
          </a:p>
        </p:txBody>
      </p:sp>
    </p:spTree>
    <p:extLst>
      <p:ext uri="{BB962C8B-B14F-4D97-AF65-F5344CB8AC3E}">
        <p14:creationId xmlns:p14="http://schemas.microsoft.com/office/powerpoint/2010/main" val="2484851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CRUD using Flask-SQLAlchemy</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810914"/>
            <a:ext cx="11019544" cy="507791"/>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8. Delete data from Employee table</a:t>
            </a:r>
          </a:p>
        </p:txBody>
      </p:sp>
      <p:pic>
        <p:nvPicPr>
          <p:cNvPr id="4" name="Picture 3">
            <a:extLst>
              <a:ext uri="{FF2B5EF4-FFF2-40B4-BE49-F238E27FC236}">
                <a16:creationId xmlns:a16="http://schemas.microsoft.com/office/drawing/2014/main" id="{F757C2EB-1FED-80C4-8A60-064C18A15DDE}"/>
              </a:ext>
            </a:extLst>
          </p:cNvPr>
          <p:cNvPicPr>
            <a:picLocks noChangeAspect="1"/>
          </p:cNvPicPr>
          <p:nvPr/>
        </p:nvPicPr>
        <p:blipFill>
          <a:blip r:embed="rId4"/>
          <a:stretch>
            <a:fillRect/>
          </a:stretch>
        </p:blipFill>
        <p:spPr>
          <a:xfrm>
            <a:off x="822959" y="2318705"/>
            <a:ext cx="5487166" cy="2400635"/>
          </a:xfrm>
          <a:prstGeom prst="rect">
            <a:avLst/>
          </a:prstGeom>
        </p:spPr>
      </p:pic>
      <p:sp>
        <p:nvSpPr>
          <p:cNvPr id="3" name="Footer Placeholder 2">
            <a:extLst>
              <a:ext uri="{FF2B5EF4-FFF2-40B4-BE49-F238E27FC236}">
                <a16:creationId xmlns:a16="http://schemas.microsoft.com/office/drawing/2014/main" id="{EBC310AE-EB36-FD19-7578-0A62B3DC2D19}"/>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7C732A38-17E1-C408-16C0-39CF7D5755C0}"/>
              </a:ext>
            </a:extLst>
          </p:cNvPr>
          <p:cNvSpPr>
            <a:spLocks noGrp="1"/>
          </p:cNvSpPr>
          <p:nvPr>
            <p:ph type="sldNum" sz="quarter" idx="12"/>
          </p:nvPr>
        </p:nvSpPr>
        <p:spPr/>
        <p:txBody>
          <a:bodyPr/>
          <a:lstStyle/>
          <a:p>
            <a:fld id="{FACB5482-D393-4E2D-8FB7-B68A06B80F1E}" type="slidenum">
              <a:rPr lang="en-IN" smtClean="0"/>
              <a:t>30</a:t>
            </a:fld>
            <a:endParaRPr lang="en-IN"/>
          </a:p>
        </p:txBody>
      </p:sp>
    </p:spTree>
    <p:extLst>
      <p:ext uri="{BB962C8B-B14F-4D97-AF65-F5344CB8AC3E}">
        <p14:creationId xmlns:p14="http://schemas.microsoft.com/office/powerpoint/2010/main" val="1741344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3600945"/>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Employee Data Management System</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Background</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are a software developer tasked with creating a Employee Data Management System for an IT Firm. The firm needs a web application to manage its employee information, allowing the HR to add, view, update, and delete records. </a:t>
            </a:r>
          </a:p>
          <a:p>
            <a:pPr algn="just">
              <a:lnSpc>
                <a:spcPct val="150000"/>
              </a:lnSpc>
              <a:buClr>
                <a:srgbClr val="262626"/>
              </a:buClr>
              <a:buSzPts val="1800"/>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Task</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Your task is to develop a web application using Flask and SQLAlchemy that performs basic CRUD operations for managing the employee records.</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CDAD4547-B358-79B7-D031-AE2362D9829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B7ADE52C-237B-DC0F-4E35-04BC21E6BE1E}"/>
              </a:ext>
            </a:extLst>
          </p:cNvPr>
          <p:cNvSpPr>
            <a:spLocks noGrp="1"/>
          </p:cNvSpPr>
          <p:nvPr>
            <p:ph type="sldNum" sz="quarter" idx="12"/>
          </p:nvPr>
        </p:nvSpPr>
        <p:spPr/>
        <p:txBody>
          <a:bodyPr/>
          <a:lstStyle/>
          <a:p>
            <a:fld id="{FACB5482-D393-4E2D-8FB7-B68A06B80F1E}" type="slidenum">
              <a:rPr lang="en-IN" smtClean="0"/>
              <a:t>31</a:t>
            </a:fld>
            <a:endParaRPr lang="en-IN"/>
          </a:p>
        </p:txBody>
      </p:sp>
    </p:spTree>
    <p:extLst>
      <p:ext uri="{BB962C8B-B14F-4D97-AF65-F5344CB8AC3E}">
        <p14:creationId xmlns:p14="http://schemas.microsoft.com/office/powerpoint/2010/main" val="509601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AF91180-615A-8EAA-D951-A50BDC30E70C}"/>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C0CA8C55-9B97-F08B-8948-B116E0143B1D}"/>
              </a:ext>
            </a:extLst>
          </p:cNvPr>
          <p:cNvSpPr>
            <a:spLocks noGrp="1"/>
          </p:cNvSpPr>
          <p:nvPr>
            <p:ph type="sldNum" sz="quarter" idx="12"/>
          </p:nvPr>
        </p:nvSpPr>
        <p:spPr/>
        <p:txBody>
          <a:bodyPr/>
          <a:lstStyle/>
          <a:p>
            <a:fld id="{FACB5482-D393-4E2D-8FB7-B68A06B80F1E}" type="slidenum">
              <a:rPr lang="en-IN" smtClean="0"/>
              <a:t>32</a:t>
            </a:fld>
            <a:endParaRPr lang="en-IN"/>
          </a:p>
        </p:txBody>
      </p:sp>
      <p:sp>
        <p:nvSpPr>
          <p:cNvPr id="6" name="Google Shape;126;p4">
            <a:extLst>
              <a:ext uri="{FF2B5EF4-FFF2-40B4-BE49-F238E27FC236}">
                <a16:creationId xmlns:a16="http://schemas.microsoft.com/office/drawing/2014/main" id="{ABA164F5-C9D4-5F7F-2F0D-B3566DFE552A}"/>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2"/>
            </a:pPr>
            <a:r>
              <a:rPr lang="en-US" sz="4000">
                <a:solidFill>
                  <a:srgbClr val="000000"/>
                </a:solidFill>
                <a:latin typeface="Calibri"/>
                <a:ea typeface="Calibri"/>
                <a:cs typeface="Calibri"/>
                <a:sym typeface="Calibri"/>
              </a:rPr>
              <a:t>How to Initialize and Configure a Simple SQLite Database</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58078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SQLite</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641228"/>
            <a:ext cx="11019544" cy="521677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The SQLite library is a C library that provides a SQL database engine.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It is compiled into a single file – ‘sqlite3.c’ which is then used to build the SQLite database engine.</a:t>
            </a:r>
          </a:p>
          <a:p>
            <a:pPr marR="0" lvl="0" algn="just" rtl="0">
              <a:spcBef>
                <a:spcPts val="0"/>
              </a:spcBef>
              <a:spcAft>
                <a:spcPts val="0"/>
              </a:spcAft>
              <a:buClr>
                <a:srgbClr val="262626"/>
              </a:buClr>
              <a:buSzPts val="1800"/>
            </a:pP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just" rtl="0">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Key features: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Serverless database engine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Zero-configuration database management system</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Relational database management system (RDBMS)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Embedded database library</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File-based database system (stores data in a single file)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Cross-platform database system (works on various operating systems)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Public domain software (free and open-source)</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Lightweight database engine (small footprint and minimal resources required)</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ACID-compliant database system (follows atomicity, consistency, isolation, and durability principles)</a:t>
            </a:r>
          </a:p>
        </p:txBody>
      </p:sp>
      <p:sp>
        <p:nvSpPr>
          <p:cNvPr id="3" name="Footer Placeholder 2">
            <a:extLst>
              <a:ext uri="{FF2B5EF4-FFF2-40B4-BE49-F238E27FC236}">
                <a16:creationId xmlns:a16="http://schemas.microsoft.com/office/drawing/2014/main" id="{9AC2AE74-01C7-DA7A-C707-AE3A910FF9D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D4D45B4-8825-5393-AC11-4689637E2059}"/>
              </a:ext>
            </a:extLst>
          </p:cNvPr>
          <p:cNvSpPr>
            <a:spLocks noGrp="1"/>
          </p:cNvSpPr>
          <p:nvPr>
            <p:ph type="sldNum" sz="quarter" idx="12"/>
          </p:nvPr>
        </p:nvSpPr>
        <p:spPr/>
        <p:txBody>
          <a:bodyPr/>
          <a:lstStyle/>
          <a:p>
            <a:fld id="{FACB5482-D393-4E2D-8FB7-B68A06B80F1E}" type="slidenum">
              <a:rPr lang="en-IN" smtClean="0"/>
              <a:t>33</a:t>
            </a:fld>
            <a:endParaRPr lang="en-IN"/>
          </a:p>
        </p:txBody>
      </p:sp>
    </p:spTree>
    <p:extLst>
      <p:ext uri="{BB962C8B-B14F-4D97-AF65-F5344CB8AC3E}">
        <p14:creationId xmlns:p14="http://schemas.microsoft.com/office/powerpoint/2010/main" val="2240273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SQLite</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5" y="1641228"/>
            <a:ext cx="11019544"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 Cases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Embedded systems: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SQLite is often used in embedded systems due to its small footprint and simplicity.</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Mobile applications:</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Mobile applications, including those on Android and iOS, use SQLite for local data storage.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Web browsers: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SQLite is used by web browsers to store data locally, such as bookmarks and history.</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Standalone applications: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Used in standalone applications that need a simple and efficient way to store data.</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Prototyping: </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SQLite is great for quick prototyping and testing of database-driven applications.</a:t>
            </a:r>
          </a:p>
        </p:txBody>
      </p:sp>
      <p:sp>
        <p:nvSpPr>
          <p:cNvPr id="3" name="Footer Placeholder 2">
            <a:extLst>
              <a:ext uri="{FF2B5EF4-FFF2-40B4-BE49-F238E27FC236}">
                <a16:creationId xmlns:a16="http://schemas.microsoft.com/office/drawing/2014/main" id="{F4F7E450-58BF-F951-F4C8-966BF779512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0F298E5-91EE-E00C-9974-4B21D4D13007}"/>
              </a:ext>
            </a:extLst>
          </p:cNvPr>
          <p:cNvSpPr>
            <a:spLocks noGrp="1"/>
          </p:cNvSpPr>
          <p:nvPr>
            <p:ph type="sldNum" sz="quarter" idx="12"/>
          </p:nvPr>
        </p:nvSpPr>
        <p:spPr/>
        <p:txBody>
          <a:bodyPr/>
          <a:lstStyle/>
          <a:p>
            <a:fld id="{FACB5482-D393-4E2D-8FB7-B68A06B80F1E}" type="slidenum">
              <a:rPr lang="en-IN" smtClean="0"/>
              <a:t>34</a:t>
            </a:fld>
            <a:endParaRPr lang="en-IN"/>
          </a:p>
        </p:txBody>
      </p:sp>
    </p:spTree>
    <p:extLst>
      <p:ext uri="{BB962C8B-B14F-4D97-AF65-F5344CB8AC3E}">
        <p14:creationId xmlns:p14="http://schemas.microsoft.com/office/powerpoint/2010/main" val="38897754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327778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200000"/>
              </a:lnSpc>
              <a:spcBef>
                <a:spcPts val="0"/>
              </a:spcBef>
              <a:spcAft>
                <a:spcPts val="0"/>
              </a:spcAft>
              <a:buClr>
                <a:srgbClr val="262626"/>
              </a:buClr>
              <a:buSzPts val="1800"/>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Create the Flask application structure</a:t>
            </a:r>
          </a:p>
          <a:p>
            <a:pPr marR="0" lvl="0" algn="just" rtl="0">
              <a:lnSpc>
                <a:spcPct val="200000"/>
              </a:lnSpc>
              <a:spcBef>
                <a:spcPts val="0"/>
              </a:spcBef>
              <a:spcAft>
                <a:spcPts val="0"/>
              </a:spcAft>
              <a:buClr>
                <a:srgbClr val="262626"/>
              </a:buClr>
              <a:buSzPts val="1800"/>
            </a:pPr>
            <a:r>
              <a:rPr lang="en-US" sz="1800" dirty="0">
                <a:latin typeface="Calibri" panose="020F0502020204030204" pitchFamily="34" charset="0"/>
                <a:ea typeface="Calibri" panose="020F0502020204030204" pitchFamily="34" charset="0"/>
                <a:cs typeface="Calibri" panose="020F0502020204030204" pitchFamily="34" charset="0"/>
              </a:rPr>
              <a:t>Create a project directory and the following files:</a:t>
            </a:r>
          </a:p>
          <a:p>
            <a:pPr marL="355600" marR="0" lvl="0" algn="just" rtl="0">
              <a:lnSpc>
                <a:spcPct val="150000"/>
              </a:lnSpc>
              <a:spcBef>
                <a:spcPts val="0"/>
              </a:spcBef>
              <a:spcAft>
                <a:spcPts val="0"/>
              </a:spcAft>
              <a:buClr>
                <a:srgbClr val="262626"/>
              </a:buClr>
              <a:buSzPts val="1800"/>
            </a:pP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flaskSQLite</a:t>
            </a: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a:t>
            </a:r>
          </a:p>
          <a:p>
            <a:pPr marL="355600"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app.py</a:t>
            </a:r>
          </a:p>
          <a:p>
            <a:pPr marL="355600"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config.py</a:t>
            </a:r>
          </a:p>
          <a:p>
            <a:pPr marL="355600"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800" dirty="0" err="1">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schema.sql</a:t>
            </a:r>
            <a:endPar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endParaRPr>
          </a:p>
          <a:p>
            <a:pPr marL="355600" marR="0" lvl="0" algn="just" rtl="0">
              <a:lnSpc>
                <a:spcPct val="150000"/>
              </a:lnSpc>
              <a:spcBef>
                <a:spcPts val="0"/>
              </a:spcBef>
              <a:spcAft>
                <a:spcPts val="0"/>
              </a:spcAft>
              <a:buClr>
                <a:srgbClr val="262626"/>
              </a:buClr>
              <a:buSzPts val="1800"/>
            </a:pPr>
            <a:r>
              <a:rPr lang="en-US" sz="1800" dirty="0">
                <a:solidFill>
                  <a:srgbClr val="262626"/>
                </a:solidFill>
                <a:latin typeface="Calibri" panose="020F0502020204030204" pitchFamily="34" charset="0"/>
                <a:ea typeface="Calibri" panose="020F0502020204030204" pitchFamily="34" charset="0"/>
                <a:cs typeface="Calibri" panose="020F0502020204030204" pitchFamily="34" charset="0"/>
                <a:sym typeface="Calibri"/>
              </a:rPr>
              <a:t>└── templates/</a:t>
            </a:r>
          </a:p>
        </p:txBody>
      </p:sp>
      <p:sp>
        <p:nvSpPr>
          <p:cNvPr id="3" name="Footer Placeholder 2">
            <a:extLst>
              <a:ext uri="{FF2B5EF4-FFF2-40B4-BE49-F238E27FC236}">
                <a16:creationId xmlns:a16="http://schemas.microsoft.com/office/drawing/2014/main" id="{12485F0C-8B26-946F-6879-41CF57E77DEC}"/>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B16F45B-AF68-DD08-7772-86C30AA84473}"/>
              </a:ext>
            </a:extLst>
          </p:cNvPr>
          <p:cNvSpPr>
            <a:spLocks noGrp="1"/>
          </p:cNvSpPr>
          <p:nvPr>
            <p:ph type="sldNum" sz="quarter" idx="12"/>
          </p:nvPr>
        </p:nvSpPr>
        <p:spPr/>
        <p:txBody>
          <a:bodyPr/>
          <a:lstStyle/>
          <a:p>
            <a:fld id="{FACB5482-D393-4E2D-8FB7-B68A06B80F1E}" type="slidenum">
              <a:rPr lang="en-IN" smtClean="0"/>
              <a:t>35</a:t>
            </a:fld>
            <a:endParaRPr lang="en-IN"/>
          </a:p>
        </p:txBody>
      </p:sp>
    </p:spTree>
    <p:extLst>
      <p:ext uri="{BB962C8B-B14F-4D97-AF65-F5344CB8AC3E}">
        <p14:creationId xmlns:p14="http://schemas.microsoft.com/office/powerpoint/2010/main" val="3776312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1200288"/>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2. Set up configuration in “config.py”</a:t>
            </a:r>
          </a:p>
          <a:p>
            <a:pPr marR="0" lvl="0" algn="just" rtl="0">
              <a:lnSpc>
                <a:spcPct val="200000"/>
              </a:lnSpc>
              <a:spcBef>
                <a:spcPts val="0"/>
              </a:spcBef>
              <a:spcAft>
                <a:spcPts val="0"/>
              </a:spcAft>
              <a:buClr>
                <a:srgbClr val="262626"/>
              </a:buClr>
              <a:buSzPts val="1800"/>
            </a:pPr>
            <a:r>
              <a:rPr lang="en-US" sz="1800" dirty="0">
                <a:latin typeface="Calibri" panose="020F0502020204030204" pitchFamily="34" charset="0"/>
                <a:ea typeface="Calibri" panose="020F0502020204030204" pitchFamily="34" charset="0"/>
                <a:cs typeface="Calibri" panose="020F0502020204030204" pitchFamily="34" charset="0"/>
              </a:rPr>
              <a:t>Configuration to setup the SQLite database.</a:t>
            </a:r>
          </a:p>
        </p:txBody>
      </p:sp>
      <p:pic>
        <p:nvPicPr>
          <p:cNvPr id="4" name="Picture 3">
            <a:extLst>
              <a:ext uri="{FF2B5EF4-FFF2-40B4-BE49-F238E27FC236}">
                <a16:creationId xmlns:a16="http://schemas.microsoft.com/office/drawing/2014/main" id="{2EE02D8A-8E47-70C4-7C6E-BFB1459AA30E}"/>
              </a:ext>
            </a:extLst>
          </p:cNvPr>
          <p:cNvPicPr>
            <a:picLocks noChangeAspect="1"/>
          </p:cNvPicPr>
          <p:nvPr/>
        </p:nvPicPr>
        <p:blipFill>
          <a:blip r:embed="rId4"/>
          <a:stretch>
            <a:fillRect/>
          </a:stretch>
        </p:blipFill>
        <p:spPr>
          <a:xfrm>
            <a:off x="822959" y="3130131"/>
            <a:ext cx="6592220" cy="1857634"/>
          </a:xfrm>
          <a:prstGeom prst="rect">
            <a:avLst/>
          </a:prstGeom>
        </p:spPr>
      </p:pic>
      <p:sp>
        <p:nvSpPr>
          <p:cNvPr id="3" name="Footer Placeholder 2">
            <a:extLst>
              <a:ext uri="{FF2B5EF4-FFF2-40B4-BE49-F238E27FC236}">
                <a16:creationId xmlns:a16="http://schemas.microsoft.com/office/drawing/2014/main" id="{019C1FC4-AE26-79C0-C604-10CB9B95E000}"/>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A163A4F9-BBED-9FB2-5A2C-ED477F15DAAD}"/>
              </a:ext>
            </a:extLst>
          </p:cNvPr>
          <p:cNvSpPr>
            <a:spLocks noGrp="1"/>
          </p:cNvSpPr>
          <p:nvPr>
            <p:ph type="sldNum" sz="quarter" idx="12"/>
          </p:nvPr>
        </p:nvSpPr>
        <p:spPr/>
        <p:txBody>
          <a:bodyPr/>
          <a:lstStyle/>
          <a:p>
            <a:fld id="{FACB5482-D393-4E2D-8FB7-B68A06B80F1E}" type="slidenum">
              <a:rPr lang="en-IN" smtClean="0"/>
              <a:t>36</a:t>
            </a:fld>
            <a:endParaRPr lang="en-IN"/>
          </a:p>
        </p:txBody>
      </p:sp>
    </p:spTree>
    <p:extLst>
      <p:ext uri="{BB962C8B-B14F-4D97-AF65-F5344CB8AC3E}">
        <p14:creationId xmlns:p14="http://schemas.microsoft.com/office/powerpoint/2010/main" val="2324740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3. Initialize the Flask application – “app.py”</a:t>
            </a:r>
          </a:p>
        </p:txBody>
      </p:sp>
      <p:pic>
        <p:nvPicPr>
          <p:cNvPr id="3" name="Picture 2">
            <a:extLst>
              <a:ext uri="{FF2B5EF4-FFF2-40B4-BE49-F238E27FC236}">
                <a16:creationId xmlns:a16="http://schemas.microsoft.com/office/drawing/2014/main" id="{0A48EE00-41FC-DB31-9931-C638BCE52317}"/>
              </a:ext>
            </a:extLst>
          </p:cNvPr>
          <p:cNvPicPr>
            <a:picLocks noChangeAspect="1"/>
          </p:cNvPicPr>
          <p:nvPr/>
        </p:nvPicPr>
        <p:blipFill>
          <a:blip r:embed="rId4"/>
          <a:stretch>
            <a:fillRect/>
          </a:stretch>
        </p:blipFill>
        <p:spPr>
          <a:xfrm>
            <a:off x="822959" y="2457204"/>
            <a:ext cx="5687219" cy="3620005"/>
          </a:xfrm>
          <a:prstGeom prst="rect">
            <a:avLst/>
          </a:prstGeom>
        </p:spPr>
      </p:pic>
      <p:sp>
        <p:nvSpPr>
          <p:cNvPr id="4" name="Footer Placeholder 3">
            <a:extLst>
              <a:ext uri="{FF2B5EF4-FFF2-40B4-BE49-F238E27FC236}">
                <a16:creationId xmlns:a16="http://schemas.microsoft.com/office/drawing/2014/main" id="{3104B21D-B13F-D55E-8EA3-929A6812CAC6}"/>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A5857265-C129-B785-5D6A-CB87F204462E}"/>
              </a:ext>
            </a:extLst>
          </p:cNvPr>
          <p:cNvSpPr>
            <a:spLocks noGrp="1"/>
          </p:cNvSpPr>
          <p:nvPr>
            <p:ph type="sldNum" sz="quarter" idx="12"/>
          </p:nvPr>
        </p:nvSpPr>
        <p:spPr/>
        <p:txBody>
          <a:bodyPr/>
          <a:lstStyle/>
          <a:p>
            <a:fld id="{FACB5482-D393-4E2D-8FB7-B68A06B80F1E}" type="slidenum">
              <a:rPr lang="en-IN" smtClean="0"/>
              <a:t>37</a:t>
            </a:fld>
            <a:endParaRPr lang="en-IN"/>
          </a:p>
        </p:txBody>
      </p:sp>
    </p:spTree>
    <p:extLst>
      <p:ext uri="{BB962C8B-B14F-4D97-AF65-F5344CB8AC3E}">
        <p14:creationId xmlns:p14="http://schemas.microsoft.com/office/powerpoint/2010/main" val="1434125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1200288"/>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3. Initialize the Flask application – “app.py”</a:t>
            </a:r>
          </a:p>
          <a:p>
            <a:pPr marR="0" lvl="0" algn="just" rtl="0">
              <a:lnSpc>
                <a:spcPct val="200000"/>
              </a:lnSpc>
              <a:spcBef>
                <a:spcPts val="0"/>
              </a:spcBef>
              <a:spcAft>
                <a:spcPts val="0"/>
              </a:spcAft>
              <a:buClr>
                <a:srgbClr val="262626"/>
              </a:buClr>
              <a:buSzPts val="1800"/>
            </a:pPr>
            <a:r>
              <a:rPr lang="en-US" sz="1800" dirty="0">
                <a:latin typeface="Calibri" panose="020F0502020204030204" pitchFamily="34" charset="0"/>
                <a:ea typeface="Calibri" panose="020F0502020204030204" pitchFamily="34" charset="0"/>
                <a:cs typeface="Calibri" panose="020F0502020204030204" pitchFamily="34" charset="0"/>
              </a:rPr>
              <a:t>Update import statements of app.py as below.</a:t>
            </a:r>
          </a:p>
        </p:txBody>
      </p:sp>
      <p:pic>
        <p:nvPicPr>
          <p:cNvPr id="5" name="Picture 4">
            <a:extLst>
              <a:ext uri="{FF2B5EF4-FFF2-40B4-BE49-F238E27FC236}">
                <a16:creationId xmlns:a16="http://schemas.microsoft.com/office/drawing/2014/main" id="{5D7D9731-6D94-88E9-517D-23DB44215335}"/>
              </a:ext>
            </a:extLst>
          </p:cNvPr>
          <p:cNvPicPr>
            <a:picLocks noChangeAspect="1"/>
          </p:cNvPicPr>
          <p:nvPr/>
        </p:nvPicPr>
        <p:blipFill>
          <a:blip r:embed="rId4"/>
          <a:stretch>
            <a:fillRect/>
          </a:stretch>
        </p:blipFill>
        <p:spPr>
          <a:xfrm>
            <a:off x="822959" y="3130131"/>
            <a:ext cx="9011908" cy="1276528"/>
          </a:xfrm>
          <a:prstGeom prst="rect">
            <a:avLst/>
          </a:prstGeom>
        </p:spPr>
      </p:pic>
      <p:sp>
        <p:nvSpPr>
          <p:cNvPr id="3" name="Footer Placeholder 2">
            <a:extLst>
              <a:ext uri="{FF2B5EF4-FFF2-40B4-BE49-F238E27FC236}">
                <a16:creationId xmlns:a16="http://schemas.microsoft.com/office/drawing/2014/main" id="{8C50B18D-9C8C-C387-0EC3-0D746901B828}"/>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93AD0280-C3B8-56A0-859B-3FDE5D995A46}"/>
              </a:ext>
            </a:extLst>
          </p:cNvPr>
          <p:cNvSpPr>
            <a:spLocks noGrp="1"/>
          </p:cNvSpPr>
          <p:nvPr>
            <p:ph type="sldNum" sz="quarter" idx="12"/>
          </p:nvPr>
        </p:nvSpPr>
        <p:spPr/>
        <p:txBody>
          <a:bodyPr/>
          <a:lstStyle/>
          <a:p>
            <a:fld id="{FACB5482-D393-4E2D-8FB7-B68A06B80F1E}" type="slidenum">
              <a:rPr lang="en-IN" smtClean="0"/>
              <a:t>38</a:t>
            </a:fld>
            <a:endParaRPr lang="en-IN"/>
          </a:p>
        </p:txBody>
      </p:sp>
    </p:spTree>
    <p:extLst>
      <p:ext uri="{BB962C8B-B14F-4D97-AF65-F5344CB8AC3E}">
        <p14:creationId xmlns:p14="http://schemas.microsoft.com/office/powerpoint/2010/main" val="607434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4524275"/>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g</a:t>
            </a:r>
            <a:r>
              <a:rPr lang="en-US" sz="1800" dirty="0">
                <a:latin typeface="Calibri" panose="020F0502020204030204" pitchFamily="34" charset="0"/>
                <a:ea typeface="Calibri" panose="020F0502020204030204" pitchFamily="34" charset="0"/>
                <a:cs typeface="Calibri" panose="020F0502020204030204" pitchFamily="34" charset="0"/>
              </a:rPr>
              <a:t>: A special object in Flask that is used to store data for the duration of a request.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latin typeface="Batang" panose="02030600000101010101" pitchFamily="18" charset="-127"/>
                <a:ea typeface="Batang" panose="02030600000101010101" pitchFamily="18" charset="-127"/>
                <a:cs typeface="Calibri" panose="020F0502020204030204" pitchFamily="34" charset="0"/>
              </a:rPr>
              <a:t>render_template</a:t>
            </a:r>
            <a:r>
              <a:rPr lang="en-US" sz="1800" dirty="0">
                <a:latin typeface="Calibri" panose="020F0502020204030204" pitchFamily="34" charset="0"/>
                <a:ea typeface="Calibri" panose="020F0502020204030204" pitchFamily="34" charset="0"/>
                <a:cs typeface="Calibri" panose="020F0502020204030204" pitchFamily="34" charset="0"/>
              </a:rPr>
              <a:t>: A function to render HTML templates with data.</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request</a:t>
            </a:r>
            <a:r>
              <a:rPr lang="en-US" sz="1800" dirty="0">
                <a:latin typeface="Calibri" panose="020F0502020204030204" pitchFamily="34" charset="0"/>
                <a:ea typeface="Calibri" panose="020F0502020204030204" pitchFamily="34" charset="0"/>
                <a:cs typeface="Calibri" panose="020F0502020204030204" pitchFamily="34" charset="0"/>
              </a:rPr>
              <a:t>: An object that contains all data sent by the client in the request.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redirect</a:t>
            </a:r>
            <a:r>
              <a:rPr lang="en-US" sz="1800" dirty="0">
                <a:latin typeface="Calibri" panose="020F0502020204030204" pitchFamily="34" charset="0"/>
                <a:ea typeface="Calibri" panose="020F0502020204030204" pitchFamily="34" charset="0"/>
                <a:cs typeface="Calibri" panose="020F0502020204030204" pitchFamily="34" charset="0"/>
              </a:rPr>
              <a:t>: A function to redirect the user to a different endpoint.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latin typeface="Batang" panose="02030600000101010101" pitchFamily="18" charset="-127"/>
                <a:ea typeface="Batang" panose="02030600000101010101" pitchFamily="18" charset="-127"/>
                <a:cs typeface="Calibri" panose="020F0502020204030204" pitchFamily="34" charset="0"/>
              </a:rPr>
              <a:t>url_for</a:t>
            </a:r>
            <a:r>
              <a:rPr lang="en-US" sz="1800" dirty="0">
                <a:latin typeface="Calibri" panose="020F0502020204030204" pitchFamily="34" charset="0"/>
                <a:ea typeface="Calibri" panose="020F0502020204030204" pitchFamily="34" charset="0"/>
                <a:cs typeface="Calibri" panose="020F0502020204030204" pitchFamily="34" charset="0"/>
              </a:rPr>
              <a:t>: A function to generate URLs for specific functions.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sqlite3</a:t>
            </a:r>
            <a:r>
              <a:rPr lang="en-US" sz="1800" dirty="0">
                <a:latin typeface="Calibri" panose="020F0502020204030204" pitchFamily="34" charset="0"/>
                <a:ea typeface="Calibri" panose="020F0502020204030204" pitchFamily="34" charset="0"/>
                <a:cs typeface="Calibri" panose="020F0502020204030204" pitchFamily="34" charset="0"/>
              </a:rPr>
              <a:t>: The SQLite database module.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Config</a:t>
            </a:r>
            <a:r>
              <a:rPr lang="en-US" sz="1800" dirty="0">
                <a:latin typeface="Calibri" panose="020F0502020204030204" pitchFamily="34" charset="0"/>
                <a:ea typeface="Calibri" panose="020F0502020204030204" pitchFamily="34" charset="0"/>
                <a:cs typeface="Calibri" panose="020F0502020204030204" pitchFamily="34" charset="0"/>
              </a:rPr>
              <a:t>: A configuration class defined in a separate config.py file.</a:t>
            </a:r>
          </a:p>
        </p:txBody>
      </p:sp>
      <p:sp>
        <p:nvSpPr>
          <p:cNvPr id="3" name="Footer Placeholder 2">
            <a:extLst>
              <a:ext uri="{FF2B5EF4-FFF2-40B4-BE49-F238E27FC236}">
                <a16:creationId xmlns:a16="http://schemas.microsoft.com/office/drawing/2014/main" id="{27D8B4A7-493A-68AB-5FD5-30023A7C32D6}"/>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09463FB-D42D-30AD-4ADD-F88C600F5F05}"/>
              </a:ext>
            </a:extLst>
          </p:cNvPr>
          <p:cNvSpPr>
            <a:spLocks noGrp="1"/>
          </p:cNvSpPr>
          <p:nvPr>
            <p:ph type="sldNum" sz="quarter" idx="12"/>
          </p:nvPr>
        </p:nvSpPr>
        <p:spPr/>
        <p:txBody>
          <a:bodyPr/>
          <a:lstStyle/>
          <a:p>
            <a:fld id="{FACB5482-D393-4E2D-8FB7-B68A06B80F1E}" type="slidenum">
              <a:rPr lang="en-IN" smtClean="0"/>
              <a:t>39</a:t>
            </a:fld>
            <a:endParaRPr lang="en-IN"/>
          </a:p>
        </p:txBody>
      </p:sp>
    </p:spTree>
    <p:extLst>
      <p:ext uri="{BB962C8B-B14F-4D97-AF65-F5344CB8AC3E}">
        <p14:creationId xmlns:p14="http://schemas.microsoft.com/office/powerpoint/2010/main" val="2920977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3. Initialize the Flask application – “app.py”</a:t>
            </a:r>
          </a:p>
        </p:txBody>
      </p:sp>
      <p:pic>
        <p:nvPicPr>
          <p:cNvPr id="7" name="Picture 6">
            <a:extLst>
              <a:ext uri="{FF2B5EF4-FFF2-40B4-BE49-F238E27FC236}">
                <a16:creationId xmlns:a16="http://schemas.microsoft.com/office/drawing/2014/main" id="{DDAFB416-FE34-510B-2FCB-42F95E2E1201}"/>
              </a:ext>
            </a:extLst>
          </p:cNvPr>
          <p:cNvPicPr>
            <a:picLocks noChangeAspect="1"/>
          </p:cNvPicPr>
          <p:nvPr/>
        </p:nvPicPr>
        <p:blipFill>
          <a:blip r:embed="rId4"/>
          <a:stretch>
            <a:fillRect/>
          </a:stretch>
        </p:blipFill>
        <p:spPr>
          <a:xfrm>
            <a:off x="731125" y="2576132"/>
            <a:ext cx="4592716" cy="944517"/>
          </a:xfrm>
          <a:prstGeom prst="rect">
            <a:avLst/>
          </a:prstGeom>
        </p:spPr>
      </p:pic>
      <p:sp>
        <p:nvSpPr>
          <p:cNvPr id="3" name="Footer Placeholder 2">
            <a:extLst>
              <a:ext uri="{FF2B5EF4-FFF2-40B4-BE49-F238E27FC236}">
                <a16:creationId xmlns:a16="http://schemas.microsoft.com/office/drawing/2014/main" id="{09CC301B-0145-F412-8912-2B9605BC1B4B}"/>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9986110-D8FB-933B-5885-5E2976B42D08}"/>
              </a:ext>
            </a:extLst>
          </p:cNvPr>
          <p:cNvSpPr>
            <a:spLocks noGrp="1"/>
          </p:cNvSpPr>
          <p:nvPr>
            <p:ph type="sldNum" sz="quarter" idx="12"/>
          </p:nvPr>
        </p:nvSpPr>
        <p:spPr/>
        <p:txBody>
          <a:bodyPr/>
          <a:lstStyle/>
          <a:p>
            <a:fld id="{FACB5482-D393-4E2D-8FB7-B68A06B80F1E}" type="slidenum">
              <a:rPr lang="en-IN" smtClean="0"/>
              <a:t>40</a:t>
            </a:fld>
            <a:endParaRPr lang="en-IN"/>
          </a:p>
        </p:txBody>
      </p:sp>
    </p:spTree>
    <p:extLst>
      <p:ext uri="{BB962C8B-B14F-4D97-AF65-F5344CB8AC3E}">
        <p14:creationId xmlns:p14="http://schemas.microsoft.com/office/powerpoint/2010/main" val="778883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1754286"/>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app = Flask(__name__): </a:t>
            </a:r>
            <a:r>
              <a:rPr lang="en-US" sz="1800" dirty="0">
                <a:latin typeface="Calibri" panose="020F0502020204030204" pitchFamily="34" charset="0"/>
                <a:ea typeface="Calibri" panose="020F0502020204030204" pitchFamily="34" charset="0"/>
                <a:cs typeface="Calibri" panose="020F0502020204030204" pitchFamily="34" charset="0"/>
              </a:rPr>
              <a:t>Creates an instance of the Flask application</a:t>
            </a:r>
            <a:r>
              <a:rPr lang="en-US" sz="1800" dirty="0">
                <a:latin typeface="Batang" panose="02030600000101010101" pitchFamily="18" charset="-127"/>
                <a:ea typeface="Batang" panose="02030600000101010101" pitchFamily="18" charset="-127"/>
                <a:cs typeface="Calibri" panose="020F0502020204030204" pitchFamily="34" charset="0"/>
              </a:rPr>
              <a:t>.</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latin typeface="Batang" panose="02030600000101010101" pitchFamily="18" charset="-127"/>
                <a:ea typeface="Batang" panose="02030600000101010101" pitchFamily="18" charset="-127"/>
                <a:cs typeface="Calibri" panose="020F0502020204030204" pitchFamily="34" charset="0"/>
              </a:rPr>
              <a:t>app.config.from_object</a:t>
            </a:r>
            <a:r>
              <a:rPr lang="en-US" sz="1800" dirty="0">
                <a:latin typeface="Batang" panose="02030600000101010101" pitchFamily="18" charset="-127"/>
                <a:ea typeface="Batang" panose="02030600000101010101" pitchFamily="18" charset="-127"/>
                <a:cs typeface="Calibri" panose="020F0502020204030204" pitchFamily="34" charset="0"/>
              </a:rPr>
              <a:t>(Config): </a:t>
            </a:r>
            <a:r>
              <a:rPr lang="en-US" sz="1800" dirty="0">
                <a:latin typeface="Calibri" panose="020F0502020204030204" pitchFamily="34" charset="0"/>
                <a:ea typeface="Calibri" panose="020F0502020204030204" pitchFamily="34" charset="0"/>
                <a:cs typeface="Calibri" panose="020F0502020204030204" pitchFamily="34" charset="0"/>
              </a:rPr>
              <a:t>Loads configuration settings from the Config class</a:t>
            </a:r>
            <a:r>
              <a:rPr lang="en-US" sz="1800" dirty="0">
                <a:latin typeface="Batang" panose="02030600000101010101" pitchFamily="18" charset="-127"/>
                <a:ea typeface="Batang" panose="02030600000101010101" pitchFamily="18" charset="-127"/>
                <a:cs typeface="Calibri" panose="020F0502020204030204" pitchFamily="34" charset="0"/>
              </a:rPr>
              <a:t>.</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41FC135-7A9E-6284-83BC-FA353B9012DA}"/>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0452472A-2154-08A0-0C9D-5E021F112C1B}"/>
              </a:ext>
            </a:extLst>
          </p:cNvPr>
          <p:cNvSpPr>
            <a:spLocks noGrp="1"/>
          </p:cNvSpPr>
          <p:nvPr>
            <p:ph type="sldNum" sz="quarter" idx="12"/>
          </p:nvPr>
        </p:nvSpPr>
        <p:spPr/>
        <p:txBody>
          <a:bodyPr/>
          <a:lstStyle/>
          <a:p>
            <a:fld id="{FACB5482-D393-4E2D-8FB7-B68A06B80F1E}" type="slidenum">
              <a:rPr lang="en-IN" smtClean="0"/>
              <a:t>41</a:t>
            </a:fld>
            <a:endParaRPr lang="en-IN"/>
          </a:p>
        </p:txBody>
      </p:sp>
    </p:spTree>
    <p:extLst>
      <p:ext uri="{BB962C8B-B14F-4D97-AF65-F5344CB8AC3E}">
        <p14:creationId xmlns:p14="http://schemas.microsoft.com/office/powerpoint/2010/main" val="350516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4. Database connection - – “app.py”</a:t>
            </a:r>
          </a:p>
        </p:txBody>
      </p:sp>
      <p:pic>
        <p:nvPicPr>
          <p:cNvPr id="4" name="Picture 3">
            <a:extLst>
              <a:ext uri="{FF2B5EF4-FFF2-40B4-BE49-F238E27FC236}">
                <a16:creationId xmlns:a16="http://schemas.microsoft.com/office/drawing/2014/main" id="{591452C7-BB2E-7048-B4CA-2ED7CA3C4F9E}"/>
              </a:ext>
            </a:extLst>
          </p:cNvPr>
          <p:cNvPicPr>
            <a:picLocks noChangeAspect="1"/>
          </p:cNvPicPr>
          <p:nvPr/>
        </p:nvPicPr>
        <p:blipFill>
          <a:blip r:embed="rId4"/>
          <a:stretch>
            <a:fillRect/>
          </a:stretch>
        </p:blipFill>
        <p:spPr>
          <a:xfrm>
            <a:off x="715256" y="2457204"/>
            <a:ext cx="6814018" cy="1515356"/>
          </a:xfrm>
          <a:prstGeom prst="rect">
            <a:avLst/>
          </a:prstGeom>
        </p:spPr>
      </p:pic>
      <p:sp>
        <p:nvSpPr>
          <p:cNvPr id="3" name="Footer Placeholder 2">
            <a:extLst>
              <a:ext uri="{FF2B5EF4-FFF2-40B4-BE49-F238E27FC236}">
                <a16:creationId xmlns:a16="http://schemas.microsoft.com/office/drawing/2014/main" id="{7824529C-9ECD-CC28-9A06-3290A05D9BC9}"/>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5F0C6F8F-41C7-A2A0-D8EE-76272EEA7AE2}"/>
              </a:ext>
            </a:extLst>
          </p:cNvPr>
          <p:cNvSpPr>
            <a:spLocks noGrp="1"/>
          </p:cNvSpPr>
          <p:nvPr>
            <p:ph type="sldNum" sz="quarter" idx="12"/>
          </p:nvPr>
        </p:nvSpPr>
        <p:spPr/>
        <p:txBody>
          <a:bodyPr/>
          <a:lstStyle/>
          <a:p>
            <a:fld id="{FACB5482-D393-4E2D-8FB7-B68A06B80F1E}" type="slidenum">
              <a:rPr lang="en-IN" smtClean="0"/>
              <a:t>42</a:t>
            </a:fld>
            <a:endParaRPr lang="en-IN"/>
          </a:p>
        </p:txBody>
      </p:sp>
    </p:spTree>
    <p:extLst>
      <p:ext uri="{BB962C8B-B14F-4D97-AF65-F5344CB8AC3E}">
        <p14:creationId xmlns:p14="http://schemas.microsoft.com/office/powerpoint/2010/main" val="3088437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latin typeface="Batang" panose="02030600000101010101" pitchFamily="18" charset="-127"/>
                <a:ea typeface="Batang" panose="02030600000101010101" pitchFamily="18" charset="-127"/>
                <a:cs typeface="Calibri" panose="020F0502020204030204" pitchFamily="34" charset="0"/>
              </a:rPr>
              <a:t>get_db</a:t>
            </a:r>
            <a:r>
              <a:rPr lang="en-US" sz="1800" dirty="0">
                <a:latin typeface="Batang" panose="02030600000101010101" pitchFamily="18" charset="-127"/>
                <a:ea typeface="Batang" panose="02030600000101010101" pitchFamily="18" charset="-127"/>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 function to get a database connection.</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Checks if there is a </a:t>
            </a:r>
            <a:r>
              <a:rPr lang="en-US" sz="1800" dirty="0" err="1">
                <a:latin typeface="Batang" panose="02030600000101010101" pitchFamily="18" charset="-127"/>
                <a:ea typeface="Batang" panose="02030600000101010101" pitchFamily="18" charset="-127"/>
                <a:cs typeface="Calibri" panose="020F0502020204030204" pitchFamily="34" charset="0"/>
              </a:rPr>
              <a:t>db</a:t>
            </a:r>
            <a:r>
              <a:rPr lang="en-US" sz="1800" dirty="0">
                <a:latin typeface="Calibri" panose="020F0502020204030204" pitchFamily="34" charset="0"/>
                <a:ea typeface="Calibri" panose="020F0502020204030204" pitchFamily="34" charset="0"/>
                <a:cs typeface="Calibri" panose="020F0502020204030204" pitchFamily="34" charset="0"/>
              </a:rPr>
              <a:t> attribute in the </a:t>
            </a:r>
            <a:r>
              <a:rPr lang="en-US" sz="1800" dirty="0">
                <a:latin typeface="Batang" panose="02030600000101010101" pitchFamily="18" charset="-127"/>
                <a:ea typeface="Batang" panose="02030600000101010101" pitchFamily="18" charset="-127"/>
                <a:cs typeface="Calibri" panose="020F0502020204030204" pitchFamily="34" charset="0"/>
              </a:rPr>
              <a:t>g </a:t>
            </a:r>
            <a:r>
              <a:rPr lang="en-US" sz="1800" dirty="0">
                <a:latin typeface="Calibri" panose="020F0502020204030204" pitchFamily="34" charset="0"/>
                <a:ea typeface="Calibri" panose="020F0502020204030204" pitchFamily="34" charset="0"/>
                <a:cs typeface="Calibri" panose="020F0502020204030204" pitchFamily="34" charset="0"/>
              </a:rPr>
              <a:t>object.</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If not, it connects to the SQLite database specified in the configuration and sets </a:t>
            </a:r>
            <a:r>
              <a:rPr lang="en-US" sz="1800" dirty="0" err="1">
                <a:latin typeface="Batang" panose="02030600000101010101" pitchFamily="18" charset="-127"/>
                <a:ea typeface="Batang" panose="02030600000101010101" pitchFamily="18" charset="-127"/>
                <a:cs typeface="Calibri" panose="020F0502020204030204" pitchFamily="34" charset="0"/>
              </a:rPr>
              <a:t>row_factory</a:t>
            </a:r>
            <a:r>
              <a:rPr lang="en-US" sz="1800" dirty="0">
                <a:latin typeface="Batang" panose="02030600000101010101" pitchFamily="18" charset="-127"/>
                <a:ea typeface="Batang" panose="02030600000101010101" pitchFamily="18" charset="-127"/>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to </a:t>
            </a:r>
            <a:r>
              <a:rPr lang="en-US" sz="1800" dirty="0">
                <a:latin typeface="Batang" panose="02030600000101010101" pitchFamily="18" charset="-127"/>
                <a:ea typeface="Batang" panose="02030600000101010101" pitchFamily="18" charset="-127"/>
                <a:cs typeface="Calibri" panose="020F0502020204030204" pitchFamily="34" charset="0"/>
              </a:rPr>
              <a:t>sqlite3.Row </a:t>
            </a:r>
            <a:r>
              <a:rPr lang="en-US" sz="1800" dirty="0">
                <a:latin typeface="Calibri" panose="020F0502020204030204" pitchFamily="34" charset="0"/>
                <a:ea typeface="Calibri" panose="020F0502020204030204" pitchFamily="34" charset="0"/>
                <a:cs typeface="Calibri" panose="020F0502020204030204" pitchFamily="34" charset="0"/>
              </a:rPr>
              <a:t>for named access to columns.</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Returns the database connection.</a:t>
            </a:r>
          </a:p>
        </p:txBody>
      </p:sp>
      <p:sp>
        <p:nvSpPr>
          <p:cNvPr id="3" name="Footer Placeholder 2">
            <a:extLst>
              <a:ext uri="{FF2B5EF4-FFF2-40B4-BE49-F238E27FC236}">
                <a16:creationId xmlns:a16="http://schemas.microsoft.com/office/drawing/2014/main" id="{B98D2D86-A4A4-A83B-3301-1A0F466EAF7D}"/>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41ED225-FFF5-603B-0E8C-012542C81845}"/>
              </a:ext>
            </a:extLst>
          </p:cNvPr>
          <p:cNvSpPr>
            <a:spLocks noGrp="1"/>
          </p:cNvSpPr>
          <p:nvPr>
            <p:ph type="sldNum" sz="quarter" idx="12"/>
          </p:nvPr>
        </p:nvSpPr>
        <p:spPr/>
        <p:txBody>
          <a:bodyPr/>
          <a:lstStyle/>
          <a:p>
            <a:fld id="{FACB5482-D393-4E2D-8FB7-B68A06B80F1E}" type="slidenum">
              <a:rPr lang="en-IN" smtClean="0"/>
              <a:t>43</a:t>
            </a:fld>
            <a:endParaRPr lang="en-IN"/>
          </a:p>
        </p:txBody>
      </p:sp>
    </p:spTree>
    <p:extLst>
      <p:ext uri="{BB962C8B-B14F-4D97-AF65-F5344CB8AC3E}">
        <p14:creationId xmlns:p14="http://schemas.microsoft.com/office/powerpoint/2010/main" val="1620105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5. Closing the database connection  – “app.py”</a:t>
            </a:r>
          </a:p>
        </p:txBody>
      </p:sp>
      <p:pic>
        <p:nvPicPr>
          <p:cNvPr id="5" name="Picture 4">
            <a:extLst>
              <a:ext uri="{FF2B5EF4-FFF2-40B4-BE49-F238E27FC236}">
                <a16:creationId xmlns:a16="http://schemas.microsoft.com/office/drawing/2014/main" id="{1C72A15E-3CF4-BE33-04F2-EA1533658A01}"/>
              </a:ext>
            </a:extLst>
          </p:cNvPr>
          <p:cNvPicPr>
            <a:picLocks noChangeAspect="1"/>
          </p:cNvPicPr>
          <p:nvPr/>
        </p:nvPicPr>
        <p:blipFill>
          <a:blip r:embed="rId4"/>
          <a:stretch>
            <a:fillRect/>
          </a:stretch>
        </p:blipFill>
        <p:spPr>
          <a:xfrm>
            <a:off x="715256" y="2457204"/>
            <a:ext cx="5025144" cy="1644849"/>
          </a:xfrm>
          <a:prstGeom prst="rect">
            <a:avLst/>
          </a:prstGeom>
        </p:spPr>
      </p:pic>
      <p:sp>
        <p:nvSpPr>
          <p:cNvPr id="3" name="Footer Placeholder 2">
            <a:extLst>
              <a:ext uri="{FF2B5EF4-FFF2-40B4-BE49-F238E27FC236}">
                <a16:creationId xmlns:a16="http://schemas.microsoft.com/office/drawing/2014/main" id="{B3FCF45E-F317-D1EC-3E85-7FCFBBAEC60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AA5C366-3364-A87B-A3E2-97AE7D7E2D2D}"/>
              </a:ext>
            </a:extLst>
          </p:cNvPr>
          <p:cNvSpPr>
            <a:spLocks noGrp="1"/>
          </p:cNvSpPr>
          <p:nvPr>
            <p:ph type="sldNum" sz="quarter" idx="12"/>
          </p:nvPr>
        </p:nvSpPr>
        <p:spPr/>
        <p:txBody>
          <a:bodyPr/>
          <a:lstStyle/>
          <a:p>
            <a:fld id="{FACB5482-D393-4E2D-8FB7-B68A06B80F1E}" type="slidenum">
              <a:rPr lang="en-IN" smtClean="0"/>
              <a:t>44</a:t>
            </a:fld>
            <a:endParaRPr lang="en-IN"/>
          </a:p>
        </p:txBody>
      </p:sp>
    </p:spTree>
    <p:extLst>
      <p:ext uri="{BB962C8B-B14F-4D97-AF65-F5344CB8AC3E}">
        <p14:creationId xmlns:p14="http://schemas.microsoft.com/office/powerpoint/2010/main" val="1942680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@app.teardown_appcontext</a:t>
            </a:r>
            <a:r>
              <a:rPr lang="en-US" sz="1800" dirty="0">
                <a:latin typeface="Calibri" panose="020F0502020204030204" pitchFamily="34" charset="0"/>
                <a:ea typeface="Calibri" panose="020F0502020204030204" pitchFamily="34" charset="0"/>
                <a:cs typeface="Calibri" panose="020F0502020204030204" pitchFamily="34" charset="0"/>
              </a:rPr>
              <a:t>: A decorator that registers a function to be called when the application context is torn down.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err="1">
                <a:latin typeface="Batang" panose="02030600000101010101" pitchFamily="18" charset="-127"/>
                <a:ea typeface="Batang" panose="02030600000101010101" pitchFamily="18" charset="-127"/>
                <a:cs typeface="Calibri" panose="020F0502020204030204" pitchFamily="34" charset="0"/>
              </a:rPr>
              <a:t>close_db</a:t>
            </a:r>
            <a:r>
              <a:rPr lang="en-US" sz="1800" dirty="0">
                <a:latin typeface="Batang" panose="02030600000101010101" pitchFamily="18" charset="-127"/>
                <a:ea typeface="Batang" panose="02030600000101010101" pitchFamily="18" charset="-127"/>
                <a:cs typeface="Calibri" panose="020F0502020204030204" pitchFamily="34" charset="0"/>
              </a:rPr>
              <a:t>(exception): </a:t>
            </a:r>
            <a:r>
              <a:rPr lang="en-US" sz="1800" dirty="0">
                <a:latin typeface="Calibri" panose="020F0502020204030204" pitchFamily="34" charset="0"/>
                <a:ea typeface="Calibri" panose="020F0502020204030204" pitchFamily="34" charset="0"/>
                <a:cs typeface="Calibri" panose="020F0502020204030204" pitchFamily="34" charset="0"/>
              </a:rPr>
              <a:t>A function that closes the database connection.</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Pops the </a:t>
            </a:r>
            <a:r>
              <a:rPr lang="en-US" sz="1800" dirty="0" err="1">
                <a:latin typeface="Batang" panose="02030600000101010101" pitchFamily="18" charset="-127"/>
                <a:ea typeface="Batang" panose="02030600000101010101" pitchFamily="18" charset="-127"/>
                <a:cs typeface="Calibri" panose="020F0502020204030204" pitchFamily="34" charset="0"/>
              </a:rPr>
              <a:t>db</a:t>
            </a:r>
            <a:r>
              <a:rPr lang="en-US" sz="1800" dirty="0">
                <a:latin typeface="Calibri" panose="020F0502020204030204" pitchFamily="34" charset="0"/>
                <a:ea typeface="Calibri" panose="020F0502020204030204" pitchFamily="34" charset="0"/>
                <a:cs typeface="Calibri" panose="020F0502020204030204" pitchFamily="34" charset="0"/>
              </a:rPr>
              <a:t> attribute from </a:t>
            </a:r>
            <a:r>
              <a:rPr lang="en-US" sz="1800" dirty="0">
                <a:latin typeface="Batang" panose="02030600000101010101" pitchFamily="18" charset="-127"/>
                <a:ea typeface="Batang" panose="02030600000101010101" pitchFamily="18" charset="-127"/>
                <a:cs typeface="Calibri" panose="020F0502020204030204" pitchFamily="34" charset="0"/>
              </a:rPr>
              <a:t>g.</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Closes the connection if it exists.</a:t>
            </a:r>
          </a:p>
        </p:txBody>
      </p:sp>
      <p:sp>
        <p:nvSpPr>
          <p:cNvPr id="3" name="Footer Placeholder 2">
            <a:extLst>
              <a:ext uri="{FF2B5EF4-FFF2-40B4-BE49-F238E27FC236}">
                <a16:creationId xmlns:a16="http://schemas.microsoft.com/office/drawing/2014/main" id="{296E6E38-4472-DC45-2806-73CF68DC5EF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553257B-188F-25B2-0B81-ED629807CBDB}"/>
              </a:ext>
            </a:extLst>
          </p:cNvPr>
          <p:cNvSpPr>
            <a:spLocks noGrp="1"/>
          </p:cNvSpPr>
          <p:nvPr>
            <p:ph type="sldNum" sz="quarter" idx="12"/>
          </p:nvPr>
        </p:nvSpPr>
        <p:spPr/>
        <p:txBody>
          <a:bodyPr/>
          <a:lstStyle/>
          <a:p>
            <a:fld id="{FACB5482-D393-4E2D-8FB7-B68A06B80F1E}" type="slidenum">
              <a:rPr lang="en-IN" smtClean="0"/>
              <a:t>45</a:t>
            </a:fld>
            <a:endParaRPr lang="en-IN"/>
          </a:p>
        </p:txBody>
      </p:sp>
    </p:spTree>
    <p:extLst>
      <p:ext uri="{BB962C8B-B14F-4D97-AF65-F5344CB8AC3E}">
        <p14:creationId xmlns:p14="http://schemas.microsoft.com/office/powerpoint/2010/main" val="6662082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6. Create route for index page – “app.py”</a:t>
            </a:r>
          </a:p>
        </p:txBody>
      </p:sp>
      <p:pic>
        <p:nvPicPr>
          <p:cNvPr id="4" name="Picture 3">
            <a:extLst>
              <a:ext uri="{FF2B5EF4-FFF2-40B4-BE49-F238E27FC236}">
                <a16:creationId xmlns:a16="http://schemas.microsoft.com/office/drawing/2014/main" id="{AA24C304-70AB-76C6-2FF4-D10B023CFFB0}"/>
              </a:ext>
            </a:extLst>
          </p:cNvPr>
          <p:cNvPicPr>
            <a:picLocks noChangeAspect="1"/>
          </p:cNvPicPr>
          <p:nvPr/>
        </p:nvPicPr>
        <p:blipFill>
          <a:blip r:embed="rId4"/>
          <a:stretch>
            <a:fillRect/>
          </a:stretch>
        </p:blipFill>
        <p:spPr>
          <a:xfrm>
            <a:off x="715256" y="2531091"/>
            <a:ext cx="8173591" cy="1905266"/>
          </a:xfrm>
          <a:prstGeom prst="rect">
            <a:avLst/>
          </a:prstGeom>
        </p:spPr>
      </p:pic>
      <p:sp>
        <p:nvSpPr>
          <p:cNvPr id="3" name="Footer Placeholder 2">
            <a:extLst>
              <a:ext uri="{FF2B5EF4-FFF2-40B4-BE49-F238E27FC236}">
                <a16:creationId xmlns:a16="http://schemas.microsoft.com/office/drawing/2014/main" id="{A7DD1274-45D9-6272-802E-9A77CCE538FA}"/>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86C17C37-6F08-AB69-478E-0B219325C3D8}"/>
              </a:ext>
            </a:extLst>
          </p:cNvPr>
          <p:cNvSpPr>
            <a:spLocks noGrp="1"/>
          </p:cNvSpPr>
          <p:nvPr>
            <p:ph type="sldNum" sz="quarter" idx="12"/>
          </p:nvPr>
        </p:nvSpPr>
        <p:spPr/>
        <p:txBody>
          <a:bodyPr/>
          <a:lstStyle/>
          <a:p>
            <a:fld id="{FACB5482-D393-4E2D-8FB7-B68A06B80F1E}" type="slidenum">
              <a:rPr lang="en-IN" smtClean="0"/>
              <a:t>46</a:t>
            </a:fld>
            <a:endParaRPr lang="en-IN"/>
          </a:p>
        </p:txBody>
      </p:sp>
    </p:spTree>
    <p:extLst>
      <p:ext uri="{BB962C8B-B14F-4D97-AF65-F5344CB8AC3E}">
        <p14:creationId xmlns:p14="http://schemas.microsoft.com/office/powerpoint/2010/main" val="24459020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3970277"/>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@app.route('/'): </a:t>
            </a:r>
            <a:r>
              <a:rPr lang="en-US" sz="1800" dirty="0">
                <a:latin typeface="Calibri" panose="020F0502020204030204" pitchFamily="34" charset="0"/>
                <a:ea typeface="Calibri" panose="020F0502020204030204" pitchFamily="34" charset="0"/>
                <a:cs typeface="Calibri" panose="020F0502020204030204" pitchFamily="34" charset="0"/>
              </a:rPr>
              <a:t>A decorator that binds the </a:t>
            </a:r>
            <a:r>
              <a:rPr lang="en-US" sz="1800" dirty="0">
                <a:latin typeface="Batang" panose="02030600000101010101" pitchFamily="18" charset="-127"/>
                <a:ea typeface="Batang" panose="02030600000101010101" pitchFamily="18" charset="-127"/>
                <a:cs typeface="Calibri" panose="020F0502020204030204" pitchFamily="34" charset="0"/>
              </a:rPr>
              <a:t>index()</a:t>
            </a:r>
            <a:r>
              <a:rPr lang="en-US" sz="1800" dirty="0">
                <a:latin typeface="Calibri" panose="020F0502020204030204" pitchFamily="34" charset="0"/>
                <a:ea typeface="Calibri" panose="020F0502020204030204" pitchFamily="34" charset="0"/>
                <a:cs typeface="Calibri" panose="020F0502020204030204" pitchFamily="34" charset="0"/>
              </a:rPr>
              <a:t> function to the root URL.</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index(): </a:t>
            </a:r>
            <a:r>
              <a:rPr lang="en-US" sz="1800" dirty="0">
                <a:latin typeface="Calibri" panose="020F0502020204030204" pitchFamily="34" charset="0"/>
                <a:ea typeface="Calibri" panose="020F0502020204030204" pitchFamily="34" charset="0"/>
                <a:cs typeface="Calibri" panose="020F0502020204030204" pitchFamily="34" charset="0"/>
              </a:rPr>
              <a:t>A function that handles the root URL.</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Gets a database connection.</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Executes a query to select all rows from the </a:t>
            </a:r>
            <a:r>
              <a:rPr lang="en-US" sz="1800" dirty="0">
                <a:latin typeface="Batang" panose="02030600000101010101" pitchFamily="18" charset="-127"/>
                <a:ea typeface="Batang" panose="02030600000101010101" pitchFamily="18" charset="-127"/>
                <a:cs typeface="Calibri" panose="020F0502020204030204" pitchFamily="34" charset="0"/>
              </a:rPr>
              <a:t>entries</a:t>
            </a:r>
            <a:r>
              <a:rPr lang="en-US" sz="1800" dirty="0">
                <a:latin typeface="Calibri" panose="020F0502020204030204" pitchFamily="34" charset="0"/>
                <a:ea typeface="Calibri" panose="020F0502020204030204" pitchFamily="34" charset="0"/>
                <a:cs typeface="Calibri" panose="020F0502020204030204" pitchFamily="34" charset="0"/>
              </a:rPr>
              <a:t> table.</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Fetches all rows from the result set.</a:t>
            </a:r>
          </a:p>
          <a:p>
            <a:pPr marL="630238" marR="0" lvl="0" indent="-285750" algn="just" rtl="0">
              <a:lnSpc>
                <a:spcPct val="200000"/>
              </a:lnSpc>
              <a:spcBef>
                <a:spcPts val="0"/>
              </a:spcBef>
              <a:spcAft>
                <a:spcPts val="0"/>
              </a:spcAft>
              <a:buClr>
                <a:srgbClr val="262626"/>
              </a:buClr>
              <a:buSzPts val="180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Renders the </a:t>
            </a:r>
            <a:r>
              <a:rPr lang="en-US" sz="1800" dirty="0">
                <a:latin typeface="Batang" panose="02030600000101010101" pitchFamily="18" charset="-127"/>
                <a:ea typeface="Batang" panose="02030600000101010101" pitchFamily="18" charset="-127"/>
                <a:cs typeface="Calibri" panose="020F0502020204030204" pitchFamily="34" charset="0"/>
              </a:rPr>
              <a:t>index.html </a:t>
            </a:r>
            <a:r>
              <a:rPr lang="en-US" sz="1800" dirty="0">
                <a:latin typeface="Calibri" panose="020F0502020204030204" pitchFamily="34" charset="0"/>
                <a:ea typeface="Calibri" panose="020F0502020204030204" pitchFamily="34" charset="0"/>
                <a:cs typeface="Calibri" panose="020F0502020204030204" pitchFamily="34" charset="0"/>
              </a:rPr>
              <a:t>template with the fetched entries.</a:t>
            </a:r>
          </a:p>
        </p:txBody>
      </p:sp>
      <p:sp>
        <p:nvSpPr>
          <p:cNvPr id="3" name="Footer Placeholder 2">
            <a:extLst>
              <a:ext uri="{FF2B5EF4-FFF2-40B4-BE49-F238E27FC236}">
                <a16:creationId xmlns:a16="http://schemas.microsoft.com/office/drawing/2014/main" id="{59C85E5D-0755-9C2B-7643-2FEEAD077EA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FEBAF96-E1CD-9B69-C28D-32FDD9811467}"/>
              </a:ext>
            </a:extLst>
          </p:cNvPr>
          <p:cNvSpPr>
            <a:spLocks noGrp="1"/>
          </p:cNvSpPr>
          <p:nvPr>
            <p:ph type="sldNum" sz="quarter" idx="12"/>
          </p:nvPr>
        </p:nvSpPr>
        <p:spPr/>
        <p:txBody>
          <a:bodyPr/>
          <a:lstStyle/>
          <a:p>
            <a:fld id="{FACB5482-D393-4E2D-8FB7-B68A06B80F1E}" type="slidenum">
              <a:rPr lang="en-IN" smtClean="0"/>
              <a:t>47</a:t>
            </a:fld>
            <a:endParaRPr lang="en-IN"/>
          </a:p>
        </p:txBody>
      </p:sp>
    </p:spTree>
    <p:extLst>
      <p:ext uri="{BB962C8B-B14F-4D97-AF65-F5344CB8AC3E}">
        <p14:creationId xmlns:p14="http://schemas.microsoft.com/office/powerpoint/2010/main" val="1838505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7. Create the schema – “</a:t>
            </a:r>
            <a:r>
              <a:rPr lang="en-US" sz="1800" b="1" dirty="0" err="1">
                <a:latin typeface="Calibri" panose="020F0502020204030204" pitchFamily="34" charset="0"/>
                <a:ea typeface="Calibri" panose="020F0502020204030204" pitchFamily="34" charset="0"/>
                <a:cs typeface="Calibri" panose="020F0502020204030204" pitchFamily="34" charset="0"/>
              </a:rPr>
              <a:t>schema.sql</a:t>
            </a:r>
            <a:r>
              <a:rPr lang="en-US" sz="1800" b="1" dirty="0">
                <a:latin typeface="Calibri" panose="020F0502020204030204" pitchFamily="34" charset="0"/>
                <a:ea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7E58B9EA-5E90-9B12-BBC1-4510D1C1CD21}"/>
              </a:ext>
            </a:extLst>
          </p:cNvPr>
          <p:cNvPicPr>
            <a:picLocks noChangeAspect="1"/>
          </p:cNvPicPr>
          <p:nvPr/>
        </p:nvPicPr>
        <p:blipFill>
          <a:blip r:embed="rId4"/>
          <a:stretch>
            <a:fillRect/>
          </a:stretch>
        </p:blipFill>
        <p:spPr>
          <a:xfrm>
            <a:off x="792479" y="2576133"/>
            <a:ext cx="5334744" cy="1810003"/>
          </a:xfrm>
          <a:prstGeom prst="rect">
            <a:avLst/>
          </a:prstGeom>
        </p:spPr>
      </p:pic>
      <p:sp>
        <p:nvSpPr>
          <p:cNvPr id="3" name="Footer Placeholder 2">
            <a:extLst>
              <a:ext uri="{FF2B5EF4-FFF2-40B4-BE49-F238E27FC236}">
                <a16:creationId xmlns:a16="http://schemas.microsoft.com/office/drawing/2014/main" id="{20DACF27-523B-AC59-7B8E-A8B2BC52AFAA}"/>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A3C664CD-7FAA-E118-24AC-3216573C06C2}"/>
              </a:ext>
            </a:extLst>
          </p:cNvPr>
          <p:cNvSpPr>
            <a:spLocks noGrp="1"/>
          </p:cNvSpPr>
          <p:nvPr>
            <p:ph type="sldNum" sz="quarter" idx="12"/>
          </p:nvPr>
        </p:nvSpPr>
        <p:spPr/>
        <p:txBody>
          <a:bodyPr/>
          <a:lstStyle/>
          <a:p>
            <a:fld id="{FACB5482-D393-4E2D-8FB7-B68A06B80F1E}" type="slidenum">
              <a:rPr lang="en-IN" smtClean="0"/>
              <a:t>48</a:t>
            </a:fld>
            <a:endParaRPr lang="en-IN"/>
          </a:p>
        </p:txBody>
      </p:sp>
    </p:spTree>
    <p:extLst>
      <p:ext uri="{BB962C8B-B14F-4D97-AF65-F5344CB8AC3E}">
        <p14:creationId xmlns:p14="http://schemas.microsoft.com/office/powerpoint/2010/main" val="22215930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2031285"/>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This SQL script creates a table called </a:t>
            </a:r>
            <a:r>
              <a:rPr lang="en-US" sz="1800" dirty="0">
                <a:latin typeface="Batang" panose="02030600000101010101" pitchFamily="18" charset="-127"/>
                <a:ea typeface="Batang" panose="02030600000101010101" pitchFamily="18" charset="-127"/>
                <a:cs typeface="Calibri" panose="020F0502020204030204" pitchFamily="34" charset="0"/>
              </a:rPr>
              <a:t>entries</a:t>
            </a:r>
            <a:r>
              <a:rPr lang="en-US" sz="1800" dirty="0">
                <a:latin typeface="Calibri" panose="020F0502020204030204" pitchFamily="34" charset="0"/>
                <a:ea typeface="Calibri" panose="020F0502020204030204" pitchFamily="34" charset="0"/>
                <a:cs typeface="Calibri" panose="020F0502020204030204" pitchFamily="34" charset="0"/>
              </a:rPr>
              <a:t> with three columns: </a:t>
            </a:r>
            <a:r>
              <a:rPr lang="en-US" sz="1800" dirty="0">
                <a:latin typeface="Batang" panose="02030600000101010101" pitchFamily="18" charset="-127"/>
                <a:ea typeface="Batang" panose="02030600000101010101" pitchFamily="18" charset="-127"/>
                <a:cs typeface="Calibri" panose="020F0502020204030204" pitchFamily="34" charset="0"/>
              </a:rPr>
              <a:t>id, title, and text</a:t>
            </a:r>
            <a:r>
              <a:rPr lang="en-US" sz="1800" dirty="0">
                <a:latin typeface="Calibri" panose="020F0502020204030204" pitchFamily="34" charset="0"/>
                <a:ea typeface="Calibri" panose="020F0502020204030204" pitchFamily="34" charset="0"/>
                <a:cs typeface="Calibri" panose="020F0502020204030204" pitchFamily="34" charset="0"/>
              </a:rPr>
              <a:t>. </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The </a:t>
            </a:r>
            <a:r>
              <a:rPr lang="en-US" sz="1800" dirty="0">
                <a:latin typeface="Batang" panose="02030600000101010101" pitchFamily="18" charset="-127"/>
                <a:ea typeface="Batang" panose="02030600000101010101" pitchFamily="18" charset="-127"/>
                <a:cs typeface="Calibri" panose="020F0502020204030204" pitchFamily="34" charset="0"/>
              </a:rPr>
              <a:t>id</a:t>
            </a:r>
            <a:r>
              <a:rPr lang="en-US" sz="1800" dirty="0">
                <a:latin typeface="Calibri" panose="020F0502020204030204" pitchFamily="34" charset="0"/>
                <a:ea typeface="Calibri" panose="020F0502020204030204" pitchFamily="34" charset="0"/>
                <a:cs typeface="Calibri" panose="020F0502020204030204" pitchFamily="34" charset="0"/>
              </a:rPr>
              <a:t> column is the primary key and is set to auto-increment, ensuring each entry has a unique identifier.</a:t>
            </a:r>
          </a:p>
          <a:p>
            <a:pPr marR="0" lvl="0" algn="just" rtl="0">
              <a:lnSpc>
                <a:spcPct val="200000"/>
              </a:lnSpc>
              <a:spcBef>
                <a:spcPts val="0"/>
              </a:spcBef>
              <a:spcAft>
                <a:spcPts val="0"/>
              </a:spcAft>
              <a:buClr>
                <a:srgbClr val="262626"/>
              </a:buClr>
              <a:buSzPts val="1800"/>
            </a:pPr>
            <a:endParaRPr lang="en-US" sz="1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5D959CDA-C9C1-0E91-B12E-60F337E7679C}"/>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F8B17E7-C4AD-D995-BED4-D405F7619093}"/>
              </a:ext>
            </a:extLst>
          </p:cNvPr>
          <p:cNvSpPr>
            <a:spLocks noGrp="1"/>
          </p:cNvSpPr>
          <p:nvPr>
            <p:ph type="sldNum" sz="quarter" idx="12"/>
          </p:nvPr>
        </p:nvSpPr>
        <p:spPr/>
        <p:txBody>
          <a:bodyPr/>
          <a:lstStyle/>
          <a:p>
            <a:fld id="{FACB5482-D393-4E2D-8FB7-B68A06B80F1E}" type="slidenum">
              <a:rPr lang="en-IN" smtClean="0"/>
              <a:t>49</a:t>
            </a:fld>
            <a:endParaRPr lang="en-IN"/>
          </a:p>
        </p:txBody>
      </p:sp>
    </p:spTree>
    <p:extLst>
      <p:ext uri="{BB962C8B-B14F-4D97-AF65-F5344CB8AC3E}">
        <p14:creationId xmlns:p14="http://schemas.microsoft.com/office/powerpoint/2010/main" val="2180364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8. Initialize the database – “init_db.py”</a:t>
            </a:r>
          </a:p>
        </p:txBody>
      </p:sp>
      <p:pic>
        <p:nvPicPr>
          <p:cNvPr id="5" name="Picture 4">
            <a:extLst>
              <a:ext uri="{FF2B5EF4-FFF2-40B4-BE49-F238E27FC236}">
                <a16:creationId xmlns:a16="http://schemas.microsoft.com/office/drawing/2014/main" id="{BED75EAC-9F06-C79A-B42D-4A217F4C11B4}"/>
              </a:ext>
            </a:extLst>
          </p:cNvPr>
          <p:cNvPicPr>
            <a:picLocks noChangeAspect="1"/>
          </p:cNvPicPr>
          <p:nvPr/>
        </p:nvPicPr>
        <p:blipFill>
          <a:blip r:embed="rId4"/>
          <a:stretch>
            <a:fillRect/>
          </a:stretch>
        </p:blipFill>
        <p:spPr>
          <a:xfrm>
            <a:off x="822959" y="2338276"/>
            <a:ext cx="7482548" cy="4343212"/>
          </a:xfrm>
          <a:prstGeom prst="rect">
            <a:avLst/>
          </a:prstGeom>
        </p:spPr>
      </p:pic>
      <p:sp>
        <p:nvSpPr>
          <p:cNvPr id="3" name="Footer Placeholder 2">
            <a:extLst>
              <a:ext uri="{FF2B5EF4-FFF2-40B4-BE49-F238E27FC236}">
                <a16:creationId xmlns:a16="http://schemas.microsoft.com/office/drawing/2014/main" id="{6EC271B9-7259-0D26-D013-89BA6B93740D}"/>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B787372D-7FDB-58CE-4D56-DC400CCB030D}"/>
              </a:ext>
            </a:extLst>
          </p:cNvPr>
          <p:cNvSpPr>
            <a:spLocks noGrp="1"/>
          </p:cNvSpPr>
          <p:nvPr>
            <p:ph type="sldNum" sz="quarter" idx="12"/>
          </p:nvPr>
        </p:nvSpPr>
        <p:spPr/>
        <p:txBody>
          <a:bodyPr/>
          <a:lstStyle/>
          <a:p>
            <a:fld id="{FACB5482-D393-4E2D-8FB7-B68A06B80F1E}" type="slidenum">
              <a:rPr lang="en-IN" smtClean="0"/>
              <a:t>50</a:t>
            </a:fld>
            <a:endParaRPr lang="en-IN"/>
          </a:p>
        </p:txBody>
      </p:sp>
    </p:spTree>
    <p:extLst>
      <p:ext uri="{BB962C8B-B14F-4D97-AF65-F5344CB8AC3E}">
        <p14:creationId xmlns:p14="http://schemas.microsoft.com/office/powerpoint/2010/main" val="3697400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Batang" panose="02030600000101010101" pitchFamily="18" charset="-127"/>
                <a:ea typeface="Batang" panose="02030600000101010101" pitchFamily="18" charset="-127"/>
                <a:cs typeface="Calibri" panose="020F0502020204030204" pitchFamily="34" charset="0"/>
              </a:rPr>
              <a:t>config</a:t>
            </a:r>
            <a:r>
              <a:rPr lang="en-US" sz="1800" dirty="0">
                <a:latin typeface="Calibri" panose="020F0502020204030204" pitchFamily="34" charset="0"/>
                <a:ea typeface="Calibri" panose="020F0502020204030204" pitchFamily="34" charset="0"/>
                <a:cs typeface="Calibri" panose="020F0502020204030204" pitchFamily="34" charset="0"/>
              </a:rPr>
              <a:t>: The configuration class from config.py where the database file location is specified.</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Connects to the SQLite database using the file path specified in the </a:t>
            </a:r>
            <a:r>
              <a:rPr lang="en-US" sz="1800" dirty="0">
                <a:latin typeface="Batang" panose="02030600000101010101" pitchFamily="18" charset="-127"/>
                <a:ea typeface="Batang" panose="02030600000101010101" pitchFamily="18" charset="-127"/>
                <a:cs typeface="Calibri" panose="020F0502020204030204" pitchFamily="34" charset="0"/>
              </a:rPr>
              <a:t>Config</a:t>
            </a:r>
            <a:r>
              <a:rPr lang="en-US" sz="1800" dirty="0">
                <a:latin typeface="Calibri" panose="020F0502020204030204" pitchFamily="34" charset="0"/>
                <a:ea typeface="Calibri" panose="020F0502020204030204" pitchFamily="34" charset="0"/>
                <a:cs typeface="Calibri" panose="020F0502020204030204" pitchFamily="34" charset="0"/>
              </a:rPr>
              <a:t> class.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Opens the </a:t>
            </a:r>
            <a:r>
              <a:rPr lang="en-US" sz="1800" dirty="0" err="1">
                <a:latin typeface="Batang" panose="02030600000101010101" pitchFamily="18" charset="-127"/>
                <a:ea typeface="Batang" panose="02030600000101010101" pitchFamily="18" charset="-127"/>
                <a:cs typeface="Calibri" panose="020F0502020204030204" pitchFamily="34" charset="0"/>
              </a:rPr>
              <a:t>schema.sql</a:t>
            </a:r>
            <a:r>
              <a:rPr lang="en-US" sz="1800" dirty="0">
                <a:latin typeface="Batang" panose="02030600000101010101" pitchFamily="18" charset="-127"/>
                <a:ea typeface="Batang" panose="02030600000101010101" pitchFamily="18" charset="-127"/>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file, which contains SQL commands to create the necessary tables.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Executes the SQL commands to create the tables in the database.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Calls the </a:t>
            </a:r>
            <a:r>
              <a:rPr lang="en-US" sz="1800" dirty="0" err="1">
                <a:latin typeface="Batang" panose="02030600000101010101" pitchFamily="18" charset="-127"/>
                <a:ea typeface="Batang" panose="02030600000101010101" pitchFamily="18" charset="-127"/>
                <a:cs typeface="Calibri" panose="020F0502020204030204" pitchFamily="34" charset="0"/>
              </a:rPr>
              <a:t>init_db</a:t>
            </a:r>
            <a:r>
              <a:rPr lang="en-US" sz="1800" dirty="0">
                <a:latin typeface="Batang" panose="02030600000101010101" pitchFamily="18" charset="-127"/>
                <a:ea typeface="Batang" panose="02030600000101010101" pitchFamily="18" charset="-127"/>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function to initialize the database.</a:t>
            </a:r>
          </a:p>
        </p:txBody>
      </p:sp>
      <p:sp>
        <p:nvSpPr>
          <p:cNvPr id="3" name="Footer Placeholder 2">
            <a:extLst>
              <a:ext uri="{FF2B5EF4-FFF2-40B4-BE49-F238E27FC236}">
                <a16:creationId xmlns:a16="http://schemas.microsoft.com/office/drawing/2014/main" id="{451F98B1-05E8-1497-C8AF-FD7C3E43C1E6}"/>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A41D097-3D82-4690-53BB-D21716DD5E12}"/>
              </a:ext>
            </a:extLst>
          </p:cNvPr>
          <p:cNvSpPr>
            <a:spLocks noGrp="1"/>
          </p:cNvSpPr>
          <p:nvPr>
            <p:ph type="sldNum" sz="quarter" idx="12"/>
          </p:nvPr>
        </p:nvSpPr>
        <p:spPr/>
        <p:txBody>
          <a:bodyPr/>
          <a:lstStyle/>
          <a:p>
            <a:fld id="{FACB5482-D393-4E2D-8FB7-B68A06B80F1E}" type="slidenum">
              <a:rPr lang="en-IN" smtClean="0"/>
              <a:t>51</a:t>
            </a:fld>
            <a:endParaRPr lang="en-IN"/>
          </a:p>
        </p:txBody>
      </p:sp>
    </p:spTree>
    <p:extLst>
      <p:ext uri="{BB962C8B-B14F-4D97-AF65-F5344CB8AC3E}">
        <p14:creationId xmlns:p14="http://schemas.microsoft.com/office/powerpoint/2010/main" val="9426462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9. Create the html file to display data – “/templates/index.html”</a:t>
            </a:r>
          </a:p>
        </p:txBody>
      </p:sp>
      <p:pic>
        <p:nvPicPr>
          <p:cNvPr id="4" name="Picture 3">
            <a:extLst>
              <a:ext uri="{FF2B5EF4-FFF2-40B4-BE49-F238E27FC236}">
                <a16:creationId xmlns:a16="http://schemas.microsoft.com/office/drawing/2014/main" id="{6A2ED2F8-2ECD-99BB-57A4-38B7D8754B74}"/>
              </a:ext>
            </a:extLst>
          </p:cNvPr>
          <p:cNvPicPr>
            <a:picLocks noChangeAspect="1"/>
          </p:cNvPicPr>
          <p:nvPr/>
        </p:nvPicPr>
        <p:blipFill>
          <a:blip r:embed="rId4"/>
          <a:stretch>
            <a:fillRect/>
          </a:stretch>
        </p:blipFill>
        <p:spPr>
          <a:xfrm>
            <a:off x="822959" y="2457203"/>
            <a:ext cx="7714218" cy="4224283"/>
          </a:xfrm>
          <a:prstGeom prst="rect">
            <a:avLst/>
          </a:prstGeom>
        </p:spPr>
      </p:pic>
      <p:sp>
        <p:nvSpPr>
          <p:cNvPr id="3" name="Footer Placeholder 2">
            <a:extLst>
              <a:ext uri="{FF2B5EF4-FFF2-40B4-BE49-F238E27FC236}">
                <a16:creationId xmlns:a16="http://schemas.microsoft.com/office/drawing/2014/main" id="{61927073-E1F0-10B9-BC9B-72C7B7A105FC}"/>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2384AEEF-DEFD-4ED3-F6E3-F58112F3842E}"/>
              </a:ext>
            </a:extLst>
          </p:cNvPr>
          <p:cNvSpPr>
            <a:spLocks noGrp="1"/>
          </p:cNvSpPr>
          <p:nvPr>
            <p:ph type="sldNum" sz="quarter" idx="12"/>
          </p:nvPr>
        </p:nvSpPr>
        <p:spPr/>
        <p:txBody>
          <a:bodyPr/>
          <a:lstStyle/>
          <a:p>
            <a:fld id="{FACB5482-D393-4E2D-8FB7-B68A06B80F1E}" type="slidenum">
              <a:rPr lang="en-IN" smtClean="0"/>
              <a:t>52</a:t>
            </a:fld>
            <a:endParaRPr lang="en-IN"/>
          </a:p>
        </p:txBody>
      </p:sp>
    </p:spTree>
    <p:extLst>
      <p:ext uri="{BB962C8B-B14F-4D97-AF65-F5344CB8AC3E}">
        <p14:creationId xmlns:p14="http://schemas.microsoft.com/office/powerpoint/2010/main" val="3723955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How to initialize and configure a simple SQLite database</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Flask application using SQLite DB</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019544" cy="646290"/>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10. Run the application</a:t>
            </a:r>
          </a:p>
        </p:txBody>
      </p:sp>
      <p:sp>
        <p:nvSpPr>
          <p:cNvPr id="5" name="TextBox 4">
            <a:extLst>
              <a:ext uri="{FF2B5EF4-FFF2-40B4-BE49-F238E27FC236}">
                <a16:creationId xmlns:a16="http://schemas.microsoft.com/office/drawing/2014/main" id="{C973C596-B695-3040-F0E2-CFE811B5FF1F}"/>
              </a:ext>
            </a:extLst>
          </p:cNvPr>
          <p:cNvSpPr txBox="1"/>
          <p:nvPr/>
        </p:nvSpPr>
        <p:spPr>
          <a:xfrm>
            <a:off x="944880" y="2576133"/>
            <a:ext cx="10312400" cy="3317062"/>
          </a:xfrm>
          <a:prstGeom prst="rect">
            <a:avLst/>
          </a:prstGeom>
          <a:noFill/>
        </p:spPr>
        <p:txBody>
          <a:bodyPr wrap="square">
            <a:spAutoFit/>
          </a:bodyPr>
          <a:lstStyle/>
          <a:p>
            <a:pPr marL="285750" indent="-285750">
              <a:lnSpc>
                <a:spcPct val="200000"/>
              </a:lnSpc>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Initialize the database:</a:t>
            </a:r>
          </a:p>
          <a:p>
            <a:pPr>
              <a:lnSpc>
                <a:spcPct val="200000"/>
              </a:lnSpc>
            </a:pPr>
            <a:r>
              <a:rPr lang="en-IN" sz="1800" dirty="0">
                <a:latin typeface="Calibri" panose="020F0502020204030204" pitchFamily="34" charset="0"/>
                <a:ea typeface="Calibri" panose="020F0502020204030204" pitchFamily="34" charset="0"/>
                <a:cs typeface="Calibri" panose="020F0502020204030204" pitchFamily="34" charset="0"/>
              </a:rPr>
              <a:t>	</a:t>
            </a:r>
            <a:r>
              <a:rPr lang="en-IN" sz="1800" dirty="0">
                <a:latin typeface="Batang" panose="02030600000101010101" pitchFamily="18" charset="-127"/>
                <a:ea typeface="Batang" panose="02030600000101010101" pitchFamily="18" charset="-127"/>
                <a:cs typeface="Calibri" panose="020F0502020204030204" pitchFamily="34" charset="0"/>
              </a:rPr>
              <a:t>python init_db.py</a:t>
            </a:r>
          </a:p>
          <a:p>
            <a:pPr marL="285750" indent="-285750">
              <a:lnSpc>
                <a:spcPct val="200000"/>
              </a:lnSpc>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Run the Flask application</a:t>
            </a:r>
          </a:p>
          <a:p>
            <a:pPr>
              <a:lnSpc>
                <a:spcPct val="200000"/>
              </a:lnSpc>
            </a:pPr>
            <a:r>
              <a:rPr lang="en-IN" sz="1800" dirty="0">
                <a:latin typeface="Batang" panose="02030600000101010101" pitchFamily="18" charset="-127"/>
                <a:ea typeface="Batang" panose="02030600000101010101" pitchFamily="18" charset="-127"/>
                <a:cs typeface="Calibri" panose="020F0502020204030204" pitchFamily="34" charset="0"/>
              </a:rPr>
              <a:t>	 python app.py</a:t>
            </a:r>
          </a:p>
          <a:p>
            <a:pPr>
              <a:lnSpc>
                <a:spcPct val="200000"/>
              </a:lnSpc>
            </a:pPr>
            <a:endParaRPr lang="en-IN" sz="1800" dirty="0">
              <a:latin typeface="Batang" panose="02030600000101010101" pitchFamily="18" charset="-127"/>
              <a:ea typeface="Batang" panose="02030600000101010101" pitchFamily="18" charset="-127"/>
              <a:cs typeface="Calibri" panose="020F0502020204030204" pitchFamily="34" charset="0"/>
            </a:endParaRPr>
          </a:p>
          <a:p>
            <a:pPr>
              <a:lnSpc>
                <a:spcPct val="200000"/>
              </a:lnSpc>
            </a:pPr>
            <a:r>
              <a:rPr lang="en-IN" sz="1800" dirty="0">
                <a:latin typeface="Batang" panose="02030600000101010101" pitchFamily="18" charset="-127"/>
                <a:ea typeface="Batang" panose="02030600000101010101" pitchFamily="18" charset="-127"/>
                <a:cs typeface="Calibri" panose="020F0502020204030204" pitchFamily="34" charset="0"/>
              </a:rPr>
              <a:t>This will app will create a “</a:t>
            </a:r>
            <a:r>
              <a:rPr lang="en-IN" sz="1800" dirty="0" err="1">
                <a:latin typeface="Batang" panose="02030600000101010101" pitchFamily="18" charset="-127"/>
                <a:ea typeface="Batang" panose="02030600000101010101" pitchFamily="18" charset="-127"/>
                <a:cs typeface="Calibri" panose="020F0502020204030204" pitchFamily="34" charset="0"/>
              </a:rPr>
              <a:t>database.db</a:t>
            </a:r>
            <a:r>
              <a:rPr lang="en-IN" sz="1800" dirty="0">
                <a:latin typeface="Batang" panose="02030600000101010101" pitchFamily="18" charset="-127"/>
                <a:ea typeface="Batang" panose="02030600000101010101" pitchFamily="18" charset="-127"/>
                <a:cs typeface="Calibri" panose="020F0502020204030204" pitchFamily="34" charset="0"/>
              </a:rPr>
              <a:t>” and “entries” table without data.</a:t>
            </a:r>
          </a:p>
        </p:txBody>
      </p:sp>
      <p:sp>
        <p:nvSpPr>
          <p:cNvPr id="3" name="Footer Placeholder 2">
            <a:extLst>
              <a:ext uri="{FF2B5EF4-FFF2-40B4-BE49-F238E27FC236}">
                <a16:creationId xmlns:a16="http://schemas.microsoft.com/office/drawing/2014/main" id="{6CB83316-AD5E-4C30-8FD3-47BF5BFBBDC4}"/>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4548CE70-BC7B-319D-DF62-ECAC7727E3EF}"/>
              </a:ext>
            </a:extLst>
          </p:cNvPr>
          <p:cNvSpPr>
            <a:spLocks noGrp="1"/>
          </p:cNvSpPr>
          <p:nvPr>
            <p:ph type="sldNum" sz="quarter" idx="12"/>
          </p:nvPr>
        </p:nvSpPr>
        <p:spPr/>
        <p:txBody>
          <a:bodyPr/>
          <a:lstStyle/>
          <a:p>
            <a:fld id="{FACB5482-D393-4E2D-8FB7-B68A06B80F1E}" type="slidenum">
              <a:rPr lang="en-IN" smtClean="0"/>
              <a:t>53</a:t>
            </a:fld>
            <a:endParaRPr lang="en-IN"/>
          </a:p>
        </p:txBody>
      </p:sp>
    </p:spTree>
    <p:extLst>
      <p:ext uri="{BB962C8B-B14F-4D97-AF65-F5344CB8AC3E}">
        <p14:creationId xmlns:p14="http://schemas.microsoft.com/office/powerpoint/2010/main" val="19283631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1061789"/>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Insert data into SQLite DB</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800" dirty="0">
                <a:latin typeface="Calibri" panose="020F0502020204030204" pitchFamily="34" charset="0"/>
                <a:ea typeface="Calibri" panose="020F0502020204030204" pitchFamily="34" charset="0"/>
                <a:cs typeface="Calibri" panose="020F0502020204030204" pitchFamily="34" charset="0"/>
              </a:rPr>
              <a:t>Extend the previous example by allowing user to insert the data into “entries” table of SQLite database.</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management with Flask SQLAlchemy</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46F3A8EC-1A9D-98CE-991C-9076B6CD5A20}"/>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8E47A637-99D8-59C8-5C91-C67BC6B58D7D}"/>
              </a:ext>
            </a:extLst>
          </p:cNvPr>
          <p:cNvSpPr>
            <a:spLocks noGrp="1"/>
          </p:cNvSpPr>
          <p:nvPr>
            <p:ph type="sldNum" sz="quarter" idx="12"/>
          </p:nvPr>
        </p:nvSpPr>
        <p:spPr/>
        <p:txBody>
          <a:bodyPr/>
          <a:lstStyle/>
          <a:p>
            <a:fld id="{FACB5482-D393-4E2D-8FB7-B68A06B80F1E}" type="slidenum">
              <a:rPr lang="en-IN" smtClean="0"/>
              <a:t>54</a:t>
            </a:fld>
            <a:endParaRPr lang="en-IN"/>
          </a:p>
        </p:txBody>
      </p:sp>
    </p:spTree>
    <p:extLst>
      <p:ext uri="{BB962C8B-B14F-4D97-AF65-F5344CB8AC3E}">
        <p14:creationId xmlns:p14="http://schemas.microsoft.com/office/powerpoint/2010/main" val="17221896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087C062-5C6B-F51E-BD4E-019C36FD6EED}"/>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6CBCC430-87B8-E624-554E-EEA845FC4745}"/>
              </a:ext>
            </a:extLst>
          </p:cNvPr>
          <p:cNvSpPr>
            <a:spLocks noGrp="1"/>
          </p:cNvSpPr>
          <p:nvPr>
            <p:ph type="sldNum" sz="quarter" idx="12"/>
          </p:nvPr>
        </p:nvSpPr>
        <p:spPr/>
        <p:txBody>
          <a:bodyPr/>
          <a:lstStyle/>
          <a:p>
            <a:fld id="{FACB5482-D393-4E2D-8FB7-B68A06B80F1E}" type="slidenum">
              <a:rPr lang="en-IN" smtClean="0"/>
              <a:t>55</a:t>
            </a:fld>
            <a:endParaRPr lang="en-IN"/>
          </a:p>
        </p:txBody>
      </p:sp>
      <p:sp>
        <p:nvSpPr>
          <p:cNvPr id="6" name="Google Shape;126;p4">
            <a:extLst>
              <a:ext uri="{FF2B5EF4-FFF2-40B4-BE49-F238E27FC236}">
                <a16:creationId xmlns:a16="http://schemas.microsoft.com/office/drawing/2014/main" id="{05D8261C-FC1C-32EE-319D-003D681485B0}"/>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3"/>
            </a:pPr>
            <a:r>
              <a:rPr lang="en-US" sz="4000">
                <a:solidFill>
                  <a:srgbClr val="000000"/>
                </a:solidFill>
                <a:latin typeface="Calibri"/>
                <a:ea typeface="Calibri"/>
                <a:cs typeface="Calibri"/>
                <a:sym typeface="Calibri"/>
              </a:rPr>
              <a:t>Most Common SQLAlchemy Column Types</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5079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Most common SQLAlchemy column </a:t>
            </a:r>
            <a:r>
              <a:rPr lang="en-US" sz="2800" dirty="0">
                <a:latin typeface="Calibri"/>
                <a:ea typeface="Calibri"/>
                <a:cs typeface="Calibri"/>
                <a:sym typeface="Calibri"/>
              </a:rPr>
              <a:t>t</a:t>
            </a:r>
            <a:r>
              <a:rPr lang="en-US" sz="2800" dirty="0">
                <a:solidFill>
                  <a:srgbClr val="000000"/>
                </a:solidFill>
                <a:latin typeface="Calibri"/>
                <a:ea typeface="Calibri"/>
                <a:cs typeface="Calibri"/>
                <a:sym typeface="Calibri"/>
              </a:rPr>
              <a:t>ypes</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Column types</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615808"/>
            <a:ext cx="11019544" cy="5078273"/>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db.Integer</a:t>
            </a:r>
            <a:r>
              <a:rPr lang="en-US" sz="1800" dirty="0">
                <a:latin typeface="Calibri" panose="020F0502020204030204" pitchFamily="34" charset="0"/>
                <a:ea typeface="Calibri" panose="020F0502020204030204" pitchFamily="34" charset="0"/>
                <a:cs typeface="Calibri" panose="020F0502020204030204" pitchFamily="34" charset="0"/>
              </a:rPr>
              <a:t>: Stores integer values.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db.String</a:t>
            </a:r>
            <a:r>
              <a:rPr lang="en-US" sz="1800" dirty="0">
                <a:latin typeface="Calibri" panose="020F0502020204030204" pitchFamily="34" charset="0"/>
                <a:ea typeface="Calibri" panose="020F0502020204030204" pitchFamily="34" charset="0"/>
                <a:cs typeface="Calibri" panose="020F0502020204030204" pitchFamily="34" charset="0"/>
              </a:rPr>
              <a:t>: Stores string values with a maximum length.</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db.Float</a:t>
            </a:r>
            <a:r>
              <a:rPr lang="en-US" sz="1800" dirty="0">
                <a:latin typeface="Calibri" panose="020F0502020204030204" pitchFamily="34" charset="0"/>
                <a:ea typeface="Calibri" panose="020F0502020204030204" pitchFamily="34" charset="0"/>
                <a:cs typeface="Calibri" panose="020F0502020204030204" pitchFamily="34" charset="0"/>
              </a:rPr>
              <a:t>: Stores floating-point values.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db.Boolean</a:t>
            </a:r>
            <a:r>
              <a:rPr lang="en-US" sz="1800" dirty="0">
                <a:latin typeface="Calibri" panose="020F0502020204030204" pitchFamily="34" charset="0"/>
                <a:ea typeface="Calibri" panose="020F0502020204030204" pitchFamily="34" charset="0"/>
                <a:cs typeface="Calibri" panose="020F0502020204030204" pitchFamily="34" charset="0"/>
              </a:rPr>
              <a:t>: Stores True or False values.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db.DateTime</a:t>
            </a:r>
            <a:r>
              <a:rPr lang="en-US" sz="1800" dirty="0">
                <a:latin typeface="Calibri" panose="020F0502020204030204" pitchFamily="34" charset="0"/>
                <a:ea typeface="Calibri" panose="020F0502020204030204" pitchFamily="34" charset="0"/>
                <a:cs typeface="Calibri" panose="020F0502020204030204" pitchFamily="34" charset="0"/>
              </a:rPr>
              <a:t>: Stores date and time values.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db.Text</a:t>
            </a:r>
            <a:r>
              <a:rPr lang="en-US" sz="1800" dirty="0">
                <a:latin typeface="Calibri" panose="020F0502020204030204" pitchFamily="34" charset="0"/>
                <a:ea typeface="Calibri" panose="020F0502020204030204" pitchFamily="34" charset="0"/>
                <a:cs typeface="Calibri" panose="020F0502020204030204" pitchFamily="34" charset="0"/>
              </a:rPr>
              <a:t>: Stores large text values.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db.Enum</a:t>
            </a:r>
            <a:r>
              <a:rPr lang="en-US" sz="1800" dirty="0">
                <a:latin typeface="Calibri" panose="020F0502020204030204" pitchFamily="34" charset="0"/>
                <a:ea typeface="Calibri" panose="020F0502020204030204" pitchFamily="34" charset="0"/>
                <a:cs typeface="Calibri" panose="020F0502020204030204" pitchFamily="34" charset="0"/>
              </a:rPr>
              <a:t>: Stores enumerated values, useful for predefined choices.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db.PickleType</a:t>
            </a:r>
            <a:r>
              <a:rPr lang="en-US" sz="1800" dirty="0">
                <a:latin typeface="Calibri" panose="020F0502020204030204" pitchFamily="34" charset="0"/>
                <a:ea typeface="Calibri" panose="020F0502020204030204" pitchFamily="34" charset="0"/>
                <a:cs typeface="Calibri" panose="020F0502020204030204" pitchFamily="34" charset="0"/>
              </a:rPr>
              <a:t>: column type (for storing Python objects)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b="1" dirty="0" err="1">
                <a:latin typeface="Calibri" panose="020F0502020204030204" pitchFamily="34" charset="0"/>
                <a:ea typeface="Calibri" panose="020F0502020204030204" pitchFamily="34" charset="0"/>
                <a:cs typeface="Calibri" panose="020F0502020204030204" pitchFamily="34" charset="0"/>
              </a:rPr>
              <a:t>db.LargeBinary</a:t>
            </a:r>
            <a:r>
              <a:rPr lang="en-US" sz="1800" dirty="0">
                <a:latin typeface="Calibri" panose="020F0502020204030204" pitchFamily="34" charset="0"/>
                <a:ea typeface="Calibri" panose="020F0502020204030204" pitchFamily="34" charset="0"/>
                <a:cs typeface="Calibri" panose="020F0502020204030204" pitchFamily="34" charset="0"/>
              </a:rPr>
              <a:t>: column type (for storing large binary data)</a:t>
            </a:r>
          </a:p>
        </p:txBody>
      </p:sp>
      <p:sp>
        <p:nvSpPr>
          <p:cNvPr id="3" name="Footer Placeholder 2">
            <a:extLst>
              <a:ext uri="{FF2B5EF4-FFF2-40B4-BE49-F238E27FC236}">
                <a16:creationId xmlns:a16="http://schemas.microsoft.com/office/drawing/2014/main" id="{A05151D4-8A8C-0246-5ACD-A16FFBFA6275}"/>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F28F279C-3CF4-FEF2-B7E5-E1D6731E75FE}"/>
              </a:ext>
            </a:extLst>
          </p:cNvPr>
          <p:cNvSpPr>
            <a:spLocks noGrp="1"/>
          </p:cNvSpPr>
          <p:nvPr>
            <p:ph type="sldNum" sz="quarter" idx="12"/>
          </p:nvPr>
        </p:nvSpPr>
        <p:spPr/>
        <p:txBody>
          <a:bodyPr/>
          <a:lstStyle/>
          <a:p>
            <a:fld id="{FACB5482-D393-4E2D-8FB7-B68A06B80F1E}" type="slidenum">
              <a:rPr lang="en-IN" smtClean="0"/>
              <a:t>56</a:t>
            </a:fld>
            <a:endParaRPr lang="en-IN"/>
          </a:p>
        </p:txBody>
      </p:sp>
    </p:spTree>
    <p:extLst>
      <p:ext uri="{BB962C8B-B14F-4D97-AF65-F5344CB8AC3E}">
        <p14:creationId xmlns:p14="http://schemas.microsoft.com/office/powerpoint/2010/main" val="13271151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Most common SQLAlchemy column </a:t>
            </a:r>
            <a:r>
              <a:rPr lang="en-US" sz="2800" dirty="0">
                <a:latin typeface="Calibri"/>
                <a:ea typeface="Calibri"/>
                <a:cs typeface="Calibri"/>
                <a:sym typeface="Calibri"/>
              </a:rPr>
              <a:t>t</a:t>
            </a:r>
            <a:r>
              <a:rPr lang="en-US" sz="2800" dirty="0">
                <a:solidFill>
                  <a:srgbClr val="000000"/>
                </a:solidFill>
                <a:latin typeface="Calibri"/>
                <a:ea typeface="Calibri"/>
                <a:cs typeface="Calibri"/>
                <a:sym typeface="Calibri"/>
              </a:rPr>
              <a:t>ypes</a:t>
            </a:r>
          </a:p>
        </p:txBody>
      </p:sp>
      <p:sp>
        <p:nvSpPr>
          <p:cNvPr id="132" name="Google Shape;132;p5"/>
          <p:cNvSpPr txBox="1"/>
          <p:nvPr/>
        </p:nvSpPr>
        <p:spPr>
          <a:xfrm>
            <a:off x="715256" y="1164624"/>
            <a:ext cx="10206744"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Define a model using common SQLAlchemy column types</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pic>
        <p:nvPicPr>
          <p:cNvPr id="4" name="Picture 3">
            <a:extLst>
              <a:ext uri="{FF2B5EF4-FFF2-40B4-BE49-F238E27FC236}">
                <a16:creationId xmlns:a16="http://schemas.microsoft.com/office/drawing/2014/main" id="{A02E7DAF-4DF6-8465-35C8-992598A8921B}"/>
              </a:ext>
            </a:extLst>
          </p:cNvPr>
          <p:cNvPicPr>
            <a:picLocks noChangeAspect="1"/>
          </p:cNvPicPr>
          <p:nvPr/>
        </p:nvPicPr>
        <p:blipFill rotWithShape="1">
          <a:blip r:embed="rId4"/>
          <a:srcRect l="5758" t="6554"/>
          <a:stretch/>
        </p:blipFill>
        <p:spPr>
          <a:xfrm>
            <a:off x="822958" y="1810914"/>
            <a:ext cx="7327909" cy="4945486"/>
          </a:xfrm>
          <a:prstGeom prst="rect">
            <a:avLst/>
          </a:prstGeom>
        </p:spPr>
      </p:pic>
      <p:sp>
        <p:nvSpPr>
          <p:cNvPr id="2" name="Footer Placeholder 1">
            <a:extLst>
              <a:ext uri="{FF2B5EF4-FFF2-40B4-BE49-F238E27FC236}">
                <a16:creationId xmlns:a16="http://schemas.microsoft.com/office/drawing/2014/main" id="{15158CD9-1AD2-243B-42CE-AD993FB0C98B}"/>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54BD1FCC-9261-52FB-BCB2-3CB4EA0B43EB}"/>
              </a:ext>
            </a:extLst>
          </p:cNvPr>
          <p:cNvSpPr>
            <a:spLocks noGrp="1"/>
          </p:cNvSpPr>
          <p:nvPr>
            <p:ph type="sldNum" sz="quarter" idx="12"/>
          </p:nvPr>
        </p:nvSpPr>
        <p:spPr/>
        <p:txBody>
          <a:bodyPr/>
          <a:lstStyle/>
          <a:p>
            <a:fld id="{FACB5482-D393-4E2D-8FB7-B68A06B80F1E}" type="slidenum">
              <a:rPr lang="en-IN" smtClean="0"/>
              <a:t>57</a:t>
            </a:fld>
            <a:endParaRPr lang="en-IN"/>
          </a:p>
        </p:txBody>
      </p:sp>
    </p:spTree>
    <p:extLst>
      <p:ext uri="{BB962C8B-B14F-4D97-AF65-F5344CB8AC3E}">
        <p14:creationId xmlns:p14="http://schemas.microsoft.com/office/powerpoint/2010/main" val="5958468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Most common SQLAlchemy column </a:t>
            </a:r>
            <a:r>
              <a:rPr lang="en-US" sz="2800" dirty="0">
                <a:latin typeface="Calibri"/>
                <a:ea typeface="Calibri"/>
                <a:cs typeface="Calibri"/>
                <a:sym typeface="Calibri"/>
              </a:rPr>
              <a:t>t</a:t>
            </a:r>
            <a:r>
              <a:rPr lang="en-US" sz="2800" dirty="0">
                <a:solidFill>
                  <a:srgbClr val="000000"/>
                </a:solidFill>
                <a:latin typeface="Calibri"/>
                <a:ea typeface="Calibri"/>
                <a:cs typeface="Calibri"/>
                <a:sym typeface="Calibri"/>
              </a:rPr>
              <a:t>ypes</a:t>
            </a:r>
          </a:p>
        </p:txBody>
      </p:sp>
      <p:sp>
        <p:nvSpPr>
          <p:cNvPr id="132" name="Google Shape;132;p5"/>
          <p:cNvSpPr txBox="1"/>
          <p:nvPr/>
        </p:nvSpPr>
        <p:spPr>
          <a:xfrm>
            <a:off x="715256" y="1164624"/>
            <a:ext cx="10206744"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Adding data using common SQLAlchemy column types</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pic>
        <p:nvPicPr>
          <p:cNvPr id="6" name="Picture 5">
            <a:extLst>
              <a:ext uri="{FF2B5EF4-FFF2-40B4-BE49-F238E27FC236}">
                <a16:creationId xmlns:a16="http://schemas.microsoft.com/office/drawing/2014/main" id="{36D64345-9AB8-A0C0-BC8C-906DEAEAF56F}"/>
              </a:ext>
            </a:extLst>
          </p:cNvPr>
          <p:cNvPicPr>
            <a:picLocks noChangeAspect="1"/>
          </p:cNvPicPr>
          <p:nvPr/>
        </p:nvPicPr>
        <p:blipFill>
          <a:blip r:embed="rId4"/>
          <a:stretch>
            <a:fillRect/>
          </a:stretch>
        </p:blipFill>
        <p:spPr>
          <a:xfrm>
            <a:off x="715256" y="1892371"/>
            <a:ext cx="4913384" cy="3874387"/>
          </a:xfrm>
          <a:prstGeom prst="rect">
            <a:avLst/>
          </a:prstGeom>
        </p:spPr>
      </p:pic>
      <p:sp>
        <p:nvSpPr>
          <p:cNvPr id="2" name="Footer Placeholder 1">
            <a:extLst>
              <a:ext uri="{FF2B5EF4-FFF2-40B4-BE49-F238E27FC236}">
                <a16:creationId xmlns:a16="http://schemas.microsoft.com/office/drawing/2014/main" id="{DD461E4A-FADF-1867-28AF-C043762A4173}"/>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399D4606-9DDF-875F-9D51-810CF5B9A445}"/>
              </a:ext>
            </a:extLst>
          </p:cNvPr>
          <p:cNvSpPr>
            <a:spLocks noGrp="1"/>
          </p:cNvSpPr>
          <p:nvPr>
            <p:ph type="sldNum" sz="quarter" idx="12"/>
          </p:nvPr>
        </p:nvSpPr>
        <p:spPr/>
        <p:txBody>
          <a:bodyPr/>
          <a:lstStyle/>
          <a:p>
            <a:fld id="{FACB5482-D393-4E2D-8FB7-B68A06B80F1E}" type="slidenum">
              <a:rPr lang="en-IN" smtClean="0"/>
              <a:t>58</a:t>
            </a:fld>
            <a:endParaRPr lang="en-IN"/>
          </a:p>
        </p:txBody>
      </p:sp>
    </p:spTree>
    <p:extLst>
      <p:ext uri="{BB962C8B-B14F-4D97-AF65-F5344CB8AC3E}">
        <p14:creationId xmlns:p14="http://schemas.microsoft.com/office/powerpoint/2010/main" val="29745800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Most common SQLAlchemy column </a:t>
            </a:r>
            <a:r>
              <a:rPr lang="en-US" sz="2800" dirty="0">
                <a:latin typeface="Calibri"/>
                <a:ea typeface="Calibri"/>
                <a:cs typeface="Calibri"/>
                <a:sym typeface="Calibri"/>
              </a:rPr>
              <a:t>t</a:t>
            </a:r>
            <a:r>
              <a:rPr lang="en-US" sz="2800" dirty="0">
                <a:solidFill>
                  <a:srgbClr val="000000"/>
                </a:solidFill>
                <a:latin typeface="Calibri"/>
                <a:ea typeface="Calibri"/>
                <a:cs typeface="Calibri"/>
                <a:sym typeface="Calibri"/>
              </a:rPr>
              <a:t>ypes</a:t>
            </a:r>
          </a:p>
        </p:txBody>
      </p:sp>
      <p:sp>
        <p:nvSpPr>
          <p:cNvPr id="132" name="Google Shape;132;p5"/>
          <p:cNvSpPr txBox="1"/>
          <p:nvPr/>
        </p:nvSpPr>
        <p:spPr>
          <a:xfrm>
            <a:off x="715256" y="1164624"/>
            <a:ext cx="10206744"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 Querying data using common SQLAlchemy column types</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pic>
        <p:nvPicPr>
          <p:cNvPr id="3" name="Picture 2">
            <a:extLst>
              <a:ext uri="{FF2B5EF4-FFF2-40B4-BE49-F238E27FC236}">
                <a16:creationId xmlns:a16="http://schemas.microsoft.com/office/drawing/2014/main" id="{24E204E7-147D-1C58-F7E4-A7D999E9F0A0}"/>
              </a:ext>
            </a:extLst>
          </p:cNvPr>
          <p:cNvPicPr>
            <a:picLocks noChangeAspect="1"/>
          </p:cNvPicPr>
          <p:nvPr/>
        </p:nvPicPr>
        <p:blipFill>
          <a:blip r:embed="rId4"/>
          <a:stretch>
            <a:fillRect/>
          </a:stretch>
        </p:blipFill>
        <p:spPr>
          <a:xfrm>
            <a:off x="715256" y="1929843"/>
            <a:ext cx="4582164" cy="4686954"/>
          </a:xfrm>
          <a:prstGeom prst="rect">
            <a:avLst/>
          </a:prstGeom>
        </p:spPr>
      </p:pic>
      <p:sp>
        <p:nvSpPr>
          <p:cNvPr id="2" name="Footer Placeholder 1">
            <a:extLst>
              <a:ext uri="{FF2B5EF4-FFF2-40B4-BE49-F238E27FC236}">
                <a16:creationId xmlns:a16="http://schemas.microsoft.com/office/drawing/2014/main" id="{B382BE1C-3128-7ABC-8873-578A7B3888CF}"/>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E2CEBE31-F0F0-5B75-D93D-6B1CE7705990}"/>
              </a:ext>
            </a:extLst>
          </p:cNvPr>
          <p:cNvSpPr>
            <a:spLocks noGrp="1"/>
          </p:cNvSpPr>
          <p:nvPr>
            <p:ph type="sldNum" sz="quarter" idx="12"/>
          </p:nvPr>
        </p:nvSpPr>
        <p:spPr/>
        <p:txBody>
          <a:bodyPr/>
          <a:lstStyle/>
          <a:p>
            <a:fld id="{FACB5482-D393-4E2D-8FB7-B68A06B80F1E}" type="slidenum">
              <a:rPr lang="en-IN" smtClean="0"/>
              <a:t>59</a:t>
            </a:fld>
            <a:endParaRPr lang="en-IN"/>
          </a:p>
        </p:txBody>
      </p:sp>
    </p:spTree>
    <p:extLst>
      <p:ext uri="{BB962C8B-B14F-4D97-AF65-F5344CB8AC3E}">
        <p14:creationId xmlns:p14="http://schemas.microsoft.com/office/powerpoint/2010/main" val="5948104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4462720"/>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Building a Library Management System</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Background</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will practice using different SQLAlchemy column types by building a simplified library management system. The goal is to define models for authors, books, and loans, incorporating various SQLAlchemy column types</a:t>
            </a:r>
          </a:p>
          <a:p>
            <a:pPr algn="just">
              <a:lnSpc>
                <a:spcPct val="150000"/>
              </a:lnSpc>
              <a:buClr>
                <a:srgbClr val="262626"/>
              </a:buClr>
              <a:buSzPts val="1800"/>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Task</a:t>
            </a: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Author Model</a:t>
            </a:r>
          </a:p>
          <a:p>
            <a:pPr marL="285750" indent="-285750" algn="just">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id: Integer, primary key.</a:t>
            </a:r>
          </a:p>
          <a:p>
            <a:pPr marL="285750" indent="-285750" algn="just">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name: String, unique, not nullable.</a:t>
            </a:r>
          </a:p>
          <a:p>
            <a:pPr marL="285750" indent="-285750" algn="just">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email: String, unique, nullable.</a:t>
            </a:r>
          </a:p>
          <a:p>
            <a:pPr marL="285750" indent="-285750" algn="just">
              <a:buClr>
                <a:srgbClr val="262626"/>
              </a:buClr>
              <a:buSzPts val="1800"/>
              <a:buFont typeface="Wingdings" panose="05000000000000000000" pitchFamily="2" charset="2"/>
              <a:buChar char="§"/>
            </a:pPr>
            <a:r>
              <a:rPr lang="en-US" sz="1600" dirty="0" err="1">
                <a:latin typeface="Calibri" panose="020F0502020204030204" pitchFamily="34" charset="0"/>
                <a:ea typeface="Calibri" panose="020F0502020204030204" pitchFamily="34" charset="0"/>
                <a:cs typeface="Calibri" panose="020F0502020204030204" pitchFamily="34" charset="0"/>
              </a:rPr>
              <a:t>date_of_birth</a:t>
            </a:r>
            <a:r>
              <a:rPr lang="en-US" sz="1600" dirty="0">
                <a:latin typeface="Calibri" panose="020F0502020204030204" pitchFamily="34" charset="0"/>
                <a:ea typeface="Calibri" panose="020F0502020204030204" pitchFamily="34" charset="0"/>
                <a:cs typeface="Calibri" panose="020F0502020204030204" pitchFamily="34" charset="0"/>
              </a:rPr>
              <a:t>: Date, not nullable.</a:t>
            </a:r>
          </a:p>
          <a:p>
            <a:pPr marL="285750" indent="-285750" algn="just">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bio: Text, nullable.</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Most common SQLAlchemy column types</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4" name="TextBox 3">
            <a:extLst>
              <a:ext uri="{FF2B5EF4-FFF2-40B4-BE49-F238E27FC236}">
                <a16:creationId xmlns:a16="http://schemas.microsoft.com/office/drawing/2014/main" id="{4A1DAE4C-797B-9214-849A-0C3D27147403}"/>
              </a:ext>
            </a:extLst>
          </p:cNvPr>
          <p:cNvSpPr txBox="1"/>
          <p:nvPr/>
        </p:nvSpPr>
        <p:spPr>
          <a:xfrm>
            <a:off x="3992880" y="4519477"/>
            <a:ext cx="6096000" cy="2062103"/>
          </a:xfrm>
          <a:prstGeom prst="rect">
            <a:avLst/>
          </a:prstGeom>
          <a:noFill/>
        </p:spPr>
        <p:txBody>
          <a:bodyPr wrap="square">
            <a:spAutoFit/>
          </a:bodyPr>
          <a:lstStyle/>
          <a:p>
            <a:r>
              <a:rPr lang="en-IN" sz="1600" b="1" dirty="0">
                <a:latin typeface="Calibri" panose="020F0502020204030204" pitchFamily="34" charset="0"/>
                <a:ea typeface="Calibri" panose="020F0502020204030204" pitchFamily="34" charset="0"/>
                <a:cs typeface="Calibri" panose="020F0502020204030204" pitchFamily="34" charset="0"/>
              </a:rPr>
              <a:t>Book Model</a:t>
            </a:r>
          </a:p>
          <a:p>
            <a:pPr marL="285750" indent="-285750">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id: Integer, primary key.</a:t>
            </a:r>
          </a:p>
          <a:p>
            <a:pPr marL="285750" indent="-285750">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title: String, not nullable.</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isbn</a:t>
            </a:r>
            <a:r>
              <a:rPr lang="en-IN" sz="1600" dirty="0">
                <a:latin typeface="Calibri" panose="020F0502020204030204" pitchFamily="34" charset="0"/>
                <a:ea typeface="Calibri" panose="020F0502020204030204" pitchFamily="34" charset="0"/>
                <a:cs typeface="Calibri" panose="020F0502020204030204" pitchFamily="34" charset="0"/>
              </a:rPr>
              <a:t>: String, unique, not nullable.</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publication_date</a:t>
            </a:r>
            <a:r>
              <a:rPr lang="en-IN" sz="1600" dirty="0">
                <a:latin typeface="Calibri" panose="020F0502020204030204" pitchFamily="34" charset="0"/>
                <a:ea typeface="Calibri" panose="020F0502020204030204" pitchFamily="34" charset="0"/>
                <a:cs typeface="Calibri" panose="020F0502020204030204" pitchFamily="34" charset="0"/>
              </a:rPr>
              <a:t>: Date, not nullable.</a:t>
            </a:r>
          </a:p>
          <a:p>
            <a:pPr marL="285750" indent="-285750">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pages: Integer, nullable.</a:t>
            </a:r>
          </a:p>
          <a:p>
            <a:pPr marL="285750" indent="-285750">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price: Float, nullable.</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author_id</a:t>
            </a:r>
            <a:r>
              <a:rPr lang="en-IN" sz="1600" dirty="0">
                <a:latin typeface="Calibri" panose="020F0502020204030204" pitchFamily="34" charset="0"/>
                <a:ea typeface="Calibri" panose="020F0502020204030204" pitchFamily="34" charset="0"/>
                <a:cs typeface="Calibri" panose="020F0502020204030204" pitchFamily="34" charset="0"/>
              </a:rPr>
              <a:t>: Integer, foreign key to Author.id.</a:t>
            </a:r>
          </a:p>
        </p:txBody>
      </p:sp>
      <p:sp>
        <p:nvSpPr>
          <p:cNvPr id="6" name="TextBox 5">
            <a:extLst>
              <a:ext uri="{FF2B5EF4-FFF2-40B4-BE49-F238E27FC236}">
                <a16:creationId xmlns:a16="http://schemas.microsoft.com/office/drawing/2014/main" id="{267FE036-9DFA-5A73-F952-A82B78D0F575}"/>
              </a:ext>
            </a:extLst>
          </p:cNvPr>
          <p:cNvSpPr txBox="1"/>
          <p:nvPr/>
        </p:nvSpPr>
        <p:spPr>
          <a:xfrm>
            <a:off x="8249920" y="4519477"/>
            <a:ext cx="6096000" cy="1815882"/>
          </a:xfrm>
          <a:prstGeom prst="rect">
            <a:avLst/>
          </a:prstGeom>
          <a:noFill/>
        </p:spPr>
        <p:txBody>
          <a:bodyPr wrap="square">
            <a:spAutoFit/>
          </a:bodyPr>
          <a:lstStyle/>
          <a:p>
            <a:r>
              <a:rPr lang="en-IN" sz="1600" b="1" dirty="0">
                <a:latin typeface="Calibri" panose="020F0502020204030204" pitchFamily="34" charset="0"/>
                <a:ea typeface="Calibri" panose="020F0502020204030204" pitchFamily="34" charset="0"/>
                <a:cs typeface="Calibri" panose="020F0502020204030204" pitchFamily="34" charset="0"/>
              </a:rPr>
              <a:t>Loan Model</a:t>
            </a:r>
          </a:p>
          <a:p>
            <a:pPr marL="285750" indent="-285750">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id: Integer, primary key.</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book_id</a:t>
            </a:r>
            <a:r>
              <a:rPr lang="en-IN" sz="1600" dirty="0">
                <a:latin typeface="Calibri" panose="020F0502020204030204" pitchFamily="34" charset="0"/>
                <a:ea typeface="Calibri" panose="020F0502020204030204" pitchFamily="34" charset="0"/>
                <a:cs typeface="Calibri" panose="020F0502020204030204" pitchFamily="34" charset="0"/>
              </a:rPr>
              <a:t>: Integer, foreign key to Book.id.</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borrower_name</a:t>
            </a:r>
            <a:r>
              <a:rPr lang="en-IN" sz="1600" dirty="0">
                <a:latin typeface="Calibri" panose="020F0502020204030204" pitchFamily="34" charset="0"/>
                <a:ea typeface="Calibri" panose="020F0502020204030204" pitchFamily="34" charset="0"/>
                <a:cs typeface="Calibri" panose="020F0502020204030204" pitchFamily="34" charset="0"/>
              </a:rPr>
              <a:t>: String, not nullable.</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borrow_date</a:t>
            </a:r>
            <a:r>
              <a:rPr lang="en-IN" sz="1600" dirty="0">
                <a:latin typeface="Calibri" panose="020F0502020204030204" pitchFamily="34" charset="0"/>
                <a:ea typeface="Calibri" panose="020F0502020204030204" pitchFamily="34" charset="0"/>
                <a:cs typeface="Calibri" panose="020F0502020204030204" pitchFamily="34" charset="0"/>
              </a:rPr>
              <a:t>: </a:t>
            </a:r>
            <a:r>
              <a:rPr lang="en-IN" sz="1600" dirty="0" err="1">
                <a:latin typeface="Calibri" panose="020F0502020204030204" pitchFamily="34" charset="0"/>
                <a:ea typeface="Calibri" panose="020F0502020204030204" pitchFamily="34" charset="0"/>
                <a:cs typeface="Calibri" panose="020F0502020204030204" pitchFamily="34" charset="0"/>
              </a:rPr>
              <a:t>DateTime</a:t>
            </a:r>
            <a:r>
              <a:rPr lang="en-IN" sz="1600"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Wingdings" panose="05000000000000000000" pitchFamily="2" charset="2"/>
              <a:buChar char="§"/>
            </a:pPr>
            <a:r>
              <a:rPr lang="en-IN" sz="1600" dirty="0" err="1">
                <a:latin typeface="Calibri" panose="020F0502020204030204" pitchFamily="34" charset="0"/>
                <a:ea typeface="Calibri" panose="020F0502020204030204" pitchFamily="34" charset="0"/>
                <a:cs typeface="Calibri" panose="020F0502020204030204" pitchFamily="34" charset="0"/>
              </a:rPr>
              <a:t>return_date</a:t>
            </a:r>
            <a:r>
              <a:rPr lang="en-IN" sz="1600" dirty="0">
                <a:latin typeface="Calibri" panose="020F0502020204030204" pitchFamily="34" charset="0"/>
                <a:ea typeface="Calibri" panose="020F0502020204030204" pitchFamily="34" charset="0"/>
                <a:cs typeface="Calibri" panose="020F0502020204030204" pitchFamily="34" charset="0"/>
              </a:rPr>
              <a:t>: </a:t>
            </a:r>
            <a:r>
              <a:rPr lang="en-IN" sz="1600" dirty="0" err="1">
                <a:latin typeface="Calibri" panose="020F0502020204030204" pitchFamily="34" charset="0"/>
                <a:ea typeface="Calibri" panose="020F0502020204030204" pitchFamily="34" charset="0"/>
                <a:cs typeface="Calibri" panose="020F0502020204030204" pitchFamily="34" charset="0"/>
              </a:rPr>
              <a:t>DateTime</a:t>
            </a:r>
            <a:r>
              <a:rPr lang="en-IN" sz="1600" dirty="0">
                <a:latin typeface="Calibri" panose="020F0502020204030204" pitchFamily="34" charset="0"/>
                <a:ea typeface="Calibri" panose="020F0502020204030204" pitchFamily="34" charset="0"/>
                <a:cs typeface="Calibri" panose="020F0502020204030204" pitchFamily="34" charset="0"/>
              </a:rPr>
              <a:t>, nullable.</a:t>
            </a:r>
          </a:p>
          <a:p>
            <a:pPr marL="285750" indent="-285750">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returned: Boolean, default to False.</a:t>
            </a:r>
          </a:p>
        </p:txBody>
      </p:sp>
      <p:sp>
        <p:nvSpPr>
          <p:cNvPr id="3" name="Footer Placeholder 2">
            <a:extLst>
              <a:ext uri="{FF2B5EF4-FFF2-40B4-BE49-F238E27FC236}">
                <a16:creationId xmlns:a16="http://schemas.microsoft.com/office/drawing/2014/main" id="{B8A3DA9D-C287-67BB-4E48-42AD9AB062D9}"/>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A5E56839-5802-70E3-FF50-5AF81DCDFE34}"/>
              </a:ext>
            </a:extLst>
          </p:cNvPr>
          <p:cNvSpPr>
            <a:spLocks noGrp="1"/>
          </p:cNvSpPr>
          <p:nvPr>
            <p:ph type="sldNum" sz="quarter" idx="12"/>
          </p:nvPr>
        </p:nvSpPr>
        <p:spPr/>
        <p:txBody>
          <a:bodyPr/>
          <a:lstStyle/>
          <a:p>
            <a:fld id="{FACB5482-D393-4E2D-8FB7-B68A06B80F1E}" type="slidenum">
              <a:rPr lang="en-IN" smtClean="0"/>
              <a:t>60</a:t>
            </a:fld>
            <a:endParaRPr lang="en-IN"/>
          </a:p>
        </p:txBody>
      </p:sp>
    </p:spTree>
    <p:extLst>
      <p:ext uri="{BB962C8B-B14F-4D97-AF65-F5344CB8AC3E}">
        <p14:creationId xmlns:p14="http://schemas.microsoft.com/office/powerpoint/2010/main" val="1301663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FFD2A5-5A61-DE5A-BAF0-721E79BC323A}"/>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5F3C4364-B1C5-F88D-0A5F-60838BC3613B}"/>
              </a:ext>
            </a:extLst>
          </p:cNvPr>
          <p:cNvSpPr>
            <a:spLocks noGrp="1"/>
          </p:cNvSpPr>
          <p:nvPr>
            <p:ph type="sldNum" sz="quarter" idx="12"/>
          </p:nvPr>
        </p:nvSpPr>
        <p:spPr/>
        <p:txBody>
          <a:bodyPr/>
          <a:lstStyle/>
          <a:p>
            <a:fld id="{FACB5482-D393-4E2D-8FB7-B68A06B80F1E}" type="slidenum">
              <a:rPr lang="en-IN" smtClean="0"/>
              <a:t>61</a:t>
            </a:fld>
            <a:endParaRPr lang="en-IN"/>
          </a:p>
        </p:txBody>
      </p:sp>
      <p:sp>
        <p:nvSpPr>
          <p:cNvPr id="6" name="Google Shape;126;p4">
            <a:extLst>
              <a:ext uri="{FF2B5EF4-FFF2-40B4-BE49-F238E27FC236}">
                <a16:creationId xmlns:a16="http://schemas.microsoft.com/office/drawing/2014/main" id="{40E7A07F-E6B4-5109-14A3-1DA62DBFB455}"/>
              </a:ext>
            </a:extLst>
          </p:cNvPr>
          <p:cNvSpPr txBox="1">
            <a:spLocks/>
          </p:cNvSpPr>
          <p:nvPr/>
        </p:nvSpPr>
        <p:spPr>
          <a:xfrm>
            <a:off x="480000" y="2494400"/>
            <a:ext cx="11406800" cy="1058000"/>
          </a:xfrm>
          <a:prstGeom prst="rect">
            <a:avLst/>
          </a:prstGeom>
          <a:noFill/>
          <a:ln>
            <a:noFill/>
          </a:ln>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nSpc>
                <a:spcPct val="100000"/>
              </a:lnSpc>
              <a:spcBef>
                <a:spcPts val="0"/>
              </a:spcBef>
              <a:buClr>
                <a:srgbClr val="000000"/>
              </a:buClr>
              <a:buSzPct val="100000"/>
              <a:buFont typeface="+mj-lt"/>
              <a:buAutoNum type="arabicPeriod" startAt="4"/>
            </a:pPr>
            <a:r>
              <a:rPr lang="en-US" sz="4000">
                <a:solidFill>
                  <a:srgbClr val="000000"/>
                </a:solidFill>
                <a:latin typeface="Calibri"/>
                <a:ea typeface="Calibri"/>
                <a:cs typeface="Calibri"/>
                <a:sym typeface="Calibri"/>
              </a:rPr>
              <a:t>Database Use in View Functions</a:t>
            </a:r>
            <a:endParaRPr lang="en-US" sz="400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60519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View function</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810914"/>
            <a:ext cx="11141464" cy="175428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View functions in the context of web development, especially with frameworks like Flask or Django, refer to Python functions that are mapped to specific URLs (routes) in your application.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These functions handle incoming requests from clients (web browsers or other applications) and return responses.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436362B-2ADD-DA1D-2381-CF3A21D0D19F}"/>
              </a:ext>
            </a:extLst>
          </p:cNvPr>
          <p:cNvSpPr txBox="1"/>
          <p:nvPr/>
        </p:nvSpPr>
        <p:spPr>
          <a:xfrm>
            <a:off x="822959" y="3998130"/>
            <a:ext cx="6096000" cy="1689693"/>
          </a:xfrm>
          <a:prstGeom prst="rect">
            <a:avLst/>
          </a:prstGeom>
          <a:noFill/>
        </p:spPr>
        <p:txBody>
          <a:bodyPr wrap="square">
            <a:spAutoFit/>
          </a:bodyPr>
          <a:lstStyle/>
          <a:p>
            <a:pP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Example</a:t>
            </a:r>
          </a:p>
          <a:p>
            <a:pPr>
              <a:lnSpc>
                <a:spcPct val="150000"/>
              </a:lnSpc>
            </a:pPr>
            <a:r>
              <a:rPr lang="en-US" sz="1800" dirty="0">
                <a:latin typeface="Batang" panose="02030600000101010101" pitchFamily="18" charset="-127"/>
                <a:ea typeface="Batang" panose="02030600000101010101" pitchFamily="18" charset="-127"/>
              </a:rPr>
              <a:t>@app.route('/hello')</a:t>
            </a:r>
          </a:p>
          <a:p>
            <a:pPr>
              <a:lnSpc>
                <a:spcPct val="150000"/>
              </a:lnSpc>
            </a:pPr>
            <a:r>
              <a:rPr lang="en-US" sz="1800" dirty="0">
                <a:latin typeface="Batang" panose="02030600000101010101" pitchFamily="18" charset="-127"/>
                <a:ea typeface="Batang" panose="02030600000101010101" pitchFamily="18" charset="-127"/>
              </a:rPr>
              <a:t>def hello():</a:t>
            </a:r>
          </a:p>
          <a:p>
            <a:pPr>
              <a:lnSpc>
                <a:spcPct val="150000"/>
              </a:lnSpc>
            </a:pPr>
            <a:r>
              <a:rPr lang="en-US" sz="1800" dirty="0">
                <a:latin typeface="Batang" panose="02030600000101010101" pitchFamily="18" charset="-127"/>
                <a:ea typeface="Batang" panose="02030600000101010101" pitchFamily="18" charset="-127"/>
              </a:rPr>
              <a:t>    return 'Hello, World!'</a:t>
            </a:r>
          </a:p>
        </p:txBody>
      </p:sp>
      <p:sp>
        <p:nvSpPr>
          <p:cNvPr id="3" name="Footer Placeholder 2">
            <a:extLst>
              <a:ext uri="{FF2B5EF4-FFF2-40B4-BE49-F238E27FC236}">
                <a16:creationId xmlns:a16="http://schemas.microsoft.com/office/drawing/2014/main" id="{05E3FB74-ECE3-4CE9-5A18-5C5C64A5A28B}"/>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632EF97B-0D06-AF1A-2583-A2361AB83243}"/>
              </a:ext>
            </a:extLst>
          </p:cNvPr>
          <p:cNvSpPr>
            <a:spLocks noGrp="1"/>
          </p:cNvSpPr>
          <p:nvPr>
            <p:ph type="sldNum" sz="quarter" idx="12"/>
          </p:nvPr>
        </p:nvSpPr>
        <p:spPr/>
        <p:txBody>
          <a:bodyPr/>
          <a:lstStyle/>
          <a:p>
            <a:fld id="{FACB5482-D393-4E2D-8FB7-B68A06B80F1E}" type="slidenum">
              <a:rPr lang="en-IN" smtClean="0"/>
              <a:t>62</a:t>
            </a:fld>
            <a:endParaRPr lang="en-IN"/>
          </a:p>
        </p:txBody>
      </p:sp>
    </p:spTree>
    <p:extLst>
      <p:ext uri="{BB962C8B-B14F-4D97-AF65-F5344CB8AC3E}">
        <p14:creationId xmlns:p14="http://schemas.microsoft.com/office/powerpoint/2010/main" val="11557549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Characteristics of view functions</a:t>
            </a:r>
            <a:endParaRPr lang="en-US" sz="2400" dirty="0">
              <a:solidFill>
                <a:srgbClr val="262626"/>
              </a:solidFill>
              <a:latin typeface="Calibri"/>
              <a:ea typeface="Calibri"/>
              <a:cs typeface="Calibri"/>
              <a:sym typeface="Calibri"/>
            </a:endParaRP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2021845"/>
            <a:ext cx="11019543" cy="3970277"/>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Request handling</a:t>
            </a:r>
            <a:r>
              <a:rPr lang="en-US" sz="1800" dirty="0">
                <a:latin typeface="Calibri" panose="020F0502020204030204" pitchFamily="34" charset="0"/>
                <a:ea typeface="Calibri" panose="020F0502020204030204" pitchFamily="34" charset="0"/>
                <a:cs typeface="Calibri" panose="020F0502020204030204" pitchFamily="34" charset="0"/>
              </a:rPr>
              <a:t>: View functions are responsible for handling incoming HTTP requests. They process data sent via GET or POST methods, access form data, query parameters, or JSON payloads.</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Business logic</a:t>
            </a:r>
            <a:r>
              <a:rPr lang="en-US" sz="1800" dirty="0">
                <a:latin typeface="Calibri" panose="020F0502020204030204" pitchFamily="34" charset="0"/>
                <a:ea typeface="Calibri" panose="020F0502020204030204" pitchFamily="34" charset="0"/>
                <a:cs typeface="Calibri" panose="020F0502020204030204" pitchFamily="34" charset="0"/>
              </a:rPr>
              <a:t>: They encapsulate the business logic of your application. This includes processing data, interacting with databases, performing calculations, and making decisions based on the request parameters.</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Response generation</a:t>
            </a:r>
            <a:r>
              <a:rPr lang="en-US" sz="1800" dirty="0">
                <a:latin typeface="Calibri" panose="020F0502020204030204" pitchFamily="34" charset="0"/>
                <a:ea typeface="Calibri" panose="020F0502020204030204" pitchFamily="34" charset="0"/>
                <a:cs typeface="Calibri" panose="020F0502020204030204" pitchFamily="34" charset="0"/>
              </a:rPr>
              <a:t>: View functions generate HTTP responses to send back to the client. These responses can be HTML pages rendered from templates, JSON data for APIs, redirects, or error messages.</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Route binding</a:t>
            </a:r>
            <a:r>
              <a:rPr lang="en-US" sz="1800" dirty="0">
                <a:latin typeface="Calibri" panose="020F0502020204030204" pitchFamily="34" charset="0"/>
                <a:ea typeface="Calibri" panose="020F0502020204030204" pitchFamily="34" charset="0"/>
                <a:cs typeface="Calibri" panose="020F0502020204030204" pitchFamily="34" charset="0"/>
              </a:rPr>
              <a:t>: In frameworks like Flask, view functions are associated with specific URLs (routes) using decorators or URL patterns defined in configuration files. </a:t>
            </a:r>
          </a:p>
          <a:p>
            <a:pPr marL="285750" marR="0" lvl="0" indent="-285750" algn="just" rtl="0">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Context Access</a:t>
            </a:r>
            <a:r>
              <a:rPr lang="en-US" sz="1800" dirty="0">
                <a:latin typeface="Calibri" panose="020F0502020204030204" pitchFamily="34" charset="0"/>
                <a:ea typeface="Calibri" panose="020F0502020204030204" pitchFamily="34" charset="0"/>
                <a:cs typeface="Calibri" panose="020F0502020204030204" pitchFamily="34" charset="0"/>
              </a:rPr>
              <a:t>: They often have access to the request context, which includes details about the request (e.g., headers, form data, cookies) and the application context (e.g., configuration settings, database connections).</a:t>
            </a:r>
          </a:p>
        </p:txBody>
      </p:sp>
      <p:sp>
        <p:nvSpPr>
          <p:cNvPr id="3" name="Footer Placeholder 2">
            <a:extLst>
              <a:ext uri="{FF2B5EF4-FFF2-40B4-BE49-F238E27FC236}">
                <a16:creationId xmlns:a16="http://schemas.microsoft.com/office/drawing/2014/main" id="{A956E7B1-3D40-635F-5085-1E5917D88B5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C6B9C843-93AF-EE87-4A34-5E42CA598969}"/>
              </a:ext>
            </a:extLst>
          </p:cNvPr>
          <p:cNvSpPr>
            <a:spLocks noGrp="1"/>
          </p:cNvSpPr>
          <p:nvPr>
            <p:ph type="sldNum" sz="quarter" idx="12"/>
          </p:nvPr>
        </p:nvSpPr>
        <p:spPr/>
        <p:txBody>
          <a:bodyPr/>
          <a:lstStyle/>
          <a:p>
            <a:fld id="{FACB5482-D393-4E2D-8FB7-B68A06B80F1E}" type="slidenum">
              <a:rPr lang="en-IN" smtClean="0"/>
              <a:t>63</a:t>
            </a:fld>
            <a:endParaRPr lang="en-IN"/>
          </a:p>
        </p:txBody>
      </p:sp>
    </p:spTree>
    <p:extLst>
      <p:ext uri="{BB962C8B-B14F-4D97-AF65-F5344CB8AC3E}">
        <p14:creationId xmlns:p14="http://schemas.microsoft.com/office/powerpoint/2010/main" val="28430691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744322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Example Use Cases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83177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Rendering HTML pages</a:t>
            </a:r>
            <a:r>
              <a:rPr lang="en-US" sz="1800" dirty="0">
                <a:latin typeface="Calibri" panose="020F0502020204030204" pitchFamily="34" charset="0"/>
                <a:ea typeface="Calibri" panose="020F0502020204030204" pitchFamily="34" charset="0"/>
                <a:cs typeface="Calibri" panose="020F0502020204030204" pitchFamily="34" charset="0"/>
              </a:rPr>
              <a:t>: View functions can render HTML templates and pass data to them for dynamic content.</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Handling Form submissions</a:t>
            </a:r>
            <a:r>
              <a:rPr lang="en-US" sz="1800" dirty="0">
                <a:latin typeface="Calibri" panose="020F0502020204030204" pitchFamily="34" charset="0"/>
                <a:ea typeface="Calibri" panose="020F0502020204030204" pitchFamily="34" charset="0"/>
                <a:cs typeface="Calibri" panose="020F0502020204030204" pitchFamily="34" charset="0"/>
              </a:rPr>
              <a:t>: Process form submissions, validate input and store or manipulate data in databases.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Implementing APIs</a:t>
            </a:r>
            <a:r>
              <a:rPr lang="en-US" sz="1800" dirty="0">
                <a:latin typeface="Calibri" panose="020F0502020204030204" pitchFamily="34" charset="0"/>
                <a:ea typeface="Calibri" panose="020F0502020204030204" pitchFamily="34" charset="0"/>
                <a:cs typeface="Calibri" panose="020F0502020204030204" pitchFamily="34" charset="0"/>
              </a:rPr>
              <a:t>: For building RESTful APIs, view functions return JSON responses, handle authentication, and implement CRUD operations (Create, Read, Update, Delete) on resources.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Middleware</a:t>
            </a:r>
            <a:r>
              <a:rPr lang="en-US" sz="1800" dirty="0">
                <a:latin typeface="Calibri" panose="020F0502020204030204" pitchFamily="34" charset="0"/>
                <a:ea typeface="Calibri" panose="020F0502020204030204" pitchFamily="34" charset="0"/>
                <a:cs typeface="Calibri" panose="020F0502020204030204" pitchFamily="34" charset="0"/>
              </a:rPr>
              <a:t>: View functions can act as middleware, performing preprocessing tasks such as logging, authentication, or authorization before passing control to other functions.</a:t>
            </a:r>
          </a:p>
        </p:txBody>
      </p:sp>
      <p:sp>
        <p:nvSpPr>
          <p:cNvPr id="3" name="Footer Placeholder 2">
            <a:extLst>
              <a:ext uri="{FF2B5EF4-FFF2-40B4-BE49-F238E27FC236}">
                <a16:creationId xmlns:a16="http://schemas.microsoft.com/office/drawing/2014/main" id="{122CB366-6AE2-7A29-FE0B-94CBB3533878}"/>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BA7FF768-7866-A033-0343-A81B414C01A5}"/>
              </a:ext>
            </a:extLst>
          </p:cNvPr>
          <p:cNvSpPr>
            <a:spLocks noGrp="1"/>
          </p:cNvSpPr>
          <p:nvPr>
            <p:ph type="sldNum" sz="quarter" idx="12"/>
          </p:nvPr>
        </p:nvSpPr>
        <p:spPr/>
        <p:txBody>
          <a:bodyPr/>
          <a:lstStyle/>
          <a:p>
            <a:fld id="{FACB5482-D393-4E2D-8FB7-B68A06B80F1E}" type="slidenum">
              <a:rPr lang="en-IN" smtClean="0"/>
              <a:t>64</a:t>
            </a:fld>
            <a:endParaRPr lang="en-IN"/>
          </a:p>
        </p:txBody>
      </p:sp>
    </p:spTree>
    <p:extLst>
      <p:ext uri="{BB962C8B-B14F-4D97-AF65-F5344CB8AC3E}">
        <p14:creationId xmlns:p14="http://schemas.microsoft.com/office/powerpoint/2010/main" val="33113659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327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dirty="0">
                <a:latin typeface="Calibri" panose="020F0502020204030204" pitchFamily="34" charset="0"/>
                <a:ea typeface="Calibri" panose="020F0502020204030204" pitchFamily="34" charset="0"/>
                <a:cs typeface="Calibri" panose="020F0502020204030204" pitchFamily="34" charset="0"/>
              </a:rPr>
              <a:t>To create a Flask application that interacts with an SQLite database to add and display users, follow these steps:</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Set Up the Project Directory:</a:t>
            </a:r>
            <a:r>
              <a:rPr lang="en-US" sz="1800" dirty="0">
                <a:latin typeface="Calibri" panose="020F0502020204030204" pitchFamily="34" charset="0"/>
                <a:ea typeface="Calibri" panose="020F0502020204030204" pitchFamily="34" charset="0"/>
                <a:cs typeface="Calibri" panose="020F0502020204030204" pitchFamily="34" charset="0"/>
              </a:rPr>
              <a:t> Create a directory structure for the Flask app.</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Initialize the Flask App: </a:t>
            </a:r>
            <a:r>
              <a:rPr lang="en-US" sz="1800" dirty="0">
                <a:latin typeface="Calibri" panose="020F0502020204030204" pitchFamily="34" charset="0"/>
                <a:ea typeface="Calibri" panose="020F0502020204030204" pitchFamily="34" charset="0"/>
                <a:cs typeface="Calibri" panose="020F0502020204030204" pitchFamily="34" charset="0"/>
              </a:rPr>
              <a:t>Create a Flask app and configure it to use SQLAlchemy with an SQLite database.</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Define Models: </a:t>
            </a:r>
            <a:r>
              <a:rPr lang="en-US" sz="1800" dirty="0">
                <a:latin typeface="Calibri" panose="020F0502020204030204" pitchFamily="34" charset="0"/>
                <a:ea typeface="Calibri" panose="020F0502020204030204" pitchFamily="34" charset="0"/>
                <a:cs typeface="Calibri" panose="020F0502020204030204" pitchFamily="34" charset="0"/>
              </a:rPr>
              <a:t>Create a User model to represent the users in the database.</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Create Routes: </a:t>
            </a:r>
            <a:r>
              <a:rPr lang="en-US" sz="1800" dirty="0">
                <a:latin typeface="Calibri" panose="020F0502020204030204" pitchFamily="34" charset="0"/>
                <a:ea typeface="Calibri" panose="020F0502020204030204" pitchFamily="34" charset="0"/>
                <a:cs typeface="Calibri" panose="020F0502020204030204" pitchFamily="34" charset="0"/>
              </a:rPr>
              <a:t>Define routes to handle displaying the homepage, adding users, and listing users.</a:t>
            </a:r>
          </a:p>
          <a:p>
            <a:pPr marL="342900" marR="0" lvl="0" indent="-342900" algn="just" rtl="0">
              <a:lnSpc>
                <a:spcPct val="200000"/>
              </a:lnSpc>
              <a:spcBef>
                <a:spcPts val="0"/>
              </a:spcBef>
              <a:spcAft>
                <a:spcPts val="0"/>
              </a:spcAft>
              <a:buClr>
                <a:srgbClr val="262626"/>
              </a:buClr>
              <a:buSzPts val="18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Create Templates:</a:t>
            </a:r>
            <a:r>
              <a:rPr lang="en-US" sz="1800" dirty="0">
                <a:latin typeface="Calibri" panose="020F0502020204030204" pitchFamily="34" charset="0"/>
                <a:ea typeface="Calibri" panose="020F0502020204030204" pitchFamily="34" charset="0"/>
                <a:cs typeface="Calibri" panose="020F0502020204030204" pitchFamily="34" charset="0"/>
              </a:rPr>
              <a:t> Create HTML templates for the homepage and user list.</a:t>
            </a:r>
          </a:p>
        </p:txBody>
      </p:sp>
      <p:sp>
        <p:nvSpPr>
          <p:cNvPr id="3" name="Footer Placeholder 2">
            <a:extLst>
              <a:ext uri="{FF2B5EF4-FFF2-40B4-BE49-F238E27FC236}">
                <a16:creationId xmlns:a16="http://schemas.microsoft.com/office/drawing/2014/main" id="{DDA29E50-67DC-2105-24A1-358D67133BD9}"/>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742CD35-09EF-6A14-4904-95C75DDDE663}"/>
              </a:ext>
            </a:extLst>
          </p:cNvPr>
          <p:cNvSpPr>
            <a:spLocks noGrp="1"/>
          </p:cNvSpPr>
          <p:nvPr>
            <p:ph type="sldNum" sz="quarter" idx="12"/>
          </p:nvPr>
        </p:nvSpPr>
        <p:spPr/>
        <p:txBody>
          <a:bodyPr/>
          <a:lstStyle/>
          <a:p>
            <a:fld id="{FACB5482-D393-4E2D-8FB7-B68A06B80F1E}" type="slidenum">
              <a:rPr lang="en-IN" smtClean="0"/>
              <a:t>65</a:t>
            </a:fld>
            <a:endParaRPr lang="en-IN"/>
          </a:p>
        </p:txBody>
      </p:sp>
    </p:spTree>
    <p:extLst>
      <p:ext uri="{BB962C8B-B14F-4D97-AF65-F5344CB8AC3E}">
        <p14:creationId xmlns:p14="http://schemas.microsoft.com/office/powerpoint/2010/main" val="3253042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262626"/>
              </a:buClr>
              <a:buSzPts val="18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Set Up the Project Directory</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94632E8-D5F2-39A5-386A-86419B27CD5A}"/>
              </a:ext>
            </a:extLst>
          </p:cNvPr>
          <p:cNvSpPr txBox="1"/>
          <p:nvPr/>
        </p:nvSpPr>
        <p:spPr>
          <a:xfrm>
            <a:off x="822959" y="2418063"/>
            <a:ext cx="6096000" cy="3139321"/>
          </a:xfrm>
          <a:prstGeom prst="rect">
            <a:avLst/>
          </a:prstGeom>
          <a:noFill/>
        </p:spPr>
        <p:txBody>
          <a:bodyPr wrap="square">
            <a:spAutoFit/>
          </a:bodyPr>
          <a:lstStyle/>
          <a:p>
            <a:r>
              <a:rPr lang="en-IN" sz="1800" dirty="0" err="1">
                <a:latin typeface="Calibri" panose="020F0502020204030204" pitchFamily="34" charset="0"/>
                <a:ea typeface="Calibri" panose="020F0502020204030204" pitchFamily="34" charset="0"/>
                <a:cs typeface="Calibri" panose="020F0502020204030204" pitchFamily="34" charset="0"/>
              </a:rPr>
              <a:t>flaskSQLiteViewFunc</a:t>
            </a:r>
            <a:r>
              <a:rPr lang="en-IN" sz="1800" dirty="0">
                <a:latin typeface="Calibri" panose="020F0502020204030204" pitchFamily="34" charset="0"/>
                <a:ea typeface="Calibri" panose="020F0502020204030204" pitchFamily="34" charset="0"/>
                <a:cs typeface="Calibri" panose="020F0502020204030204" pitchFamily="34" charset="0"/>
              </a:rPr>
              <a:t>/</a:t>
            </a:r>
          </a:p>
          <a:p>
            <a:r>
              <a:rPr lang="en-IN" sz="1800" dirty="0">
                <a:latin typeface="Calibri" panose="020F0502020204030204" pitchFamily="34" charset="0"/>
                <a:ea typeface="Calibri" panose="020F0502020204030204" pitchFamily="34" charset="0"/>
                <a:cs typeface="Calibri" panose="020F0502020204030204" pitchFamily="34" charset="0"/>
              </a:rPr>
              <a:t>|── app/</a:t>
            </a:r>
          </a:p>
          <a:p>
            <a:r>
              <a:rPr lang="en-IN" sz="1800" dirty="0">
                <a:latin typeface="Calibri" panose="020F0502020204030204" pitchFamily="34" charset="0"/>
                <a:ea typeface="Calibri" panose="020F0502020204030204" pitchFamily="34" charset="0"/>
                <a:cs typeface="Calibri" panose="020F0502020204030204" pitchFamily="34" charset="0"/>
              </a:rPr>
              <a:t>│   |── __init__.py</a:t>
            </a:r>
          </a:p>
          <a:p>
            <a:r>
              <a:rPr lang="en-IN" sz="1800" dirty="0">
                <a:latin typeface="Calibri" panose="020F0502020204030204" pitchFamily="34" charset="0"/>
                <a:ea typeface="Calibri" panose="020F0502020204030204" pitchFamily="34" charset="0"/>
                <a:cs typeface="Calibri" panose="020F0502020204030204" pitchFamily="34" charset="0"/>
              </a:rPr>
              <a:t>│   |── models.py</a:t>
            </a:r>
          </a:p>
          <a:p>
            <a:r>
              <a:rPr lang="en-IN" sz="1800" dirty="0">
                <a:latin typeface="Calibri" panose="020F0502020204030204" pitchFamily="34" charset="0"/>
                <a:ea typeface="Calibri" panose="020F0502020204030204" pitchFamily="34" charset="0"/>
                <a:cs typeface="Calibri" panose="020F0502020204030204" pitchFamily="34" charset="0"/>
              </a:rPr>
              <a:t>│   |── routes.py</a:t>
            </a:r>
          </a:p>
          <a:p>
            <a:r>
              <a:rPr lang="en-IN" sz="1800" dirty="0">
                <a:latin typeface="Calibri" panose="020F0502020204030204" pitchFamily="34" charset="0"/>
                <a:ea typeface="Calibri" panose="020F0502020204030204" pitchFamily="34" charset="0"/>
                <a:cs typeface="Calibri" panose="020F0502020204030204" pitchFamily="34" charset="0"/>
              </a:rPr>
              <a:t>│   └── templates/</a:t>
            </a:r>
          </a:p>
          <a:p>
            <a:r>
              <a:rPr lang="en-IN" sz="1800" dirty="0">
                <a:latin typeface="Calibri" panose="020F0502020204030204" pitchFamily="34" charset="0"/>
                <a:ea typeface="Calibri" panose="020F0502020204030204" pitchFamily="34" charset="0"/>
                <a:cs typeface="Calibri" panose="020F0502020204030204" pitchFamily="34" charset="0"/>
              </a:rPr>
              <a:t>│       |── index.html</a:t>
            </a:r>
          </a:p>
          <a:p>
            <a:r>
              <a:rPr lang="en-IN" sz="1800" dirty="0">
                <a:latin typeface="Calibri" panose="020F0502020204030204" pitchFamily="34" charset="0"/>
                <a:ea typeface="Calibri" panose="020F0502020204030204" pitchFamily="34" charset="0"/>
                <a:cs typeface="Calibri" panose="020F0502020204030204" pitchFamily="34" charset="0"/>
              </a:rPr>
              <a:t>│       └── users.html</a:t>
            </a:r>
          </a:p>
          <a:p>
            <a:r>
              <a:rPr lang="en-IN" sz="1800" dirty="0">
                <a:latin typeface="Calibri" panose="020F0502020204030204" pitchFamily="34" charset="0"/>
                <a:ea typeface="Calibri" panose="020F0502020204030204" pitchFamily="34" charset="0"/>
                <a:cs typeface="Calibri" panose="020F0502020204030204" pitchFamily="34" charset="0"/>
              </a:rPr>
              <a:t>|── config.py</a:t>
            </a:r>
          </a:p>
          <a:p>
            <a:r>
              <a:rPr lang="en-IN" sz="1800" dirty="0">
                <a:latin typeface="Calibri" panose="020F0502020204030204" pitchFamily="34" charset="0"/>
                <a:ea typeface="Calibri" panose="020F0502020204030204" pitchFamily="34" charset="0"/>
                <a:cs typeface="Calibri" panose="020F0502020204030204" pitchFamily="34" charset="0"/>
              </a:rPr>
              <a:t>|── requirements.txt</a:t>
            </a:r>
          </a:p>
          <a:p>
            <a:r>
              <a:rPr lang="en-IN" sz="1800" dirty="0">
                <a:latin typeface="Calibri" panose="020F0502020204030204" pitchFamily="34" charset="0"/>
                <a:ea typeface="Calibri" panose="020F0502020204030204" pitchFamily="34" charset="0"/>
                <a:cs typeface="Calibri" panose="020F0502020204030204" pitchFamily="34" charset="0"/>
              </a:rPr>
              <a:t>└── run.py</a:t>
            </a:r>
          </a:p>
        </p:txBody>
      </p:sp>
      <p:sp>
        <p:nvSpPr>
          <p:cNvPr id="3" name="Footer Placeholder 2">
            <a:extLst>
              <a:ext uri="{FF2B5EF4-FFF2-40B4-BE49-F238E27FC236}">
                <a16:creationId xmlns:a16="http://schemas.microsoft.com/office/drawing/2014/main" id="{674E1656-8BD3-A8AB-5CB9-7E9A9147FE48}"/>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B5D0F2C8-F8DA-3E43-4F57-CFF9F8638367}"/>
              </a:ext>
            </a:extLst>
          </p:cNvPr>
          <p:cNvSpPr>
            <a:spLocks noGrp="1"/>
          </p:cNvSpPr>
          <p:nvPr>
            <p:ph type="sldNum" sz="quarter" idx="12"/>
          </p:nvPr>
        </p:nvSpPr>
        <p:spPr/>
        <p:txBody>
          <a:bodyPr/>
          <a:lstStyle/>
          <a:p>
            <a:fld id="{FACB5482-D393-4E2D-8FB7-B68A06B80F1E}" type="slidenum">
              <a:rPr lang="en-IN" smtClean="0"/>
              <a:t>66</a:t>
            </a:fld>
            <a:endParaRPr lang="en-IN"/>
          </a:p>
        </p:txBody>
      </p:sp>
    </p:spTree>
    <p:extLst>
      <p:ext uri="{BB962C8B-B14F-4D97-AF65-F5344CB8AC3E}">
        <p14:creationId xmlns:p14="http://schemas.microsoft.com/office/powerpoint/2010/main" val="685414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2. Initialize the Flask App</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570CCE1-3F7E-2C7C-D4AC-212031C425B7}"/>
              </a:ext>
            </a:extLst>
          </p:cNvPr>
          <p:cNvPicPr>
            <a:picLocks noChangeAspect="1"/>
          </p:cNvPicPr>
          <p:nvPr/>
        </p:nvPicPr>
        <p:blipFill>
          <a:blip r:embed="rId4"/>
          <a:stretch>
            <a:fillRect/>
          </a:stretch>
        </p:blipFill>
        <p:spPr>
          <a:xfrm>
            <a:off x="780318" y="2418063"/>
            <a:ext cx="10478962" cy="3000794"/>
          </a:xfrm>
          <a:prstGeom prst="rect">
            <a:avLst/>
          </a:prstGeom>
        </p:spPr>
      </p:pic>
      <p:sp>
        <p:nvSpPr>
          <p:cNvPr id="3" name="Footer Placeholder 2">
            <a:extLst>
              <a:ext uri="{FF2B5EF4-FFF2-40B4-BE49-F238E27FC236}">
                <a16:creationId xmlns:a16="http://schemas.microsoft.com/office/drawing/2014/main" id="{5AB39607-8163-5196-827F-E12F7B53FB57}"/>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E211F80-33AD-AEA0-220E-19620802E2C0}"/>
              </a:ext>
            </a:extLst>
          </p:cNvPr>
          <p:cNvSpPr>
            <a:spLocks noGrp="1"/>
          </p:cNvSpPr>
          <p:nvPr>
            <p:ph type="sldNum" sz="quarter" idx="12"/>
          </p:nvPr>
        </p:nvSpPr>
        <p:spPr/>
        <p:txBody>
          <a:bodyPr/>
          <a:lstStyle/>
          <a:p>
            <a:fld id="{FACB5482-D393-4E2D-8FB7-B68A06B80F1E}" type="slidenum">
              <a:rPr lang="en-IN" smtClean="0"/>
              <a:t>67</a:t>
            </a:fld>
            <a:endParaRPr lang="en-IN"/>
          </a:p>
        </p:txBody>
      </p:sp>
    </p:spTree>
    <p:extLst>
      <p:ext uri="{BB962C8B-B14F-4D97-AF65-F5344CB8AC3E}">
        <p14:creationId xmlns:p14="http://schemas.microsoft.com/office/powerpoint/2010/main" val="22326754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2. Initialize the Flask App</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73E31FA-3B42-8E2D-F857-52A94B59F7E8}"/>
              </a:ext>
            </a:extLst>
          </p:cNvPr>
          <p:cNvPicPr>
            <a:picLocks noChangeAspect="1"/>
          </p:cNvPicPr>
          <p:nvPr/>
        </p:nvPicPr>
        <p:blipFill>
          <a:blip r:embed="rId4"/>
          <a:stretch>
            <a:fillRect/>
          </a:stretch>
        </p:blipFill>
        <p:spPr>
          <a:xfrm>
            <a:off x="822959" y="2418063"/>
            <a:ext cx="5913121" cy="1305107"/>
          </a:xfrm>
          <a:prstGeom prst="rect">
            <a:avLst/>
          </a:prstGeom>
        </p:spPr>
      </p:pic>
      <p:sp>
        <p:nvSpPr>
          <p:cNvPr id="3" name="Footer Placeholder 2">
            <a:extLst>
              <a:ext uri="{FF2B5EF4-FFF2-40B4-BE49-F238E27FC236}">
                <a16:creationId xmlns:a16="http://schemas.microsoft.com/office/drawing/2014/main" id="{EF6939B2-8799-1A0B-BBE7-2F8A9168C124}"/>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CD386631-90A9-F411-D7F8-1C5778E2CADD}"/>
              </a:ext>
            </a:extLst>
          </p:cNvPr>
          <p:cNvSpPr>
            <a:spLocks noGrp="1"/>
          </p:cNvSpPr>
          <p:nvPr>
            <p:ph type="sldNum" sz="quarter" idx="12"/>
          </p:nvPr>
        </p:nvSpPr>
        <p:spPr/>
        <p:txBody>
          <a:bodyPr/>
          <a:lstStyle/>
          <a:p>
            <a:fld id="{FACB5482-D393-4E2D-8FB7-B68A06B80F1E}" type="slidenum">
              <a:rPr lang="en-IN" smtClean="0"/>
              <a:t>68</a:t>
            </a:fld>
            <a:endParaRPr lang="en-IN"/>
          </a:p>
        </p:txBody>
      </p:sp>
    </p:spTree>
    <p:extLst>
      <p:ext uri="{BB962C8B-B14F-4D97-AF65-F5344CB8AC3E}">
        <p14:creationId xmlns:p14="http://schemas.microsoft.com/office/powerpoint/2010/main" val="3317219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2. Initialize the Flask App</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CAB0DA0-80DD-22A4-BFFE-9807A155F7A4}"/>
              </a:ext>
            </a:extLst>
          </p:cNvPr>
          <p:cNvPicPr>
            <a:picLocks noChangeAspect="1"/>
          </p:cNvPicPr>
          <p:nvPr/>
        </p:nvPicPr>
        <p:blipFill>
          <a:blip r:embed="rId4"/>
          <a:stretch>
            <a:fillRect/>
          </a:stretch>
        </p:blipFill>
        <p:spPr>
          <a:xfrm>
            <a:off x="816856" y="2418063"/>
            <a:ext cx="5277587" cy="2743583"/>
          </a:xfrm>
          <a:prstGeom prst="rect">
            <a:avLst/>
          </a:prstGeom>
        </p:spPr>
      </p:pic>
      <p:sp>
        <p:nvSpPr>
          <p:cNvPr id="3" name="Footer Placeholder 2">
            <a:extLst>
              <a:ext uri="{FF2B5EF4-FFF2-40B4-BE49-F238E27FC236}">
                <a16:creationId xmlns:a16="http://schemas.microsoft.com/office/drawing/2014/main" id="{41180D92-BF95-F871-AF64-F4F6DB8559D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96DEF5F0-D9F9-9903-3DD4-76A64CE5D115}"/>
              </a:ext>
            </a:extLst>
          </p:cNvPr>
          <p:cNvSpPr>
            <a:spLocks noGrp="1"/>
          </p:cNvSpPr>
          <p:nvPr>
            <p:ph type="sldNum" sz="quarter" idx="12"/>
          </p:nvPr>
        </p:nvSpPr>
        <p:spPr/>
        <p:txBody>
          <a:bodyPr/>
          <a:lstStyle/>
          <a:p>
            <a:fld id="{FACB5482-D393-4E2D-8FB7-B68A06B80F1E}" type="slidenum">
              <a:rPr lang="en-IN" smtClean="0"/>
              <a:t>69</a:t>
            </a:fld>
            <a:endParaRPr lang="en-IN"/>
          </a:p>
        </p:txBody>
      </p:sp>
    </p:spTree>
    <p:extLst>
      <p:ext uri="{BB962C8B-B14F-4D97-AF65-F5344CB8AC3E}">
        <p14:creationId xmlns:p14="http://schemas.microsoft.com/office/powerpoint/2010/main" val="7852810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3. Create model</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1D1A2E5-3F7A-EFF5-8D84-AF624A6CB1B7}"/>
              </a:ext>
            </a:extLst>
          </p:cNvPr>
          <p:cNvPicPr>
            <a:picLocks noChangeAspect="1"/>
          </p:cNvPicPr>
          <p:nvPr/>
        </p:nvPicPr>
        <p:blipFill>
          <a:blip r:embed="rId4"/>
          <a:stretch>
            <a:fillRect/>
          </a:stretch>
        </p:blipFill>
        <p:spPr>
          <a:xfrm>
            <a:off x="715256" y="2418063"/>
            <a:ext cx="8326012" cy="3096057"/>
          </a:xfrm>
          <a:prstGeom prst="rect">
            <a:avLst/>
          </a:prstGeom>
        </p:spPr>
      </p:pic>
      <p:sp>
        <p:nvSpPr>
          <p:cNvPr id="3" name="Footer Placeholder 2">
            <a:extLst>
              <a:ext uri="{FF2B5EF4-FFF2-40B4-BE49-F238E27FC236}">
                <a16:creationId xmlns:a16="http://schemas.microsoft.com/office/drawing/2014/main" id="{019D1430-53E3-FAD5-0CF1-6076D4B6087F}"/>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6516021B-5420-61C5-146E-5B8D7EDA03C7}"/>
              </a:ext>
            </a:extLst>
          </p:cNvPr>
          <p:cNvSpPr>
            <a:spLocks noGrp="1"/>
          </p:cNvSpPr>
          <p:nvPr>
            <p:ph type="sldNum" sz="quarter" idx="12"/>
          </p:nvPr>
        </p:nvSpPr>
        <p:spPr/>
        <p:txBody>
          <a:bodyPr/>
          <a:lstStyle/>
          <a:p>
            <a:fld id="{FACB5482-D393-4E2D-8FB7-B68A06B80F1E}" type="slidenum">
              <a:rPr lang="en-IN" smtClean="0"/>
              <a:t>70</a:t>
            </a:fld>
            <a:endParaRPr lang="en-IN"/>
          </a:p>
        </p:txBody>
      </p:sp>
    </p:spTree>
    <p:extLst>
      <p:ext uri="{BB962C8B-B14F-4D97-AF65-F5344CB8AC3E}">
        <p14:creationId xmlns:p14="http://schemas.microsoft.com/office/powerpoint/2010/main" val="5708568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4. Define the view functions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9E8E98B-5EDB-66EE-D58E-EB9977BD3C03}"/>
              </a:ext>
            </a:extLst>
          </p:cNvPr>
          <p:cNvPicPr>
            <a:picLocks noChangeAspect="1"/>
          </p:cNvPicPr>
          <p:nvPr/>
        </p:nvPicPr>
        <p:blipFill>
          <a:blip r:embed="rId4"/>
          <a:stretch>
            <a:fillRect/>
          </a:stretch>
        </p:blipFill>
        <p:spPr>
          <a:xfrm>
            <a:off x="822959" y="2299134"/>
            <a:ext cx="6309361" cy="4488307"/>
          </a:xfrm>
          <a:prstGeom prst="rect">
            <a:avLst/>
          </a:prstGeom>
        </p:spPr>
      </p:pic>
      <p:sp>
        <p:nvSpPr>
          <p:cNvPr id="3" name="Footer Placeholder 2">
            <a:extLst>
              <a:ext uri="{FF2B5EF4-FFF2-40B4-BE49-F238E27FC236}">
                <a16:creationId xmlns:a16="http://schemas.microsoft.com/office/drawing/2014/main" id="{0AA2BD6F-7587-B7E3-A42E-7DA4B522C26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7220ED7D-6C87-697B-6104-BA859D7D3234}"/>
              </a:ext>
            </a:extLst>
          </p:cNvPr>
          <p:cNvSpPr>
            <a:spLocks noGrp="1"/>
          </p:cNvSpPr>
          <p:nvPr>
            <p:ph type="sldNum" sz="quarter" idx="12"/>
          </p:nvPr>
        </p:nvSpPr>
        <p:spPr/>
        <p:txBody>
          <a:bodyPr/>
          <a:lstStyle/>
          <a:p>
            <a:fld id="{FACB5482-D393-4E2D-8FB7-B68A06B80F1E}" type="slidenum">
              <a:rPr lang="en-IN" smtClean="0"/>
              <a:t>71</a:t>
            </a:fld>
            <a:endParaRPr lang="en-IN"/>
          </a:p>
        </p:txBody>
      </p:sp>
    </p:spTree>
    <p:extLst>
      <p:ext uri="{BB962C8B-B14F-4D97-AF65-F5344CB8AC3E}">
        <p14:creationId xmlns:p14="http://schemas.microsoft.com/office/powerpoint/2010/main" val="26191129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416279"/>
          </a:xfrm>
          <a:prstGeom prst="rect">
            <a:avLst/>
          </a:prstGeom>
          <a:noFill/>
          <a:ln>
            <a:noFill/>
          </a:ln>
        </p:spPr>
        <p:txBody>
          <a:bodyPr spcFirstLastPara="1" wrap="square" lIns="91425" tIns="45700" rIns="91425" bIns="45700" anchor="t" anchorCtr="0">
            <a:spAutoFit/>
          </a:bodyPr>
          <a:lstStyle/>
          <a:p>
            <a:pPr marR="0" lvl="0" algn="just" rtl="0">
              <a:lnSpc>
                <a:spcPct val="20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Explanation</a:t>
            </a:r>
          </a:p>
          <a:p>
            <a:pPr marR="0" lvl="0" algn="just" rtl="0">
              <a:lnSpc>
                <a:spcPct val="200000"/>
              </a:lnSpc>
              <a:spcBef>
                <a:spcPts val="0"/>
              </a:spcBef>
              <a:spcAft>
                <a:spcPts val="0"/>
              </a:spcAft>
              <a:buClr>
                <a:srgbClr val="262626"/>
              </a:buClr>
              <a:buSzPts val="1800"/>
            </a:pPr>
            <a:r>
              <a:rPr lang="en-US" sz="1800" dirty="0">
                <a:latin typeface="Calibri" panose="020F0502020204030204" pitchFamily="34" charset="0"/>
                <a:ea typeface="Calibri" panose="020F0502020204030204" pitchFamily="34" charset="0"/>
                <a:cs typeface="Calibri" panose="020F0502020204030204" pitchFamily="34" charset="0"/>
              </a:rPr>
              <a:t>There are three view functions are defined in “routes.py” -</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The </a:t>
            </a:r>
            <a:r>
              <a:rPr lang="en-US" sz="1800" dirty="0">
                <a:latin typeface="Batang" panose="02030600000101010101" pitchFamily="18" charset="-127"/>
                <a:ea typeface="Batang" panose="02030600000101010101" pitchFamily="18" charset="-127"/>
                <a:cs typeface="Calibri" panose="020F0502020204030204" pitchFamily="34" charset="0"/>
              </a:rPr>
              <a:t>index() </a:t>
            </a:r>
            <a:r>
              <a:rPr lang="en-US" sz="1800" dirty="0">
                <a:latin typeface="Calibri" panose="020F0502020204030204" pitchFamily="34" charset="0"/>
                <a:ea typeface="Calibri" panose="020F0502020204030204" pitchFamily="34" charset="0"/>
                <a:cs typeface="Calibri" panose="020F0502020204030204" pitchFamily="34" charset="0"/>
              </a:rPr>
              <a:t>renders the “index.html” template, which contains a form for adding new users.</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The </a:t>
            </a:r>
            <a:r>
              <a:rPr lang="en-US" sz="1800" dirty="0">
                <a:latin typeface="Batang" panose="02030600000101010101" pitchFamily="18" charset="-127"/>
                <a:ea typeface="Batang" panose="02030600000101010101" pitchFamily="18" charset="-127"/>
                <a:cs typeface="Calibri" panose="020F0502020204030204" pitchFamily="34" charset="0"/>
              </a:rPr>
              <a:t>users() </a:t>
            </a:r>
            <a:r>
              <a:rPr lang="en-US" sz="1800" dirty="0">
                <a:latin typeface="Calibri" panose="020F0502020204030204" pitchFamily="34" charset="0"/>
                <a:ea typeface="Calibri" panose="020F0502020204030204" pitchFamily="34" charset="0"/>
                <a:cs typeface="Calibri" panose="020F0502020204030204" pitchFamily="34" charset="0"/>
              </a:rPr>
              <a:t>retrieves all users from the database and display those by rendering the “users.html” template.</a:t>
            </a:r>
          </a:p>
          <a:p>
            <a:pPr marL="285750" marR="0" lvl="0" indent="-285750" algn="just" rtl="0">
              <a:lnSpc>
                <a:spcPct val="20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The </a:t>
            </a:r>
            <a:r>
              <a:rPr lang="en-US" sz="1800" dirty="0" err="1">
                <a:latin typeface="Batang" panose="02030600000101010101" pitchFamily="18" charset="-127"/>
                <a:ea typeface="Batang" panose="02030600000101010101" pitchFamily="18" charset="-127"/>
                <a:cs typeface="Calibri" panose="020F0502020204030204" pitchFamily="34" charset="0"/>
              </a:rPr>
              <a:t>add_user</a:t>
            </a:r>
            <a:r>
              <a:rPr lang="en-US" sz="1800" dirty="0">
                <a:latin typeface="Batang" panose="02030600000101010101" pitchFamily="18" charset="-127"/>
                <a:ea typeface="Batang" panose="02030600000101010101" pitchFamily="18" charset="-127"/>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handles the form submission adds a new user to the database and redirects to the </a:t>
            </a:r>
            <a:r>
              <a:rPr lang="en-US" sz="1800" dirty="0">
                <a:latin typeface="Batang" panose="02030600000101010101" pitchFamily="18" charset="-127"/>
                <a:ea typeface="Batang" panose="02030600000101010101" pitchFamily="18" charset="-127"/>
                <a:cs typeface="Calibri" panose="020F0502020204030204" pitchFamily="34" charset="0"/>
              </a:rPr>
              <a:t>users</a:t>
            </a:r>
            <a:r>
              <a:rPr lang="en-US" sz="1800" dirty="0">
                <a:latin typeface="Calibri" panose="020F0502020204030204" pitchFamily="34" charset="0"/>
                <a:ea typeface="Calibri" panose="020F0502020204030204" pitchFamily="34" charset="0"/>
                <a:cs typeface="Calibri" panose="020F0502020204030204" pitchFamily="34" charset="0"/>
              </a:rPr>
              <a:t> page to show the updated list of users.</a:t>
            </a:r>
          </a:p>
        </p:txBody>
      </p:sp>
      <p:sp>
        <p:nvSpPr>
          <p:cNvPr id="3" name="Footer Placeholder 2">
            <a:extLst>
              <a:ext uri="{FF2B5EF4-FFF2-40B4-BE49-F238E27FC236}">
                <a16:creationId xmlns:a16="http://schemas.microsoft.com/office/drawing/2014/main" id="{065C348A-AE1F-42F1-1AA3-1B023CA00783}"/>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A5A2A9AA-DCD1-DA69-CB2E-E87FD5B1FF7E}"/>
              </a:ext>
            </a:extLst>
          </p:cNvPr>
          <p:cNvSpPr>
            <a:spLocks noGrp="1"/>
          </p:cNvSpPr>
          <p:nvPr>
            <p:ph type="sldNum" sz="quarter" idx="12"/>
          </p:nvPr>
        </p:nvSpPr>
        <p:spPr/>
        <p:txBody>
          <a:bodyPr/>
          <a:lstStyle/>
          <a:p>
            <a:fld id="{FACB5482-D393-4E2D-8FB7-B68A06B80F1E}" type="slidenum">
              <a:rPr lang="en-IN" smtClean="0"/>
              <a:t>72</a:t>
            </a:fld>
            <a:endParaRPr lang="en-IN"/>
          </a:p>
        </p:txBody>
      </p:sp>
    </p:spTree>
    <p:extLst>
      <p:ext uri="{BB962C8B-B14F-4D97-AF65-F5344CB8AC3E}">
        <p14:creationId xmlns:p14="http://schemas.microsoft.com/office/powerpoint/2010/main" val="3880726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5. Create html templates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7CB2C4F-482A-7B9D-F510-6497E1D783F8}"/>
              </a:ext>
            </a:extLst>
          </p:cNvPr>
          <p:cNvPicPr>
            <a:picLocks noChangeAspect="1"/>
          </p:cNvPicPr>
          <p:nvPr/>
        </p:nvPicPr>
        <p:blipFill>
          <a:blip r:embed="rId4"/>
          <a:srcRect/>
          <a:stretch/>
        </p:blipFill>
        <p:spPr>
          <a:xfrm>
            <a:off x="822959" y="2434363"/>
            <a:ext cx="8276344" cy="4211055"/>
          </a:xfrm>
          <a:prstGeom prst="rect">
            <a:avLst/>
          </a:prstGeom>
        </p:spPr>
      </p:pic>
      <p:sp>
        <p:nvSpPr>
          <p:cNvPr id="3" name="Footer Placeholder 2">
            <a:extLst>
              <a:ext uri="{FF2B5EF4-FFF2-40B4-BE49-F238E27FC236}">
                <a16:creationId xmlns:a16="http://schemas.microsoft.com/office/drawing/2014/main" id="{06B0BB21-D0FA-7959-6D4B-A576957E6D3B}"/>
              </a:ext>
            </a:extLst>
          </p:cNvPr>
          <p:cNvSpPr>
            <a:spLocks noGrp="1"/>
          </p:cNvSpPr>
          <p:nvPr>
            <p:ph type="ftr" sz="quarter" idx="11"/>
          </p:nvPr>
        </p:nvSpPr>
        <p:spPr/>
        <p:txBody>
          <a:bodyPr/>
          <a:lstStyle/>
          <a:p>
            <a:r>
              <a:rPr lang="en-IN"/>
              <a:t>Web Developer - Python</a:t>
            </a:r>
          </a:p>
        </p:txBody>
      </p:sp>
      <p:sp>
        <p:nvSpPr>
          <p:cNvPr id="5" name="Slide Number Placeholder 4">
            <a:extLst>
              <a:ext uri="{FF2B5EF4-FFF2-40B4-BE49-F238E27FC236}">
                <a16:creationId xmlns:a16="http://schemas.microsoft.com/office/drawing/2014/main" id="{F9C6E55F-8E71-D7E4-1757-AE96A4257965}"/>
              </a:ext>
            </a:extLst>
          </p:cNvPr>
          <p:cNvSpPr>
            <a:spLocks noGrp="1"/>
          </p:cNvSpPr>
          <p:nvPr>
            <p:ph type="sldNum" sz="quarter" idx="12"/>
          </p:nvPr>
        </p:nvSpPr>
        <p:spPr/>
        <p:txBody>
          <a:bodyPr/>
          <a:lstStyle/>
          <a:p>
            <a:fld id="{FACB5482-D393-4E2D-8FB7-B68A06B80F1E}" type="slidenum">
              <a:rPr lang="en-IN" smtClean="0"/>
              <a:t>73</a:t>
            </a:fld>
            <a:endParaRPr lang="en-IN"/>
          </a:p>
        </p:txBody>
      </p:sp>
    </p:spTree>
    <p:extLst>
      <p:ext uri="{BB962C8B-B14F-4D97-AF65-F5344CB8AC3E}">
        <p14:creationId xmlns:p14="http://schemas.microsoft.com/office/powerpoint/2010/main" val="18225733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5. Create html templates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1BD6A206-A379-8B10-B845-E0F412C2CF5E}"/>
              </a:ext>
            </a:extLst>
          </p:cNvPr>
          <p:cNvPicPr>
            <a:picLocks noChangeAspect="1"/>
          </p:cNvPicPr>
          <p:nvPr/>
        </p:nvPicPr>
        <p:blipFill>
          <a:blip r:embed="rId4"/>
          <a:stretch>
            <a:fillRect/>
          </a:stretch>
        </p:blipFill>
        <p:spPr>
          <a:xfrm>
            <a:off x="822959" y="2418063"/>
            <a:ext cx="7000241" cy="4271465"/>
          </a:xfrm>
          <a:prstGeom prst="rect">
            <a:avLst/>
          </a:prstGeom>
        </p:spPr>
      </p:pic>
      <p:sp>
        <p:nvSpPr>
          <p:cNvPr id="3" name="Footer Placeholder 2">
            <a:extLst>
              <a:ext uri="{FF2B5EF4-FFF2-40B4-BE49-F238E27FC236}">
                <a16:creationId xmlns:a16="http://schemas.microsoft.com/office/drawing/2014/main" id="{37FABA03-3CFC-CDD4-D793-411B22B761BE}"/>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61449C81-D894-B91D-3BCD-1A09C4F57A65}"/>
              </a:ext>
            </a:extLst>
          </p:cNvPr>
          <p:cNvSpPr>
            <a:spLocks noGrp="1"/>
          </p:cNvSpPr>
          <p:nvPr>
            <p:ph type="sldNum" sz="quarter" idx="12"/>
          </p:nvPr>
        </p:nvSpPr>
        <p:spPr/>
        <p:txBody>
          <a:bodyPr/>
          <a:lstStyle/>
          <a:p>
            <a:fld id="{FACB5482-D393-4E2D-8FB7-B68A06B80F1E}" type="slidenum">
              <a:rPr lang="en-IN" smtClean="0"/>
              <a:t>74</a:t>
            </a:fld>
            <a:endParaRPr lang="en-IN"/>
          </a:p>
        </p:txBody>
      </p:sp>
    </p:spTree>
    <p:extLst>
      <p:ext uri="{BB962C8B-B14F-4D97-AF65-F5344CB8AC3E}">
        <p14:creationId xmlns:p14="http://schemas.microsoft.com/office/powerpoint/2010/main" val="31344106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369291"/>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5. Create html templates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1BD6A206-A379-8B10-B845-E0F412C2CF5E}"/>
              </a:ext>
            </a:extLst>
          </p:cNvPr>
          <p:cNvPicPr>
            <a:picLocks noChangeAspect="1"/>
          </p:cNvPicPr>
          <p:nvPr/>
        </p:nvPicPr>
        <p:blipFill>
          <a:blip r:embed="rId4"/>
          <a:stretch>
            <a:fillRect/>
          </a:stretch>
        </p:blipFill>
        <p:spPr>
          <a:xfrm>
            <a:off x="822959" y="2418063"/>
            <a:ext cx="7000241" cy="4271465"/>
          </a:xfrm>
          <a:prstGeom prst="rect">
            <a:avLst/>
          </a:prstGeom>
        </p:spPr>
      </p:pic>
      <p:sp>
        <p:nvSpPr>
          <p:cNvPr id="3" name="Footer Placeholder 2">
            <a:extLst>
              <a:ext uri="{FF2B5EF4-FFF2-40B4-BE49-F238E27FC236}">
                <a16:creationId xmlns:a16="http://schemas.microsoft.com/office/drawing/2014/main" id="{7255F118-02CF-ECA0-24E0-5B4C3617DB32}"/>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569D76A6-4C59-4FC0-ED8F-86B78BA0CE16}"/>
              </a:ext>
            </a:extLst>
          </p:cNvPr>
          <p:cNvSpPr>
            <a:spLocks noGrp="1"/>
          </p:cNvSpPr>
          <p:nvPr>
            <p:ph type="sldNum" sz="quarter" idx="12"/>
          </p:nvPr>
        </p:nvSpPr>
        <p:spPr/>
        <p:txBody>
          <a:bodyPr/>
          <a:lstStyle/>
          <a:p>
            <a:fld id="{FACB5482-D393-4E2D-8FB7-B68A06B80F1E}" type="slidenum">
              <a:rPr lang="en-IN" smtClean="0"/>
              <a:t>75</a:t>
            </a:fld>
            <a:endParaRPr lang="en-IN"/>
          </a:p>
        </p:txBody>
      </p:sp>
    </p:spTree>
    <p:extLst>
      <p:ext uri="{BB962C8B-B14F-4D97-AF65-F5344CB8AC3E}">
        <p14:creationId xmlns:p14="http://schemas.microsoft.com/office/powerpoint/2010/main" val="40230394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sp>
        <p:nvSpPr>
          <p:cNvPr id="132" name="Google Shape;132;p5"/>
          <p:cNvSpPr txBox="1"/>
          <p:nvPr/>
        </p:nvSpPr>
        <p:spPr>
          <a:xfrm>
            <a:off x="715256" y="1164624"/>
            <a:ext cx="11019543" cy="6462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dirty="0">
                <a:solidFill>
                  <a:schemeClr val="dk1"/>
                </a:solidFill>
                <a:latin typeface="Calibri"/>
                <a:ea typeface="Calibri"/>
                <a:cs typeface="Calibri"/>
                <a:sym typeface="Calibri"/>
              </a:rPr>
              <a:t>A Flask-SQLite application using “view functions”</a:t>
            </a:r>
          </a:p>
        </p:txBody>
      </p:sp>
      <p:pic>
        <p:nvPicPr>
          <p:cNvPr id="133" name="Google Shape;133;p5" descr="Closed book with solid fill"/>
          <p:cNvPicPr preferRelativeResize="0"/>
          <p:nvPr/>
        </p:nvPicPr>
        <p:blipFill rotWithShape="1">
          <a:blip r:embed="rId3">
            <a:alphaModFix/>
          </a:blip>
          <a:srcRect/>
          <a:stretch/>
        </p:blipFill>
        <p:spPr>
          <a:xfrm>
            <a:off x="304799" y="1283553"/>
            <a:ext cx="518160" cy="408432"/>
          </a:xfrm>
          <a:prstGeom prst="rect">
            <a:avLst/>
          </a:prstGeom>
          <a:noFill/>
          <a:ln>
            <a:noFill/>
          </a:ln>
        </p:spPr>
      </p:pic>
      <p:sp>
        <p:nvSpPr>
          <p:cNvPr id="2" name="Google Shape;134;p5">
            <a:extLst>
              <a:ext uri="{FF2B5EF4-FFF2-40B4-BE49-F238E27FC236}">
                <a16:creationId xmlns:a16="http://schemas.microsoft.com/office/drawing/2014/main" id="{C60CBAD1-03ED-475D-D374-D04CFC855F71}"/>
              </a:ext>
            </a:extLst>
          </p:cNvPr>
          <p:cNvSpPr txBox="1"/>
          <p:nvPr/>
        </p:nvSpPr>
        <p:spPr>
          <a:xfrm>
            <a:off x="715256" y="1929843"/>
            <a:ext cx="11019543" cy="1338788"/>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Clr>
                <a:srgbClr val="262626"/>
              </a:buClr>
              <a:buSzPts val="1800"/>
            </a:pPr>
            <a:r>
              <a:rPr lang="en-US" sz="1800" b="1" dirty="0">
                <a:latin typeface="Calibri" panose="020F0502020204030204" pitchFamily="34" charset="0"/>
                <a:ea typeface="Calibri" panose="020F0502020204030204" pitchFamily="34" charset="0"/>
                <a:cs typeface="Calibri" panose="020F0502020204030204" pitchFamily="34" charset="0"/>
              </a:rPr>
              <a:t>6. Run the app</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python run.py</a:t>
            </a:r>
          </a:p>
          <a:p>
            <a:pPr marL="285750" marR="0" lvl="0" indent="-285750" algn="just" rtl="0">
              <a:lnSpc>
                <a:spcPct val="150000"/>
              </a:lnSpc>
              <a:spcBef>
                <a:spcPts val="0"/>
              </a:spcBef>
              <a:spcAft>
                <a:spcPts val="0"/>
              </a:spcAft>
              <a:buClr>
                <a:srgbClr val="262626"/>
              </a:buClr>
              <a:buSzPts val="18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Open your web browser and navigate to http://127.0.0.1:5000/</a:t>
            </a:r>
          </a:p>
        </p:txBody>
      </p:sp>
      <p:pic>
        <p:nvPicPr>
          <p:cNvPr id="6" name="Picture 5">
            <a:extLst>
              <a:ext uri="{FF2B5EF4-FFF2-40B4-BE49-F238E27FC236}">
                <a16:creationId xmlns:a16="http://schemas.microsoft.com/office/drawing/2014/main" id="{BF5990C9-D861-363B-A7C4-77C1A0C6441A}"/>
              </a:ext>
            </a:extLst>
          </p:cNvPr>
          <p:cNvPicPr>
            <a:picLocks noChangeAspect="1"/>
          </p:cNvPicPr>
          <p:nvPr/>
        </p:nvPicPr>
        <p:blipFill>
          <a:blip r:embed="rId4"/>
          <a:stretch>
            <a:fillRect/>
          </a:stretch>
        </p:blipFill>
        <p:spPr>
          <a:xfrm>
            <a:off x="822959" y="3688881"/>
            <a:ext cx="8240275" cy="2162477"/>
          </a:xfrm>
          <a:prstGeom prst="rect">
            <a:avLst/>
          </a:prstGeom>
        </p:spPr>
      </p:pic>
      <p:sp>
        <p:nvSpPr>
          <p:cNvPr id="3" name="Footer Placeholder 2">
            <a:extLst>
              <a:ext uri="{FF2B5EF4-FFF2-40B4-BE49-F238E27FC236}">
                <a16:creationId xmlns:a16="http://schemas.microsoft.com/office/drawing/2014/main" id="{21E4402D-6723-CC1D-3C19-BA96E946AE31}"/>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D0CEA93D-89F3-0CC8-930D-C371E6E24393}"/>
              </a:ext>
            </a:extLst>
          </p:cNvPr>
          <p:cNvSpPr>
            <a:spLocks noGrp="1"/>
          </p:cNvSpPr>
          <p:nvPr>
            <p:ph type="sldNum" sz="quarter" idx="12"/>
          </p:nvPr>
        </p:nvSpPr>
        <p:spPr/>
        <p:txBody>
          <a:bodyPr/>
          <a:lstStyle/>
          <a:p>
            <a:fld id="{FACB5482-D393-4E2D-8FB7-B68A06B80F1E}" type="slidenum">
              <a:rPr lang="en-IN" smtClean="0"/>
              <a:t>76</a:t>
            </a:fld>
            <a:endParaRPr lang="en-IN"/>
          </a:p>
        </p:txBody>
      </p:sp>
    </p:spTree>
    <p:extLst>
      <p:ext uri="{BB962C8B-B14F-4D97-AF65-F5344CB8AC3E}">
        <p14:creationId xmlns:p14="http://schemas.microsoft.com/office/powerpoint/2010/main" val="890696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3970277"/>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User Management System</a:t>
            </a:r>
          </a:p>
          <a:p>
            <a:pPr algn="just">
              <a:lnSpc>
                <a:spcPct val="150000"/>
              </a:lnSpc>
              <a:buClr>
                <a:srgbClr val="262626"/>
              </a:buClr>
              <a:buSzPts val="1800"/>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Background</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are tasked with developing a simple web application to manage user information using Flask and SQLite. The application should allow adding new users and displaying a list of existing users.</a:t>
            </a:r>
          </a:p>
          <a:p>
            <a:pPr algn="just">
              <a:lnSpc>
                <a:spcPct val="150000"/>
              </a:lnSpc>
              <a:buClr>
                <a:srgbClr val="262626"/>
              </a:buClr>
              <a:buSzPts val="1800"/>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Scenario</a:t>
            </a:r>
          </a:p>
          <a:p>
            <a:pPr algn="just">
              <a:lnSpc>
                <a:spcPct val="150000"/>
              </a:lnSpc>
              <a:buClr>
                <a:srgbClr val="262626"/>
              </a:buClr>
              <a:buSzPts val="1800"/>
            </a:pPr>
            <a:r>
              <a:rPr lang="en-US" sz="1600" dirty="0">
                <a:latin typeface="Calibri" panose="020F0502020204030204" pitchFamily="34" charset="0"/>
                <a:ea typeface="Calibri" panose="020F0502020204030204" pitchFamily="34" charset="0"/>
                <a:cs typeface="Calibri" panose="020F0502020204030204" pitchFamily="34" charset="0"/>
              </a:rPr>
              <a:t>You have been provided with a Flask application framework (app.py), along with auxiliary files (routes.py, models.py, and config.py). Additionally, an SQLite database (</a:t>
            </a:r>
            <a:r>
              <a:rPr lang="en-US" sz="1600" dirty="0" err="1">
                <a:latin typeface="Calibri" panose="020F0502020204030204" pitchFamily="34" charset="0"/>
                <a:ea typeface="Calibri" panose="020F0502020204030204" pitchFamily="34" charset="0"/>
                <a:cs typeface="Calibri" panose="020F0502020204030204" pitchFamily="34" charset="0"/>
              </a:rPr>
              <a:t>site.db</a:t>
            </a:r>
            <a:r>
              <a:rPr lang="en-US" sz="1600" dirty="0">
                <a:latin typeface="Calibri" panose="020F0502020204030204" pitchFamily="34" charset="0"/>
                <a:ea typeface="Calibri" panose="020F0502020204030204" pitchFamily="34" charset="0"/>
                <a:cs typeface="Calibri" panose="020F0502020204030204" pitchFamily="34" charset="0"/>
              </a:rPr>
              <a:t>) is set up with a User table, which includes columns id (Integer, Primary Key) and username (String, Unique).</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B7F09B60-76B6-C010-7ED0-5B3015CF3466}"/>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5B85420B-DA34-09D9-4090-5F3DAB30B6E5}"/>
              </a:ext>
            </a:extLst>
          </p:cNvPr>
          <p:cNvSpPr>
            <a:spLocks noGrp="1"/>
          </p:cNvSpPr>
          <p:nvPr>
            <p:ph type="sldNum" sz="quarter" idx="12"/>
          </p:nvPr>
        </p:nvSpPr>
        <p:spPr/>
        <p:txBody>
          <a:bodyPr/>
          <a:lstStyle/>
          <a:p>
            <a:fld id="{FACB5482-D393-4E2D-8FB7-B68A06B80F1E}" type="slidenum">
              <a:rPr lang="en-IN" smtClean="0"/>
              <a:t>77</a:t>
            </a:fld>
            <a:endParaRPr lang="en-IN"/>
          </a:p>
        </p:txBody>
      </p:sp>
    </p:spTree>
    <p:extLst>
      <p:ext uri="{BB962C8B-B14F-4D97-AF65-F5344CB8AC3E}">
        <p14:creationId xmlns:p14="http://schemas.microsoft.com/office/powerpoint/2010/main" val="30917108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4" name="Google Shape;134;p5"/>
          <p:cNvSpPr txBox="1"/>
          <p:nvPr/>
        </p:nvSpPr>
        <p:spPr>
          <a:xfrm>
            <a:off x="619759" y="1726162"/>
            <a:ext cx="11115039" cy="5078273"/>
          </a:xfrm>
          <a:prstGeom prst="rect">
            <a:avLst/>
          </a:prstGeom>
          <a:noFill/>
          <a:ln>
            <a:noFill/>
          </a:ln>
        </p:spPr>
        <p:txBody>
          <a:bodyPr spcFirstLastPara="1" wrap="square" lIns="91425" tIns="45700" rIns="91425" bIns="45700" anchor="t" anchorCtr="0">
            <a:spAutoFit/>
          </a:bodyPr>
          <a:lstStyle/>
          <a:p>
            <a:pPr algn="just">
              <a:lnSpc>
                <a:spcPct val="150000"/>
              </a:lnSpc>
              <a:buClr>
                <a:srgbClr val="262626"/>
              </a:buClr>
              <a:buSzPts val="1800"/>
            </a:pPr>
            <a:r>
              <a:rPr lang="en-US" sz="2400" dirty="0">
                <a:latin typeface="Calibri" panose="020F0502020204030204" pitchFamily="34" charset="0"/>
                <a:ea typeface="Calibri" panose="020F0502020204030204" pitchFamily="34" charset="0"/>
                <a:cs typeface="Calibri" panose="020F0502020204030204" pitchFamily="34" charset="0"/>
              </a:rPr>
              <a:t>Case Study: User Management System</a:t>
            </a:r>
          </a:p>
          <a:p>
            <a:pPr algn="just">
              <a:lnSpc>
                <a:spcPct val="150000"/>
              </a:lnSpc>
              <a:buClr>
                <a:srgbClr val="262626"/>
              </a:buClr>
              <a:buSzPts val="1800"/>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Tasks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app.py: Implement view functions to display HTML form (index.html) where users can add new usernames. Upon submitting the form, the view function should add the new username to the SQLite database and redirect to a page (users.html) displaying all.</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routes.py: Define routes for handling user interactions, such as adding new users and displaying existing users.</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models.py: Create a SQLAlchemy model (User) to interact with the User table in SQLite, defining the schema for user data.</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config.py: Configure Flask and SQLAlchemy settings, including the database URI and tracking modifications.</a:t>
            </a:r>
          </a:p>
          <a:p>
            <a:pPr marL="285750" indent="-285750" algn="just">
              <a:lnSpc>
                <a:spcPct val="150000"/>
              </a:lnSpc>
              <a:buClr>
                <a:srgbClr val="262626"/>
              </a:buClr>
              <a:buSzPts val="1800"/>
              <a:buFont typeface="Wingdings" panose="05000000000000000000" pitchFamily="2" charset="2"/>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Clr>
                <a:srgbClr val="262626"/>
              </a:buClr>
              <a:buSzPts val="1800"/>
            </a:pPr>
            <a:r>
              <a:rPr lang="en-US" sz="1600" b="1" dirty="0">
                <a:latin typeface="Calibri" panose="020F0502020204030204" pitchFamily="34" charset="0"/>
                <a:ea typeface="Calibri" panose="020F0502020204030204" pitchFamily="34" charset="0"/>
                <a:cs typeface="Calibri" panose="020F0502020204030204" pitchFamily="34" charset="0"/>
              </a:rPr>
              <a:t>Requirements</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Use Flask for routing and rendering templates.</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Utilize SQLAlchemy to interact with the SQLite database (</a:t>
            </a:r>
            <a:r>
              <a:rPr lang="en-US" sz="1600" dirty="0" err="1">
                <a:latin typeface="Calibri" panose="020F0502020204030204" pitchFamily="34" charset="0"/>
                <a:ea typeface="Calibri" panose="020F0502020204030204" pitchFamily="34" charset="0"/>
                <a:cs typeface="Calibri" panose="020F0502020204030204" pitchFamily="34" charset="0"/>
              </a:rPr>
              <a:t>site.db</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ct val="150000"/>
              </a:lnSpc>
              <a:buClr>
                <a:srgbClr val="262626"/>
              </a:buClr>
              <a:buSzPts val="180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Ensure each template (index.html and users.html) is properly rendered and functional.</a:t>
            </a:r>
          </a:p>
        </p:txBody>
      </p:sp>
      <p:sp>
        <p:nvSpPr>
          <p:cNvPr id="131" name="Google Shape;131;p5"/>
          <p:cNvSpPr txBox="1"/>
          <p:nvPr/>
        </p:nvSpPr>
        <p:spPr>
          <a:xfrm>
            <a:off x="304799" y="176513"/>
            <a:ext cx="114300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Database use in view functions</a:t>
            </a:r>
          </a:p>
        </p:txBody>
      </p:sp>
      <p:pic>
        <p:nvPicPr>
          <p:cNvPr id="2" name="Google Shape;107;p2">
            <a:extLst>
              <a:ext uri="{FF2B5EF4-FFF2-40B4-BE49-F238E27FC236}">
                <a16:creationId xmlns:a16="http://schemas.microsoft.com/office/drawing/2014/main" id="{E4E568A7-ECF2-CACE-E388-57515818F00F}"/>
              </a:ext>
            </a:extLst>
          </p:cNvPr>
          <p:cNvPicPr preferRelativeResize="0"/>
          <p:nvPr/>
        </p:nvPicPr>
        <p:blipFill rotWithShape="1">
          <a:blip r:embed="rId3">
            <a:alphaModFix/>
          </a:blip>
          <a:srcRect/>
          <a:stretch/>
        </p:blipFill>
        <p:spPr>
          <a:xfrm>
            <a:off x="419540" y="1333464"/>
            <a:ext cx="898400" cy="477450"/>
          </a:xfrm>
          <a:prstGeom prst="rect">
            <a:avLst/>
          </a:prstGeom>
          <a:noFill/>
          <a:ln>
            <a:noFill/>
          </a:ln>
        </p:spPr>
      </p:pic>
      <p:sp>
        <p:nvSpPr>
          <p:cNvPr id="3" name="Footer Placeholder 2">
            <a:extLst>
              <a:ext uri="{FF2B5EF4-FFF2-40B4-BE49-F238E27FC236}">
                <a16:creationId xmlns:a16="http://schemas.microsoft.com/office/drawing/2014/main" id="{77005CD7-EB5F-A7CE-7520-7952145B9984}"/>
              </a:ext>
            </a:extLst>
          </p:cNvPr>
          <p:cNvSpPr>
            <a:spLocks noGrp="1"/>
          </p:cNvSpPr>
          <p:nvPr>
            <p:ph type="ftr" sz="quarter" idx="11"/>
          </p:nvPr>
        </p:nvSpPr>
        <p:spPr/>
        <p:txBody>
          <a:bodyPr/>
          <a:lstStyle/>
          <a:p>
            <a:r>
              <a:rPr lang="en-IN"/>
              <a:t>Web Developer - Python</a:t>
            </a:r>
          </a:p>
        </p:txBody>
      </p:sp>
      <p:sp>
        <p:nvSpPr>
          <p:cNvPr id="4" name="Slide Number Placeholder 3">
            <a:extLst>
              <a:ext uri="{FF2B5EF4-FFF2-40B4-BE49-F238E27FC236}">
                <a16:creationId xmlns:a16="http://schemas.microsoft.com/office/drawing/2014/main" id="{2FA15D94-5D8E-550D-EE8C-FFCBE2D0C2CF}"/>
              </a:ext>
            </a:extLst>
          </p:cNvPr>
          <p:cNvSpPr>
            <a:spLocks noGrp="1"/>
          </p:cNvSpPr>
          <p:nvPr>
            <p:ph type="sldNum" sz="quarter" idx="12"/>
          </p:nvPr>
        </p:nvSpPr>
        <p:spPr/>
        <p:txBody>
          <a:bodyPr/>
          <a:lstStyle/>
          <a:p>
            <a:fld id="{FACB5482-D393-4E2D-8FB7-B68A06B80F1E}" type="slidenum">
              <a:rPr lang="en-IN" smtClean="0"/>
              <a:t>78</a:t>
            </a:fld>
            <a:endParaRPr lang="en-IN"/>
          </a:p>
        </p:txBody>
      </p:sp>
    </p:spTree>
    <p:extLst>
      <p:ext uri="{BB962C8B-B14F-4D97-AF65-F5344CB8AC3E}">
        <p14:creationId xmlns:p14="http://schemas.microsoft.com/office/powerpoint/2010/main" val="27417905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8"/>
          <p:cNvSpPr txBox="1"/>
          <p:nvPr/>
        </p:nvSpPr>
        <p:spPr>
          <a:xfrm>
            <a:off x="3063240" y="3167390"/>
            <a:ext cx="606552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800" b="0" dirty="0">
                <a:solidFill>
                  <a:srgbClr val="C00000"/>
                </a:solidFill>
                <a:latin typeface="Calibri" panose="020F0502020204030204" pitchFamily="34" charset="0"/>
                <a:ea typeface="Calibri" panose="020F0502020204030204" pitchFamily="34" charset="0"/>
                <a:cs typeface="Calibri" panose="020F0502020204030204" pitchFamily="34" charset="0"/>
                <a:sym typeface="Quattrocento Sans"/>
              </a:rPr>
              <a:t>Question?</a:t>
            </a:r>
            <a:endParaRPr sz="2800" b="0" dirty="0">
              <a:solidFill>
                <a:srgbClr val="C00000"/>
              </a:solidFill>
              <a:latin typeface="Calibri" panose="020F0502020204030204" pitchFamily="34" charset="0"/>
              <a:ea typeface="Calibri" panose="020F0502020204030204" pitchFamily="34" charset="0"/>
              <a:cs typeface="Calibri" panose="020F0502020204030204" pitchFamily="34" charset="0"/>
              <a:sym typeface="Quattrocento Sans"/>
            </a:endParaRPr>
          </a:p>
        </p:txBody>
      </p:sp>
      <p:sp>
        <p:nvSpPr>
          <p:cNvPr id="2" name="Footer Placeholder 1">
            <a:extLst>
              <a:ext uri="{FF2B5EF4-FFF2-40B4-BE49-F238E27FC236}">
                <a16:creationId xmlns:a16="http://schemas.microsoft.com/office/drawing/2014/main" id="{95CF0554-F1AC-D69D-617C-C99E934B8305}"/>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A1E0C297-9458-2BEC-9975-546A1A3B7F4C}"/>
              </a:ext>
            </a:extLst>
          </p:cNvPr>
          <p:cNvSpPr>
            <a:spLocks noGrp="1"/>
          </p:cNvSpPr>
          <p:nvPr>
            <p:ph type="sldNum" sz="quarter" idx="12"/>
          </p:nvPr>
        </p:nvSpPr>
        <p:spPr/>
        <p:txBody>
          <a:bodyPr/>
          <a:lstStyle/>
          <a:p>
            <a:fld id="{FACB5482-D393-4E2D-8FB7-B68A06B80F1E}" type="slidenum">
              <a:rPr lang="en-IN" smtClean="0"/>
              <a:t>79</a:t>
            </a:fld>
            <a:endParaRPr lang="en-I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59"/>
          <p:cNvSpPr txBox="1"/>
          <p:nvPr/>
        </p:nvSpPr>
        <p:spPr>
          <a:xfrm>
            <a:off x="3063240" y="3197870"/>
            <a:ext cx="6065520"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4000" b="0" dirty="0">
                <a:solidFill>
                  <a:srgbClr val="3F3F3F"/>
                </a:solidFill>
                <a:latin typeface="Calibri" panose="020F0502020204030204" pitchFamily="34" charset="0"/>
                <a:ea typeface="Calibri" panose="020F0502020204030204" pitchFamily="34" charset="0"/>
                <a:cs typeface="Calibri" panose="020F0502020204030204" pitchFamily="34" charset="0"/>
                <a:sym typeface="Quattrocento Sans"/>
              </a:rPr>
              <a:t>Thank you</a:t>
            </a:r>
            <a:endParaRPr sz="4000" b="0" dirty="0">
              <a:solidFill>
                <a:srgbClr val="3F3F3F"/>
              </a:solidFill>
              <a:latin typeface="Calibri" panose="020F0502020204030204" pitchFamily="34" charset="0"/>
              <a:ea typeface="Calibri" panose="020F0502020204030204" pitchFamily="34" charset="0"/>
              <a:cs typeface="Calibri" panose="020F0502020204030204" pitchFamily="34" charset="0"/>
              <a:sym typeface="Quattrocento Sans"/>
            </a:endParaRPr>
          </a:p>
        </p:txBody>
      </p:sp>
      <p:sp>
        <p:nvSpPr>
          <p:cNvPr id="2" name="Footer Placeholder 1">
            <a:extLst>
              <a:ext uri="{FF2B5EF4-FFF2-40B4-BE49-F238E27FC236}">
                <a16:creationId xmlns:a16="http://schemas.microsoft.com/office/drawing/2014/main" id="{DA483AFE-2080-4039-9831-E995E4CD0443}"/>
              </a:ext>
            </a:extLst>
          </p:cNvPr>
          <p:cNvSpPr>
            <a:spLocks noGrp="1"/>
          </p:cNvSpPr>
          <p:nvPr>
            <p:ph type="ftr" sz="quarter" idx="11"/>
          </p:nvPr>
        </p:nvSpPr>
        <p:spPr/>
        <p:txBody>
          <a:bodyPr/>
          <a:lstStyle/>
          <a:p>
            <a:r>
              <a:rPr lang="en-IN"/>
              <a:t>Web Developer - Python</a:t>
            </a:r>
          </a:p>
        </p:txBody>
      </p:sp>
      <p:sp>
        <p:nvSpPr>
          <p:cNvPr id="3" name="Slide Number Placeholder 2">
            <a:extLst>
              <a:ext uri="{FF2B5EF4-FFF2-40B4-BE49-F238E27FC236}">
                <a16:creationId xmlns:a16="http://schemas.microsoft.com/office/drawing/2014/main" id="{0E9FDAD1-A008-C1B7-AC14-ABCCC6F9BABA}"/>
              </a:ext>
            </a:extLst>
          </p:cNvPr>
          <p:cNvSpPr>
            <a:spLocks noGrp="1"/>
          </p:cNvSpPr>
          <p:nvPr>
            <p:ph type="sldNum" sz="quarter" idx="12"/>
          </p:nvPr>
        </p:nvSpPr>
        <p:spPr/>
        <p:txBody>
          <a:bodyPr/>
          <a:lstStyle/>
          <a:p>
            <a:fld id="{FACB5482-D393-4E2D-8FB7-B68A06B80F1E}" type="slidenum">
              <a:rPr lang="en-IN" smtClean="0"/>
              <a:t>80</a:t>
            </a:fld>
            <a:endParaRPr lang="en-IN"/>
          </a:p>
        </p:txBody>
      </p:sp>
    </p:spTree>
  </p:cSld>
  <p:clrMapOvr>
    <a:masterClrMapping/>
  </p:clrMapOvr>
</p:sld>
</file>

<file path=ppt/theme/theme1.xml><?xml version="1.0" encoding="utf-8"?>
<a:theme xmlns:a="http://schemas.openxmlformats.org/drawingml/2006/main" name="ICT Basic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T Basic Theme" id="{98E71BC8-CEE5-4A46-949E-391C0C874B8F}" vid="{96F7FA2A-5830-4612-98C6-3C5F1D18D7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ICT Basic Theme</Template>
  <TotalTime>5</TotalTime>
  <Words>4682</Words>
  <Application>Microsoft Office PowerPoint</Application>
  <PresentationFormat>Widescreen</PresentationFormat>
  <Paragraphs>641</Paragraphs>
  <Slides>80</Slides>
  <Notes>74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Batang</vt:lpstr>
      <vt:lpstr>Arial</vt:lpstr>
      <vt:lpstr>Calibri</vt:lpstr>
      <vt:lpstr>Calibri Light</vt:lpstr>
      <vt:lpstr>Play</vt:lpstr>
      <vt:lpstr>Wingdings</vt:lpstr>
      <vt:lpstr>ICT Basic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Tamil Selvan</dc:creator>
  <cp:lastModifiedBy>Tamil Selvan</cp:lastModifiedBy>
  <cp:revision>4</cp:revision>
  <dcterms:created xsi:type="dcterms:W3CDTF">2024-07-10T11:57:01Z</dcterms:created>
  <dcterms:modified xsi:type="dcterms:W3CDTF">2024-07-10T12:28:22Z</dcterms:modified>
</cp:coreProperties>
</file>