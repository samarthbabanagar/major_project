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</p:sldMasterIdLst>
  <p:notesMasterIdLst>
    <p:notesMasterId r:id="rId14"/>
  </p:notesMasterIdLst>
  <p:sldIdLst>
    <p:sldId id="256" r:id="rId2"/>
    <p:sldId id="25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67" r:id="rId13"/>
  </p:sldIdLst>
  <p:sldSz cx="9144000" cy="5143500" type="screen16x9"/>
  <p:notesSz cx="6858000" cy="9144000"/>
  <p:embeddedFontLst>
    <p:embeddedFont>
      <p:font typeface="Garamond" panose="02020404030301010803" pitchFamily="18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443">
          <p15:clr>
            <a:srgbClr val="9AA0A6"/>
          </p15:clr>
        </p15:guide>
        <p15:guide id="2" pos="227">
          <p15:clr>
            <a:srgbClr val="9AA0A6"/>
          </p15:clr>
        </p15:guide>
        <p15:guide id="3" orient="horz" pos="454">
          <p15:clr>
            <a:srgbClr val="9AA0A6"/>
          </p15:clr>
        </p15:guide>
        <p15:guide id="4" orient="horz" pos="227">
          <p15:clr>
            <a:srgbClr val="9AA0A6"/>
          </p15:clr>
        </p15:guide>
        <p15:guide id="5" pos="306">
          <p15:clr>
            <a:srgbClr val="9AA0A6"/>
          </p15:clr>
        </p15:guide>
        <p15:guide id="6" orient="horz" pos="567">
          <p15:clr>
            <a:srgbClr val="9AA0A6"/>
          </p15:clr>
        </p15:guide>
        <p15:guide id="7" orient="horz" pos="84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2570939-0EA5-4643-BAEF-24BE13887A0F}">
  <a:tblStyle styleId="{02570939-0EA5-4643-BAEF-24BE13887A0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>
      <p:cViewPr varScale="1">
        <p:scale>
          <a:sx n="74" d="100"/>
          <a:sy n="74" d="100"/>
        </p:scale>
        <p:origin x="988" y="52"/>
      </p:cViewPr>
      <p:guideLst>
        <p:guide pos="5443"/>
        <p:guide pos="227"/>
        <p:guide orient="horz" pos="454"/>
        <p:guide orient="horz" pos="227"/>
        <p:guide pos="306"/>
        <p:guide orient="horz" pos="567"/>
        <p:guide orient="horz" pos="8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05274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34345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0106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85308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29531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3187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7538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11398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61712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3400"/>
              <a:buNone/>
              <a:defRPr sz="3400">
                <a:solidFill>
                  <a:srgbClr val="66666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20" name="Google Shape;20;p2"/>
          <p:cNvGrpSpPr/>
          <p:nvPr/>
        </p:nvGrpSpPr>
        <p:grpSpPr>
          <a:xfrm>
            <a:off x="0" y="-42"/>
            <a:ext cx="67800" cy="5143466"/>
            <a:chOff x="0" y="-42"/>
            <a:chExt cx="67800" cy="5143466"/>
          </a:xfrm>
        </p:grpSpPr>
        <p:sp>
          <p:nvSpPr>
            <p:cNvPr id="21" name="Google Shape;21;p2"/>
            <p:cNvSpPr/>
            <p:nvPr/>
          </p:nvSpPr>
          <p:spPr>
            <a:xfrm>
              <a:off x="0" y="-42"/>
              <a:ext cx="67800" cy="9954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0" y="995324"/>
              <a:ext cx="67800" cy="41481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esign">
  <p:cSld name="2_Desig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-42"/>
            <a:ext cx="67800" cy="5143466"/>
            <a:chOff x="0" y="-42"/>
            <a:chExt cx="67800" cy="5143466"/>
          </a:xfrm>
        </p:grpSpPr>
        <p:sp>
          <p:nvSpPr>
            <p:cNvPr id="30" name="Google Shape;30;p4"/>
            <p:cNvSpPr/>
            <p:nvPr/>
          </p:nvSpPr>
          <p:spPr>
            <a:xfrm>
              <a:off x="0" y="-42"/>
              <a:ext cx="67800" cy="9954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0" y="995324"/>
              <a:ext cx="67800" cy="41481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Divi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- Content" type="tx">
  <p:cSld name="TITLE_AND_BOD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85525" y="87925"/>
            <a:ext cx="673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ubTitle" idx="1"/>
          </p:nvPr>
        </p:nvSpPr>
        <p:spPr>
          <a:xfrm>
            <a:off x="85525" y="617825"/>
            <a:ext cx="5341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373975" y="1181625"/>
            <a:ext cx="7332900" cy="29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- Content - 2 columns">
  <p:cSld name="TITLE_AND_BODY_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85525" y="87925"/>
            <a:ext cx="673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ubTitle" idx="1"/>
          </p:nvPr>
        </p:nvSpPr>
        <p:spPr>
          <a:xfrm>
            <a:off x="85525" y="617825"/>
            <a:ext cx="5341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2"/>
          </p:nvPr>
        </p:nvSpPr>
        <p:spPr>
          <a:xfrm>
            <a:off x="373975" y="1181625"/>
            <a:ext cx="3979800" cy="29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3"/>
          </p:nvPr>
        </p:nvSpPr>
        <p:spPr>
          <a:xfrm>
            <a:off x="4422425" y="1181625"/>
            <a:ext cx="4050000" cy="29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- Content - with photo">
  <p:cSld name="TITLE_AND_BODY_1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85525" y="87925"/>
            <a:ext cx="673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ubTitle" idx="1"/>
          </p:nvPr>
        </p:nvSpPr>
        <p:spPr>
          <a:xfrm>
            <a:off x="85525" y="617825"/>
            <a:ext cx="5341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2"/>
          </p:nvPr>
        </p:nvSpPr>
        <p:spPr>
          <a:xfrm>
            <a:off x="4422425" y="1181625"/>
            <a:ext cx="4050000" cy="29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5075" y="273750"/>
            <a:ext cx="5601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aramond"/>
              <a:buNone/>
              <a:defRPr sz="26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aramond"/>
              <a:buChar char="●"/>
              <a:defRPr sz="18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○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■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●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○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■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●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aramond"/>
              <a:buChar char="○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Garamond"/>
              <a:buChar char="■"/>
              <a:defRPr sz="1400" b="0" i="0" u="none" strike="noStrike" cap="none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 dirty="0"/>
          </a:p>
        </p:txBody>
      </p:sp>
      <p:grpSp>
        <p:nvGrpSpPr>
          <p:cNvPr id="9" name="Google Shape;9;p1"/>
          <p:cNvGrpSpPr/>
          <p:nvPr/>
        </p:nvGrpSpPr>
        <p:grpSpPr>
          <a:xfrm>
            <a:off x="0" y="-42"/>
            <a:ext cx="67800" cy="5143466"/>
            <a:chOff x="0" y="-42"/>
            <a:chExt cx="67800" cy="5143466"/>
          </a:xfrm>
        </p:grpSpPr>
        <p:sp>
          <p:nvSpPr>
            <p:cNvPr id="10" name="Google Shape;10;p1"/>
            <p:cNvSpPr/>
            <p:nvPr/>
          </p:nvSpPr>
          <p:spPr>
            <a:xfrm>
              <a:off x="0" y="-42"/>
              <a:ext cx="67800" cy="9954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1"/>
            <p:cNvSpPr/>
            <p:nvPr/>
          </p:nvSpPr>
          <p:spPr>
            <a:xfrm>
              <a:off x="0" y="995324"/>
              <a:ext cx="67800" cy="41481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" name="Google Shape;12;p1"/>
          <p:cNvGrpSpPr/>
          <p:nvPr/>
        </p:nvGrpSpPr>
        <p:grpSpPr>
          <a:xfrm>
            <a:off x="0" y="-42"/>
            <a:ext cx="67800" cy="5143466"/>
            <a:chOff x="0" y="-42"/>
            <a:chExt cx="67800" cy="5143466"/>
          </a:xfrm>
        </p:grpSpPr>
        <p:sp>
          <p:nvSpPr>
            <p:cNvPr id="13" name="Google Shape;13;p1"/>
            <p:cNvSpPr/>
            <p:nvPr/>
          </p:nvSpPr>
          <p:spPr>
            <a:xfrm>
              <a:off x="0" y="-42"/>
              <a:ext cx="67800" cy="9954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0" y="995324"/>
              <a:ext cx="67800" cy="41481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41D898-4111-8851-9F78-C506406234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6775" y="4869750"/>
            <a:ext cx="3086100" cy="172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 dirty="0"/>
              <a:t>Web Developer-Python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3CE11E-ED50-060A-4BEA-E0DF36EEAD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 dirty="0"/>
              <a:t>1</a:t>
            </a:r>
          </a:p>
        </p:txBody>
      </p:sp>
      <p:pic>
        <p:nvPicPr>
          <p:cNvPr id="5" name="Picture 4" descr="A logo with a butterfly&#10;&#10;Description automatically generated">
            <a:extLst>
              <a:ext uri="{FF2B5EF4-FFF2-40B4-BE49-F238E27FC236}">
                <a16:creationId xmlns:a16="http://schemas.microsoft.com/office/drawing/2014/main" id="{AFF62C48-3374-9C45-F795-FA1A07B4792D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939087" y="101600"/>
            <a:ext cx="1152525" cy="47625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/>
        </p:nvSpPr>
        <p:spPr>
          <a:xfrm>
            <a:off x="812125" y="2210100"/>
            <a:ext cx="72882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3500" b="0" i="0" u="none" strike="noStrike" cap="none" dirty="0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 Python Coding Standards</a:t>
            </a:r>
            <a:endParaRPr sz="3500" b="0" i="0" u="none" strike="noStrike" cap="none" dirty="0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6" name="Google Shape;56;p9"/>
          <p:cNvSpPr/>
          <p:nvPr/>
        </p:nvSpPr>
        <p:spPr>
          <a:xfrm>
            <a:off x="912400" y="2877554"/>
            <a:ext cx="1423800" cy="85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9"/>
          <p:cNvSpPr/>
          <p:nvPr/>
        </p:nvSpPr>
        <p:spPr>
          <a:xfrm>
            <a:off x="2336200" y="2877550"/>
            <a:ext cx="5010300" cy="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91A6B0-6254-ECF6-53EA-5355FDC64E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</a:t>
            </a:fld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ctrTitle"/>
          </p:nvPr>
        </p:nvSpPr>
        <p:spPr>
          <a:xfrm>
            <a:off x="606300" y="1870800"/>
            <a:ext cx="8308800" cy="7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-GB" sz="3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Python Coding Standards &amp; Practices</a:t>
            </a:r>
            <a:endParaRPr sz="3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0"/>
          <p:cNvSpPr txBox="1">
            <a:spLocks noGrp="1"/>
          </p:cNvSpPr>
          <p:nvPr>
            <p:ph type="subTitle" idx="1"/>
          </p:nvPr>
        </p:nvSpPr>
        <p:spPr>
          <a:xfrm>
            <a:off x="643200" y="2664300"/>
            <a:ext cx="82350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-GB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PEP-8</a:t>
            </a:r>
            <a:endParaRPr sz="3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AAB607-F5F4-523D-9466-EA45E26A29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</a:t>
            </a:fld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subTitle" idx="1"/>
          </p:nvPr>
        </p:nvSpPr>
        <p:spPr>
          <a:xfrm>
            <a:off x="643200" y="2233050"/>
            <a:ext cx="82350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-GB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PEP-8</a:t>
            </a:r>
            <a:endParaRPr sz="3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AAB607-F5F4-523D-9466-EA45E26A29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5476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AAB607-F5F4-523D-9466-EA45E26A29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</a:t>
            </a:fld>
            <a:endParaRPr lang="en-GB"/>
          </a:p>
        </p:txBody>
      </p:sp>
      <p:sp>
        <p:nvSpPr>
          <p:cNvPr id="7" name="Google Shape;74;p12">
            <a:extLst>
              <a:ext uri="{FF2B5EF4-FFF2-40B4-BE49-F238E27FC236}">
                <a16:creationId xmlns:a16="http://schemas.microsoft.com/office/drawing/2014/main" id="{8EBEC7B7-772E-94A0-1776-69F970953ACE}"/>
              </a:ext>
            </a:extLst>
          </p:cNvPr>
          <p:cNvSpPr txBox="1"/>
          <p:nvPr/>
        </p:nvSpPr>
        <p:spPr>
          <a:xfrm>
            <a:off x="360000" y="360000"/>
            <a:ext cx="4126800" cy="3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600" b="0" i="0" u="none" strike="noStrike" cap="none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What is PEP-8?</a:t>
            </a:r>
            <a:endParaRPr sz="2600" b="0" i="0" u="none" strike="noStrike" cap="none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75;p12">
            <a:extLst>
              <a:ext uri="{FF2B5EF4-FFF2-40B4-BE49-F238E27FC236}">
                <a16:creationId xmlns:a16="http://schemas.microsoft.com/office/drawing/2014/main" id="{C09EB298-D8B4-ACF5-8E9E-F8724722BF00}"/>
              </a:ext>
            </a:extLst>
          </p:cNvPr>
          <p:cNvSpPr txBox="1"/>
          <p:nvPr/>
        </p:nvSpPr>
        <p:spPr>
          <a:xfrm>
            <a:off x="360000" y="1890750"/>
            <a:ext cx="8214600" cy="13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65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Char char="●"/>
            </a:pPr>
            <a:r>
              <a:rPr lang="en-GB" sz="17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PEP-8 stands for Python Enhancement Proposal</a:t>
            </a:r>
            <a:endParaRPr sz="17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65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Char char="●"/>
            </a:pPr>
            <a:r>
              <a:rPr lang="en-GB" sz="17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PEP-8 provides the guidelines to make your code:</a:t>
            </a:r>
            <a:endParaRPr sz="17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365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Char char="○"/>
            </a:pPr>
            <a:r>
              <a:rPr lang="en-GB" sz="17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More organized</a:t>
            </a:r>
            <a:endParaRPr sz="17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3365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Char char="○"/>
            </a:pPr>
            <a:r>
              <a:rPr lang="en-GB" sz="17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Have better readability</a:t>
            </a:r>
            <a:endParaRPr sz="17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4626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AAB607-F5F4-523D-9466-EA45E26A29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</a:t>
            </a:fld>
            <a:endParaRPr lang="en-GB"/>
          </a:p>
        </p:txBody>
      </p:sp>
      <p:sp>
        <p:nvSpPr>
          <p:cNvPr id="3" name="Google Shape;80;p13">
            <a:extLst>
              <a:ext uri="{FF2B5EF4-FFF2-40B4-BE49-F238E27FC236}">
                <a16:creationId xmlns:a16="http://schemas.microsoft.com/office/drawing/2014/main" id="{34144B8F-A882-D744-344D-C48D54DC3460}"/>
              </a:ext>
            </a:extLst>
          </p:cNvPr>
          <p:cNvSpPr txBox="1"/>
          <p:nvPr/>
        </p:nvSpPr>
        <p:spPr>
          <a:xfrm>
            <a:off x="360000" y="360000"/>
            <a:ext cx="6538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600" b="0" i="0" u="none" strike="noStrike" cap="none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Python Programming </a:t>
            </a:r>
            <a:r>
              <a:rPr lang="en-GB" sz="260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Principles</a:t>
            </a:r>
            <a:endParaRPr sz="2600" b="0" i="0" u="none" strike="noStrike" cap="none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81;p13">
            <a:extLst>
              <a:ext uri="{FF2B5EF4-FFF2-40B4-BE49-F238E27FC236}">
                <a16:creationId xmlns:a16="http://schemas.microsoft.com/office/drawing/2014/main" id="{E102D0F6-DDE3-864F-1810-2B66F4D419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5988" y="897700"/>
            <a:ext cx="5598074" cy="3772950"/>
          </a:xfrm>
          <a:prstGeom prst="rect">
            <a:avLst/>
          </a:prstGeom>
          <a:noFill/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" name="Google Shape;82;p13">
            <a:extLst>
              <a:ext uri="{FF2B5EF4-FFF2-40B4-BE49-F238E27FC236}">
                <a16:creationId xmlns:a16="http://schemas.microsoft.com/office/drawing/2014/main" id="{DA76ACFD-8A00-604E-56F1-286F0A48C015}"/>
              </a:ext>
            </a:extLst>
          </p:cNvPr>
          <p:cNvSpPr/>
          <p:nvPr/>
        </p:nvSpPr>
        <p:spPr>
          <a:xfrm>
            <a:off x="5963350" y="3926675"/>
            <a:ext cx="2384100" cy="966600"/>
          </a:xfrm>
          <a:prstGeom prst="bracketPair">
            <a:avLst/>
          </a:prstGeom>
          <a:noFill/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rgbClr val="14B2D6"/>
                </a:solidFill>
                <a:latin typeface="Calibri"/>
                <a:ea typeface="Calibri"/>
                <a:cs typeface="Calibri"/>
                <a:sym typeface="Calibri"/>
              </a:rPr>
              <a:t>“Readability counts”. This allows others to understand your code easily and hence contribute and maintain the code in a better way</a:t>
            </a:r>
            <a:endParaRPr sz="1100">
              <a:solidFill>
                <a:srgbClr val="14B2D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7390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AAB607-F5F4-523D-9466-EA45E26A29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6</a:t>
            </a:fld>
            <a:endParaRPr lang="en-GB"/>
          </a:p>
        </p:txBody>
      </p:sp>
      <p:sp>
        <p:nvSpPr>
          <p:cNvPr id="6" name="Google Shape;87;p14">
            <a:extLst>
              <a:ext uri="{FF2B5EF4-FFF2-40B4-BE49-F238E27FC236}">
                <a16:creationId xmlns:a16="http://schemas.microsoft.com/office/drawing/2014/main" id="{E2FBB258-C315-ABB4-BA17-DBC357378AB0}"/>
              </a:ext>
            </a:extLst>
          </p:cNvPr>
          <p:cNvSpPr txBox="1"/>
          <p:nvPr/>
        </p:nvSpPr>
        <p:spPr>
          <a:xfrm>
            <a:off x="360000" y="360000"/>
            <a:ext cx="6538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6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Indentation</a:t>
            </a:r>
            <a:endParaRPr sz="2600" b="0" i="0" u="none" strike="noStrike" cap="non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88;p14">
            <a:extLst>
              <a:ext uri="{FF2B5EF4-FFF2-40B4-BE49-F238E27FC236}">
                <a16:creationId xmlns:a16="http://schemas.microsoft.com/office/drawing/2014/main" id="{763C56BC-B1B1-464A-75C4-5C001725C525}"/>
              </a:ext>
            </a:extLst>
          </p:cNvPr>
          <p:cNvSpPr txBox="1"/>
          <p:nvPr/>
        </p:nvSpPr>
        <p:spPr>
          <a:xfrm>
            <a:off x="360000" y="900000"/>
            <a:ext cx="8280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GB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 4 spaces per indentation level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89;p14">
            <a:extLst>
              <a:ext uri="{FF2B5EF4-FFF2-40B4-BE49-F238E27FC236}">
                <a16:creationId xmlns:a16="http://schemas.microsoft.com/office/drawing/2014/main" id="{DD48425C-BB29-DE82-8820-729C1B4B22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6000" y="1751263"/>
            <a:ext cx="3895901" cy="2826875"/>
          </a:xfrm>
          <a:prstGeom prst="rect">
            <a:avLst/>
          </a:prstGeom>
          <a:noFill/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9" name="Google Shape;90;p14">
            <a:extLst>
              <a:ext uri="{FF2B5EF4-FFF2-40B4-BE49-F238E27FC236}">
                <a16:creationId xmlns:a16="http://schemas.microsoft.com/office/drawing/2014/main" id="{7653DE58-5659-8D2F-31B0-DDD30D508D6A}"/>
              </a:ext>
            </a:extLst>
          </p:cNvPr>
          <p:cNvCxnSpPr/>
          <p:nvPr/>
        </p:nvCxnSpPr>
        <p:spPr>
          <a:xfrm>
            <a:off x="4572000" y="1526400"/>
            <a:ext cx="0" cy="3276600"/>
          </a:xfrm>
          <a:prstGeom prst="straightConnector1">
            <a:avLst/>
          </a:prstGeom>
          <a:noFill/>
          <a:ln w="19050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" name="Google Shape;91;p14">
            <a:extLst>
              <a:ext uri="{FF2B5EF4-FFF2-40B4-BE49-F238E27FC236}">
                <a16:creationId xmlns:a16="http://schemas.microsoft.com/office/drawing/2014/main" id="{D11C184C-9BE6-9336-B2AE-BFD47EDF14F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5000" y="2234225"/>
            <a:ext cx="3895901" cy="1890071"/>
          </a:xfrm>
          <a:prstGeom prst="rect">
            <a:avLst/>
          </a:prstGeom>
          <a:noFill/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" name="Google Shape;92;p14">
            <a:extLst>
              <a:ext uri="{FF2B5EF4-FFF2-40B4-BE49-F238E27FC236}">
                <a16:creationId xmlns:a16="http://schemas.microsoft.com/office/drawing/2014/main" id="{12316952-D350-4706-A3CA-065D0A8B872C}"/>
              </a:ext>
            </a:extLst>
          </p:cNvPr>
          <p:cNvSpPr txBox="1"/>
          <p:nvPr/>
        </p:nvSpPr>
        <p:spPr>
          <a:xfrm>
            <a:off x="7318800" y="4803000"/>
            <a:ext cx="1322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GB" sz="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Images source: python.org</a:t>
            </a:r>
            <a:endParaRPr sz="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60867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AAB607-F5F4-523D-9466-EA45E26A29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7</a:t>
            </a:fld>
            <a:endParaRPr lang="en-GB"/>
          </a:p>
        </p:txBody>
      </p:sp>
      <p:sp>
        <p:nvSpPr>
          <p:cNvPr id="3" name="Google Shape;97;p15">
            <a:extLst>
              <a:ext uri="{FF2B5EF4-FFF2-40B4-BE49-F238E27FC236}">
                <a16:creationId xmlns:a16="http://schemas.microsoft.com/office/drawing/2014/main" id="{B42FAF27-DA4C-B06C-E4E7-AF543428D041}"/>
              </a:ext>
            </a:extLst>
          </p:cNvPr>
          <p:cNvSpPr txBox="1"/>
          <p:nvPr/>
        </p:nvSpPr>
        <p:spPr>
          <a:xfrm>
            <a:off x="360000" y="360000"/>
            <a:ext cx="6538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6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Maximum line length</a:t>
            </a:r>
            <a:endParaRPr sz="2600" b="0" i="0" u="none" strike="noStrike" cap="non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98;p15">
            <a:extLst>
              <a:ext uri="{FF2B5EF4-FFF2-40B4-BE49-F238E27FC236}">
                <a16:creationId xmlns:a16="http://schemas.microsoft.com/office/drawing/2014/main" id="{EC18CB9D-BF02-1CDF-640D-A4E4213D2F0E}"/>
              </a:ext>
            </a:extLst>
          </p:cNvPr>
          <p:cNvSpPr txBox="1"/>
          <p:nvPr/>
        </p:nvSpPr>
        <p:spPr>
          <a:xfrm>
            <a:off x="360000" y="900000"/>
            <a:ext cx="8280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GB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is a good idea to limit all lines to 72 characters. Use \ for continuation.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99;p15">
            <a:extLst>
              <a:ext uri="{FF2B5EF4-FFF2-40B4-BE49-F238E27FC236}">
                <a16:creationId xmlns:a16="http://schemas.microsoft.com/office/drawing/2014/main" id="{BF42AFF5-E14F-8EC6-8539-DD9C00476D5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1146"/>
          <a:stretch/>
        </p:blipFill>
        <p:spPr>
          <a:xfrm>
            <a:off x="1204925" y="2413625"/>
            <a:ext cx="6657025" cy="1085850"/>
          </a:xfrm>
          <a:prstGeom prst="rect">
            <a:avLst/>
          </a:prstGeom>
          <a:noFill/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" name="Google Shape;100;p15">
            <a:extLst>
              <a:ext uri="{FF2B5EF4-FFF2-40B4-BE49-F238E27FC236}">
                <a16:creationId xmlns:a16="http://schemas.microsoft.com/office/drawing/2014/main" id="{EBF65779-3AF0-BAEB-4EA3-6BA818AB1EEF}"/>
              </a:ext>
            </a:extLst>
          </p:cNvPr>
          <p:cNvSpPr txBox="1"/>
          <p:nvPr/>
        </p:nvSpPr>
        <p:spPr>
          <a:xfrm>
            <a:off x="7318800" y="4803000"/>
            <a:ext cx="1322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GB" sz="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Images source: python.org</a:t>
            </a:r>
            <a:endParaRPr sz="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6059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AAB607-F5F4-523D-9466-EA45E26A29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8</a:t>
            </a:fld>
            <a:endParaRPr lang="en-GB"/>
          </a:p>
        </p:txBody>
      </p:sp>
      <p:sp>
        <p:nvSpPr>
          <p:cNvPr id="6" name="Google Shape;105;p16">
            <a:extLst>
              <a:ext uri="{FF2B5EF4-FFF2-40B4-BE49-F238E27FC236}">
                <a16:creationId xmlns:a16="http://schemas.microsoft.com/office/drawing/2014/main" id="{59602A9C-75EA-8D68-AA59-762590EC65FA}"/>
              </a:ext>
            </a:extLst>
          </p:cNvPr>
          <p:cNvSpPr txBox="1"/>
          <p:nvPr/>
        </p:nvSpPr>
        <p:spPr>
          <a:xfrm>
            <a:off x="360000" y="360000"/>
            <a:ext cx="6538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600" b="0" i="0" u="none" strike="noStrike" cap="none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Blank lines</a:t>
            </a:r>
            <a:endParaRPr sz="2600" b="0" i="0" u="none" strike="noStrike" cap="none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06;p16">
            <a:extLst>
              <a:ext uri="{FF2B5EF4-FFF2-40B4-BE49-F238E27FC236}">
                <a16:creationId xmlns:a16="http://schemas.microsoft.com/office/drawing/2014/main" id="{3A492592-6493-1A2D-C813-8ADB2A8FC94F}"/>
              </a:ext>
            </a:extLst>
          </p:cNvPr>
          <p:cNvSpPr txBox="1"/>
          <p:nvPr/>
        </p:nvSpPr>
        <p:spPr>
          <a:xfrm>
            <a:off x="360000" y="900000"/>
            <a:ext cx="8280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GB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Top-level functions and classes are separated by two blank lines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07;p16">
            <a:extLst>
              <a:ext uri="{FF2B5EF4-FFF2-40B4-BE49-F238E27FC236}">
                <a16:creationId xmlns:a16="http://schemas.microsoft.com/office/drawing/2014/main" id="{7B27F4E4-8ADA-EA5D-285D-2831F5A91BA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591"/>
          <a:stretch/>
        </p:blipFill>
        <p:spPr>
          <a:xfrm>
            <a:off x="1204900" y="1820925"/>
            <a:ext cx="6734175" cy="2282425"/>
          </a:xfrm>
          <a:prstGeom prst="rect">
            <a:avLst/>
          </a:prstGeom>
          <a:noFill/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263479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AAB607-F5F4-523D-9466-EA45E26A29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9</a:t>
            </a:fld>
            <a:endParaRPr lang="en-GB"/>
          </a:p>
        </p:txBody>
      </p:sp>
      <p:sp>
        <p:nvSpPr>
          <p:cNvPr id="3" name="Google Shape;112;p17">
            <a:extLst>
              <a:ext uri="{FF2B5EF4-FFF2-40B4-BE49-F238E27FC236}">
                <a16:creationId xmlns:a16="http://schemas.microsoft.com/office/drawing/2014/main" id="{2694A02A-990D-D43D-7F0C-6A6CCBC2599E}"/>
              </a:ext>
            </a:extLst>
          </p:cNvPr>
          <p:cNvSpPr txBox="1"/>
          <p:nvPr/>
        </p:nvSpPr>
        <p:spPr>
          <a:xfrm>
            <a:off x="360000" y="360000"/>
            <a:ext cx="6538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6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Imports</a:t>
            </a:r>
            <a:endParaRPr sz="2600" b="0" i="0" u="none" strike="noStrike" cap="non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13;p17">
            <a:extLst>
              <a:ext uri="{FF2B5EF4-FFF2-40B4-BE49-F238E27FC236}">
                <a16:creationId xmlns:a16="http://schemas.microsoft.com/office/drawing/2014/main" id="{34A6F774-C619-31B6-C270-F9ED129A5894}"/>
              </a:ext>
            </a:extLst>
          </p:cNvPr>
          <p:cNvSpPr txBox="1"/>
          <p:nvPr/>
        </p:nvSpPr>
        <p:spPr>
          <a:xfrm>
            <a:off x="360000" y="900000"/>
            <a:ext cx="8280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GB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Import should usually be on separate lines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114;p17">
            <a:extLst>
              <a:ext uri="{FF2B5EF4-FFF2-40B4-BE49-F238E27FC236}">
                <a16:creationId xmlns:a16="http://schemas.microsoft.com/office/drawing/2014/main" id="{29551331-38A0-759B-6A10-3431E30917D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37764"/>
          <a:stretch/>
        </p:blipFill>
        <p:spPr>
          <a:xfrm>
            <a:off x="360000" y="2102663"/>
            <a:ext cx="4036900" cy="2124075"/>
          </a:xfrm>
          <a:prstGeom prst="rect">
            <a:avLst/>
          </a:prstGeom>
          <a:noFill/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9" name="Google Shape;115;p17">
            <a:extLst>
              <a:ext uri="{FF2B5EF4-FFF2-40B4-BE49-F238E27FC236}">
                <a16:creationId xmlns:a16="http://schemas.microsoft.com/office/drawing/2014/main" id="{DE1D7831-1F58-E084-B4FA-CC034678A61E}"/>
              </a:ext>
            </a:extLst>
          </p:cNvPr>
          <p:cNvCxnSpPr/>
          <p:nvPr/>
        </p:nvCxnSpPr>
        <p:spPr>
          <a:xfrm>
            <a:off x="4572000" y="1526400"/>
            <a:ext cx="0" cy="3276600"/>
          </a:xfrm>
          <a:prstGeom prst="straightConnector1">
            <a:avLst/>
          </a:prstGeom>
          <a:noFill/>
          <a:ln w="19050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116;p17">
            <a:extLst>
              <a:ext uri="{FF2B5EF4-FFF2-40B4-BE49-F238E27FC236}">
                <a16:creationId xmlns:a16="http://schemas.microsoft.com/office/drawing/2014/main" id="{0B11E5D7-A8F4-1FEC-20AD-12C9C63596C9}"/>
              </a:ext>
            </a:extLst>
          </p:cNvPr>
          <p:cNvSpPr txBox="1"/>
          <p:nvPr/>
        </p:nvSpPr>
        <p:spPr>
          <a:xfrm>
            <a:off x="4657075" y="2418275"/>
            <a:ext cx="398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However, It is ok to say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17;p17">
            <a:extLst>
              <a:ext uri="{FF2B5EF4-FFF2-40B4-BE49-F238E27FC236}">
                <a16:creationId xmlns:a16="http://schemas.microsoft.com/office/drawing/2014/main" id="{8D87EA07-18F0-5782-9830-DABF994C1F7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20584"/>
          <a:stretch/>
        </p:blipFill>
        <p:spPr>
          <a:xfrm>
            <a:off x="4747100" y="2858725"/>
            <a:ext cx="3893800" cy="611950"/>
          </a:xfrm>
          <a:prstGeom prst="rect">
            <a:avLst/>
          </a:prstGeom>
          <a:noFill/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" name="Google Shape;118;p17">
            <a:extLst>
              <a:ext uri="{FF2B5EF4-FFF2-40B4-BE49-F238E27FC236}">
                <a16:creationId xmlns:a16="http://schemas.microsoft.com/office/drawing/2014/main" id="{B6C4F830-A3F2-E4A7-A700-3F4303504E1B}"/>
              </a:ext>
            </a:extLst>
          </p:cNvPr>
          <p:cNvSpPr txBox="1"/>
          <p:nvPr/>
        </p:nvSpPr>
        <p:spPr>
          <a:xfrm>
            <a:off x="7318800" y="4803000"/>
            <a:ext cx="1322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GB" sz="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Images source: python.org</a:t>
            </a:r>
            <a:endParaRPr sz="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30153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AAB607-F5F4-523D-9466-EA45E26A29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10</a:t>
            </a:fld>
            <a:endParaRPr lang="en-GB"/>
          </a:p>
        </p:txBody>
      </p:sp>
      <p:sp>
        <p:nvSpPr>
          <p:cNvPr id="6" name="Google Shape;123;p18">
            <a:extLst>
              <a:ext uri="{FF2B5EF4-FFF2-40B4-BE49-F238E27FC236}">
                <a16:creationId xmlns:a16="http://schemas.microsoft.com/office/drawing/2014/main" id="{3E9B9AC3-94ED-1E69-B9BD-1E60EE9595F3}"/>
              </a:ext>
            </a:extLst>
          </p:cNvPr>
          <p:cNvSpPr txBox="1"/>
          <p:nvPr/>
        </p:nvSpPr>
        <p:spPr>
          <a:xfrm>
            <a:off x="360000" y="360000"/>
            <a:ext cx="6538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6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Code </a:t>
            </a:r>
            <a:r>
              <a:rPr lang="en-GB" sz="26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GB" sz="26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omments</a:t>
            </a:r>
            <a:endParaRPr sz="2600" b="0" i="0" u="none" strike="noStrike" cap="non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24;p18">
            <a:extLst>
              <a:ext uri="{FF2B5EF4-FFF2-40B4-BE49-F238E27FC236}">
                <a16:creationId xmlns:a16="http://schemas.microsoft.com/office/drawing/2014/main" id="{CB8027D9-6E6F-48B7-AD67-35759210A0A3}"/>
              </a:ext>
            </a:extLst>
          </p:cNvPr>
          <p:cNvSpPr txBox="1"/>
          <p:nvPr/>
        </p:nvSpPr>
        <p:spPr>
          <a:xfrm>
            <a:off x="360000" y="900000"/>
            <a:ext cx="8280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GB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Commenting code is a must. With change in code, change your comments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5;p18">
            <a:extLst>
              <a:ext uri="{FF2B5EF4-FFF2-40B4-BE49-F238E27FC236}">
                <a16:creationId xmlns:a16="http://schemas.microsoft.com/office/drawing/2014/main" id="{FD1BBA68-AEE9-F9AA-8D7A-E19CBF7E2F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7188" y="1778825"/>
            <a:ext cx="6486525" cy="2495550"/>
          </a:xfrm>
          <a:prstGeom prst="rect">
            <a:avLst/>
          </a:prstGeom>
          <a:noFill/>
          <a:ln w="9525" cap="flat" cmpd="sng">
            <a:solidFill>
              <a:srgbClr val="14B2D6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813198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AAB607-F5F4-523D-9466-EA45E26A29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11</a:t>
            </a:fld>
            <a:endParaRPr lang="en-GB"/>
          </a:p>
        </p:txBody>
      </p:sp>
      <p:sp>
        <p:nvSpPr>
          <p:cNvPr id="3" name="Google Shape;130;p19">
            <a:extLst>
              <a:ext uri="{FF2B5EF4-FFF2-40B4-BE49-F238E27FC236}">
                <a16:creationId xmlns:a16="http://schemas.microsoft.com/office/drawing/2014/main" id="{B82AB0A3-FC97-349D-D6A6-FD46AF84A6B8}"/>
              </a:ext>
            </a:extLst>
          </p:cNvPr>
          <p:cNvSpPr txBox="1"/>
          <p:nvPr/>
        </p:nvSpPr>
        <p:spPr>
          <a:xfrm>
            <a:off x="360000" y="360000"/>
            <a:ext cx="65385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GB" sz="2600" b="0" i="0" u="none" strike="noStrike" cap="none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Naming </a:t>
            </a:r>
            <a:r>
              <a:rPr lang="en-GB" sz="2600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GB" sz="2600" b="0" i="0" u="none" strike="noStrike" cap="none" dirty="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onventions</a:t>
            </a:r>
            <a:endParaRPr sz="2600" b="0" i="0" u="none" strike="noStrike" cap="none" dirty="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31;p19">
            <a:extLst>
              <a:ext uri="{FF2B5EF4-FFF2-40B4-BE49-F238E27FC236}">
                <a16:creationId xmlns:a16="http://schemas.microsoft.com/office/drawing/2014/main" id="{9A45D145-23D0-4E2C-FB07-821A44089B59}"/>
              </a:ext>
            </a:extLst>
          </p:cNvPr>
          <p:cNvSpPr txBox="1"/>
          <p:nvPr/>
        </p:nvSpPr>
        <p:spPr>
          <a:xfrm>
            <a:off x="360000" y="900000"/>
            <a:ext cx="8280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GB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Naming conventions of Python’s library are a bit messy. However it is recommended:</a:t>
            </a:r>
            <a:endParaRPr sz="17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" name="Google Shape;132;p19">
            <a:extLst>
              <a:ext uri="{FF2B5EF4-FFF2-40B4-BE49-F238E27FC236}">
                <a16:creationId xmlns:a16="http://schemas.microsoft.com/office/drawing/2014/main" id="{7E2DBA44-0CEE-84A9-DE10-709F5CC2D6C1}"/>
              </a:ext>
            </a:extLst>
          </p:cNvPr>
          <p:cNvGraphicFramePr/>
          <p:nvPr/>
        </p:nvGraphicFramePr>
        <p:xfrm>
          <a:off x="952500" y="1733550"/>
          <a:ext cx="7239000" cy="2773470"/>
        </p:xfrm>
        <a:graphic>
          <a:graphicData uri="http://schemas.openxmlformats.org/drawingml/2006/table">
            <a:tbl>
              <a:tblPr>
                <a:noFill/>
                <a:tableStyleId>{02570939-0EA5-4643-BAEF-24BE13887A0F}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Naming Convention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Module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lowercase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CapWords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Functions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lowercase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Methods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lowercase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 variables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CapWords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Constants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UPPERCASE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2836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>
            <a:spLocks noGrp="1"/>
          </p:cNvSpPr>
          <p:nvPr>
            <p:ph type="title" idx="4294967295"/>
          </p:nvPr>
        </p:nvSpPr>
        <p:spPr>
          <a:xfrm>
            <a:off x="0" y="1937300"/>
            <a:ext cx="91440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GB" sz="4000"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195</Words>
  <Application>Microsoft Office PowerPoint</Application>
  <PresentationFormat>On-screen Show (16:9)</PresentationFormat>
  <Paragraphs>52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Avenir</vt:lpstr>
      <vt:lpstr>Arial</vt:lpstr>
      <vt:lpstr>Calibri</vt:lpstr>
      <vt:lpstr>Garamond</vt:lpstr>
      <vt:lpstr>Simple Light</vt:lpstr>
      <vt:lpstr>PowerPoint Presentation</vt:lpstr>
      <vt:lpstr>Python Coding Standards &amp; Practices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Narendra Gopal</cp:lastModifiedBy>
  <cp:revision>6</cp:revision>
  <dcterms:modified xsi:type="dcterms:W3CDTF">2024-08-08T12:54:18Z</dcterms:modified>
</cp:coreProperties>
</file>