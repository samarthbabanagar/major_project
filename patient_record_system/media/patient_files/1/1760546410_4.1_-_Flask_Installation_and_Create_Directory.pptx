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41" r:id="rId2"/>
    <p:sldId id="342" r:id="rId3"/>
    <p:sldId id="259" r:id="rId4"/>
    <p:sldId id="343" r:id="rId5"/>
    <p:sldId id="261" r:id="rId6"/>
    <p:sldId id="325" r:id="rId7"/>
    <p:sldId id="326" r:id="rId8"/>
    <p:sldId id="344" r:id="rId9"/>
    <p:sldId id="328" r:id="rId10"/>
    <p:sldId id="330" r:id="rId11"/>
    <p:sldId id="345" r:id="rId12"/>
    <p:sldId id="332" r:id="rId13"/>
    <p:sldId id="346" r:id="rId14"/>
    <p:sldId id="334" r:id="rId15"/>
    <p:sldId id="336" r:id="rId16"/>
    <p:sldId id="335" r:id="rId17"/>
    <p:sldId id="347" r:id="rId18"/>
    <p:sldId id="339" r:id="rId19"/>
    <p:sldId id="338" r:id="rId20"/>
    <p:sldId id="340" r:id="rId21"/>
    <p:sldId id="313" r:id="rId22"/>
    <p:sldId id="31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B65C8-2F77-48EA-97CB-22C170E1A726}" type="datetimeFigureOut">
              <a:rPr lang="en-IN" smtClean="0"/>
              <a:t>10-07-2024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CED53-93F1-46C9-87C7-A45772EEA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66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1053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7161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92288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405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36602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7876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5778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490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7254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769766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87762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B0EA4-B4DC-326E-6D5D-5E2D139A0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988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939C0-40CA-89E4-C146-B212E439D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55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6BB94-0024-A1B1-676D-3344605E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2760" y="6356350"/>
            <a:ext cx="2743200" cy="365125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>
              <a:defRPr sz="1400" b="1">
                <a:solidFill>
                  <a:srgbClr val="FF8B37"/>
                </a:solidFill>
              </a:defRPr>
            </a:lvl1pPr>
          </a:lstStyle>
          <a:p>
            <a:r>
              <a:rPr lang="en-IN"/>
              <a:t>Web Developer - Python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97940-2C58-1613-E123-6DDD0303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 dirty="0"/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1AEE35B-EB9C-00F8-69E3-A61AB35E6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720" y="114905"/>
            <a:ext cx="2194560" cy="906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F7F60E-D9C1-03D4-79DD-717DE0406607}"/>
              </a:ext>
            </a:extLst>
          </p:cNvPr>
          <p:cNvSpPr txBox="1"/>
          <p:nvPr/>
        </p:nvSpPr>
        <p:spPr>
          <a:xfrm>
            <a:off x="5602275" y="1157754"/>
            <a:ext cx="98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Presents</a:t>
            </a:r>
          </a:p>
        </p:txBody>
      </p:sp>
    </p:spTree>
    <p:extLst>
      <p:ext uri="{BB962C8B-B14F-4D97-AF65-F5344CB8AC3E}">
        <p14:creationId xmlns:p14="http://schemas.microsoft.com/office/powerpoint/2010/main" val="276576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31408-42B5-048B-604E-DC3C6B5F7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320675"/>
            <a:ext cx="96164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20C93-6881-5562-8115-9DE448BA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1825625"/>
            <a:ext cx="110947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05E45B-4B06-4607-CA1B-D8C33E810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3240" y="6356350"/>
            <a:ext cx="4114800" cy="365125"/>
          </a:xfrm>
        </p:spPr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C3F43-42D4-B0E8-A909-EC0F0B5B2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5560" y="6356350"/>
            <a:ext cx="2743200" cy="365125"/>
          </a:xfrm>
        </p:spPr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AE49820-F2D7-5F64-EE38-DAED2F98C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7360" y="136525"/>
            <a:ext cx="1432560" cy="59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170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1C01-395F-0777-13F4-257E0B948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7DE9F-7CBA-439C-6B80-6036E8D25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7F607-5560-B262-0980-239ED914E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DA0A-3FC5-EC03-EB3D-6E41FF07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1EE97-89F1-FB29-A042-AF9AAEA7C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6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7BADA-87CE-8C82-A87F-E40CB4E7F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6624C-BA87-CDB7-A54D-F3635CF6F2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B491A-1D4C-EDC8-35EA-36A836E66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64F77-6485-9B9C-9BB6-031600B79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10FCC-33DA-9C94-2C67-618F3BD0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1E08E-556D-B996-60C8-4004DAA7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59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25D2A-9AEC-B95C-116A-99221D76A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DDD43-B53A-07CB-E3C2-7A806D8DD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2DD3-82F2-97CE-4807-2951B90E26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3B666C-DB33-0BF1-8383-35658C760A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B0222-CDCC-4628-176F-B52242F8E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0D6F2-EFA7-E2F6-CB2E-56F0C496B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3E863-FA2F-7C51-6233-113BBF339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F579E7-B028-BF1C-EEDB-48CC0DF4E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7296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41336-CDC4-2B09-0BBE-738425B4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DBFDC-32AD-FCFE-AFE0-B95ED378E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F93E42-47F8-70CA-3B8C-187F13E7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542204-51A6-1E03-1A7A-EED6ED83F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28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EE1783-8682-6B7B-B009-6F3B4DD2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3FD71-F38D-ECAA-3A7F-1D6ED3265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3E9B6-9ED3-33BD-3C54-48982C95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16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F80EE-C9E7-60CA-3BC1-FED7806FD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81F3A-97E7-7BD6-9FB6-E79EDEC7E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A2157-2739-28BD-8068-C2D99C853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D990E-7E5B-77EC-526B-BEAF75631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C717D-5870-155A-BA04-A9CF7CF5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C93C4-4A4B-B56C-0E1A-8A69E28C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29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A9C30-A057-B64F-B977-A0576D772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E253BF-90DF-4AA4-DDCE-2599092725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5480-4AE3-D1FE-0E7D-F4D446FDA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01B69-F137-A5F2-F200-D7C195C9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7EE1A-8167-8271-E341-3AB393354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415E91-D591-0EAF-EE9B-D9D7FF77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309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50074-28FB-BB92-1334-D3199538B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4B89C-E1B4-11C7-BD5F-12CEA1E62A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9A6FC-871A-08A2-36CE-71B509CE4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AC8DD-F950-5BE5-E4E7-121D5941C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2A425-3FF3-3365-D49E-BBDD426BB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6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8931A1-7258-F68D-94DD-E74D7DE1AD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476F33-C629-F305-B184-04006A27F3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B77F6-1334-F1B2-C639-554A293C7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B7234-63D7-35A5-7F62-FDC4F3FDC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79070-1721-11B6-98C9-21898196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026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10B398-F915-5505-94AD-921630506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08474-9A63-8164-7B1F-EBD2D248E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8716F-C3C6-E5B9-1F33-4B5C86ACB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34610-798B-63E0-7549-3F2DB92C5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A51D3-7D0E-183B-C878-0D8222E9E1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5482-D393-4E2D-8FB7-B68A06B80F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458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5000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5B311-DDEA-8B6F-67CE-7E87F5B1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5A6EB-04BF-D28D-D93B-91FB6E175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</a:t>
            </a:fld>
            <a:endParaRPr lang="en-IN"/>
          </a:p>
        </p:txBody>
      </p:sp>
      <p:sp>
        <p:nvSpPr>
          <p:cNvPr id="6" name="Google Shape;91;p1">
            <a:extLst>
              <a:ext uri="{FF2B5EF4-FFF2-40B4-BE49-F238E27FC236}">
                <a16:creationId xmlns:a16="http://schemas.microsoft.com/office/drawing/2014/main" id="{C9D90796-559A-2609-70CC-73A36630D016}"/>
              </a:ext>
            </a:extLst>
          </p:cNvPr>
          <p:cNvSpPr txBox="1"/>
          <p:nvPr/>
        </p:nvSpPr>
        <p:spPr>
          <a:xfrm>
            <a:off x="1082833" y="2946800"/>
            <a:ext cx="10369600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nir"/>
              </a:rPr>
              <a:t>Flask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venir"/>
              </a:rPr>
              <a:t>Installation and Create Directory</a:t>
            </a:r>
            <a:endParaRPr lang="en-US" sz="40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venir"/>
            </a:endParaRPr>
          </a:p>
        </p:txBody>
      </p:sp>
      <p:sp>
        <p:nvSpPr>
          <p:cNvPr id="7" name="Google Shape;92;p1">
            <a:extLst>
              <a:ext uri="{FF2B5EF4-FFF2-40B4-BE49-F238E27FC236}">
                <a16:creationId xmlns:a16="http://schemas.microsoft.com/office/drawing/2014/main" id="{DB13B3F0-6D5A-0282-AF5E-677B0C8F45E2}"/>
              </a:ext>
            </a:extLst>
          </p:cNvPr>
          <p:cNvSpPr/>
          <p:nvPr/>
        </p:nvSpPr>
        <p:spPr>
          <a:xfrm>
            <a:off x="1216533" y="3836739"/>
            <a:ext cx="1898400" cy="114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3;p1">
            <a:extLst>
              <a:ext uri="{FF2B5EF4-FFF2-40B4-BE49-F238E27FC236}">
                <a16:creationId xmlns:a16="http://schemas.microsoft.com/office/drawing/2014/main" id="{B19CB961-2FEC-7438-2E74-9A9588BC5E98}"/>
              </a:ext>
            </a:extLst>
          </p:cNvPr>
          <p:cNvSpPr/>
          <p:nvPr/>
        </p:nvSpPr>
        <p:spPr>
          <a:xfrm>
            <a:off x="3114933" y="3836733"/>
            <a:ext cx="7852400" cy="11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>
            <a:extLst>
              <a:ext uri="{FF2B5EF4-FFF2-40B4-BE49-F238E27FC236}">
                <a16:creationId xmlns:a16="http://schemas.microsoft.com/office/drawing/2014/main" id="{885560C5-B09B-D879-ACD5-66B9DE3702DD}"/>
              </a:ext>
            </a:extLst>
          </p:cNvPr>
          <p:cNvSpPr/>
          <p:nvPr/>
        </p:nvSpPr>
        <p:spPr>
          <a:xfrm>
            <a:off x="0" y="0"/>
            <a:ext cx="968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95;p1">
            <a:extLst>
              <a:ext uri="{FF2B5EF4-FFF2-40B4-BE49-F238E27FC236}">
                <a16:creationId xmlns:a16="http://schemas.microsoft.com/office/drawing/2014/main" id="{F76DBBC7-32ED-9826-2B28-650555E901F4}"/>
              </a:ext>
            </a:extLst>
          </p:cNvPr>
          <p:cNvGrpSpPr/>
          <p:nvPr/>
        </p:nvGrpSpPr>
        <p:grpSpPr>
          <a:xfrm>
            <a:off x="0" y="-56"/>
            <a:ext cx="90400" cy="6857955"/>
            <a:chOff x="0" y="-42"/>
            <a:chExt cx="67800" cy="5143466"/>
          </a:xfrm>
        </p:grpSpPr>
        <p:sp>
          <p:nvSpPr>
            <p:cNvPr id="11" name="Google Shape;96;p1">
              <a:extLst>
                <a:ext uri="{FF2B5EF4-FFF2-40B4-BE49-F238E27FC236}">
                  <a16:creationId xmlns:a16="http://schemas.microsoft.com/office/drawing/2014/main" id="{60220998-8BE4-D30F-8A8A-719AF1D0F6F0}"/>
                </a:ext>
              </a:extLst>
            </p:cNvPr>
            <p:cNvSpPr/>
            <p:nvPr/>
          </p:nvSpPr>
          <p:spPr>
            <a:xfrm>
              <a:off x="0" y="-42"/>
              <a:ext cx="67800" cy="99540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97;p1">
              <a:extLst>
                <a:ext uri="{FF2B5EF4-FFF2-40B4-BE49-F238E27FC236}">
                  <a16:creationId xmlns:a16="http://schemas.microsoft.com/office/drawing/2014/main" id="{91769816-5A41-FDE7-225E-42062C41678F}"/>
                </a:ext>
              </a:extLst>
            </p:cNvPr>
            <p:cNvSpPr/>
            <p:nvPr/>
          </p:nvSpPr>
          <p:spPr>
            <a:xfrm>
              <a:off x="0" y="995324"/>
              <a:ext cx="67800" cy="41481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2526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030987-02CB-8910-2329-BF2237BC5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3B5D53-632B-F7F7-BDE5-1991A3946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2</a:t>
            </a:fld>
            <a:endParaRPr lang="en-IN"/>
          </a:p>
        </p:txBody>
      </p:sp>
      <p:grpSp>
        <p:nvGrpSpPr>
          <p:cNvPr id="6" name="Google Shape;102;p2">
            <a:extLst>
              <a:ext uri="{FF2B5EF4-FFF2-40B4-BE49-F238E27FC236}">
                <a16:creationId xmlns:a16="http://schemas.microsoft.com/office/drawing/2014/main" id="{BEF067FB-53CF-3E17-0D2F-F49F085BA46C}"/>
              </a:ext>
            </a:extLst>
          </p:cNvPr>
          <p:cNvGrpSpPr/>
          <p:nvPr/>
        </p:nvGrpSpPr>
        <p:grpSpPr>
          <a:xfrm>
            <a:off x="543877" y="6108987"/>
            <a:ext cx="11205845" cy="0"/>
            <a:chOff x="539115" y="3792507"/>
            <a:chExt cx="11205845" cy="0"/>
          </a:xfrm>
        </p:grpSpPr>
        <p:cxnSp>
          <p:nvCxnSpPr>
            <p:cNvPr id="7" name="Google Shape;103;p2">
              <a:extLst>
                <a:ext uri="{FF2B5EF4-FFF2-40B4-BE49-F238E27FC236}">
                  <a16:creationId xmlns:a16="http://schemas.microsoft.com/office/drawing/2014/main" id="{3305DBD3-E38B-EC8D-DC95-F1FE50FB0C3E}"/>
                </a:ext>
              </a:extLst>
            </p:cNvPr>
            <p:cNvCxnSpPr/>
            <p:nvPr/>
          </p:nvCxnSpPr>
          <p:spPr>
            <a:xfrm>
              <a:off x="1685925" y="3792507"/>
              <a:ext cx="10059035" cy="0"/>
            </a:xfrm>
            <a:prstGeom prst="straightConnector1">
              <a:avLst/>
            </a:prstGeom>
            <a:noFill/>
            <a:ln w="101600" cap="flat" cmpd="sng">
              <a:solidFill>
                <a:srgbClr val="3A3A3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8" name="Google Shape;104;p2">
              <a:extLst>
                <a:ext uri="{FF2B5EF4-FFF2-40B4-BE49-F238E27FC236}">
                  <a16:creationId xmlns:a16="http://schemas.microsoft.com/office/drawing/2014/main" id="{07ABAD89-85CF-0130-86EA-2AC44ACA7115}"/>
                </a:ext>
              </a:extLst>
            </p:cNvPr>
            <p:cNvCxnSpPr/>
            <p:nvPr/>
          </p:nvCxnSpPr>
          <p:spPr>
            <a:xfrm>
              <a:off x="539115" y="3792507"/>
              <a:ext cx="1553845" cy="0"/>
            </a:xfrm>
            <a:prstGeom prst="straightConnector1">
              <a:avLst/>
            </a:prstGeom>
            <a:noFill/>
            <a:ln w="1016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9" name="Google Shape;105;p2">
            <a:extLst>
              <a:ext uri="{FF2B5EF4-FFF2-40B4-BE49-F238E27FC236}">
                <a16:creationId xmlns:a16="http://schemas.microsoft.com/office/drawing/2014/main" id="{7A6620C8-3B74-4477-C527-586307713F74}"/>
              </a:ext>
            </a:extLst>
          </p:cNvPr>
          <p:cNvGrpSpPr/>
          <p:nvPr/>
        </p:nvGrpSpPr>
        <p:grpSpPr>
          <a:xfrm>
            <a:off x="3320787" y="4776459"/>
            <a:ext cx="4736716" cy="776075"/>
            <a:chOff x="2076884" y="3202000"/>
            <a:chExt cx="4736716" cy="776075"/>
          </a:xfrm>
        </p:grpSpPr>
        <p:sp>
          <p:nvSpPr>
            <p:cNvPr id="10" name="Google Shape;106;p2">
              <a:extLst>
                <a:ext uri="{FF2B5EF4-FFF2-40B4-BE49-F238E27FC236}">
                  <a16:creationId xmlns:a16="http://schemas.microsoft.com/office/drawing/2014/main" id="{3CB10013-F34C-80ED-B732-2F5E4C9741A3}"/>
                </a:ext>
              </a:extLst>
            </p:cNvPr>
            <p:cNvSpPr/>
            <p:nvPr/>
          </p:nvSpPr>
          <p:spPr>
            <a:xfrm>
              <a:off x="2463132" y="3247534"/>
              <a:ext cx="314092" cy="31409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107;p2">
              <a:extLst>
                <a:ext uri="{FF2B5EF4-FFF2-40B4-BE49-F238E27FC236}">
                  <a16:creationId xmlns:a16="http://schemas.microsoft.com/office/drawing/2014/main" id="{6A11C0D3-DAD2-42CA-E478-5C57283E12D3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840597" y="3215575"/>
              <a:ext cx="898400" cy="477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08;p2">
              <a:extLst>
                <a:ext uri="{FF2B5EF4-FFF2-40B4-BE49-F238E27FC236}">
                  <a16:creationId xmlns:a16="http://schemas.microsoft.com/office/drawing/2014/main" id="{E51FBF99-570F-87D7-6C83-7D0B53039FAB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94523" y="3202000"/>
              <a:ext cx="434169" cy="40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09;p2">
              <a:extLst>
                <a:ext uri="{FF2B5EF4-FFF2-40B4-BE49-F238E27FC236}">
                  <a16:creationId xmlns:a16="http://schemas.microsoft.com/office/drawing/2014/main" id="{6546B341-C6F1-C4A4-33DD-E2D4290D61AB}"/>
                </a:ext>
              </a:extLst>
            </p:cNvPr>
            <p:cNvSpPr txBox="1"/>
            <p:nvPr/>
          </p:nvSpPr>
          <p:spPr>
            <a:xfrm>
              <a:off x="2076884" y="3684675"/>
              <a:ext cx="1086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Error/ Warning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10;p2">
              <a:extLst>
                <a:ext uri="{FF2B5EF4-FFF2-40B4-BE49-F238E27FC236}">
                  <a16:creationId xmlns:a16="http://schemas.microsoft.com/office/drawing/2014/main" id="{04DDBB75-1E54-D4B5-3170-71827A3F8F1B}"/>
                </a:ext>
              </a:extLst>
            </p:cNvPr>
            <p:cNvSpPr txBox="1"/>
            <p:nvPr/>
          </p:nvSpPr>
          <p:spPr>
            <a:xfrm>
              <a:off x="3347450" y="3684675"/>
              <a:ext cx="8652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Information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11;p2">
              <a:extLst>
                <a:ext uri="{FF2B5EF4-FFF2-40B4-BE49-F238E27FC236}">
                  <a16:creationId xmlns:a16="http://schemas.microsoft.com/office/drawing/2014/main" id="{A0B32E32-6676-9FE1-BAF4-CF8201707F25}"/>
                </a:ext>
              </a:extLst>
            </p:cNvPr>
            <p:cNvSpPr txBox="1"/>
            <p:nvPr/>
          </p:nvSpPr>
          <p:spPr>
            <a:xfrm>
              <a:off x="4543561" y="3684675"/>
              <a:ext cx="7629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Flashback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12;p2">
              <a:extLst>
                <a:ext uri="{FF2B5EF4-FFF2-40B4-BE49-F238E27FC236}">
                  <a16:creationId xmlns:a16="http://schemas.microsoft.com/office/drawing/2014/main" id="{6FB91251-6E97-2D71-187C-8EA42F06AEAF}"/>
                </a:ext>
              </a:extLst>
            </p:cNvPr>
            <p:cNvSpPr txBox="1"/>
            <p:nvPr/>
          </p:nvSpPr>
          <p:spPr>
            <a:xfrm>
              <a:off x="5766000" y="3684675"/>
              <a:ext cx="1047600" cy="29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1100" b="0" i="0" u="none" strike="noStrike" cap="none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Class Exercise</a:t>
              </a:r>
              <a:endParaRPr sz="1100" b="0" i="0" u="none" strike="noStrike" cap="none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" name="Google Shape;113;p2" descr="Warning with solid fill">
            <a:extLst>
              <a:ext uri="{FF2B5EF4-FFF2-40B4-BE49-F238E27FC236}">
                <a16:creationId xmlns:a16="http://schemas.microsoft.com/office/drawing/2014/main" id="{53F2AAC9-71E1-0130-F1E0-090FAD9FEC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2276" y="4794102"/>
            <a:ext cx="423609" cy="423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14;p2" descr="Information with solid fill">
            <a:extLst>
              <a:ext uri="{FF2B5EF4-FFF2-40B4-BE49-F238E27FC236}">
                <a16:creationId xmlns:a16="http://schemas.microsoft.com/office/drawing/2014/main" id="{C9E5C2A8-1992-5502-500A-ACB2070EEE7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60717" y="4752681"/>
            <a:ext cx="506453" cy="506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9901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0" y="3136613"/>
            <a:ext cx="321055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3200" b="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3596641" y="1843972"/>
            <a:ext cx="8046719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the application directory and virtual environment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virtual environment with Python 3 or Python 2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a virtual environment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Python packages with pip</a:t>
            </a:r>
          </a:p>
          <a:p>
            <a:pPr marL="342900" marR="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AutoNum type="arabicPeriod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the basic application structure</a:t>
            </a:r>
          </a:p>
        </p:txBody>
      </p:sp>
      <p:cxnSp>
        <p:nvCxnSpPr>
          <p:cNvPr id="121" name="Google Shape;121;p3"/>
          <p:cNvCxnSpPr>
            <a:cxnSpLocks/>
          </p:cNvCxnSpPr>
          <p:nvPr/>
        </p:nvCxnSpPr>
        <p:spPr>
          <a:xfrm>
            <a:off x="3058160" y="984250"/>
            <a:ext cx="0" cy="48895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5331E7-3109-DA20-1933-F3B3695FF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5BB66-7266-5F8A-4AC1-3BD5D86F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CC383-36F1-A55C-3AE8-8F846236C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98C5E-D3FB-452F-E485-68E648D75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4</a:t>
            </a:fld>
            <a:endParaRPr lang="en-IN"/>
          </a:p>
        </p:txBody>
      </p:sp>
      <p:sp>
        <p:nvSpPr>
          <p:cNvPr id="6" name="Google Shape;126;p4">
            <a:extLst>
              <a:ext uri="{FF2B5EF4-FFF2-40B4-BE49-F238E27FC236}">
                <a16:creationId xmlns:a16="http://schemas.microsoft.com/office/drawing/2014/main" id="{D014BFD6-E302-2C51-45A1-5410995D894F}"/>
              </a:ext>
            </a:extLst>
          </p:cNvPr>
          <p:cNvSpPr txBox="1">
            <a:spLocks/>
          </p:cNvSpPr>
          <p:nvPr/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4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Creating the Application Directory and Virtual Environment</a:t>
            </a:r>
            <a:endParaRPr lang="en-US" sz="4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237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Creating the application directory and virtual environment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715256" y="1164624"/>
            <a:ext cx="74432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4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pplication directory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715256" y="1695219"/>
            <a:ext cx="10911841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 application directory helps keep a project organized.</a:t>
            </a:r>
          </a:p>
        </p:txBody>
      </p:sp>
      <p:sp>
        <p:nvSpPr>
          <p:cNvPr id="2" name="Google Shape;132;p5">
            <a:extLst>
              <a:ext uri="{FF2B5EF4-FFF2-40B4-BE49-F238E27FC236}">
                <a16:creationId xmlns:a16="http://schemas.microsoft.com/office/drawing/2014/main" id="{124221C2-C57F-AB10-BB09-25FB054A7869}"/>
              </a:ext>
            </a:extLst>
          </p:cNvPr>
          <p:cNvSpPr txBox="1"/>
          <p:nvPr/>
        </p:nvSpPr>
        <p:spPr>
          <a:xfrm>
            <a:off x="715256" y="2901639"/>
            <a:ext cx="74432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V</a:t>
            </a:r>
            <a:r>
              <a:rPr lang="en-US" sz="24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irtual environment</a:t>
            </a:r>
            <a:endParaRPr lang="en-US" dirty="0"/>
          </a:p>
        </p:txBody>
      </p:sp>
      <p:pic>
        <p:nvPicPr>
          <p:cNvPr id="4" name="Google Shape;133;p5" descr="Closed book with solid fill">
            <a:extLst>
              <a:ext uri="{FF2B5EF4-FFF2-40B4-BE49-F238E27FC236}">
                <a16:creationId xmlns:a16="http://schemas.microsoft.com/office/drawing/2014/main" id="{091B5FE0-94A9-C306-970C-64E7E71356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3020568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9F7B02-464F-9977-D0AE-8320824C15AE}"/>
              </a:ext>
            </a:extLst>
          </p:cNvPr>
          <p:cNvSpPr txBox="1"/>
          <p:nvPr/>
        </p:nvSpPr>
        <p:spPr>
          <a:xfrm>
            <a:off x="715257" y="3429000"/>
            <a:ext cx="10911840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virtual environment isolates project dependencies from other projects and the global Python environment.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F3DD4-9DF4-EE4D-B335-09E627A1D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6AD8C5-7412-56C2-3CE0-9F7BAAF50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Creating the application directory and virtual environment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715256" y="1164624"/>
            <a:ext cx="74432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715257" y="1695219"/>
            <a:ext cx="5871874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1: Open PyCharm.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2: Create New </a:t>
            </a: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3: </a:t>
            </a: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Browse “Location” for the application directory.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4: Choose “interpreter type” as “Custom environment”.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5: 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Select “Generate new”.</a:t>
            </a:r>
          </a:p>
          <a:p>
            <a:pPr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6: Type must be “</a:t>
            </a:r>
            <a:r>
              <a:rPr lang="en-US" sz="1800" dirty="0" err="1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Virtualenv</a:t>
            </a: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” to create a new virtual 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nvironment for the new project.</a:t>
            </a:r>
          </a:p>
          <a:p>
            <a:pPr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7: Select Base python version.</a:t>
            </a:r>
            <a:endParaRPr lang="en-US" sz="1800" b="0" i="0" u="none" strike="noStrike" cap="none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8: Location for virtual environment.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Step 9: Click “Create” to let PyCharm create the </a:t>
            </a: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project.</a:t>
            </a:r>
            <a:endParaRPr lang="en-US" sz="1800" b="0" i="0" u="none" strike="noStrike" cap="none" dirty="0">
              <a:solidFill>
                <a:srgbClr val="26262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FB9144A-BE80-3597-1C44-A5832D9D8661}"/>
              </a:ext>
            </a:extLst>
          </p:cNvPr>
          <p:cNvGrpSpPr/>
          <p:nvPr/>
        </p:nvGrpSpPr>
        <p:grpSpPr>
          <a:xfrm>
            <a:off x="6677157" y="1938236"/>
            <a:ext cx="5218789" cy="4118021"/>
            <a:chOff x="6698891" y="2341667"/>
            <a:chExt cx="5218789" cy="4118021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D8AB2CE-ABF4-5A73-7BEA-D1A6DBA2D1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98891" y="2341667"/>
              <a:ext cx="5218789" cy="4118021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3E605B-D9BC-FBD2-518D-3CDD5E83B18F}"/>
                </a:ext>
              </a:extLst>
            </p:cNvPr>
            <p:cNvSpPr/>
            <p:nvPr/>
          </p:nvSpPr>
          <p:spPr>
            <a:xfrm>
              <a:off x="7559040" y="2885440"/>
              <a:ext cx="4246880" cy="2844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361A1C-20DB-12E5-A1A1-47B3661E89EF}"/>
                </a:ext>
              </a:extLst>
            </p:cNvPr>
            <p:cNvSpPr/>
            <p:nvPr/>
          </p:nvSpPr>
          <p:spPr>
            <a:xfrm>
              <a:off x="7559040" y="4181855"/>
              <a:ext cx="1889760" cy="2381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998FCE-0020-9B5A-8D97-A24FB791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40213-0B32-F4D2-98C4-92B6DED19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068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Creating the application directory and virtual environment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715256" y="1164624"/>
            <a:ext cx="7443223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715256" y="3860509"/>
            <a:ext cx="3092815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Project name and location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Virtual environment name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8AB2CE-ABF4-5A73-7BEA-D1A6DBA2D1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0417" y="1691985"/>
            <a:ext cx="7986784" cy="4850367"/>
          </a:xfrm>
          <a:prstGeom prst="rect">
            <a:avLst/>
          </a:prstGeom>
        </p:spPr>
      </p:pic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22ED5A26-C919-7321-B2BB-21C4BFCB421B}"/>
              </a:ext>
            </a:extLst>
          </p:cNvPr>
          <p:cNvCxnSpPr>
            <a:cxnSpLocks/>
            <a:stCxn id="134" idx="0"/>
          </p:cNvCxnSpPr>
          <p:nvPr/>
        </p:nvCxnSpPr>
        <p:spPr>
          <a:xfrm rot="5400000" flipH="1" flipV="1">
            <a:off x="2710858" y="2253367"/>
            <a:ext cx="1157949" cy="20563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58629676-314F-710D-5CB9-11C5117D06B0}"/>
              </a:ext>
            </a:extLst>
          </p:cNvPr>
          <p:cNvCxnSpPr>
            <a:cxnSpLocks/>
            <a:stCxn id="134" idx="2"/>
          </p:cNvCxnSpPr>
          <p:nvPr/>
        </p:nvCxnSpPr>
        <p:spPr>
          <a:xfrm rot="16200000" flipH="1">
            <a:off x="2638811" y="4406651"/>
            <a:ext cx="1210602" cy="19648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841BE8-A2A9-543A-C91B-6F8F2457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19112-6A08-CC07-A0FF-11B3BA870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827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0EF39C-F482-28F7-6547-CD825B33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11FE5-818B-4A08-27C2-51EA9403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8</a:t>
            </a:fld>
            <a:endParaRPr lang="en-IN"/>
          </a:p>
        </p:txBody>
      </p:sp>
      <p:sp>
        <p:nvSpPr>
          <p:cNvPr id="6" name="Google Shape;126;p4">
            <a:extLst>
              <a:ext uri="{FF2B5EF4-FFF2-40B4-BE49-F238E27FC236}">
                <a16:creationId xmlns:a16="http://schemas.microsoft.com/office/drawing/2014/main" id="{4B52AD17-BB70-C28A-51A1-E8B7F63A4667}"/>
              </a:ext>
            </a:extLst>
          </p:cNvPr>
          <p:cNvSpPr txBox="1">
            <a:spLocks/>
          </p:cNvSpPr>
          <p:nvPr/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00000"/>
              </a:lnSpc>
              <a:buClr>
                <a:srgbClr val="000000"/>
              </a:buClr>
              <a:buSzPct val="100000"/>
              <a:buFont typeface="+mj-lt"/>
              <a:buAutoNum type="arabicPeriod" startAt="2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Virtual Environment with Python 3 or Python 2</a:t>
            </a:r>
            <a:endParaRPr lang="en-US" sz="40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6481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11019542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PyCharm will handle the creation of the virtual environment automatically when setting up the new project. But the same task can be done using PyCharm terminal.</a:t>
            </a:r>
            <a:endParaRPr lang="en-US" sz="18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endParaRPr lang="en-US" sz="18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Set up a virtual environment</a:t>
            </a: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Open a terminal or command prompt.</a:t>
            </a: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Ensure that Python3 is installed.</a:t>
            </a:r>
            <a:endParaRPr lang="en-US" sz="180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Install the </a:t>
            </a:r>
            <a:r>
              <a:rPr lang="en-US" sz="1800" i="0" u="none" strike="noStrike" cap="none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virtualenv</a:t>
            </a: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package: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</a:rPr>
              <a:t>	pip install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</a:rPr>
              <a:t>virtualenv</a:t>
            </a:r>
            <a:endParaRPr lang="en-US" sz="18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virtual environment: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	python -m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venv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myenv</a:t>
            </a:r>
            <a:endParaRPr lang="en-US" sz="1800" dirty="0"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 the virtual environment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myenv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Scripts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activate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Creating a virtual environment with Python 3 or Python 2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With Python 3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68E13CB-AFB3-D3F2-B174-86C875B80F03}"/>
              </a:ext>
            </a:extLst>
          </p:cNvPr>
          <p:cNvGrpSpPr/>
          <p:nvPr/>
        </p:nvGrpSpPr>
        <p:grpSpPr>
          <a:xfrm>
            <a:off x="5546364" y="2570480"/>
            <a:ext cx="6188435" cy="4111007"/>
            <a:chOff x="5546364" y="2570480"/>
            <a:chExt cx="6188435" cy="411100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9E0CCEC-07AB-8FD9-DF64-FE94DC339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6364" y="2570480"/>
              <a:ext cx="6188435" cy="4111007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4B6E49-BCBF-C7CF-A7C5-F121571781F0}"/>
                </a:ext>
              </a:extLst>
            </p:cNvPr>
            <p:cNvSpPr/>
            <p:nvPr/>
          </p:nvSpPr>
          <p:spPr>
            <a:xfrm>
              <a:off x="9631680" y="5736336"/>
              <a:ext cx="1499616" cy="34137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BEC449A-ED25-E38F-F317-C5A92080DC61}"/>
                </a:ext>
              </a:extLst>
            </p:cNvPr>
            <p:cNvSpPr/>
            <p:nvPr/>
          </p:nvSpPr>
          <p:spPr>
            <a:xfrm>
              <a:off x="6025895" y="4413503"/>
              <a:ext cx="643129" cy="1941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BA116A3-FFD3-EFF0-0CEE-1886001A90A1}"/>
                </a:ext>
              </a:extLst>
            </p:cNvPr>
            <p:cNvSpPr/>
            <p:nvPr/>
          </p:nvSpPr>
          <p:spPr>
            <a:xfrm>
              <a:off x="5760720" y="6059615"/>
              <a:ext cx="570483" cy="19419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D338A1-0F35-D93B-F8E7-83AF39324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F41178-3823-5CCA-0A03-1BD2A9D1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97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11019542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PyCharm will handle the creation of the virtual environment automatically when setting up the new project. But the same task can be done using PyCharm terminal.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n-US" sz="1800" b="1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b="1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Set up a virtual environment</a:t>
            </a: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Open a terminal or command prompt.</a:t>
            </a: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Ensure that Python2 is installed.</a:t>
            </a:r>
            <a:endParaRPr lang="en-US" sz="1800" i="0" u="none" strike="noStrike" cap="none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Install the </a:t>
            </a:r>
            <a:r>
              <a:rPr lang="en-US" sz="1800" i="0" u="none" strike="noStrike" cap="none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virtualenv</a:t>
            </a:r>
            <a:r>
              <a:rPr lang="en-US" sz="180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package: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</a:rPr>
              <a:t>	pip install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</a:rPr>
              <a:t>virtualenv</a:t>
            </a:r>
            <a:endParaRPr lang="en-US" sz="1800" dirty="0">
              <a:latin typeface="Batang" panose="02030600000101010101" pitchFamily="18" charset="-127"/>
              <a:ea typeface="Batang" panose="02030600000101010101" pitchFamily="18" charset="-127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 virtual environment: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	python -m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</a:rPr>
              <a:t>virtualenv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 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myenv</a:t>
            </a:r>
            <a:endParaRPr lang="en-US" sz="1800" dirty="0"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</a:endParaRPr>
          </a:p>
          <a:p>
            <a:pPr marL="285750" lvl="1" indent="-285750" algn="just">
              <a:lnSpc>
                <a:spcPct val="150000"/>
              </a:lnSpc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Activate the virtual environment</a:t>
            </a:r>
          </a:p>
          <a:p>
            <a:pPr lvl="1"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myenv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Scripts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activate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Creating a virtual environment with Python 3 or Python 2</a:t>
            </a: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With Python 2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A2D0EB3-E1DB-83F4-4B8A-FB7CF1796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AF5789-C498-8AE0-2CB2-0BDA74E1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36EF73-19C1-F435-3AE4-EA203398A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DE225F-A302-A672-2971-A5C9AB9C2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11</a:t>
            </a:fld>
            <a:endParaRPr lang="en-IN"/>
          </a:p>
        </p:txBody>
      </p:sp>
      <p:sp>
        <p:nvSpPr>
          <p:cNvPr id="6" name="Google Shape;126;p4">
            <a:extLst>
              <a:ext uri="{FF2B5EF4-FFF2-40B4-BE49-F238E27FC236}">
                <a16:creationId xmlns:a16="http://schemas.microsoft.com/office/drawing/2014/main" id="{9AAC1872-173D-5859-EC7D-B47303C9C64D}"/>
              </a:ext>
            </a:extLst>
          </p:cNvPr>
          <p:cNvSpPr txBox="1">
            <a:spLocks/>
          </p:cNvSpPr>
          <p:nvPr/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00000"/>
              </a:lnSpc>
              <a:buClr>
                <a:srgbClr val="000000"/>
              </a:buClr>
              <a:buSzPct val="100000"/>
              <a:buFont typeface="+mj-lt"/>
              <a:buAutoNum type="arabicPeriod" startAt="3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a Virtual 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nvironment</a:t>
            </a:r>
            <a:endParaRPr lang="en-US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56676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11019542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PyCharm automatically activates the virtual environment when you open the project.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This can be verified by the presence of (</a:t>
            </a:r>
            <a:r>
              <a:rPr lang="en-US" sz="1800" dirty="0" err="1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venv</a:t>
            </a: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) in the terminal prompt within PyCharm.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endParaRPr lang="en-US" sz="1800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Manually “activate”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in terminal:    .\</a:t>
            </a:r>
            <a:r>
              <a:rPr lang="en-US" sz="1800" dirty="0" err="1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venv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Scripts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\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activate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should see “(&lt;</a:t>
            </a:r>
            <a:r>
              <a:rPr lang="en-US" sz="16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virtual_environment_name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&gt;)” at the beginning of the command line, indicating that the virtual environment is active.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n-US" sz="1800" b="1" dirty="0"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Manually “deactivate”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in terminal:   </a:t>
            </a: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deactivate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will return the terminal to the global Python environment.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a virtual environment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“activate” and “deactivate”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8C3BD4-0E58-09F2-2CB4-0FA0EE6B55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63357" r="127"/>
          <a:stretch/>
        </p:blipFill>
        <p:spPr>
          <a:xfrm>
            <a:off x="5129776" y="4453883"/>
            <a:ext cx="6605023" cy="1471699"/>
          </a:xfrm>
          <a:prstGeom prst="rect">
            <a:avLst/>
          </a:prstGeom>
        </p:spPr>
      </p:pic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6F6768E-6C66-9726-23A5-3662EF1DC87F}"/>
              </a:ext>
            </a:extLst>
          </p:cNvPr>
          <p:cNvCxnSpPr/>
          <p:nvPr/>
        </p:nvCxnSpPr>
        <p:spPr>
          <a:xfrm>
            <a:off x="3942080" y="4277360"/>
            <a:ext cx="1382273" cy="1198880"/>
          </a:xfrm>
          <a:prstGeom prst="bentConnector3">
            <a:avLst>
              <a:gd name="adj1" fmla="val 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9F65C0-C296-EFA2-A8CB-6A388114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668753-1947-7AAC-5158-DE68CC54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491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76CC6B-CE94-2177-4C0C-569E8984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7A8C1-F287-2711-899B-F4777E1FA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13</a:t>
            </a:fld>
            <a:endParaRPr lang="en-IN"/>
          </a:p>
        </p:txBody>
      </p:sp>
      <p:sp>
        <p:nvSpPr>
          <p:cNvPr id="6" name="Google Shape;126;p4">
            <a:extLst>
              <a:ext uri="{FF2B5EF4-FFF2-40B4-BE49-F238E27FC236}">
                <a16:creationId xmlns:a16="http://schemas.microsoft.com/office/drawing/2014/main" id="{956768BC-C916-7AC6-C168-10C0AB393CDE}"/>
              </a:ext>
            </a:extLst>
          </p:cNvPr>
          <p:cNvSpPr txBox="1">
            <a:spLocks/>
          </p:cNvSpPr>
          <p:nvPr/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00000"/>
              </a:lnSpc>
              <a:buClr>
                <a:srgbClr val="000000"/>
              </a:buClr>
              <a:buSzPct val="100000"/>
              <a:buFont typeface="+mj-lt"/>
              <a:buAutoNum type="arabicPeriod" startAt="4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Python Packages with </a:t>
            </a:r>
            <a:r>
              <a:rPr lang="en-US" sz="4000">
                <a:solidFill>
                  <a:schemeClr val="dk1"/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/>
                <a:sym typeface="Calibri"/>
              </a:rPr>
              <a:t>pip</a:t>
            </a:r>
            <a:endParaRPr lang="en-US" sz="4000" dirty="0">
              <a:solidFill>
                <a:schemeClr val="dk1"/>
              </a:solidFill>
              <a:latin typeface="Batang" panose="02030600000101010101" pitchFamily="18" charset="-127"/>
              <a:ea typeface="Batang" panose="02030600000101010101" pitchFamily="18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13096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5259786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It is the package installer for Python. 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Used to install packages required.</a:t>
            </a:r>
          </a:p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Used to uninstall packages.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n-US" sz="18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Install Flask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pip install Flask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Python packages with 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/>
                <a:sym typeface="Calibri"/>
              </a:rPr>
              <a:t>pip</a:t>
            </a:r>
            <a:endParaRPr lang="en-US" sz="2800" b="0" i="0" u="none" strike="noStrike" cap="none" dirty="0">
              <a:solidFill>
                <a:srgbClr val="3F3F3F"/>
              </a:solidFill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400" dirty="0">
                <a:solidFill>
                  <a:srgbClr val="262626"/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/>
                <a:sym typeface="Calibri"/>
              </a:rPr>
              <a:t>pip</a:t>
            </a: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A93FE7-A708-C5DF-DF2D-C4D74A4F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51B64-3687-33C6-6127-1865A7C3C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08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5259786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Install packages from requirements.txt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pip install -r requirements.txt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n-US" sz="1800" dirty="0"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Verify the installation</a:t>
            </a:r>
          </a:p>
          <a:p>
            <a:pPr algn="just">
              <a:lnSpc>
                <a:spcPct val="150000"/>
              </a:lnSpc>
              <a:buClr>
                <a:srgbClr val="262626"/>
              </a:buClr>
              <a:buSzPts val="1800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 installed packages to confirm Flask is installed.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pip list</a:t>
            </a:r>
            <a:endParaRPr lang="en-US" sz="1800" b="1" dirty="0">
              <a:latin typeface="Batang" panose="02030600000101010101" pitchFamily="18" charset="-127"/>
              <a:ea typeface="Batang" panose="02030600000101010101" pitchFamily="18" charset="-127"/>
              <a:cs typeface="Calibri" panose="020F0502020204030204" pitchFamily="34" charset="0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Python packages with pip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“pip”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C3C9F1D-741D-13F4-6988-5DC0F583A673}"/>
              </a:ext>
            </a:extLst>
          </p:cNvPr>
          <p:cNvGrpSpPr/>
          <p:nvPr/>
        </p:nvGrpSpPr>
        <p:grpSpPr>
          <a:xfrm>
            <a:off x="6096000" y="1892194"/>
            <a:ext cx="5759756" cy="4539086"/>
            <a:chOff x="6096000" y="1810914"/>
            <a:chExt cx="5759756" cy="453908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D088B45-43AD-AC37-FDE2-896B318D6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0" y="1810914"/>
              <a:ext cx="5759756" cy="453908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83E341-ED97-64AD-B3FC-95CCEA0AC3D7}"/>
                </a:ext>
              </a:extLst>
            </p:cNvPr>
            <p:cNvSpPr/>
            <p:nvPr/>
          </p:nvSpPr>
          <p:spPr>
            <a:xfrm>
              <a:off x="7477760" y="2550160"/>
              <a:ext cx="985520" cy="2743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A96B-F062-0A7F-3D0E-3B41C00AC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794E-136F-EC83-7B9D-A6624969F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442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11019542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Upgrade Flask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Batang" panose="02030600000101010101" pitchFamily="18" charset="-127"/>
                <a:ea typeface="Batang" panose="02030600000101010101" pitchFamily="18" charset="-127"/>
                <a:cs typeface="Calibri"/>
                <a:sym typeface="Calibri"/>
              </a:rPr>
              <a:t>pip install --upgrade Flask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endParaRPr lang="en-US" sz="1800" b="1" dirty="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b="1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Uninstall Flask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latin typeface="Batang" panose="02030600000101010101" pitchFamily="18" charset="-127"/>
                <a:ea typeface="Batang" panose="02030600000101010101" pitchFamily="18" charset="-127"/>
                <a:cs typeface="Calibri" panose="020F0502020204030204" pitchFamily="34" charset="0"/>
              </a:rPr>
              <a:t>pip install flask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Installing Python packages with pip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“pip”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B3CAA01-DE68-8B42-BA91-9C2860DEC9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59" y="4099627"/>
            <a:ext cx="11136073" cy="2097973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D5DDD30-ED7D-637A-7DE1-865FA7312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B3404-C115-2B37-6C0F-0B6A30E02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9705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C93B4-0EB6-B974-DEC7-DAB83914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A74A0A-42B4-9345-84C9-E13E329E3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17</a:t>
            </a:fld>
            <a:endParaRPr lang="en-IN"/>
          </a:p>
        </p:txBody>
      </p:sp>
      <p:sp>
        <p:nvSpPr>
          <p:cNvPr id="6" name="Google Shape;126;p4">
            <a:extLst>
              <a:ext uri="{FF2B5EF4-FFF2-40B4-BE49-F238E27FC236}">
                <a16:creationId xmlns:a16="http://schemas.microsoft.com/office/drawing/2014/main" id="{62D2073D-A4D5-846A-E0A8-5061C4868EC8}"/>
              </a:ext>
            </a:extLst>
          </p:cNvPr>
          <p:cNvSpPr txBox="1">
            <a:spLocks/>
          </p:cNvSpPr>
          <p:nvPr/>
        </p:nvSpPr>
        <p:spPr>
          <a:xfrm>
            <a:off x="480000" y="2494400"/>
            <a:ext cx="11406800" cy="1058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42950" indent="-742950">
              <a:lnSpc>
                <a:spcPct val="100000"/>
              </a:lnSpc>
              <a:buClr>
                <a:srgbClr val="000000"/>
              </a:buClr>
              <a:buSzPct val="100000"/>
              <a:buFont typeface="+mj-lt"/>
              <a:buAutoNum type="arabicPeriod" startAt="5"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the Basic 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pplication </a:t>
            </a:r>
            <a:r>
              <a:rPr lang="en-US" sz="4000"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tructure</a:t>
            </a:r>
            <a:endParaRPr lang="en-US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3651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7" y="1810914"/>
            <a:ext cx="5309624" cy="466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</a:pPr>
            <a:r>
              <a:rPr lang="en-US" sz="1800" dirty="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Setting up the basic structure of Flask application involves creating the main application file and defining a route.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the main application file</a:t>
            </a:r>
          </a:p>
          <a:p>
            <a:pPr marL="720725" lvl="1" indent="-365125" algn="just">
              <a:lnSpc>
                <a:spcPct val="150000"/>
              </a:lnSpc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PyCharm, right-click the project directory (e.g. -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flask_app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and select New &gt; Python File.</a:t>
            </a:r>
          </a:p>
          <a:p>
            <a:pPr marL="720725" lvl="1" indent="-365125" algn="just">
              <a:lnSpc>
                <a:spcPct val="150000"/>
              </a:lnSpc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the file app.py.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Initialize the Flask application</a:t>
            </a:r>
          </a:p>
          <a:p>
            <a:pPr marL="720725" lvl="1" indent="-365125" algn="just">
              <a:lnSpc>
                <a:spcPct val="150000"/>
              </a:lnSpc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app.py in the editor and add the following code - 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the basic application structure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EE2ECE-5201-17CC-61FA-1E732F634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5339" y="1810914"/>
            <a:ext cx="5420446" cy="451876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F21C3E-63EE-33DE-756D-71C18C29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98112-B7A8-4D98-C578-C690A807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752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6" y="1810914"/>
            <a:ext cx="11243775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 startAt="3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 the application</a:t>
            </a:r>
          </a:p>
          <a:p>
            <a:pPr marL="720725" lvl="1" indent="-365125" algn="just">
              <a:lnSpc>
                <a:spcPct val="150000"/>
              </a:lnSpc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Right-click app.py and select Run 'app’.</a:t>
            </a: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 startAt="3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the application</a:t>
            </a:r>
          </a:p>
          <a:p>
            <a:pPr marL="720725" lvl="1" indent="-365125" algn="just">
              <a:lnSpc>
                <a:spcPct val="150000"/>
              </a:lnSpc>
              <a:buClr>
                <a:srgbClr val="262626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 browser and navigate to 	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http://127.0.0.1:5000/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see the application UI.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the basic application structure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715257" y="1164624"/>
            <a:ext cx="4609096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Implementation steps</a:t>
            </a:r>
            <a:endParaRPr lang="en-US" dirty="0"/>
          </a:p>
        </p:txBody>
      </p:sp>
      <p:pic>
        <p:nvPicPr>
          <p:cNvPr id="133" name="Google Shape;133;p5" descr="Closed book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799" y="1283553"/>
            <a:ext cx="518160" cy="40843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20D991F-6542-66A8-E5EC-E73DB7E70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65F2F3-7CA5-DA1A-6FE2-13BC6E452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69175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/>
        </p:nvSpPr>
        <p:spPr>
          <a:xfrm>
            <a:off x="715256" y="1810914"/>
            <a:ext cx="11243775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command do you use to activate the virtual environment in PyCharm's terminal?</a:t>
            </a:r>
          </a:p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install Flask using pip in the virtual environment?</a:t>
            </a:r>
          </a:p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should you check if you encounter a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ModuleNotFoundError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No module named 'flask' error?</a:t>
            </a:r>
          </a:p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the purpose of the if __name__ == '__main__': block in the app.py file.</a:t>
            </a:r>
          </a:p>
          <a:p>
            <a:pPr marL="342900" marR="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run the Flask application from within PyCharm?</a:t>
            </a:r>
          </a:p>
        </p:txBody>
      </p:sp>
      <p:sp>
        <p:nvSpPr>
          <p:cNvPr id="131" name="Google Shape;131;p5"/>
          <p:cNvSpPr txBox="1"/>
          <p:nvPr/>
        </p:nvSpPr>
        <p:spPr>
          <a:xfrm>
            <a:off x="304799" y="176513"/>
            <a:ext cx="11430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Initializing the basic application structure</a:t>
            </a:r>
            <a:endParaRPr lang="en-US" sz="2800" b="0" i="0" u="none" strike="noStrike" cap="none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pic>
        <p:nvPicPr>
          <p:cNvPr id="2" name="Google Shape;107;p2">
            <a:extLst>
              <a:ext uri="{FF2B5EF4-FFF2-40B4-BE49-F238E27FC236}">
                <a16:creationId xmlns:a16="http://schemas.microsoft.com/office/drawing/2014/main" id="{E4E568A7-ECF2-CACE-E388-57515818F0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9540" y="1333464"/>
            <a:ext cx="898400" cy="4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F6E2B-3D2C-D9E1-F71C-12DDC806F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81161-CB4B-9C88-05C9-7E1ECDA1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646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8"/>
          <p:cNvSpPr txBox="1"/>
          <p:nvPr/>
        </p:nvSpPr>
        <p:spPr>
          <a:xfrm>
            <a:off x="3063240" y="3167390"/>
            <a:ext cx="606552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Question?</a:t>
            </a:r>
            <a:endParaRPr sz="2800" b="0" dirty="0">
              <a:solidFill>
                <a:srgbClr val="C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A05CBAD-D4F4-A635-3DE8-DCD0F9007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A4CD2-DBCD-CFC7-4A9A-670D72548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9"/>
          <p:cNvSpPr txBox="1"/>
          <p:nvPr/>
        </p:nvSpPr>
        <p:spPr>
          <a:xfrm>
            <a:off x="3063240" y="3197870"/>
            <a:ext cx="606552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dirty="0">
                <a:solidFill>
                  <a:srgbClr val="3F3F3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Quattrocento Sans"/>
              </a:rPr>
              <a:t>Thank you</a:t>
            </a:r>
            <a:endParaRPr sz="4000" b="0" dirty="0">
              <a:solidFill>
                <a:srgbClr val="3F3F3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Quattrocento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2766517-13D3-C917-201A-C2CFC3FE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Web Developer - Python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3E3C0F-4AB5-5F64-6830-9C8B3E3E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5482-D393-4E2D-8FB7-B68A06B80F1E}" type="slidenum">
              <a:rPr lang="en-IN" smtClean="0"/>
              <a:t>22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T Basic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T Basic Theme" id="{98E71BC8-CEE5-4A46-949E-391C0C874B8F}" vid="{96F7FA2A-5830-4612-98C6-3C5F1D18D75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ICT Basic Theme</Template>
  <TotalTime>2</TotalTime>
  <Words>910</Words>
  <Application>Microsoft Office PowerPoint</Application>
  <PresentationFormat>Widescreen</PresentationFormat>
  <Paragraphs>164</Paragraphs>
  <Slides>22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Batang</vt:lpstr>
      <vt:lpstr>Arial</vt:lpstr>
      <vt:lpstr>Calibri</vt:lpstr>
      <vt:lpstr>Calibri Light</vt:lpstr>
      <vt:lpstr>Play</vt:lpstr>
      <vt:lpstr>Wingdings</vt:lpstr>
      <vt:lpstr>ICT Basic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Tamil Selvan</dc:creator>
  <cp:lastModifiedBy>Tamil Selvan</cp:lastModifiedBy>
  <cp:revision>3</cp:revision>
  <dcterms:created xsi:type="dcterms:W3CDTF">2024-07-10T12:03:47Z</dcterms:created>
  <dcterms:modified xsi:type="dcterms:W3CDTF">2024-07-10T12:27:46Z</dcterms:modified>
</cp:coreProperties>
</file>